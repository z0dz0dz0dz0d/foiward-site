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1" r:id="rId1"/>
  </p:sldMasterIdLst>
  <p:notesMasterIdLst>
    <p:notesMasterId r:id="rId26"/>
  </p:notesMasterIdLst>
  <p:handoutMasterIdLst>
    <p:handoutMasterId r:id="rId27"/>
  </p:handoutMasterIdLst>
  <p:sldIdLst>
    <p:sldId id="1025" r:id="rId2"/>
    <p:sldId id="1026" r:id="rId3"/>
    <p:sldId id="1028" r:id="rId4"/>
    <p:sldId id="1029" r:id="rId5"/>
    <p:sldId id="1034" r:id="rId6"/>
    <p:sldId id="1035" r:id="rId7"/>
    <p:sldId id="1027" r:id="rId8"/>
    <p:sldId id="1032" r:id="rId9"/>
    <p:sldId id="261" r:id="rId10"/>
    <p:sldId id="1030" r:id="rId11"/>
    <p:sldId id="257" r:id="rId12"/>
    <p:sldId id="266" r:id="rId13"/>
    <p:sldId id="259" r:id="rId14"/>
    <p:sldId id="264" r:id="rId15"/>
    <p:sldId id="270" r:id="rId16"/>
    <p:sldId id="271" r:id="rId17"/>
    <p:sldId id="1033" r:id="rId18"/>
    <p:sldId id="273" r:id="rId19"/>
    <p:sldId id="1036" r:id="rId20"/>
    <p:sldId id="775" r:id="rId21"/>
    <p:sldId id="1037" r:id="rId22"/>
    <p:sldId id="1038" r:id="rId23"/>
    <p:sldId id="1039" r:id="rId24"/>
    <p:sldId id="798" r:id="rId25"/>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oris Tomas" initials="" lastIdx="1" clrIdx="2"/>
  <p:cmAuthor id="1" name="AbuSina" initials="A" lastIdx="2" clrIdx="0"/>
  <p:cmAuthor id="2" name="Nina" initials="N" lastIdx="16" clrIdx="1"/>
  <p:cmAuthor id="3" name="Neven Vrček" initials="NV" lastIdx="31" clrIdx="3"/>
  <p:cmAuthor id="4" name="Irina Rinkovec" initials="IR" lastIdx="26" clrIdx="4"/>
  <p:cmAuthor id="5" name="Windows User" initials="WU" lastIdx="1" clrIdx="5"/>
  <p:cmAuthor id="6" name="Petra" initials="P" lastIdx="2"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CC"/>
    <a:srgbClr val="CF003D"/>
    <a:srgbClr val="CE003D"/>
    <a:srgbClr val="A7A7A7"/>
    <a:srgbClr val="BD88BB"/>
    <a:srgbClr val="C35754"/>
    <a:srgbClr val="333F50"/>
    <a:srgbClr val="92D050"/>
    <a:srgbClr val="AB5084"/>
    <a:srgbClr val="F8B3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746" autoAdjust="0"/>
    <p:restoredTop sz="95897" autoAdjust="0"/>
  </p:normalViewPr>
  <p:slideViewPr>
    <p:cSldViewPr snapToGrid="0">
      <p:cViewPr varScale="1">
        <p:scale>
          <a:sx n="82" d="100"/>
          <a:sy n="82" d="100"/>
        </p:scale>
        <p:origin x="86" y="125"/>
      </p:cViewPr>
      <p:guideLst>
        <p:guide orient="horz" pos="2160"/>
        <p:guide pos="3840"/>
      </p:guideLst>
    </p:cSldViewPr>
  </p:slideViewPr>
  <p:outlineViewPr>
    <p:cViewPr>
      <p:scale>
        <a:sx n="33" d="100"/>
        <a:sy n="33" d="100"/>
      </p:scale>
      <p:origin x="0" y="0"/>
    </p:cViewPr>
  </p:outlineViewPr>
  <p:notesTextViewPr>
    <p:cViewPr>
      <p:scale>
        <a:sx n="70" d="100"/>
        <a:sy n="70" d="100"/>
      </p:scale>
      <p:origin x="0" y="0"/>
    </p:cViewPr>
  </p:notesTextViewPr>
  <p:sorterViewPr>
    <p:cViewPr varScale="1">
      <p:scale>
        <a:sx n="1" d="1"/>
        <a:sy n="1" d="1"/>
      </p:scale>
      <p:origin x="0" y="-8388"/>
    </p:cViewPr>
  </p:sorterViewPr>
  <p:notesViewPr>
    <p:cSldViewPr snapToGrid="0">
      <p:cViewPr varScale="1">
        <p:scale>
          <a:sx n="100" d="100"/>
          <a:sy n="100" d="100"/>
        </p:scale>
        <p:origin x="3078"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r-H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9C3701-699D-4B2D-880D-288325CA0A5E}" type="datetimeFigureOut">
              <a:rPr lang="hr-HR" smtClean="0"/>
              <a:t>29.3.2023.</a:t>
            </a:fld>
            <a:endParaRPr lang="hr-H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hr-H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46BBBB5-A8AD-4EFA-B87E-DF16A42B1AE9}" type="slidenum">
              <a:rPr lang="hr-HR" smtClean="0"/>
              <a:t>‹#›</a:t>
            </a:fld>
            <a:endParaRPr lang="hr-HR"/>
          </a:p>
        </p:txBody>
      </p:sp>
    </p:spTree>
    <p:extLst>
      <p:ext uri="{BB962C8B-B14F-4D97-AF65-F5344CB8AC3E}">
        <p14:creationId xmlns:p14="http://schemas.microsoft.com/office/powerpoint/2010/main" val="8092035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B7FE39-E206-4B27-9658-957DE19B1AAD}" type="datetimeFigureOut">
              <a:rPr lang="id-ID" smtClean="0"/>
              <a:pPr/>
              <a:t>29/03/2023</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C6A3E7-7B0A-43E6-AF50-B970C3A8BCF7}" type="slidenum">
              <a:rPr lang="id-ID" smtClean="0"/>
              <a:pPr/>
              <a:t>‹#›</a:t>
            </a:fld>
            <a:endParaRPr lang="id-ID"/>
          </a:p>
        </p:txBody>
      </p:sp>
    </p:spTree>
    <p:extLst>
      <p:ext uri="{BB962C8B-B14F-4D97-AF65-F5344CB8AC3E}">
        <p14:creationId xmlns:p14="http://schemas.microsoft.com/office/powerpoint/2010/main" val="1341818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hr-HR" dirty="0"/>
              <a:t>Ponosni</a:t>
            </a:r>
            <a:r>
              <a:rPr lang="hr-HR" baseline="0" dirty="0"/>
              <a:t> smo na svojih 2600 studenata</a:t>
            </a:r>
            <a:endParaRPr lang="hr-HR" dirty="0"/>
          </a:p>
        </p:txBody>
      </p:sp>
      <p:sp>
        <p:nvSpPr>
          <p:cNvPr id="4" name="Slide Number Placeholder 3"/>
          <p:cNvSpPr>
            <a:spLocks noGrp="1"/>
          </p:cNvSpPr>
          <p:nvPr>
            <p:ph type="sldNum" sz="quarter" idx="10"/>
          </p:nvPr>
        </p:nvSpPr>
        <p:spPr/>
        <p:txBody>
          <a:bodyPr/>
          <a:lstStyle/>
          <a:p>
            <a:fld id="{E6C6A3E7-7B0A-43E6-AF50-B970C3A8BCF7}" type="slidenum">
              <a:rPr lang="id-ID" smtClean="0"/>
              <a:pPr/>
              <a:t>1</a:t>
            </a:fld>
            <a:endParaRPr lang="id-ID"/>
          </a:p>
        </p:txBody>
      </p:sp>
    </p:spTree>
    <p:extLst>
      <p:ext uri="{BB962C8B-B14F-4D97-AF65-F5344CB8AC3E}">
        <p14:creationId xmlns:p14="http://schemas.microsoft.com/office/powerpoint/2010/main" val="930796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hr-HR" dirty="0"/>
              <a:t>Ponosni</a:t>
            </a:r>
            <a:r>
              <a:rPr lang="hr-HR" baseline="0" dirty="0"/>
              <a:t> smo na svojih 2600 studenata</a:t>
            </a:r>
            <a:endParaRPr lang="hr-HR" dirty="0"/>
          </a:p>
        </p:txBody>
      </p:sp>
      <p:sp>
        <p:nvSpPr>
          <p:cNvPr id="4" name="Slide Number Placeholder 3"/>
          <p:cNvSpPr>
            <a:spLocks noGrp="1"/>
          </p:cNvSpPr>
          <p:nvPr>
            <p:ph type="sldNum" sz="quarter" idx="10"/>
          </p:nvPr>
        </p:nvSpPr>
        <p:spPr/>
        <p:txBody>
          <a:bodyPr/>
          <a:lstStyle/>
          <a:p>
            <a:fld id="{E6C6A3E7-7B0A-43E6-AF50-B970C3A8BCF7}" type="slidenum">
              <a:rPr lang="id-ID" smtClean="0"/>
              <a:pPr/>
              <a:t>2</a:t>
            </a:fld>
            <a:endParaRPr lang="id-ID"/>
          </a:p>
        </p:txBody>
      </p:sp>
    </p:spTree>
    <p:extLst>
      <p:ext uri="{BB962C8B-B14F-4D97-AF65-F5344CB8AC3E}">
        <p14:creationId xmlns:p14="http://schemas.microsoft.com/office/powerpoint/2010/main" val="4062736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hr-HR" dirty="0"/>
              <a:t>Ponosni</a:t>
            </a:r>
            <a:r>
              <a:rPr lang="hr-HR" baseline="0" dirty="0"/>
              <a:t> smo na svojih 2600 studenata</a:t>
            </a:r>
            <a:endParaRPr lang="hr-HR" dirty="0"/>
          </a:p>
        </p:txBody>
      </p:sp>
      <p:sp>
        <p:nvSpPr>
          <p:cNvPr id="4" name="Slide Number Placeholder 3"/>
          <p:cNvSpPr>
            <a:spLocks noGrp="1"/>
          </p:cNvSpPr>
          <p:nvPr>
            <p:ph type="sldNum" sz="quarter" idx="10"/>
          </p:nvPr>
        </p:nvSpPr>
        <p:spPr/>
        <p:txBody>
          <a:bodyPr/>
          <a:lstStyle/>
          <a:p>
            <a:fld id="{E6C6A3E7-7B0A-43E6-AF50-B970C3A8BCF7}" type="slidenum">
              <a:rPr lang="id-ID" smtClean="0"/>
              <a:pPr/>
              <a:t>3</a:t>
            </a:fld>
            <a:endParaRPr lang="id-ID"/>
          </a:p>
        </p:txBody>
      </p:sp>
    </p:spTree>
    <p:extLst>
      <p:ext uri="{BB962C8B-B14F-4D97-AF65-F5344CB8AC3E}">
        <p14:creationId xmlns:p14="http://schemas.microsoft.com/office/powerpoint/2010/main" val="72751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hr-HR" dirty="0"/>
              <a:t>Ponosni</a:t>
            </a:r>
            <a:r>
              <a:rPr lang="hr-HR" baseline="0" dirty="0"/>
              <a:t> smo na svojih 2600 studenata</a:t>
            </a:r>
            <a:endParaRPr lang="hr-HR" dirty="0"/>
          </a:p>
        </p:txBody>
      </p:sp>
      <p:sp>
        <p:nvSpPr>
          <p:cNvPr id="4" name="Slide Number Placeholder 3"/>
          <p:cNvSpPr>
            <a:spLocks noGrp="1"/>
          </p:cNvSpPr>
          <p:nvPr>
            <p:ph type="sldNum" sz="quarter" idx="10"/>
          </p:nvPr>
        </p:nvSpPr>
        <p:spPr/>
        <p:txBody>
          <a:bodyPr/>
          <a:lstStyle/>
          <a:p>
            <a:fld id="{E6C6A3E7-7B0A-43E6-AF50-B970C3A8BCF7}" type="slidenum">
              <a:rPr lang="id-ID" smtClean="0"/>
              <a:pPr/>
              <a:t>4</a:t>
            </a:fld>
            <a:endParaRPr lang="id-ID"/>
          </a:p>
        </p:txBody>
      </p:sp>
    </p:spTree>
    <p:extLst>
      <p:ext uri="{BB962C8B-B14F-4D97-AF65-F5344CB8AC3E}">
        <p14:creationId xmlns:p14="http://schemas.microsoft.com/office/powerpoint/2010/main" val="11482462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dirty="0"/>
          </a:p>
        </p:txBody>
      </p:sp>
      <p:sp>
        <p:nvSpPr>
          <p:cNvPr id="4" name="Slide Number Placeholder 3"/>
          <p:cNvSpPr>
            <a:spLocks noGrp="1"/>
          </p:cNvSpPr>
          <p:nvPr>
            <p:ph type="sldNum" sz="quarter" idx="10"/>
          </p:nvPr>
        </p:nvSpPr>
        <p:spPr/>
        <p:txBody>
          <a:bodyPr/>
          <a:lstStyle/>
          <a:p>
            <a:fld id="{010176AF-C7E0-D44F-B55B-85B36FEE08C4}" type="slidenum">
              <a:rPr lang="hr-HR" smtClean="0"/>
              <a:t>11</a:t>
            </a:fld>
            <a:endParaRPr lang="hr-HR" dirty="0"/>
          </a:p>
        </p:txBody>
      </p:sp>
    </p:spTree>
    <p:extLst>
      <p:ext uri="{BB962C8B-B14F-4D97-AF65-F5344CB8AC3E}">
        <p14:creationId xmlns:p14="http://schemas.microsoft.com/office/powerpoint/2010/main" val="1496146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hr-HR" dirty="0"/>
          </a:p>
        </p:txBody>
      </p:sp>
      <p:sp>
        <p:nvSpPr>
          <p:cNvPr id="4" name="Slide Number Placeholder 3"/>
          <p:cNvSpPr>
            <a:spLocks noGrp="1"/>
          </p:cNvSpPr>
          <p:nvPr>
            <p:ph type="sldNum" sz="quarter" idx="10"/>
          </p:nvPr>
        </p:nvSpPr>
        <p:spPr/>
        <p:txBody>
          <a:bodyPr/>
          <a:lstStyle/>
          <a:p>
            <a:fld id="{E6C6A3E7-7B0A-43E6-AF50-B970C3A8BCF7}" type="slidenum">
              <a:rPr lang="id-ID" smtClean="0"/>
              <a:pPr/>
              <a:t>19</a:t>
            </a:fld>
            <a:endParaRPr lang="id-ID"/>
          </a:p>
        </p:txBody>
      </p:sp>
    </p:spTree>
    <p:extLst>
      <p:ext uri="{BB962C8B-B14F-4D97-AF65-F5344CB8AC3E}">
        <p14:creationId xmlns:p14="http://schemas.microsoft.com/office/powerpoint/2010/main" val="1294090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hr-HR" dirty="0"/>
          </a:p>
        </p:txBody>
      </p:sp>
      <p:sp>
        <p:nvSpPr>
          <p:cNvPr id="4" name="Slide Number Placeholder 3"/>
          <p:cNvSpPr>
            <a:spLocks noGrp="1"/>
          </p:cNvSpPr>
          <p:nvPr>
            <p:ph type="sldNum" sz="quarter" idx="10"/>
          </p:nvPr>
        </p:nvSpPr>
        <p:spPr/>
        <p:txBody>
          <a:bodyPr/>
          <a:lstStyle/>
          <a:p>
            <a:fld id="{E6C6A3E7-7B0A-43E6-AF50-B970C3A8BCF7}" type="slidenum">
              <a:rPr lang="id-ID" smtClean="0"/>
              <a:pPr/>
              <a:t>20</a:t>
            </a:fld>
            <a:endParaRPr lang="id-ID"/>
          </a:p>
        </p:txBody>
      </p:sp>
    </p:spTree>
    <p:extLst>
      <p:ext uri="{BB962C8B-B14F-4D97-AF65-F5344CB8AC3E}">
        <p14:creationId xmlns:p14="http://schemas.microsoft.com/office/powerpoint/2010/main" val="1736034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hr-HR" dirty="0"/>
          </a:p>
        </p:txBody>
      </p:sp>
      <p:sp>
        <p:nvSpPr>
          <p:cNvPr id="4" name="Slide Number Placeholder 3"/>
          <p:cNvSpPr>
            <a:spLocks noGrp="1"/>
          </p:cNvSpPr>
          <p:nvPr>
            <p:ph type="sldNum" sz="quarter" idx="10"/>
          </p:nvPr>
        </p:nvSpPr>
        <p:spPr/>
        <p:txBody>
          <a:bodyPr/>
          <a:lstStyle/>
          <a:p>
            <a:fld id="{E6C6A3E7-7B0A-43E6-AF50-B970C3A8BCF7}" type="slidenum">
              <a:rPr lang="id-ID" smtClean="0"/>
              <a:pPr/>
              <a:t>21</a:t>
            </a:fld>
            <a:endParaRPr lang="id-ID"/>
          </a:p>
        </p:txBody>
      </p:sp>
    </p:spTree>
    <p:extLst>
      <p:ext uri="{BB962C8B-B14F-4D97-AF65-F5344CB8AC3E}">
        <p14:creationId xmlns:p14="http://schemas.microsoft.com/office/powerpoint/2010/main" val="15298992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hr-HR" dirty="0"/>
          </a:p>
        </p:txBody>
      </p:sp>
      <p:sp>
        <p:nvSpPr>
          <p:cNvPr id="4" name="Slide Number Placeholder 3"/>
          <p:cNvSpPr>
            <a:spLocks noGrp="1"/>
          </p:cNvSpPr>
          <p:nvPr>
            <p:ph type="sldNum" sz="quarter" idx="10"/>
          </p:nvPr>
        </p:nvSpPr>
        <p:spPr/>
        <p:txBody>
          <a:bodyPr/>
          <a:lstStyle/>
          <a:p>
            <a:fld id="{E6C6A3E7-7B0A-43E6-AF50-B970C3A8BCF7}" type="slidenum">
              <a:rPr lang="id-ID" smtClean="0"/>
              <a:pPr/>
              <a:t>22</a:t>
            </a:fld>
            <a:endParaRPr lang="id-ID"/>
          </a:p>
        </p:txBody>
      </p:sp>
    </p:spTree>
    <p:extLst>
      <p:ext uri="{BB962C8B-B14F-4D97-AF65-F5344CB8AC3E}">
        <p14:creationId xmlns:p14="http://schemas.microsoft.com/office/powerpoint/2010/main" val="16104676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hr-HR" dirty="0"/>
          </a:p>
        </p:txBody>
      </p:sp>
      <p:sp>
        <p:nvSpPr>
          <p:cNvPr id="4" name="Slide Number Placeholder 3"/>
          <p:cNvSpPr>
            <a:spLocks noGrp="1"/>
          </p:cNvSpPr>
          <p:nvPr>
            <p:ph type="sldNum" sz="quarter" idx="10"/>
          </p:nvPr>
        </p:nvSpPr>
        <p:spPr/>
        <p:txBody>
          <a:bodyPr/>
          <a:lstStyle/>
          <a:p>
            <a:fld id="{E6C6A3E7-7B0A-43E6-AF50-B970C3A8BCF7}" type="slidenum">
              <a:rPr lang="id-ID" smtClean="0"/>
              <a:pPr/>
              <a:t>23</a:t>
            </a:fld>
            <a:endParaRPr lang="id-ID"/>
          </a:p>
        </p:txBody>
      </p:sp>
    </p:spTree>
    <p:extLst>
      <p:ext uri="{BB962C8B-B14F-4D97-AF65-F5344CB8AC3E}">
        <p14:creationId xmlns:p14="http://schemas.microsoft.com/office/powerpoint/2010/main" val="339079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1" name="Picture Placeholder 10"/>
          <p:cNvSpPr>
            <a:spLocks noGrp="1"/>
          </p:cNvSpPr>
          <p:nvPr>
            <p:ph type="pic" sz="quarter" idx="10"/>
          </p:nvPr>
        </p:nvSpPr>
        <p:spPr>
          <a:xfrm>
            <a:off x="0" y="0"/>
            <a:ext cx="12192000" cy="6858000"/>
          </a:xfrm>
          <a:custGeom>
            <a:avLst/>
            <a:gdLst>
              <a:gd name="connsiteX0" fmla="*/ 0 w 11374582"/>
              <a:gd name="connsiteY0" fmla="*/ 0 h 6096000"/>
              <a:gd name="connsiteX1" fmla="*/ 11374582 w 11374582"/>
              <a:gd name="connsiteY1" fmla="*/ 0 h 6096000"/>
              <a:gd name="connsiteX2" fmla="*/ 11374582 w 11374582"/>
              <a:gd name="connsiteY2" fmla="*/ 6096000 h 6096000"/>
              <a:gd name="connsiteX3" fmla="*/ 0 w 11374582"/>
              <a:gd name="connsiteY3" fmla="*/ 6096000 h 6096000"/>
            </a:gdLst>
            <a:ahLst/>
            <a:cxnLst>
              <a:cxn ang="0">
                <a:pos x="connsiteX0" y="connsiteY0"/>
              </a:cxn>
              <a:cxn ang="0">
                <a:pos x="connsiteX1" y="connsiteY1"/>
              </a:cxn>
              <a:cxn ang="0">
                <a:pos x="connsiteX2" y="connsiteY2"/>
              </a:cxn>
              <a:cxn ang="0">
                <a:pos x="connsiteX3" y="connsiteY3"/>
              </a:cxn>
            </a:cxnLst>
            <a:rect l="l" t="t" r="r" b="b"/>
            <a:pathLst>
              <a:path w="11374582" h="6096000">
                <a:moveTo>
                  <a:pt x="0" y="0"/>
                </a:moveTo>
                <a:lnTo>
                  <a:pt x="11374582" y="0"/>
                </a:lnTo>
                <a:lnTo>
                  <a:pt x="11374582" y="6096000"/>
                </a:lnTo>
                <a:lnTo>
                  <a:pt x="0" y="6096000"/>
                </a:lnTo>
                <a:close/>
              </a:path>
            </a:pathLst>
          </a:custGeom>
        </p:spPr>
        <p:txBody>
          <a:bodyPr wrap="square">
            <a:noAutofit/>
          </a:bodyPr>
          <a:lstStyle/>
          <a:p>
            <a:endParaRPr lang="hr-HR" dirty="0"/>
          </a:p>
        </p:txBody>
      </p:sp>
    </p:spTree>
    <p:extLst>
      <p:ext uri="{BB962C8B-B14F-4D97-AF65-F5344CB8AC3E}">
        <p14:creationId xmlns:p14="http://schemas.microsoft.com/office/powerpoint/2010/main" val="2860717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0" y="0"/>
            <a:ext cx="12192000" cy="2501900"/>
          </a:xfrm>
          <a:prstGeom prst="rect">
            <a:avLst/>
          </a:prstGeom>
        </p:spPr>
        <p:txBody>
          <a:bodyPr/>
          <a:lstStyle/>
          <a:p>
            <a:endParaRPr lang="hr-HR"/>
          </a:p>
        </p:txBody>
      </p:sp>
    </p:spTree>
    <p:extLst>
      <p:ext uri="{BB962C8B-B14F-4D97-AF65-F5344CB8AC3E}">
        <p14:creationId xmlns:p14="http://schemas.microsoft.com/office/powerpoint/2010/main" val="19118860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grpSp>
        <p:nvGrpSpPr>
          <p:cNvPr id="25" name="Group 24"/>
          <p:cNvGrpSpPr/>
          <p:nvPr userDrawn="1"/>
        </p:nvGrpSpPr>
        <p:grpSpPr>
          <a:xfrm>
            <a:off x="1" y="0"/>
            <a:ext cx="12192001" cy="6858000"/>
            <a:chOff x="-1" y="-1"/>
            <a:chExt cx="12192001" cy="7467601"/>
          </a:xfrm>
        </p:grpSpPr>
        <p:grpSp>
          <p:nvGrpSpPr>
            <p:cNvPr id="12" name="Group 11"/>
            <p:cNvGrpSpPr/>
            <p:nvPr userDrawn="1"/>
          </p:nvGrpSpPr>
          <p:grpSpPr>
            <a:xfrm>
              <a:off x="-1" y="-1"/>
              <a:ext cx="12192001" cy="2486026"/>
              <a:chOff x="0" y="0"/>
              <a:chExt cx="10782300" cy="2152650"/>
            </a:xfrm>
          </p:grpSpPr>
          <p:sp>
            <p:nvSpPr>
              <p:cNvPr id="7" name="Rectangle 6"/>
              <p:cNvSpPr/>
              <p:nvPr userDrawn="1"/>
            </p:nvSpPr>
            <p:spPr>
              <a:xfrm>
                <a:off x="0" y="0"/>
                <a:ext cx="2152650" cy="2152650"/>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800"/>
              </a:p>
            </p:txBody>
          </p:sp>
          <p:sp>
            <p:nvSpPr>
              <p:cNvPr id="8" name="Rectangle 7"/>
              <p:cNvSpPr/>
              <p:nvPr userDrawn="1"/>
            </p:nvSpPr>
            <p:spPr>
              <a:xfrm>
                <a:off x="2152650" y="0"/>
                <a:ext cx="2152650" cy="2152650"/>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800"/>
              </a:p>
            </p:txBody>
          </p:sp>
          <p:sp>
            <p:nvSpPr>
              <p:cNvPr id="9" name="Rectangle 8"/>
              <p:cNvSpPr/>
              <p:nvPr userDrawn="1"/>
            </p:nvSpPr>
            <p:spPr>
              <a:xfrm>
                <a:off x="4305300" y="0"/>
                <a:ext cx="2152650" cy="2152650"/>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800"/>
              </a:p>
            </p:txBody>
          </p:sp>
          <p:sp>
            <p:nvSpPr>
              <p:cNvPr id="10" name="Rectangle 9"/>
              <p:cNvSpPr/>
              <p:nvPr userDrawn="1"/>
            </p:nvSpPr>
            <p:spPr>
              <a:xfrm>
                <a:off x="6467475" y="0"/>
                <a:ext cx="2152650" cy="2152650"/>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800"/>
              </a:p>
            </p:txBody>
          </p:sp>
          <p:sp>
            <p:nvSpPr>
              <p:cNvPr id="11" name="Rectangle 10"/>
              <p:cNvSpPr/>
              <p:nvPr userDrawn="1"/>
            </p:nvSpPr>
            <p:spPr>
              <a:xfrm>
                <a:off x="8629650" y="0"/>
                <a:ext cx="2152650" cy="2152650"/>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800"/>
              </a:p>
            </p:txBody>
          </p:sp>
        </p:grpSp>
        <p:grpSp>
          <p:nvGrpSpPr>
            <p:cNvPr id="13" name="Group 12"/>
            <p:cNvGrpSpPr/>
            <p:nvPr userDrawn="1"/>
          </p:nvGrpSpPr>
          <p:grpSpPr>
            <a:xfrm>
              <a:off x="-1" y="2486024"/>
              <a:ext cx="12192001" cy="2486026"/>
              <a:chOff x="0" y="0"/>
              <a:chExt cx="10782300" cy="2152650"/>
            </a:xfrm>
          </p:grpSpPr>
          <p:sp>
            <p:nvSpPr>
              <p:cNvPr id="14" name="Rectangle 13"/>
              <p:cNvSpPr/>
              <p:nvPr userDrawn="1"/>
            </p:nvSpPr>
            <p:spPr>
              <a:xfrm>
                <a:off x="0" y="0"/>
                <a:ext cx="2152650" cy="2152650"/>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800"/>
              </a:p>
            </p:txBody>
          </p:sp>
          <p:sp>
            <p:nvSpPr>
              <p:cNvPr id="15" name="Rectangle 14"/>
              <p:cNvSpPr/>
              <p:nvPr userDrawn="1"/>
            </p:nvSpPr>
            <p:spPr>
              <a:xfrm>
                <a:off x="2152650" y="0"/>
                <a:ext cx="2152650" cy="2152650"/>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800"/>
              </a:p>
            </p:txBody>
          </p:sp>
          <p:sp>
            <p:nvSpPr>
              <p:cNvPr id="16" name="Rectangle 15"/>
              <p:cNvSpPr/>
              <p:nvPr userDrawn="1"/>
            </p:nvSpPr>
            <p:spPr>
              <a:xfrm>
                <a:off x="4305300" y="0"/>
                <a:ext cx="2152650" cy="2152650"/>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800"/>
              </a:p>
            </p:txBody>
          </p:sp>
          <p:sp>
            <p:nvSpPr>
              <p:cNvPr id="17" name="Rectangle 16"/>
              <p:cNvSpPr/>
              <p:nvPr userDrawn="1"/>
            </p:nvSpPr>
            <p:spPr>
              <a:xfrm>
                <a:off x="6467475" y="0"/>
                <a:ext cx="2152650" cy="2152650"/>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800"/>
              </a:p>
            </p:txBody>
          </p:sp>
          <p:sp>
            <p:nvSpPr>
              <p:cNvPr id="18" name="Rectangle 17"/>
              <p:cNvSpPr/>
              <p:nvPr userDrawn="1"/>
            </p:nvSpPr>
            <p:spPr>
              <a:xfrm>
                <a:off x="8629650" y="0"/>
                <a:ext cx="2152650" cy="2152650"/>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800"/>
              </a:p>
            </p:txBody>
          </p:sp>
        </p:grpSp>
        <p:grpSp>
          <p:nvGrpSpPr>
            <p:cNvPr id="19" name="Group 18"/>
            <p:cNvGrpSpPr/>
            <p:nvPr userDrawn="1"/>
          </p:nvGrpSpPr>
          <p:grpSpPr>
            <a:xfrm>
              <a:off x="-1" y="4981574"/>
              <a:ext cx="12192001" cy="2486026"/>
              <a:chOff x="0" y="0"/>
              <a:chExt cx="10782300" cy="2152650"/>
            </a:xfrm>
          </p:grpSpPr>
          <p:sp>
            <p:nvSpPr>
              <p:cNvPr id="20" name="Rectangle 19"/>
              <p:cNvSpPr/>
              <p:nvPr userDrawn="1"/>
            </p:nvSpPr>
            <p:spPr>
              <a:xfrm>
                <a:off x="0" y="0"/>
                <a:ext cx="2152650" cy="2152650"/>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800"/>
              </a:p>
            </p:txBody>
          </p:sp>
          <p:sp>
            <p:nvSpPr>
              <p:cNvPr id="21" name="Rectangle 20"/>
              <p:cNvSpPr/>
              <p:nvPr userDrawn="1"/>
            </p:nvSpPr>
            <p:spPr>
              <a:xfrm>
                <a:off x="2152650" y="0"/>
                <a:ext cx="2152650" cy="2152650"/>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800"/>
              </a:p>
            </p:txBody>
          </p:sp>
          <p:sp>
            <p:nvSpPr>
              <p:cNvPr id="22" name="Rectangle 21"/>
              <p:cNvSpPr/>
              <p:nvPr userDrawn="1"/>
            </p:nvSpPr>
            <p:spPr>
              <a:xfrm>
                <a:off x="4305300" y="0"/>
                <a:ext cx="2152650" cy="2152650"/>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800"/>
              </a:p>
            </p:txBody>
          </p:sp>
          <p:sp>
            <p:nvSpPr>
              <p:cNvPr id="23" name="Rectangle 22"/>
              <p:cNvSpPr/>
              <p:nvPr userDrawn="1"/>
            </p:nvSpPr>
            <p:spPr>
              <a:xfrm>
                <a:off x="6467475" y="0"/>
                <a:ext cx="2152650" cy="2152650"/>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800"/>
              </a:p>
            </p:txBody>
          </p:sp>
          <p:sp>
            <p:nvSpPr>
              <p:cNvPr id="24" name="Rectangle 23"/>
              <p:cNvSpPr/>
              <p:nvPr userDrawn="1"/>
            </p:nvSpPr>
            <p:spPr>
              <a:xfrm>
                <a:off x="8629650" y="0"/>
                <a:ext cx="2152650" cy="2152650"/>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800"/>
              </a:p>
            </p:txBody>
          </p:sp>
        </p:grpSp>
      </p:grpSp>
    </p:spTree>
    <p:extLst>
      <p:ext uri="{BB962C8B-B14F-4D97-AF65-F5344CB8AC3E}">
        <p14:creationId xmlns:p14="http://schemas.microsoft.com/office/powerpoint/2010/main" val="5988505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4145766"/>
      </p:ext>
    </p:extLst>
  </p:cSld>
  <p:clrMapOvr>
    <a:masterClrMapping/>
  </p:clrMapOvr>
  <p:extLst>
    <p:ext uri="{DCECCB84-F9BA-43D5-87BE-67443E8EF086}">
      <p15:sldGuideLst xmlns:p15="http://schemas.microsoft.com/office/powerpoint/2012/main">
        <p15:guide id="1" orient="horz" pos="1457" userDrawn="1">
          <p15:clr>
            <a:srgbClr val="FBAE40"/>
          </p15:clr>
        </p15:guide>
        <p15:guide id="3" pos="3523" userDrawn="1">
          <p15:clr>
            <a:srgbClr val="FBAE40"/>
          </p15:clr>
        </p15:guide>
        <p15:guide id="4" pos="5609" userDrawn="1">
          <p15:clr>
            <a:srgbClr val="FBAE40"/>
          </p15:clr>
        </p15:guide>
        <p15:guide id="6" orient="horz" pos="286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8"/>
            <a:ext cx="10515600" cy="1325563"/>
          </a:xfrm>
          <a:prstGeom prst="rect">
            <a:avLst/>
          </a:prstGeom>
        </p:spPr>
        <p:txBody>
          <a:bodyPr/>
          <a:lstStyle/>
          <a:p>
            <a:r>
              <a:rPr lang="en-US"/>
              <a:t>Click to edit Master title style</a:t>
            </a:r>
            <a:endParaRPr lang="hr-HR"/>
          </a:p>
        </p:txBody>
      </p:sp>
      <p:sp>
        <p:nvSpPr>
          <p:cNvPr id="3" name="Text Placeholder 2"/>
          <p:cNvSpPr>
            <a:spLocks noGrp="1"/>
          </p:cNvSpPr>
          <p:nvPr>
            <p:ph type="body" idx="1"/>
          </p:nvPr>
        </p:nvSpPr>
        <p:spPr>
          <a:xfrm>
            <a:off x="840319" y="1681163"/>
            <a:ext cx="5158316"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9"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7" name="Date Placeholder 6"/>
          <p:cNvSpPr>
            <a:spLocks noGrp="1"/>
          </p:cNvSpPr>
          <p:nvPr>
            <p:ph type="dt" sz="half" idx="10"/>
          </p:nvPr>
        </p:nvSpPr>
        <p:spPr>
          <a:xfrm>
            <a:off x="838200" y="6356353"/>
            <a:ext cx="2743200" cy="365125"/>
          </a:xfrm>
          <a:prstGeom prst="rect">
            <a:avLst/>
          </a:prstGeom>
        </p:spPr>
        <p:txBody>
          <a:bodyPr/>
          <a:lstStyle/>
          <a:p>
            <a:fld id="{4505C78D-E0C4-4B3B-B9F6-E688B180EDA3}" type="datetimeFigureOut">
              <a:rPr lang="hr-HR" smtClean="0"/>
              <a:t>29.3.2023.</a:t>
            </a:fld>
            <a:endParaRPr lang="hr-HR"/>
          </a:p>
        </p:txBody>
      </p:sp>
      <p:sp>
        <p:nvSpPr>
          <p:cNvPr id="8" name="Footer Placeholder 7"/>
          <p:cNvSpPr>
            <a:spLocks noGrp="1"/>
          </p:cNvSpPr>
          <p:nvPr>
            <p:ph type="ftr" sz="quarter" idx="11"/>
          </p:nvPr>
        </p:nvSpPr>
        <p:spPr>
          <a:xfrm>
            <a:off x="4038600" y="6356353"/>
            <a:ext cx="4114800" cy="365125"/>
          </a:xfrm>
          <a:prstGeom prst="rect">
            <a:avLst/>
          </a:prstGeom>
        </p:spPr>
        <p:txBody>
          <a:bodyPr/>
          <a:lstStyle/>
          <a:p>
            <a:endParaRPr lang="hr-HR"/>
          </a:p>
        </p:txBody>
      </p:sp>
      <p:sp>
        <p:nvSpPr>
          <p:cNvPr id="9" name="Slide Number Placeholder 8"/>
          <p:cNvSpPr>
            <a:spLocks noGrp="1"/>
          </p:cNvSpPr>
          <p:nvPr>
            <p:ph type="sldNum" sz="quarter" idx="12"/>
          </p:nvPr>
        </p:nvSpPr>
        <p:spPr>
          <a:xfrm>
            <a:off x="8610600" y="6356353"/>
            <a:ext cx="2743200" cy="365125"/>
          </a:xfrm>
          <a:prstGeom prst="rect">
            <a:avLst/>
          </a:prstGeom>
        </p:spPr>
        <p:txBody>
          <a:bodyPr/>
          <a:lstStyle/>
          <a:p>
            <a:fld id="{E98B40AC-73D9-412A-B37C-F43489147ABA}" type="slidenum">
              <a:rPr lang="hr-HR" smtClean="0"/>
              <a:t>‹#›</a:t>
            </a:fld>
            <a:endParaRPr lang="hr-HR"/>
          </a:p>
        </p:txBody>
      </p:sp>
    </p:spTree>
    <p:extLst>
      <p:ext uri="{BB962C8B-B14F-4D97-AF65-F5344CB8AC3E}">
        <p14:creationId xmlns:p14="http://schemas.microsoft.com/office/powerpoint/2010/main" val="4290757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8"/>
            <a:ext cx="10515600" cy="1325563"/>
          </a:xfrm>
          <a:prstGeom prst="rect">
            <a:avLst/>
          </a:prstGeom>
        </p:spPr>
        <p:txBody>
          <a:bodyPr/>
          <a:lstStyle/>
          <a:p>
            <a:r>
              <a:rPr lang="en-US"/>
              <a:t>Click to edit Master title style</a:t>
            </a:r>
            <a:endParaRPr lang="hr-HR"/>
          </a:p>
        </p:txBody>
      </p:sp>
      <p:sp>
        <p:nvSpPr>
          <p:cNvPr id="3" name="Date Placeholder 2"/>
          <p:cNvSpPr>
            <a:spLocks noGrp="1"/>
          </p:cNvSpPr>
          <p:nvPr>
            <p:ph type="dt" sz="half" idx="10"/>
          </p:nvPr>
        </p:nvSpPr>
        <p:spPr>
          <a:xfrm>
            <a:off x="838200" y="6356353"/>
            <a:ext cx="2743200" cy="365125"/>
          </a:xfrm>
          <a:prstGeom prst="rect">
            <a:avLst/>
          </a:prstGeom>
        </p:spPr>
        <p:txBody>
          <a:bodyPr/>
          <a:lstStyle/>
          <a:p>
            <a:fld id="{4505C78D-E0C4-4B3B-B9F6-E688B180EDA3}" type="datetimeFigureOut">
              <a:rPr lang="hr-HR" smtClean="0"/>
              <a:t>29.3.2023.</a:t>
            </a:fld>
            <a:endParaRPr lang="hr-HR"/>
          </a:p>
        </p:txBody>
      </p:sp>
      <p:sp>
        <p:nvSpPr>
          <p:cNvPr id="4" name="Footer Placeholder 3"/>
          <p:cNvSpPr>
            <a:spLocks noGrp="1"/>
          </p:cNvSpPr>
          <p:nvPr>
            <p:ph type="ftr" sz="quarter" idx="11"/>
          </p:nvPr>
        </p:nvSpPr>
        <p:spPr>
          <a:xfrm>
            <a:off x="4038600" y="6356353"/>
            <a:ext cx="4114800" cy="365125"/>
          </a:xfrm>
          <a:prstGeom prst="rect">
            <a:avLst/>
          </a:prstGeom>
        </p:spPr>
        <p:txBody>
          <a:bodyPr/>
          <a:lstStyle/>
          <a:p>
            <a:endParaRPr lang="hr-HR"/>
          </a:p>
        </p:txBody>
      </p:sp>
      <p:sp>
        <p:nvSpPr>
          <p:cNvPr id="5" name="Slide Number Placeholder 4"/>
          <p:cNvSpPr>
            <a:spLocks noGrp="1"/>
          </p:cNvSpPr>
          <p:nvPr>
            <p:ph type="sldNum" sz="quarter" idx="12"/>
          </p:nvPr>
        </p:nvSpPr>
        <p:spPr>
          <a:xfrm>
            <a:off x="8610600" y="6356353"/>
            <a:ext cx="2743200" cy="365125"/>
          </a:xfrm>
          <a:prstGeom prst="rect">
            <a:avLst/>
          </a:prstGeom>
        </p:spPr>
        <p:txBody>
          <a:bodyPr/>
          <a:lstStyle/>
          <a:p>
            <a:fld id="{E98B40AC-73D9-412A-B37C-F43489147ABA}" type="slidenum">
              <a:rPr lang="hr-HR" smtClean="0"/>
              <a:t>‹#›</a:t>
            </a:fld>
            <a:endParaRPr lang="hr-HR"/>
          </a:p>
        </p:txBody>
      </p:sp>
    </p:spTree>
    <p:extLst>
      <p:ext uri="{BB962C8B-B14F-4D97-AF65-F5344CB8AC3E}">
        <p14:creationId xmlns:p14="http://schemas.microsoft.com/office/powerpoint/2010/main" val="1353697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3"/>
            <a:ext cx="2743200" cy="365125"/>
          </a:xfrm>
          <a:prstGeom prst="rect">
            <a:avLst/>
          </a:prstGeom>
        </p:spPr>
        <p:txBody>
          <a:bodyPr/>
          <a:lstStyle/>
          <a:p>
            <a:fld id="{4505C78D-E0C4-4B3B-B9F6-E688B180EDA3}" type="datetimeFigureOut">
              <a:rPr lang="hr-HR" smtClean="0"/>
              <a:t>29.3.2023.</a:t>
            </a:fld>
            <a:endParaRPr lang="hr-HR"/>
          </a:p>
        </p:txBody>
      </p:sp>
      <p:sp>
        <p:nvSpPr>
          <p:cNvPr id="3" name="Footer Placeholder 2"/>
          <p:cNvSpPr>
            <a:spLocks noGrp="1"/>
          </p:cNvSpPr>
          <p:nvPr>
            <p:ph type="ftr" sz="quarter" idx="11"/>
          </p:nvPr>
        </p:nvSpPr>
        <p:spPr>
          <a:xfrm>
            <a:off x="4038600" y="6356353"/>
            <a:ext cx="4114800" cy="365125"/>
          </a:xfrm>
          <a:prstGeom prst="rect">
            <a:avLst/>
          </a:prstGeom>
        </p:spPr>
        <p:txBody>
          <a:bodyPr/>
          <a:lstStyle/>
          <a:p>
            <a:endParaRPr lang="hr-HR"/>
          </a:p>
        </p:txBody>
      </p:sp>
      <p:sp>
        <p:nvSpPr>
          <p:cNvPr id="4" name="Slide Number Placeholder 3"/>
          <p:cNvSpPr>
            <a:spLocks noGrp="1"/>
          </p:cNvSpPr>
          <p:nvPr>
            <p:ph type="sldNum" sz="quarter" idx="12"/>
          </p:nvPr>
        </p:nvSpPr>
        <p:spPr>
          <a:xfrm>
            <a:off x="8610600" y="6356353"/>
            <a:ext cx="2743200" cy="365125"/>
          </a:xfrm>
          <a:prstGeom prst="rect">
            <a:avLst/>
          </a:prstGeom>
        </p:spPr>
        <p:txBody>
          <a:bodyPr/>
          <a:lstStyle/>
          <a:p>
            <a:fld id="{E98B40AC-73D9-412A-B37C-F43489147ABA}" type="slidenum">
              <a:rPr lang="hr-HR" smtClean="0"/>
              <a:t>‹#›</a:t>
            </a:fld>
            <a:endParaRPr lang="hr-HR"/>
          </a:p>
        </p:txBody>
      </p:sp>
    </p:spTree>
    <p:extLst>
      <p:ext uri="{BB962C8B-B14F-4D97-AF65-F5344CB8AC3E}">
        <p14:creationId xmlns:p14="http://schemas.microsoft.com/office/powerpoint/2010/main" val="1994362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9" y="457200"/>
            <a:ext cx="3932767" cy="1600200"/>
          </a:xfrm>
          <a:prstGeom prst="rect">
            <a:avLst/>
          </a:prstGeom>
        </p:spPr>
        <p:txBody>
          <a:bodyPr anchor="b"/>
          <a:lstStyle>
            <a:lvl1pPr>
              <a:defRPr sz="3200"/>
            </a:lvl1pPr>
          </a:lstStyle>
          <a:p>
            <a:r>
              <a:rPr lang="en-US"/>
              <a:t>Click to edit Master title style</a:t>
            </a:r>
            <a:endParaRPr lang="hr-HR"/>
          </a:p>
        </p:txBody>
      </p:sp>
      <p:sp>
        <p:nvSpPr>
          <p:cNvPr id="3" name="Content Placeholder 2"/>
          <p:cNvSpPr>
            <a:spLocks noGrp="1"/>
          </p:cNvSpPr>
          <p:nvPr>
            <p:ph idx="1"/>
          </p:nvPr>
        </p:nvSpPr>
        <p:spPr>
          <a:xfrm>
            <a:off x="5183717" y="987428"/>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Text Placeholder 3"/>
          <p:cNvSpPr>
            <a:spLocks noGrp="1"/>
          </p:cNvSpPr>
          <p:nvPr>
            <p:ph type="body" sz="half" idx="2"/>
          </p:nvPr>
        </p:nvSpPr>
        <p:spPr>
          <a:xfrm>
            <a:off x="840319" y="2057400"/>
            <a:ext cx="393276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3"/>
            <a:ext cx="2743200" cy="365125"/>
          </a:xfrm>
          <a:prstGeom prst="rect">
            <a:avLst/>
          </a:prstGeom>
        </p:spPr>
        <p:txBody>
          <a:bodyPr/>
          <a:lstStyle/>
          <a:p>
            <a:fld id="{4505C78D-E0C4-4B3B-B9F6-E688B180EDA3}" type="datetimeFigureOut">
              <a:rPr lang="hr-HR" smtClean="0"/>
              <a:t>29.3.2023.</a:t>
            </a:fld>
            <a:endParaRPr lang="hr-HR"/>
          </a:p>
        </p:txBody>
      </p:sp>
      <p:sp>
        <p:nvSpPr>
          <p:cNvPr id="6" name="Footer Placeholder 5"/>
          <p:cNvSpPr>
            <a:spLocks noGrp="1"/>
          </p:cNvSpPr>
          <p:nvPr>
            <p:ph type="ftr" sz="quarter" idx="11"/>
          </p:nvPr>
        </p:nvSpPr>
        <p:spPr>
          <a:xfrm>
            <a:off x="4038600" y="6356353"/>
            <a:ext cx="4114800" cy="365125"/>
          </a:xfrm>
          <a:prstGeom prst="rect">
            <a:avLst/>
          </a:prstGeom>
        </p:spPr>
        <p:txBody>
          <a:bodyPr/>
          <a:lstStyle/>
          <a:p>
            <a:endParaRPr lang="hr-HR"/>
          </a:p>
        </p:txBody>
      </p:sp>
      <p:sp>
        <p:nvSpPr>
          <p:cNvPr id="7" name="Slide Number Placeholder 6"/>
          <p:cNvSpPr>
            <a:spLocks noGrp="1"/>
          </p:cNvSpPr>
          <p:nvPr>
            <p:ph type="sldNum" sz="quarter" idx="12"/>
          </p:nvPr>
        </p:nvSpPr>
        <p:spPr>
          <a:xfrm>
            <a:off x="8610600" y="6356353"/>
            <a:ext cx="2743200" cy="365125"/>
          </a:xfrm>
          <a:prstGeom prst="rect">
            <a:avLst/>
          </a:prstGeom>
        </p:spPr>
        <p:txBody>
          <a:bodyPr/>
          <a:lstStyle/>
          <a:p>
            <a:fld id="{E98B40AC-73D9-412A-B37C-F43489147ABA}" type="slidenum">
              <a:rPr lang="hr-HR" smtClean="0"/>
              <a:t>‹#›</a:t>
            </a:fld>
            <a:endParaRPr lang="hr-HR"/>
          </a:p>
        </p:txBody>
      </p:sp>
    </p:spTree>
    <p:extLst>
      <p:ext uri="{BB962C8B-B14F-4D97-AF65-F5344CB8AC3E}">
        <p14:creationId xmlns:p14="http://schemas.microsoft.com/office/powerpoint/2010/main" val="3019929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9" y="457200"/>
            <a:ext cx="3932767" cy="1600200"/>
          </a:xfrm>
          <a:prstGeom prst="rect">
            <a:avLst/>
          </a:prstGeom>
        </p:spPr>
        <p:txBody>
          <a:bodyPr anchor="b"/>
          <a:lstStyle>
            <a:lvl1pPr>
              <a:defRPr sz="3200"/>
            </a:lvl1pPr>
          </a:lstStyle>
          <a:p>
            <a:r>
              <a:rPr lang="en-US"/>
              <a:t>Click to edit Master title style</a:t>
            </a:r>
            <a:endParaRPr lang="hr-HR"/>
          </a:p>
        </p:txBody>
      </p:sp>
      <p:sp>
        <p:nvSpPr>
          <p:cNvPr id="3" name="Picture Placeholder 2"/>
          <p:cNvSpPr>
            <a:spLocks noGrp="1"/>
          </p:cNvSpPr>
          <p:nvPr>
            <p:ph type="pic" idx="1"/>
          </p:nvPr>
        </p:nvSpPr>
        <p:spPr>
          <a:xfrm>
            <a:off x="5183717" y="987428"/>
            <a:ext cx="6172200" cy="4873625"/>
          </a:xfrm>
          <a:prstGeom prst="rect">
            <a:avLst/>
          </a:prstGeo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hr-HR"/>
          </a:p>
        </p:txBody>
      </p:sp>
      <p:sp>
        <p:nvSpPr>
          <p:cNvPr id="4" name="Text Placeholder 3"/>
          <p:cNvSpPr>
            <a:spLocks noGrp="1"/>
          </p:cNvSpPr>
          <p:nvPr>
            <p:ph type="body" sz="half" idx="2"/>
          </p:nvPr>
        </p:nvSpPr>
        <p:spPr>
          <a:xfrm>
            <a:off x="840319" y="2057400"/>
            <a:ext cx="393276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3"/>
            <a:ext cx="2743200" cy="365125"/>
          </a:xfrm>
          <a:prstGeom prst="rect">
            <a:avLst/>
          </a:prstGeom>
        </p:spPr>
        <p:txBody>
          <a:bodyPr/>
          <a:lstStyle/>
          <a:p>
            <a:fld id="{4505C78D-E0C4-4B3B-B9F6-E688B180EDA3}" type="datetimeFigureOut">
              <a:rPr lang="hr-HR" smtClean="0"/>
              <a:t>29.3.2023.</a:t>
            </a:fld>
            <a:endParaRPr lang="hr-HR"/>
          </a:p>
        </p:txBody>
      </p:sp>
      <p:sp>
        <p:nvSpPr>
          <p:cNvPr id="6" name="Footer Placeholder 5"/>
          <p:cNvSpPr>
            <a:spLocks noGrp="1"/>
          </p:cNvSpPr>
          <p:nvPr>
            <p:ph type="ftr" sz="quarter" idx="11"/>
          </p:nvPr>
        </p:nvSpPr>
        <p:spPr>
          <a:xfrm>
            <a:off x="4038600" y="6356353"/>
            <a:ext cx="4114800" cy="365125"/>
          </a:xfrm>
          <a:prstGeom prst="rect">
            <a:avLst/>
          </a:prstGeom>
        </p:spPr>
        <p:txBody>
          <a:bodyPr/>
          <a:lstStyle/>
          <a:p>
            <a:endParaRPr lang="hr-HR"/>
          </a:p>
        </p:txBody>
      </p:sp>
      <p:sp>
        <p:nvSpPr>
          <p:cNvPr id="7" name="Slide Number Placeholder 6"/>
          <p:cNvSpPr>
            <a:spLocks noGrp="1"/>
          </p:cNvSpPr>
          <p:nvPr>
            <p:ph type="sldNum" sz="quarter" idx="12"/>
          </p:nvPr>
        </p:nvSpPr>
        <p:spPr>
          <a:xfrm>
            <a:off x="8610600" y="6356353"/>
            <a:ext cx="2743200" cy="365125"/>
          </a:xfrm>
          <a:prstGeom prst="rect">
            <a:avLst/>
          </a:prstGeom>
        </p:spPr>
        <p:txBody>
          <a:bodyPr/>
          <a:lstStyle/>
          <a:p>
            <a:fld id="{E98B40AC-73D9-412A-B37C-F43489147ABA}" type="slidenum">
              <a:rPr lang="hr-HR" smtClean="0"/>
              <a:t>‹#›</a:t>
            </a:fld>
            <a:endParaRPr lang="hr-HR"/>
          </a:p>
        </p:txBody>
      </p:sp>
    </p:spTree>
    <p:extLst>
      <p:ext uri="{BB962C8B-B14F-4D97-AF65-F5344CB8AC3E}">
        <p14:creationId xmlns:p14="http://schemas.microsoft.com/office/powerpoint/2010/main" val="3717869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8"/>
            <a:ext cx="10515600" cy="1325563"/>
          </a:xfrm>
          <a:prstGeom prst="rect">
            <a:avLst/>
          </a:prstGeom>
        </p:spPr>
        <p:txBody>
          <a:bodyPr/>
          <a:lstStyle/>
          <a:p>
            <a:r>
              <a:rPr lang="en-US"/>
              <a:t>Click to edit Master title style</a:t>
            </a:r>
            <a:endParaRPr lang="hr-H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Date Placeholder 3"/>
          <p:cNvSpPr>
            <a:spLocks noGrp="1"/>
          </p:cNvSpPr>
          <p:nvPr>
            <p:ph type="dt" sz="half" idx="10"/>
          </p:nvPr>
        </p:nvSpPr>
        <p:spPr>
          <a:xfrm>
            <a:off x="838200" y="6356353"/>
            <a:ext cx="2743200" cy="365125"/>
          </a:xfrm>
          <a:prstGeom prst="rect">
            <a:avLst/>
          </a:prstGeom>
        </p:spPr>
        <p:txBody>
          <a:bodyPr/>
          <a:lstStyle/>
          <a:p>
            <a:fld id="{4505C78D-E0C4-4B3B-B9F6-E688B180EDA3}" type="datetimeFigureOut">
              <a:rPr lang="hr-HR" smtClean="0"/>
              <a:t>29.3.2023.</a:t>
            </a:fld>
            <a:endParaRPr lang="hr-HR"/>
          </a:p>
        </p:txBody>
      </p:sp>
      <p:sp>
        <p:nvSpPr>
          <p:cNvPr id="5" name="Footer Placeholder 4"/>
          <p:cNvSpPr>
            <a:spLocks noGrp="1"/>
          </p:cNvSpPr>
          <p:nvPr>
            <p:ph type="ftr" sz="quarter" idx="11"/>
          </p:nvPr>
        </p:nvSpPr>
        <p:spPr>
          <a:xfrm>
            <a:off x="4038600" y="6356353"/>
            <a:ext cx="4114800" cy="365125"/>
          </a:xfrm>
          <a:prstGeom prst="rect">
            <a:avLst/>
          </a:prstGeom>
        </p:spPr>
        <p:txBody>
          <a:bodyPr/>
          <a:lstStyle/>
          <a:p>
            <a:endParaRPr lang="hr-HR"/>
          </a:p>
        </p:txBody>
      </p:sp>
      <p:sp>
        <p:nvSpPr>
          <p:cNvPr id="6" name="Slide Number Placeholder 5"/>
          <p:cNvSpPr>
            <a:spLocks noGrp="1"/>
          </p:cNvSpPr>
          <p:nvPr>
            <p:ph type="sldNum" sz="quarter" idx="12"/>
          </p:nvPr>
        </p:nvSpPr>
        <p:spPr>
          <a:xfrm>
            <a:off x="8610600" y="6356353"/>
            <a:ext cx="2743200" cy="365125"/>
          </a:xfrm>
          <a:prstGeom prst="rect">
            <a:avLst/>
          </a:prstGeom>
        </p:spPr>
        <p:txBody>
          <a:bodyPr/>
          <a:lstStyle/>
          <a:p>
            <a:fld id="{E98B40AC-73D9-412A-B37C-F43489147ABA}" type="slidenum">
              <a:rPr lang="hr-HR" smtClean="0"/>
              <a:t>‹#›</a:t>
            </a:fld>
            <a:endParaRPr lang="hr-HR"/>
          </a:p>
        </p:txBody>
      </p:sp>
    </p:spTree>
    <p:extLst>
      <p:ext uri="{BB962C8B-B14F-4D97-AF65-F5344CB8AC3E}">
        <p14:creationId xmlns:p14="http://schemas.microsoft.com/office/powerpoint/2010/main" val="2493617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a:prstGeom prst="rect">
            <a:avLst/>
          </a:prstGeom>
        </p:spPr>
        <p:txBody>
          <a:bodyPr vert="eaVert"/>
          <a:lstStyle/>
          <a:p>
            <a:r>
              <a:rPr lang="en-US"/>
              <a:t>Click to edit Master title style</a:t>
            </a:r>
            <a:endParaRPr lang="hr-HR"/>
          </a:p>
        </p:txBody>
      </p:sp>
      <p:sp>
        <p:nvSpPr>
          <p:cNvPr id="3" name="Vertical Text Placeholder 2"/>
          <p:cNvSpPr>
            <a:spLocks noGrp="1"/>
          </p:cNvSpPr>
          <p:nvPr>
            <p:ph type="body" orient="vert" idx="1"/>
          </p:nvPr>
        </p:nvSpPr>
        <p:spPr>
          <a:xfrm>
            <a:off x="838202"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4" name="Date Placeholder 3"/>
          <p:cNvSpPr>
            <a:spLocks noGrp="1"/>
          </p:cNvSpPr>
          <p:nvPr>
            <p:ph type="dt" sz="half" idx="10"/>
          </p:nvPr>
        </p:nvSpPr>
        <p:spPr>
          <a:xfrm>
            <a:off x="838200" y="6356353"/>
            <a:ext cx="2743200" cy="365125"/>
          </a:xfrm>
          <a:prstGeom prst="rect">
            <a:avLst/>
          </a:prstGeom>
        </p:spPr>
        <p:txBody>
          <a:bodyPr/>
          <a:lstStyle/>
          <a:p>
            <a:fld id="{4505C78D-E0C4-4B3B-B9F6-E688B180EDA3}" type="datetimeFigureOut">
              <a:rPr lang="hr-HR" smtClean="0"/>
              <a:t>29.3.2023.</a:t>
            </a:fld>
            <a:endParaRPr lang="hr-HR"/>
          </a:p>
        </p:txBody>
      </p:sp>
      <p:sp>
        <p:nvSpPr>
          <p:cNvPr id="5" name="Footer Placeholder 4"/>
          <p:cNvSpPr>
            <a:spLocks noGrp="1"/>
          </p:cNvSpPr>
          <p:nvPr>
            <p:ph type="ftr" sz="quarter" idx="11"/>
          </p:nvPr>
        </p:nvSpPr>
        <p:spPr>
          <a:xfrm>
            <a:off x="4038600" y="6356353"/>
            <a:ext cx="4114800" cy="365125"/>
          </a:xfrm>
          <a:prstGeom prst="rect">
            <a:avLst/>
          </a:prstGeom>
        </p:spPr>
        <p:txBody>
          <a:bodyPr/>
          <a:lstStyle/>
          <a:p>
            <a:endParaRPr lang="hr-HR"/>
          </a:p>
        </p:txBody>
      </p:sp>
      <p:sp>
        <p:nvSpPr>
          <p:cNvPr id="6" name="Slide Number Placeholder 5"/>
          <p:cNvSpPr>
            <a:spLocks noGrp="1"/>
          </p:cNvSpPr>
          <p:nvPr>
            <p:ph type="sldNum" sz="quarter" idx="12"/>
          </p:nvPr>
        </p:nvSpPr>
        <p:spPr>
          <a:xfrm>
            <a:off x="8610600" y="6356353"/>
            <a:ext cx="2743200" cy="365125"/>
          </a:xfrm>
          <a:prstGeom prst="rect">
            <a:avLst/>
          </a:prstGeom>
        </p:spPr>
        <p:txBody>
          <a:bodyPr/>
          <a:lstStyle/>
          <a:p>
            <a:fld id="{E98B40AC-73D9-412A-B37C-F43489147ABA}" type="slidenum">
              <a:rPr lang="hr-HR" smtClean="0"/>
              <a:t>‹#›</a:t>
            </a:fld>
            <a:endParaRPr lang="hr-HR"/>
          </a:p>
        </p:txBody>
      </p:sp>
    </p:spTree>
    <p:extLst>
      <p:ext uri="{BB962C8B-B14F-4D97-AF65-F5344CB8AC3E}">
        <p14:creationId xmlns:p14="http://schemas.microsoft.com/office/powerpoint/2010/main" val="2892579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lank-3">
    <p:bg>
      <p:bgPr>
        <a:solidFill>
          <a:schemeClr val="tx2">
            <a:lumMod val="7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1925928"/>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a:t>Click to edit Master title style</a:t>
            </a:r>
          </a:p>
        </p:txBody>
      </p:sp>
      <p:sp>
        <p:nvSpPr>
          <p:cNvPr id="3" name="Content Placeholder 2"/>
          <p:cNvSpPr>
            <a:spLocks noGrp="1"/>
          </p:cNvSpPr>
          <p:nvPr>
            <p:ph idx="1"/>
          </p:nvPr>
        </p:nvSpPr>
        <p:spPr/>
        <p:txBody>
          <a:bodyPr/>
          <a:lstStyle/>
          <a:p>
            <a:pPr lvl="0"/>
            <a:r>
              <a:rPr lang="hr-HR"/>
              <a:t>Click to edit Master text styles</a:t>
            </a:r>
          </a:p>
          <a:p>
            <a:pPr lvl="1"/>
            <a:r>
              <a:rPr lang="hr-HR"/>
              <a:t>Second level</a:t>
            </a:r>
          </a:p>
          <a:p>
            <a:pPr lvl="2"/>
            <a:r>
              <a:rPr lang="hr-HR"/>
              <a:t>Third level</a:t>
            </a:r>
          </a:p>
          <a:p>
            <a:pPr lvl="3"/>
            <a:r>
              <a:rPr lang="hr-HR"/>
              <a:t>Fourth level</a:t>
            </a:r>
          </a:p>
          <a:p>
            <a:pPr lvl="4"/>
            <a:r>
              <a:rPr lang="hr-HR"/>
              <a:t>Fifth level</a:t>
            </a:r>
          </a:p>
        </p:txBody>
      </p:sp>
      <p:sp>
        <p:nvSpPr>
          <p:cNvPr id="4" name="Date Placeholder 3"/>
          <p:cNvSpPr>
            <a:spLocks noGrp="1"/>
          </p:cNvSpPr>
          <p:nvPr>
            <p:ph type="dt" sz="half" idx="10"/>
          </p:nvPr>
        </p:nvSpPr>
        <p:spPr/>
        <p:txBody>
          <a:bodyPr/>
          <a:lstStyle/>
          <a:p>
            <a:fld id="{853B0E95-466B-0E4E-BD55-67CFD44441AA}" type="datetimeFigureOut">
              <a:rPr lang="hr-HR" smtClean="0"/>
              <a:t>29.3.2023.</a:t>
            </a:fld>
            <a:endParaRPr lang="hr-HR" dirty="0"/>
          </a:p>
        </p:txBody>
      </p:sp>
      <p:sp>
        <p:nvSpPr>
          <p:cNvPr id="5" name="Footer Placeholder 4"/>
          <p:cNvSpPr>
            <a:spLocks noGrp="1"/>
          </p:cNvSpPr>
          <p:nvPr>
            <p:ph type="ftr" sz="quarter" idx="11"/>
          </p:nvPr>
        </p:nvSpPr>
        <p:spPr/>
        <p:txBody>
          <a:bodyPr/>
          <a:lstStyle/>
          <a:p>
            <a:endParaRPr lang="hr-HR" dirty="0"/>
          </a:p>
        </p:txBody>
      </p:sp>
      <p:sp>
        <p:nvSpPr>
          <p:cNvPr id="6" name="Slide Number Placeholder 5"/>
          <p:cNvSpPr>
            <a:spLocks noGrp="1"/>
          </p:cNvSpPr>
          <p:nvPr>
            <p:ph type="sldNum" sz="quarter" idx="12"/>
          </p:nvPr>
        </p:nvSpPr>
        <p:spPr/>
        <p:txBody>
          <a:bodyPr/>
          <a:lstStyle/>
          <a:p>
            <a:fld id="{86DEBFD0-EAD5-1345-8AD7-E8F0A744A86C}" type="slidenum">
              <a:rPr lang="hr-HR" smtClean="0"/>
              <a:t>‹#›</a:t>
            </a:fld>
            <a:endParaRPr lang="hr-HR" dirty="0"/>
          </a:p>
        </p:txBody>
      </p:sp>
    </p:spTree>
    <p:extLst>
      <p:ext uri="{BB962C8B-B14F-4D97-AF65-F5344CB8AC3E}">
        <p14:creationId xmlns:p14="http://schemas.microsoft.com/office/powerpoint/2010/main" val="3292378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3915777"/>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836" r:id="rId12"/>
    <p:sldLayoutId id="2147483839" r:id="rId13"/>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mailto:Sladana.Miocic@varazdin.hr" TargetMode="External"/><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hyperlink" Target="mailto:nbegicev@foi.unizg.h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p:cNvPicPr>
            <a:picLocks noGrp="1" noChangeAspect="1"/>
          </p:cNvPicPr>
          <p:nvPr>
            <p:ph type="pic" sz="quarter" idx="4294967295"/>
          </p:nvPr>
        </p:nvPicPr>
        <p:blipFill>
          <a:blip r:embed="rId3" cstate="print">
            <a:extLst>
              <a:ext uri="{28A0092B-C50C-407E-A947-70E740481C1C}">
                <a14:useLocalDpi xmlns:a14="http://schemas.microsoft.com/office/drawing/2010/main" val="0"/>
              </a:ext>
            </a:extLst>
          </a:blip>
          <a:srcRect t="34615" b="34615"/>
          <a:stretch>
            <a:fillRect/>
          </a:stretch>
        </p:blipFill>
        <p:spPr>
          <a:xfrm>
            <a:off x="0" y="0"/>
            <a:ext cx="12192000" cy="2501900"/>
          </a:xfrm>
          <a:prstGeom prst="rect">
            <a:avLst/>
          </a:prstGeom>
        </p:spPr>
      </p:pic>
      <p:sp>
        <p:nvSpPr>
          <p:cNvPr id="9" name="Oval 8"/>
          <p:cNvSpPr/>
          <p:nvPr/>
        </p:nvSpPr>
        <p:spPr>
          <a:xfrm>
            <a:off x="7096230" y="1946077"/>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6" name="Rectangle 45"/>
          <p:cNvSpPr/>
          <p:nvPr/>
        </p:nvSpPr>
        <p:spPr>
          <a:xfrm>
            <a:off x="8285258" y="3460481"/>
            <a:ext cx="3397140" cy="469487"/>
          </a:xfrm>
          <a:prstGeom prst="rect">
            <a:avLst/>
          </a:prstGeom>
          <a:noFill/>
        </p:spPr>
        <p:txBody>
          <a:bodyPr wrap="square">
            <a:spAutoFit/>
          </a:bodyPr>
          <a:lstStyle/>
          <a:p>
            <a:pPr algn="ctr">
              <a:buClr>
                <a:srgbClr val="F8B323"/>
              </a:buClr>
            </a:pPr>
            <a:endParaRPr lang="hr-HR" sz="1400" b="1" dirty="0">
              <a:solidFill>
                <a:schemeClr val="bg1"/>
              </a:solidFill>
              <a:latin typeface="Raleway" panose="020B0003030101060003" pitchFamily="34" charset="0"/>
            </a:endParaRPr>
          </a:p>
          <a:p>
            <a:pPr algn="ctr">
              <a:buClr>
                <a:srgbClr val="F8B323"/>
              </a:buClr>
            </a:pPr>
            <a:endParaRPr lang="hr-HR" sz="1051" dirty="0">
              <a:solidFill>
                <a:schemeClr val="bg1"/>
              </a:solidFill>
              <a:latin typeface="Raleway" panose="020B0003030101060003" pitchFamily="34" charset="0"/>
            </a:endParaRPr>
          </a:p>
        </p:txBody>
      </p:sp>
      <p:grpSp>
        <p:nvGrpSpPr>
          <p:cNvPr id="33" name="Group 32"/>
          <p:cNvGrpSpPr/>
          <p:nvPr/>
        </p:nvGrpSpPr>
        <p:grpSpPr>
          <a:xfrm>
            <a:off x="7171275" y="2202740"/>
            <a:ext cx="1243509" cy="748923"/>
            <a:chOff x="1132881" y="3224157"/>
            <a:chExt cx="1658011" cy="998562"/>
          </a:xfrm>
        </p:grpSpPr>
        <p:sp>
          <p:nvSpPr>
            <p:cNvPr id="35" name="Freeform 102"/>
            <p:cNvSpPr>
              <a:spLocks/>
            </p:cNvSpPr>
            <p:nvPr/>
          </p:nvSpPr>
          <p:spPr bwMode="auto">
            <a:xfrm>
              <a:off x="1132881"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75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36" name="Freeform 102"/>
            <p:cNvSpPr>
              <a:spLocks/>
            </p:cNvSpPr>
            <p:nvPr/>
          </p:nvSpPr>
          <p:spPr bwMode="auto">
            <a:xfrm>
              <a:off x="1724207" y="3224157"/>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37" name="Freeform 102"/>
            <p:cNvSpPr>
              <a:spLocks/>
            </p:cNvSpPr>
            <p:nvPr/>
          </p:nvSpPr>
          <p:spPr bwMode="auto">
            <a:xfrm>
              <a:off x="1442192" y="3482455"/>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38" name="Freeform 102"/>
            <p:cNvSpPr>
              <a:spLocks/>
            </p:cNvSpPr>
            <p:nvPr/>
          </p:nvSpPr>
          <p:spPr bwMode="auto">
            <a:xfrm>
              <a:off x="2101758"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65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grpSp>
        <p:nvGrpSpPr>
          <p:cNvPr id="15" name="Group 14"/>
          <p:cNvGrpSpPr/>
          <p:nvPr/>
        </p:nvGrpSpPr>
        <p:grpSpPr>
          <a:xfrm>
            <a:off x="3936840" y="1885020"/>
            <a:ext cx="1422949" cy="1422949"/>
            <a:chOff x="5488042" y="1898481"/>
            <a:chExt cx="1422949" cy="1422949"/>
          </a:xfrm>
        </p:grpSpPr>
        <p:sp>
          <p:nvSpPr>
            <p:cNvPr id="56" name="Oval 55"/>
            <p:cNvSpPr/>
            <p:nvPr/>
          </p:nvSpPr>
          <p:spPr>
            <a:xfrm>
              <a:off x="5488042" y="1898481"/>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nvGrpSpPr>
            <p:cNvPr id="58" name="Group 57"/>
            <p:cNvGrpSpPr/>
            <p:nvPr/>
          </p:nvGrpSpPr>
          <p:grpSpPr>
            <a:xfrm>
              <a:off x="5617656" y="2054727"/>
              <a:ext cx="1085591" cy="1012328"/>
              <a:chOff x="6490162" y="2474712"/>
              <a:chExt cx="1395963" cy="1301754"/>
            </a:xfrm>
          </p:grpSpPr>
          <p:sp>
            <p:nvSpPr>
              <p:cNvPr id="59" name="Freeform 46"/>
              <p:cNvSpPr>
                <a:spLocks noEditPoints="1"/>
              </p:cNvSpPr>
              <p:nvPr/>
            </p:nvSpPr>
            <p:spPr bwMode="auto">
              <a:xfrm>
                <a:off x="6858389" y="2696180"/>
                <a:ext cx="925961" cy="1080286"/>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60" name="Freeform 47"/>
              <p:cNvSpPr>
                <a:spLocks noEditPoints="1"/>
              </p:cNvSpPr>
              <p:nvPr/>
            </p:nvSpPr>
            <p:spPr bwMode="auto">
              <a:xfrm>
                <a:off x="7017234" y="2474712"/>
                <a:ext cx="400174" cy="785990"/>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61" name="Freeform 74"/>
              <p:cNvSpPr>
                <a:spLocks noEditPoints="1"/>
              </p:cNvSpPr>
              <p:nvPr/>
            </p:nvSpPr>
            <p:spPr bwMode="auto">
              <a:xfrm>
                <a:off x="6490162" y="2908589"/>
                <a:ext cx="425298" cy="520404"/>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63" name="Freeform 81"/>
              <p:cNvSpPr>
                <a:spLocks noEditPoints="1"/>
              </p:cNvSpPr>
              <p:nvPr/>
            </p:nvSpPr>
            <p:spPr bwMode="auto">
              <a:xfrm>
                <a:off x="7460073" y="3028588"/>
                <a:ext cx="426052" cy="612944"/>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grpSp>
      <p:sp>
        <p:nvSpPr>
          <p:cNvPr id="65" name="Rectangle 2"/>
          <p:cNvSpPr txBox="1">
            <a:spLocks noChangeArrowheads="1"/>
          </p:cNvSpPr>
          <p:nvPr/>
        </p:nvSpPr>
        <p:spPr bwMode="auto">
          <a:xfrm>
            <a:off x="1034324" y="4356101"/>
            <a:ext cx="11005275" cy="996251"/>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r>
              <a:rPr lang="hr-HR" sz="3600" b="1" dirty="0">
                <a:solidFill>
                  <a:schemeClr val="bg1">
                    <a:alpha val="74000"/>
                  </a:schemeClr>
                </a:solidFill>
                <a:latin typeface="Raleway Black" panose="020B0A03030101060003" pitchFamily="34" charset="-18"/>
              </a:rPr>
              <a:t>Regionalni centar za </a:t>
            </a:r>
            <a:r>
              <a:rPr lang="hr-HR" sz="3600" b="1" dirty="0" err="1">
                <a:solidFill>
                  <a:schemeClr val="bg1">
                    <a:alpha val="74000"/>
                  </a:schemeClr>
                </a:solidFill>
                <a:latin typeface="Raleway Black" panose="020B0A03030101060003" pitchFamily="34" charset="-18"/>
              </a:rPr>
              <a:t>predinkubaciju</a:t>
            </a:r>
            <a:r>
              <a:rPr lang="hr-HR" sz="3600" b="1" dirty="0">
                <a:solidFill>
                  <a:schemeClr val="bg1">
                    <a:alpha val="74000"/>
                  </a:schemeClr>
                </a:solidFill>
                <a:latin typeface="Raleway Black" panose="020B0A03030101060003" pitchFamily="34" charset="-18"/>
              </a:rPr>
              <a:t> </a:t>
            </a:r>
          </a:p>
          <a:p>
            <a:r>
              <a:rPr lang="hr-HR" sz="3600" b="1" dirty="0">
                <a:solidFill>
                  <a:schemeClr val="bg1">
                    <a:alpha val="74000"/>
                  </a:schemeClr>
                </a:solidFill>
                <a:latin typeface="Raleway Black" panose="020B0A03030101060003" pitchFamily="34" charset="-18"/>
              </a:rPr>
              <a:t>u pametnoj industriji</a:t>
            </a:r>
            <a:endParaRPr lang="hr-HR" sz="3600" b="1" kern="0" dirty="0">
              <a:solidFill>
                <a:schemeClr val="bg1">
                  <a:alpha val="74000"/>
                </a:schemeClr>
              </a:solidFill>
              <a:latin typeface="Raleway Black" panose="020B0A03030101060003" pitchFamily="34" charset="-18"/>
            </a:endParaRPr>
          </a:p>
        </p:txBody>
      </p:sp>
      <p:sp>
        <p:nvSpPr>
          <p:cNvPr id="82" name="Rectangle 2"/>
          <p:cNvSpPr txBox="1">
            <a:spLocks noChangeArrowheads="1"/>
          </p:cNvSpPr>
          <p:nvPr/>
        </p:nvSpPr>
        <p:spPr bwMode="auto">
          <a:xfrm>
            <a:off x="8970398" y="789489"/>
            <a:ext cx="2463819" cy="996251"/>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endParaRPr lang="hr-HR" sz="2500" b="1" kern="0" dirty="0">
              <a:solidFill>
                <a:schemeClr val="bg1">
                  <a:alpha val="74000"/>
                </a:schemeClr>
              </a:solidFill>
              <a:latin typeface="Raleway Black" panose="020B0A03030101060003" pitchFamily="34" charset="-18"/>
            </a:endParaRPr>
          </a:p>
        </p:txBody>
      </p:sp>
      <p:sp>
        <p:nvSpPr>
          <p:cNvPr id="83" name="Oval 82"/>
          <p:cNvSpPr/>
          <p:nvPr/>
        </p:nvSpPr>
        <p:spPr>
          <a:xfrm>
            <a:off x="972641" y="1909051"/>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nvGrpSpPr>
          <p:cNvPr id="84" name="Group 83"/>
          <p:cNvGrpSpPr/>
          <p:nvPr/>
        </p:nvGrpSpPr>
        <p:grpSpPr>
          <a:xfrm>
            <a:off x="1079216" y="2244651"/>
            <a:ext cx="1243509" cy="748923"/>
            <a:chOff x="1132881" y="3224157"/>
            <a:chExt cx="1658011" cy="998562"/>
          </a:xfrm>
        </p:grpSpPr>
        <p:sp>
          <p:nvSpPr>
            <p:cNvPr id="85" name="Freeform 102"/>
            <p:cNvSpPr>
              <a:spLocks/>
            </p:cNvSpPr>
            <p:nvPr/>
          </p:nvSpPr>
          <p:spPr bwMode="auto">
            <a:xfrm>
              <a:off x="1132881"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75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86" name="Freeform 102"/>
            <p:cNvSpPr>
              <a:spLocks/>
            </p:cNvSpPr>
            <p:nvPr/>
          </p:nvSpPr>
          <p:spPr bwMode="auto">
            <a:xfrm>
              <a:off x="1724207" y="3224157"/>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87" name="Freeform 102"/>
            <p:cNvSpPr>
              <a:spLocks/>
            </p:cNvSpPr>
            <p:nvPr/>
          </p:nvSpPr>
          <p:spPr bwMode="auto">
            <a:xfrm>
              <a:off x="1442192" y="3482455"/>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88" name="Freeform 102"/>
            <p:cNvSpPr>
              <a:spLocks/>
            </p:cNvSpPr>
            <p:nvPr/>
          </p:nvSpPr>
          <p:spPr bwMode="auto">
            <a:xfrm>
              <a:off x="2101758"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65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grpSp>
        <p:nvGrpSpPr>
          <p:cNvPr id="41" name="Group 40">
            <a:extLst>
              <a:ext uri="{FF2B5EF4-FFF2-40B4-BE49-F238E27FC236}">
                <a16:creationId xmlns:a16="http://schemas.microsoft.com/office/drawing/2014/main" id="{EB7B7515-E506-DBB8-F9C9-98C82017BB4F}"/>
              </a:ext>
            </a:extLst>
          </p:cNvPr>
          <p:cNvGrpSpPr/>
          <p:nvPr/>
        </p:nvGrpSpPr>
        <p:grpSpPr>
          <a:xfrm>
            <a:off x="10079437" y="2032846"/>
            <a:ext cx="1422949" cy="1422949"/>
            <a:chOff x="5488042" y="1898481"/>
            <a:chExt cx="1422949" cy="1422949"/>
          </a:xfrm>
        </p:grpSpPr>
        <p:sp>
          <p:nvSpPr>
            <p:cNvPr id="42" name="Oval 41">
              <a:extLst>
                <a:ext uri="{FF2B5EF4-FFF2-40B4-BE49-F238E27FC236}">
                  <a16:creationId xmlns:a16="http://schemas.microsoft.com/office/drawing/2014/main" id="{F2939A93-2F12-16C8-D8B7-36D1F2548343}"/>
                </a:ext>
              </a:extLst>
            </p:cNvPr>
            <p:cNvSpPr/>
            <p:nvPr/>
          </p:nvSpPr>
          <p:spPr>
            <a:xfrm>
              <a:off x="5488042" y="1898481"/>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nvGrpSpPr>
            <p:cNvPr id="43" name="Group 42">
              <a:extLst>
                <a:ext uri="{FF2B5EF4-FFF2-40B4-BE49-F238E27FC236}">
                  <a16:creationId xmlns:a16="http://schemas.microsoft.com/office/drawing/2014/main" id="{7BEAD7BE-277D-F073-4F7F-03C43BE51023}"/>
                </a:ext>
              </a:extLst>
            </p:cNvPr>
            <p:cNvGrpSpPr/>
            <p:nvPr/>
          </p:nvGrpSpPr>
          <p:grpSpPr>
            <a:xfrm>
              <a:off x="5617656" y="2054727"/>
              <a:ext cx="1085591" cy="1012328"/>
              <a:chOff x="6490162" y="2474712"/>
              <a:chExt cx="1395963" cy="1301754"/>
            </a:xfrm>
          </p:grpSpPr>
          <p:sp>
            <p:nvSpPr>
              <p:cNvPr id="44" name="Freeform 46">
                <a:extLst>
                  <a:ext uri="{FF2B5EF4-FFF2-40B4-BE49-F238E27FC236}">
                    <a16:creationId xmlns:a16="http://schemas.microsoft.com/office/drawing/2014/main" id="{A30FA41F-74A5-B4E9-1C96-0A93EA403148}"/>
                  </a:ext>
                </a:extLst>
              </p:cNvPr>
              <p:cNvSpPr>
                <a:spLocks noEditPoints="1"/>
              </p:cNvSpPr>
              <p:nvPr/>
            </p:nvSpPr>
            <p:spPr bwMode="auto">
              <a:xfrm>
                <a:off x="6858389" y="2696180"/>
                <a:ext cx="925961" cy="1080286"/>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45" name="Freeform 47">
                <a:extLst>
                  <a:ext uri="{FF2B5EF4-FFF2-40B4-BE49-F238E27FC236}">
                    <a16:creationId xmlns:a16="http://schemas.microsoft.com/office/drawing/2014/main" id="{7666AEAF-0C18-1959-EA0D-6B30DCFBD8D7}"/>
                  </a:ext>
                </a:extLst>
              </p:cNvPr>
              <p:cNvSpPr>
                <a:spLocks noEditPoints="1"/>
              </p:cNvSpPr>
              <p:nvPr/>
            </p:nvSpPr>
            <p:spPr bwMode="auto">
              <a:xfrm>
                <a:off x="7017234" y="2474712"/>
                <a:ext cx="400174" cy="785990"/>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47" name="Freeform 74">
                <a:extLst>
                  <a:ext uri="{FF2B5EF4-FFF2-40B4-BE49-F238E27FC236}">
                    <a16:creationId xmlns:a16="http://schemas.microsoft.com/office/drawing/2014/main" id="{9EAF2F6C-A89E-2E3F-4BAF-15B51A287CB9}"/>
                  </a:ext>
                </a:extLst>
              </p:cNvPr>
              <p:cNvSpPr>
                <a:spLocks noEditPoints="1"/>
              </p:cNvSpPr>
              <p:nvPr/>
            </p:nvSpPr>
            <p:spPr bwMode="auto">
              <a:xfrm>
                <a:off x="6490162" y="2908589"/>
                <a:ext cx="425298" cy="520404"/>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48" name="Freeform 81">
                <a:extLst>
                  <a:ext uri="{FF2B5EF4-FFF2-40B4-BE49-F238E27FC236}">
                    <a16:creationId xmlns:a16="http://schemas.microsoft.com/office/drawing/2014/main" id="{4BF584A4-6C59-3581-FFCA-CCC14FCF100C}"/>
                  </a:ext>
                </a:extLst>
              </p:cNvPr>
              <p:cNvSpPr>
                <a:spLocks noEditPoints="1"/>
              </p:cNvSpPr>
              <p:nvPr/>
            </p:nvSpPr>
            <p:spPr bwMode="auto">
              <a:xfrm>
                <a:off x="7460073" y="3028588"/>
                <a:ext cx="426052" cy="612944"/>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grpSp>
    </p:spTree>
    <p:extLst>
      <p:ext uri="{BB962C8B-B14F-4D97-AF65-F5344CB8AC3E}">
        <p14:creationId xmlns:p14="http://schemas.microsoft.com/office/powerpoint/2010/main" val="29203977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p:cNvPicPr>
            <a:picLocks noGrp="1" noChangeAspect="1"/>
          </p:cNvPicPr>
          <p:nvPr>
            <p:ph type="pic" sz="quarter" idx="4294967295"/>
          </p:nvPr>
        </p:nvPicPr>
        <p:blipFill>
          <a:blip r:embed="rId3" cstate="print">
            <a:extLst>
              <a:ext uri="{28A0092B-C50C-407E-A947-70E740481C1C}">
                <a14:useLocalDpi xmlns:a14="http://schemas.microsoft.com/office/drawing/2010/main" val="0"/>
              </a:ext>
            </a:extLst>
          </a:blip>
          <a:srcRect t="34615" b="34615"/>
          <a:stretch>
            <a:fillRect/>
          </a:stretch>
        </p:blipFill>
        <p:spPr>
          <a:xfrm>
            <a:off x="0" y="0"/>
            <a:ext cx="12192000" cy="2501900"/>
          </a:xfrm>
          <a:prstGeom prst="rect">
            <a:avLst/>
          </a:prstGeom>
        </p:spPr>
      </p:pic>
      <p:sp>
        <p:nvSpPr>
          <p:cNvPr id="9" name="Oval 8"/>
          <p:cNvSpPr/>
          <p:nvPr/>
        </p:nvSpPr>
        <p:spPr>
          <a:xfrm>
            <a:off x="7096230" y="1946077"/>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6" name="Rectangle 45"/>
          <p:cNvSpPr/>
          <p:nvPr/>
        </p:nvSpPr>
        <p:spPr>
          <a:xfrm>
            <a:off x="8285258" y="3460481"/>
            <a:ext cx="3397140" cy="469487"/>
          </a:xfrm>
          <a:prstGeom prst="rect">
            <a:avLst/>
          </a:prstGeom>
          <a:noFill/>
        </p:spPr>
        <p:txBody>
          <a:bodyPr wrap="square">
            <a:spAutoFit/>
          </a:bodyPr>
          <a:lstStyle/>
          <a:p>
            <a:pPr algn="ctr">
              <a:buClr>
                <a:srgbClr val="F8B323"/>
              </a:buClr>
            </a:pPr>
            <a:endParaRPr lang="hr-HR" sz="1400" b="1" dirty="0">
              <a:solidFill>
                <a:schemeClr val="bg1"/>
              </a:solidFill>
              <a:latin typeface="Raleway" panose="020B0003030101060003" pitchFamily="34" charset="0"/>
            </a:endParaRPr>
          </a:p>
          <a:p>
            <a:pPr algn="ctr">
              <a:buClr>
                <a:srgbClr val="F8B323"/>
              </a:buClr>
            </a:pPr>
            <a:endParaRPr lang="hr-HR" sz="1051" dirty="0">
              <a:solidFill>
                <a:schemeClr val="bg1"/>
              </a:solidFill>
              <a:latin typeface="Raleway" panose="020B0003030101060003" pitchFamily="34" charset="0"/>
            </a:endParaRPr>
          </a:p>
        </p:txBody>
      </p:sp>
      <p:grpSp>
        <p:nvGrpSpPr>
          <p:cNvPr id="33" name="Group 32"/>
          <p:cNvGrpSpPr/>
          <p:nvPr/>
        </p:nvGrpSpPr>
        <p:grpSpPr>
          <a:xfrm>
            <a:off x="7171275" y="2202740"/>
            <a:ext cx="1243509" cy="748923"/>
            <a:chOff x="1132881" y="3224157"/>
            <a:chExt cx="1658011" cy="998562"/>
          </a:xfrm>
        </p:grpSpPr>
        <p:sp>
          <p:nvSpPr>
            <p:cNvPr id="35" name="Freeform 102"/>
            <p:cNvSpPr>
              <a:spLocks/>
            </p:cNvSpPr>
            <p:nvPr/>
          </p:nvSpPr>
          <p:spPr bwMode="auto">
            <a:xfrm>
              <a:off x="1132881"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75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36" name="Freeform 102"/>
            <p:cNvSpPr>
              <a:spLocks/>
            </p:cNvSpPr>
            <p:nvPr/>
          </p:nvSpPr>
          <p:spPr bwMode="auto">
            <a:xfrm>
              <a:off x="1724207" y="3224157"/>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37" name="Freeform 102"/>
            <p:cNvSpPr>
              <a:spLocks/>
            </p:cNvSpPr>
            <p:nvPr/>
          </p:nvSpPr>
          <p:spPr bwMode="auto">
            <a:xfrm>
              <a:off x="1442192" y="3482455"/>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38" name="Freeform 102"/>
            <p:cNvSpPr>
              <a:spLocks/>
            </p:cNvSpPr>
            <p:nvPr/>
          </p:nvSpPr>
          <p:spPr bwMode="auto">
            <a:xfrm>
              <a:off x="2101758"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65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grpSp>
        <p:nvGrpSpPr>
          <p:cNvPr id="15" name="Group 14"/>
          <p:cNvGrpSpPr/>
          <p:nvPr/>
        </p:nvGrpSpPr>
        <p:grpSpPr>
          <a:xfrm>
            <a:off x="3936840" y="1885020"/>
            <a:ext cx="1422949" cy="1422949"/>
            <a:chOff x="5488042" y="1898481"/>
            <a:chExt cx="1422949" cy="1422949"/>
          </a:xfrm>
        </p:grpSpPr>
        <p:sp>
          <p:nvSpPr>
            <p:cNvPr id="56" name="Oval 55"/>
            <p:cNvSpPr/>
            <p:nvPr/>
          </p:nvSpPr>
          <p:spPr>
            <a:xfrm>
              <a:off x="5488042" y="1898481"/>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nvGrpSpPr>
            <p:cNvPr id="58" name="Group 57"/>
            <p:cNvGrpSpPr/>
            <p:nvPr/>
          </p:nvGrpSpPr>
          <p:grpSpPr>
            <a:xfrm>
              <a:off x="5617656" y="2054727"/>
              <a:ext cx="1085591" cy="1012328"/>
              <a:chOff x="6490162" y="2474712"/>
              <a:chExt cx="1395963" cy="1301754"/>
            </a:xfrm>
          </p:grpSpPr>
          <p:sp>
            <p:nvSpPr>
              <p:cNvPr id="59" name="Freeform 46"/>
              <p:cNvSpPr>
                <a:spLocks noEditPoints="1"/>
              </p:cNvSpPr>
              <p:nvPr/>
            </p:nvSpPr>
            <p:spPr bwMode="auto">
              <a:xfrm>
                <a:off x="6858389" y="2696180"/>
                <a:ext cx="925961" cy="1080286"/>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60" name="Freeform 47"/>
              <p:cNvSpPr>
                <a:spLocks noEditPoints="1"/>
              </p:cNvSpPr>
              <p:nvPr/>
            </p:nvSpPr>
            <p:spPr bwMode="auto">
              <a:xfrm>
                <a:off x="7017234" y="2474712"/>
                <a:ext cx="400174" cy="785990"/>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61" name="Freeform 74"/>
              <p:cNvSpPr>
                <a:spLocks noEditPoints="1"/>
              </p:cNvSpPr>
              <p:nvPr/>
            </p:nvSpPr>
            <p:spPr bwMode="auto">
              <a:xfrm>
                <a:off x="6490162" y="2908589"/>
                <a:ext cx="425298" cy="520404"/>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63" name="Freeform 81"/>
              <p:cNvSpPr>
                <a:spLocks noEditPoints="1"/>
              </p:cNvSpPr>
              <p:nvPr/>
            </p:nvSpPr>
            <p:spPr bwMode="auto">
              <a:xfrm>
                <a:off x="7460073" y="3028588"/>
                <a:ext cx="426052" cy="612944"/>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grpSp>
      <p:sp>
        <p:nvSpPr>
          <p:cNvPr id="82" name="Rectangle 2"/>
          <p:cNvSpPr txBox="1">
            <a:spLocks noChangeArrowheads="1"/>
          </p:cNvSpPr>
          <p:nvPr/>
        </p:nvSpPr>
        <p:spPr bwMode="auto">
          <a:xfrm>
            <a:off x="8970398" y="789489"/>
            <a:ext cx="2463819" cy="996251"/>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endParaRPr lang="hr-HR" sz="2500" b="1" kern="0" dirty="0">
              <a:solidFill>
                <a:schemeClr val="bg1">
                  <a:alpha val="74000"/>
                </a:schemeClr>
              </a:solidFill>
              <a:latin typeface="Raleway Black" panose="020B0A03030101060003" pitchFamily="34" charset="-18"/>
            </a:endParaRPr>
          </a:p>
        </p:txBody>
      </p:sp>
      <p:sp>
        <p:nvSpPr>
          <p:cNvPr id="83" name="Oval 82"/>
          <p:cNvSpPr/>
          <p:nvPr/>
        </p:nvSpPr>
        <p:spPr>
          <a:xfrm>
            <a:off x="972641" y="1909051"/>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nvGrpSpPr>
          <p:cNvPr id="84" name="Group 83"/>
          <p:cNvGrpSpPr/>
          <p:nvPr/>
        </p:nvGrpSpPr>
        <p:grpSpPr>
          <a:xfrm>
            <a:off x="1079216" y="2244651"/>
            <a:ext cx="1243509" cy="748923"/>
            <a:chOff x="1132881" y="3224157"/>
            <a:chExt cx="1658011" cy="998562"/>
          </a:xfrm>
        </p:grpSpPr>
        <p:sp>
          <p:nvSpPr>
            <p:cNvPr id="85" name="Freeform 102"/>
            <p:cNvSpPr>
              <a:spLocks/>
            </p:cNvSpPr>
            <p:nvPr/>
          </p:nvSpPr>
          <p:spPr bwMode="auto">
            <a:xfrm>
              <a:off x="1132881"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75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86" name="Freeform 102"/>
            <p:cNvSpPr>
              <a:spLocks/>
            </p:cNvSpPr>
            <p:nvPr/>
          </p:nvSpPr>
          <p:spPr bwMode="auto">
            <a:xfrm>
              <a:off x="1724207" y="3224157"/>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87" name="Freeform 102"/>
            <p:cNvSpPr>
              <a:spLocks/>
            </p:cNvSpPr>
            <p:nvPr/>
          </p:nvSpPr>
          <p:spPr bwMode="auto">
            <a:xfrm>
              <a:off x="1442192" y="3482455"/>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88" name="Freeform 102"/>
            <p:cNvSpPr>
              <a:spLocks/>
            </p:cNvSpPr>
            <p:nvPr/>
          </p:nvSpPr>
          <p:spPr bwMode="auto">
            <a:xfrm>
              <a:off x="2101758"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65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grpSp>
        <p:nvGrpSpPr>
          <p:cNvPr id="41" name="Group 40">
            <a:extLst>
              <a:ext uri="{FF2B5EF4-FFF2-40B4-BE49-F238E27FC236}">
                <a16:creationId xmlns:a16="http://schemas.microsoft.com/office/drawing/2014/main" id="{EB7B7515-E506-DBB8-F9C9-98C82017BB4F}"/>
              </a:ext>
            </a:extLst>
          </p:cNvPr>
          <p:cNvGrpSpPr/>
          <p:nvPr/>
        </p:nvGrpSpPr>
        <p:grpSpPr>
          <a:xfrm>
            <a:off x="10079437" y="2032846"/>
            <a:ext cx="1422949" cy="1422949"/>
            <a:chOff x="5488042" y="1898481"/>
            <a:chExt cx="1422949" cy="1422949"/>
          </a:xfrm>
        </p:grpSpPr>
        <p:sp>
          <p:nvSpPr>
            <p:cNvPr id="42" name="Oval 41">
              <a:extLst>
                <a:ext uri="{FF2B5EF4-FFF2-40B4-BE49-F238E27FC236}">
                  <a16:creationId xmlns:a16="http://schemas.microsoft.com/office/drawing/2014/main" id="{F2939A93-2F12-16C8-D8B7-36D1F2548343}"/>
                </a:ext>
              </a:extLst>
            </p:cNvPr>
            <p:cNvSpPr/>
            <p:nvPr/>
          </p:nvSpPr>
          <p:spPr>
            <a:xfrm>
              <a:off x="5488042" y="1898481"/>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nvGrpSpPr>
            <p:cNvPr id="43" name="Group 42">
              <a:extLst>
                <a:ext uri="{FF2B5EF4-FFF2-40B4-BE49-F238E27FC236}">
                  <a16:creationId xmlns:a16="http://schemas.microsoft.com/office/drawing/2014/main" id="{7BEAD7BE-277D-F073-4F7F-03C43BE51023}"/>
                </a:ext>
              </a:extLst>
            </p:cNvPr>
            <p:cNvGrpSpPr/>
            <p:nvPr/>
          </p:nvGrpSpPr>
          <p:grpSpPr>
            <a:xfrm>
              <a:off x="5617656" y="2054727"/>
              <a:ext cx="1085591" cy="1012328"/>
              <a:chOff x="6490162" y="2474712"/>
              <a:chExt cx="1395963" cy="1301754"/>
            </a:xfrm>
          </p:grpSpPr>
          <p:sp>
            <p:nvSpPr>
              <p:cNvPr id="44" name="Freeform 46">
                <a:extLst>
                  <a:ext uri="{FF2B5EF4-FFF2-40B4-BE49-F238E27FC236}">
                    <a16:creationId xmlns:a16="http://schemas.microsoft.com/office/drawing/2014/main" id="{A30FA41F-74A5-B4E9-1C96-0A93EA403148}"/>
                  </a:ext>
                </a:extLst>
              </p:cNvPr>
              <p:cNvSpPr>
                <a:spLocks noEditPoints="1"/>
              </p:cNvSpPr>
              <p:nvPr/>
            </p:nvSpPr>
            <p:spPr bwMode="auto">
              <a:xfrm>
                <a:off x="6858389" y="2696180"/>
                <a:ext cx="925961" cy="1080286"/>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45" name="Freeform 47">
                <a:extLst>
                  <a:ext uri="{FF2B5EF4-FFF2-40B4-BE49-F238E27FC236}">
                    <a16:creationId xmlns:a16="http://schemas.microsoft.com/office/drawing/2014/main" id="{7666AEAF-0C18-1959-EA0D-6B30DCFBD8D7}"/>
                  </a:ext>
                </a:extLst>
              </p:cNvPr>
              <p:cNvSpPr>
                <a:spLocks noEditPoints="1"/>
              </p:cNvSpPr>
              <p:nvPr/>
            </p:nvSpPr>
            <p:spPr bwMode="auto">
              <a:xfrm>
                <a:off x="7017234" y="2474712"/>
                <a:ext cx="400174" cy="785990"/>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47" name="Freeform 74">
                <a:extLst>
                  <a:ext uri="{FF2B5EF4-FFF2-40B4-BE49-F238E27FC236}">
                    <a16:creationId xmlns:a16="http://schemas.microsoft.com/office/drawing/2014/main" id="{9EAF2F6C-A89E-2E3F-4BAF-15B51A287CB9}"/>
                  </a:ext>
                </a:extLst>
              </p:cNvPr>
              <p:cNvSpPr>
                <a:spLocks noEditPoints="1"/>
              </p:cNvSpPr>
              <p:nvPr/>
            </p:nvSpPr>
            <p:spPr bwMode="auto">
              <a:xfrm>
                <a:off x="6490162" y="2908589"/>
                <a:ext cx="425298" cy="520404"/>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48" name="Freeform 81">
                <a:extLst>
                  <a:ext uri="{FF2B5EF4-FFF2-40B4-BE49-F238E27FC236}">
                    <a16:creationId xmlns:a16="http://schemas.microsoft.com/office/drawing/2014/main" id="{4BF584A4-6C59-3581-FFCA-CCC14FCF100C}"/>
                  </a:ext>
                </a:extLst>
              </p:cNvPr>
              <p:cNvSpPr>
                <a:spLocks noEditPoints="1"/>
              </p:cNvSpPr>
              <p:nvPr/>
            </p:nvSpPr>
            <p:spPr bwMode="auto">
              <a:xfrm>
                <a:off x="7460073" y="3028588"/>
                <a:ext cx="426052" cy="612944"/>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grpSp>
      <p:sp>
        <p:nvSpPr>
          <p:cNvPr id="5" name="TextBox 4">
            <a:extLst>
              <a:ext uri="{FF2B5EF4-FFF2-40B4-BE49-F238E27FC236}">
                <a16:creationId xmlns:a16="http://schemas.microsoft.com/office/drawing/2014/main" id="{BF6005A5-B513-743D-41CA-48DE2837B6A6}"/>
              </a:ext>
            </a:extLst>
          </p:cNvPr>
          <p:cNvSpPr txBox="1"/>
          <p:nvPr/>
        </p:nvSpPr>
        <p:spPr>
          <a:xfrm>
            <a:off x="1311199" y="3825657"/>
            <a:ext cx="4687053" cy="2400657"/>
          </a:xfrm>
          <a:prstGeom prst="rect">
            <a:avLst/>
          </a:prstGeom>
          <a:noFill/>
        </p:spPr>
        <p:txBody>
          <a:bodyPr wrap="square" rtlCol="0">
            <a:spAutoFit/>
          </a:bodyPr>
          <a:lstStyle/>
          <a:p>
            <a:r>
              <a:rPr lang="en-HR" sz="2500" dirty="0">
                <a:solidFill>
                  <a:schemeClr val="bg1"/>
                </a:solidFill>
              </a:rPr>
              <a:t>Korisnik (Prijavitelj): </a:t>
            </a:r>
            <a:r>
              <a:rPr lang="en-HR" sz="2500" b="1" dirty="0">
                <a:solidFill>
                  <a:schemeClr val="bg1"/>
                </a:solidFill>
              </a:rPr>
              <a:t>Grad Varaždin</a:t>
            </a:r>
          </a:p>
          <a:p>
            <a:endParaRPr lang="en-HR" sz="2500" dirty="0">
              <a:solidFill>
                <a:schemeClr val="bg1"/>
              </a:solidFill>
            </a:endParaRPr>
          </a:p>
          <a:p>
            <a:r>
              <a:rPr lang="en-HR" sz="2500" dirty="0">
                <a:solidFill>
                  <a:schemeClr val="bg1"/>
                </a:solidFill>
              </a:rPr>
              <a:t>Partneri: </a:t>
            </a:r>
          </a:p>
          <a:p>
            <a:r>
              <a:rPr lang="en-HR" sz="2500" b="1" dirty="0">
                <a:solidFill>
                  <a:schemeClr val="bg1"/>
                </a:solidFill>
              </a:rPr>
              <a:t>Fakultet organizacije </a:t>
            </a:r>
            <a:r>
              <a:rPr lang="en-GB" sz="2500" b="1" dirty="0" err="1">
                <a:solidFill>
                  <a:schemeClr val="bg1"/>
                </a:solidFill>
              </a:rPr>
              <a:t>i</a:t>
            </a:r>
            <a:r>
              <a:rPr lang="en-HR" sz="2500" b="1" dirty="0">
                <a:solidFill>
                  <a:schemeClr val="bg1"/>
                </a:solidFill>
              </a:rPr>
              <a:t> informatike (FOI), </a:t>
            </a:r>
          </a:p>
          <a:p>
            <a:r>
              <a:rPr lang="en-HR" sz="2500" b="1" dirty="0">
                <a:solidFill>
                  <a:schemeClr val="bg1"/>
                </a:solidFill>
              </a:rPr>
              <a:t>Sveučilište u Zagrebu</a:t>
            </a:r>
          </a:p>
        </p:txBody>
      </p:sp>
      <p:sp>
        <p:nvSpPr>
          <p:cNvPr id="2" name="TextBox 1">
            <a:extLst>
              <a:ext uri="{FF2B5EF4-FFF2-40B4-BE49-F238E27FC236}">
                <a16:creationId xmlns:a16="http://schemas.microsoft.com/office/drawing/2014/main" id="{2CB50128-D392-1FF8-8D95-7A012371CF03}"/>
              </a:ext>
            </a:extLst>
          </p:cNvPr>
          <p:cNvSpPr txBox="1"/>
          <p:nvPr/>
        </p:nvSpPr>
        <p:spPr>
          <a:xfrm>
            <a:off x="6995345" y="3835227"/>
            <a:ext cx="4687053" cy="2785378"/>
          </a:xfrm>
          <a:prstGeom prst="rect">
            <a:avLst/>
          </a:prstGeom>
          <a:noFill/>
        </p:spPr>
        <p:txBody>
          <a:bodyPr wrap="square" rtlCol="0">
            <a:spAutoFit/>
          </a:bodyPr>
          <a:lstStyle/>
          <a:p>
            <a:r>
              <a:rPr lang="en-GB" sz="2500" dirty="0" err="1">
                <a:solidFill>
                  <a:schemeClr val="bg1"/>
                </a:solidFill>
              </a:rPr>
              <a:t>Partneri</a:t>
            </a:r>
            <a:r>
              <a:rPr lang="en-GB" sz="2500" dirty="0">
                <a:solidFill>
                  <a:schemeClr val="bg1"/>
                </a:solidFill>
              </a:rPr>
              <a:t>:</a:t>
            </a:r>
          </a:p>
          <a:p>
            <a:r>
              <a:rPr lang="en-GB" sz="2500" dirty="0">
                <a:solidFill>
                  <a:schemeClr val="bg1"/>
                </a:solidFill>
              </a:rPr>
              <a:t>Grad </a:t>
            </a:r>
            <a:r>
              <a:rPr lang="en-GB" sz="2500" dirty="0" err="1">
                <a:solidFill>
                  <a:schemeClr val="bg1"/>
                </a:solidFill>
              </a:rPr>
              <a:t>Ludbreg</a:t>
            </a:r>
            <a:endParaRPr lang="en-GB" sz="2500" dirty="0">
              <a:solidFill>
                <a:schemeClr val="bg1"/>
              </a:solidFill>
            </a:endParaRPr>
          </a:p>
          <a:p>
            <a:r>
              <a:rPr lang="en-GB" sz="2500" dirty="0">
                <a:solidFill>
                  <a:schemeClr val="bg1"/>
                </a:solidFill>
              </a:rPr>
              <a:t>Grad Novi </a:t>
            </a:r>
            <a:r>
              <a:rPr lang="en-GB" sz="2500" dirty="0" err="1">
                <a:solidFill>
                  <a:schemeClr val="bg1"/>
                </a:solidFill>
              </a:rPr>
              <a:t>Marof</a:t>
            </a:r>
            <a:r>
              <a:rPr lang="en-GB" sz="2500" dirty="0">
                <a:solidFill>
                  <a:schemeClr val="bg1"/>
                </a:solidFill>
              </a:rPr>
              <a:t> </a:t>
            </a:r>
          </a:p>
          <a:p>
            <a:r>
              <a:rPr lang="en-GB" sz="2500" dirty="0" err="1">
                <a:solidFill>
                  <a:schemeClr val="bg1"/>
                </a:solidFill>
              </a:rPr>
              <a:t>Općina</a:t>
            </a:r>
            <a:r>
              <a:rPr lang="en-GB" sz="2500" dirty="0">
                <a:solidFill>
                  <a:schemeClr val="bg1"/>
                </a:solidFill>
              </a:rPr>
              <a:t> Gornji </a:t>
            </a:r>
            <a:r>
              <a:rPr lang="en-GB" sz="2500" dirty="0" err="1">
                <a:solidFill>
                  <a:schemeClr val="bg1"/>
                </a:solidFill>
              </a:rPr>
              <a:t>Kneginec</a:t>
            </a:r>
            <a:endParaRPr lang="en-GB" sz="2500" dirty="0">
              <a:solidFill>
                <a:schemeClr val="bg1"/>
              </a:solidFill>
            </a:endParaRPr>
          </a:p>
          <a:p>
            <a:r>
              <a:rPr lang="en-GB" sz="2500" dirty="0" err="1">
                <a:solidFill>
                  <a:schemeClr val="bg1"/>
                </a:solidFill>
              </a:rPr>
              <a:t>Općina</a:t>
            </a:r>
            <a:r>
              <a:rPr lang="en-GB" sz="2500" dirty="0">
                <a:solidFill>
                  <a:schemeClr val="bg1"/>
                </a:solidFill>
              </a:rPr>
              <a:t> </a:t>
            </a:r>
            <a:r>
              <a:rPr lang="en-GB" sz="2500" dirty="0" err="1">
                <a:solidFill>
                  <a:schemeClr val="bg1"/>
                </a:solidFill>
              </a:rPr>
              <a:t>Vidovec</a:t>
            </a:r>
            <a:endParaRPr lang="en-GB" sz="2500" dirty="0">
              <a:solidFill>
                <a:schemeClr val="bg1"/>
              </a:solidFill>
            </a:endParaRPr>
          </a:p>
          <a:p>
            <a:r>
              <a:rPr lang="en-GB" sz="2500" dirty="0" err="1">
                <a:solidFill>
                  <a:schemeClr val="bg1"/>
                </a:solidFill>
              </a:rPr>
              <a:t>Općina</a:t>
            </a:r>
            <a:r>
              <a:rPr lang="en-GB" sz="2500" dirty="0">
                <a:solidFill>
                  <a:schemeClr val="bg1"/>
                </a:solidFill>
              </a:rPr>
              <a:t> </a:t>
            </a:r>
            <a:r>
              <a:rPr lang="en-GB" sz="2500" dirty="0" err="1">
                <a:solidFill>
                  <a:schemeClr val="bg1"/>
                </a:solidFill>
              </a:rPr>
              <a:t>Sračinec</a:t>
            </a:r>
            <a:endParaRPr lang="en-GB" sz="2500" dirty="0">
              <a:solidFill>
                <a:schemeClr val="bg1"/>
              </a:solidFill>
            </a:endParaRPr>
          </a:p>
          <a:p>
            <a:r>
              <a:rPr lang="en-GB" sz="2500" dirty="0" err="1">
                <a:solidFill>
                  <a:schemeClr val="bg1"/>
                </a:solidFill>
              </a:rPr>
              <a:t>Općina</a:t>
            </a:r>
            <a:r>
              <a:rPr lang="en-GB" sz="2500" dirty="0">
                <a:solidFill>
                  <a:schemeClr val="bg1"/>
                </a:solidFill>
              </a:rPr>
              <a:t> </a:t>
            </a:r>
            <a:r>
              <a:rPr lang="en-GB" sz="2500" dirty="0" err="1">
                <a:solidFill>
                  <a:schemeClr val="bg1"/>
                </a:solidFill>
              </a:rPr>
              <a:t>Sveti</a:t>
            </a:r>
            <a:r>
              <a:rPr lang="en-GB" sz="2500" dirty="0">
                <a:solidFill>
                  <a:schemeClr val="bg1"/>
                </a:solidFill>
              </a:rPr>
              <a:t> Ilija</a:t>
            </a:r>
            <a:endParaRPr lang="en-HR" sz="2500" dirty="0">
              <a:solidFill>
                <a:schemeClr val="bg1"/>
              </a:solidFill>
            </a:endParaRPr>
          </a:p>
        </p:txBody>
      </p:sp>
    </p:spTree>
    <p:extLst>
      <p:ext uri="{BB962C8B-B14F-4D97-AF65-F5344CB8AC3E}">
        <p14:creationId xmlns:p14="http://schemas.microsoft.com/office/powerpoint/2010/main" val="14955413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p:cNvPicPr>
            <a:picLocks noGrp="1" noChangeAspect="1"/>
          </p:cNvPicPr>
          <p:nvPr>
            <p:ph type="pic" sz="quarter" idx="4294967295"/>
          </p:nvPr>
        </p:nvPicPr>
        <p:blipFill>
          <a:blip r:embed="rId3" cstate="print">
            <a:extLst>
              <a:ext uri="{28A0092B-C50C-407E-A947-70E740481C1C}">
                <a14:useLocalDpi xmlns:a14="http://schemas.microsoft.com/office/drawing/2010/main" val="0"/>
              </a:ext>
            </a:extLst>
          </a:blip>
          <a:srcRect t="34615" b="34615"/>
          <a:stretch>
            <a:fillRect/>
          </a:stretch>
        </p:blipFill>
        <p:spPr>
          <a:xfrm>
            <a:off x="0" y="0"/>
            <a:ext cx="12192000" cy="2501900"/>
          </a:xfrm>
          <a:prstGeom prst="rect">
            <a:avLst/>
          </a:prstGeom>
        </p:spPr>
      </p:pic>
      <p:sp>
        <p:nvSpPr>
          <p:cNvPr id="9" name="Oval 8"/>
          <p:cNvSpPr/>
          <p:nvPr/>
        </p:nvSpPr>
        <p:spPr>
          <a:xfrm>
            <a:off x="7096230" y="1946077"/>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6" name="Rectangle 45"/>
          <p:cNvSpPr/>
          <p:nvPr/>
        </p:nvSpPr>
        <p:spPr>
          <a:xfrm>
            <a:off x="8285258" y="3460481"/>
            <a:ext cx="3397140" cy="469487"/>
          </a:xfrm>
          <a:prstGeom prst="rect">
            <a:avLst/>
          </a:prstGeom>
          <a:noFill/>
        </p:spPr>
        <p:txBody>
          <a:bodyPr wrap="square">
            <a:spAutoFit/>
          </a:bodyPr>
          <a:lstStyle/>
          <a:p>
            <a:pPr algn="ctr">
              <a:buClr>
                <a:srgbClr val="F8B323"/>
              </a:buClr>
            </a:pPr>
            <a:endParaRPr lang="hr-HR" sz="1400" b="1" dirty="0">
              <a:solidFill>
                <a:schemeClr val="bg1"/>
              </a:solidFill>
              <a:latin typeface="Raleway" panose="020B0003030101060003" pitchFamily="34" charset="0"/>
            </a:endParaRPr>
          </a:p>
          <a:p>
            <a:pPr algn="ctr">
              <a:buClr>
                <a:srgbClr val="F8B323"/>
              </a:buClr>
            </a:pPr>
            <a:endParaRPr lang="hr-HR" sz="1051" dirty="0">
              <a:solidFill>
                <a:schemeClr val="bg1"/>
              </a:solidFill>
              <a:latin typeface="Raleway" panose="020B0003030101060003" pitchFamily="34" charset="0"/>
            </a:endParaRPr>
          </a:p>
        </p:txBody>
      </p:sp>
      <p:grpSp>
        <p:nvGrpSpPr>
          <p:cNvPr id="33" name="Group 32"/>
          <p:cNvGrpSpPr/>
          <p:nvPr/>
        </p:nvGrpSpPr>
        <p:grpSpPr>
          <a:xfrm>
            <a:off x="7171275" y="2202740"/>
            <a:ext cx="1243509" cy="748923"/>
            <a:chOff x="1132881" y="3224157"/>
            <a:chExt cx="1658011" cy="998562"/>
          </a:xfrm>
        </p:grpSpPr>
        <p:sp>
          <p:nvSpPr>
            <p:cNvPr id="35" name="Freeform 102"/>
            <p:cNvSpPr>
              <a:spLocks/>
            </p:cNvSpPr>
            <p:nvPr/>
          </p:nvSpPr>
          <p:spPr bwMode="auto">
            <a:xfrm>
              <a:off x="1132881"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75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36" name="Freeform 102"/>
            <p:cNvSpPr>
              <a:spLocks/>
            </p:cNvSpPr>
            <p:nvPr/>
          </p:nvSpPr>
          <p:spPr bwMode="auto">
            <a:xfrm>
              <a:off x="1724207" y="3224157"/>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37" name="Freeform 102"/>
            <p:cNvSpPr>
              <a:spLocks/>
            </p:cNvSpPr>
            <p:nvPr/>
          </p:nvSpPr>
          <p:spPr bwMode="auto">
            <a:xfrm>
              <a:off x="1442192" y="3482455"/>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38" name="Freeform 102"/>
            <p:cNvSpPr>
              <a:spLocks/>
            </p:cNvSpPr>
            <p:nvPr/>
          </p:nvSpPr>
          <p:spPr bwMode="auto">
            <a:xfrm>
              <a:off x="2101758"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65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grpSp>
        <p:nvGrpSpPr>
          <p:cNvPr id="15" name="Group 14"/>
          <p:cNvGrpSpPr/>
          <p:nvPr/>
        </p:nvGrpSpPr>
        <p:grpSpPr>
          <a:xfrm>
            <a:off x="3936840" y="1885020"/>
            <a:ext cx="1422949" cy="1422949"/>
            <a:chOff x="5488042" y="1898481"/>
            <a:chExt cx="1422949" cy="1422949"/>
          </a:xfrm>
        </p:grpSpPr>
        <p:sp>
          <p:nvSpPr>
            <p:cNvPr id="56" name="Oval 55"/>
            <p:cNvSpPr/>
            <p:nvPr/>
          </p:nvSpPr>
          <p:spPr>
            <a:xfrm>
              <a:off x="5488042" y="1898481"/>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nvGrpSpPr>
            <p:cNvPr id="58" name="Group 57"/>
            <p:cNvGrpSpPr/>
            <p:nvPr/>
          </p:nvGrpSpPr>
          <p:grpSpPr>
            <a:xfrm>
              <a:off x="5617656" y="2054727"/>
              <a:ext cx="1085591" cy="1012328"/>
              <a:chOff x="6490162" y="2474712"/>
              <a:chExt cx="1395963" cy="1301754"/>
            </a:xfrm>
          </p:grpSpPr>
          <p:sp>
            <p:nvSpPr>
              <p:cNvPr id="59" name="Freeform 46"/>
              <p:cNvSpPr>
                <a:spLocks noEditPoints="1"/>
              </p:cNvSpPr>
              <p:nvPr/>
            </p:nvSpPr>
            <p:spPr bwMode="auto">
              <a:xfrm>
                <a:off x="6858389" y="2696180"/>
                <a:ext cx="925961" cy="1080286"/>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60" name="Freeform 47"/>
              <p:cNvSpPr>
                <a:spLocks noEditPoints="1"/>
              </p:cNvSpPr>
              <p:nvPr/>
            </p:nvSpPr>
            <p:spPr bwMode="auto">
              <a:xfrm>
                <a:off x="7017234" y="2474712"/>
                <a:ext cx="400174" cy="785990"/>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61" name="Freeform 74"/>
              <p:cNvSpPr>
                <a:spLocks noEditPoints="1"/>
              </p:cNvSpPr>
              <p:nvPr/>
            </p:nvSpPr>
            <p:spPr bwMode="auto">
              <a:xfrm>
                <a:off x="6490162" y="2908589"/>
                <a:ext cx="425298" cy="520404"/>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63" name="Freeform 81"/>
              <p:cNvSpPr>
                <a:spLocks noEditPoints="1"/>
              </p:cNvSpPr>
              <p:nvPr/>
            </p:nvSpPr>
            <p:spPr bwMode="auto">
              <a:xfrm>
                <a:off x="7460073" y="3028588"/>
                <a:ext cx="426052" cy="612944"/>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grpSp>
      <p:sp>
        <p:nvSpPr>
          <p:cNvPr id="82" name="Rectangle 2"/>
          <p:cNvSpPr txBox="1">
            <a:spLocks noChangeArrowheads="1"/>
          </p:cNvSpPr>
          <p:nvPr/>
        </p:nvSpPr>
        <p:spPr bwMode="auto">
          <a:xfrm>
            <a:off x="8970398" y="789489"/>
            <a:ext cx="2463819" cy="996251"/>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endParaRPr lang="hr-HR" sz="2500" b="1" kern="0" dirty="0">
              <a:solidFill>
                <a:schemeClr val="bg1">
                  <a:alpha val="74000"/>
                </a:schemeClr>
              </a:solidFill>
              <a:latin typeface="Raleway Black" panose="020B0A03030101060003" pitchFamily="34" charset="-18"/>
            </a:endParaRPr>
          </a:p>
        </p:txBody>
      </p:sp>
      <p:sp>
        <p:nvSpPr>
          <p:cNvPr id="83" name="Oval 82"/>
          <p:cNvSpPr/>
          <p:nvPr/>
        </p:nvSpPr>
        <p:spPr>
          <a:xfrm>
            <a:off x="972641" y="1909051"/>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nvGrpSpPr>
          <p:cNvPr id="84" name="Group 83"/>
          <p:cNvGrpSpPr/>
          <p:nvPr/>
        </p:nvGrpSpPr>
        <p:grpSpPr>
          <a:xfrm>
            <a:off x="1079216" y="2244651"/>
            <a:ext cx="1243509" cy="748923"/>
            <a:chOff x="1132881" y="3224157"/>
            <a:chExt cx="1658011" cy="998562"/>
          </a:xfrm>
        </p:grpSpPr>
        <p:sp>
          <p:nvSpPr>
            <p:cNvPr id="85" name="Freeform 102"/>
            <p:cNvSpPr>
              <a:spLocks/>
            </p:cNvSpPr>
            <p:nvPr/>
          </p:nvSpPr>
          <p:spPr bwMode="auto">
            <a:xfrm>
              <a:off x="1132881"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75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86" name="Freeform 102"/>
            <p:cNvSpPr>
              <a:spLocks/>
            </p:cNvSpPr>
            <p:nvPr/>
          </p:nvSpPr>
          <p:spPr bwMode="auto">
            <a:xfrm>
              <a:off x="1724207" y="3224157"/>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87" name="Freeform 102"/>
            <p:cNvSpPr>
              <a:spLocks/>
            </p:cNvSpPr>
            <p:nvPr/>
          </p:nvSpPr>
          <p:spPr bwMode="auto">
            <a:xfrm>
              <a:off x="1442192" y="3482455"/>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88" name="Freeform 102"/>
            <p:cNvSpPr>
              <a:spLocks/>
            </p:cNvSpPr>
            <p:nvPr/>
          </p:nvSpPr>
          <p:spPr bwMode="auto">
            <a:xfrm>
              <a:off x="2101758"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65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grpSp>
        <p:nvGrpSpPr>
          <p:cNvPr id="41" name="Group 40">
            <a:extLst>
              <a:ext uri="{FF2B5EF4-FFF2-40B4-BE49-F238E27FC236}">
                <a16:creationId xmlns:a16="http://schemas.microsoft.com/office/drawing/2014/main" id="{EB7B7515-E506-DBB8-F9C9-98C82017BB4F}"/>
              </a:ext>
            </a:extLst>
          </p:cNvPr>
          <p:cNvGrpSpPr/>
          <p:nvPr/>
        </p:nvGrpSpPr>
        <p:grpSpPr>
          <a:xfrm>
            <a:off x="10079437" y="2032846"/>
            <a:ext cx="1422949" cy="1422949"/>
            <a:chOff x="5488042" y="1898481"/>
            <a:chExt cx="1422949" cy="1422949"/>
          </a:xfrm>
        </p:grpSpPr>
        <p:sp>
          <p:nvSpPr>
            <p:cNvPr id="42" name="Oval 41">
              <a:extLst>
                <a:ext uri="{FF2B5EF4-FFF2-40B4-BE49-F238E27FC236}">
                  <a16:creationId xmlns:a16="http://schemas.microsoft.com/office/drawing/2014/main" id="{F2939A93-2F12-16C8-D8B7-36D1F2548343}"/>
                </a:ext>
              </a:extLst>
            </p:cNvPr>
            <p:cNvSpPr/>
            <p:nvPr/>
          </p:nvSpPr>
          <p:spPr>
            <a:xfrm>
              <a:off x="5488042" y="1898481"/>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nvGrpSpPr>
            <p:cNvPr id="43" name="Group 42">
              <a:extLst>
                <a:ext uri="{FF2B5EF4-FFF2-40B4-BE49-F238E27FC236}">
                  <a16:creationId xmlns:a16="http://schemas.microsoft.com/office/drawing/2014/main" id="{7BEAD7BE-277D-F073-4F7F-03C43BE51023}"/>
                </a:ext>
              </a:extLst>
            </p:cNvPr>
            <p:cNvGrpSpPr/>
            <p:nvPr/>
          </p:nvGrpSpPr>
          <p:grpSpPr>
            <a:xfrm>
              <a:off x="5617656" y="2054727"/>
              <a:ext cx="1085591" cy="1012328"/>
              <a:chOff x="6490162" y="2474712"/>
              <a:chExt cx="1395963" cy="1301754"/>
            </a:xfrm>
          </p:grpSpPr>
          <p:sp>
            <p:nvSpPr>
              <p:cNvPr id="44" name="Freeform 46">
                <a:extLst>
                  <a:ext uri="{FF2B5EF4-FFF2-40B4-BE49-F238E27FC236}">
                    <a16:creationId xmlns:a16="http://schemas.microsoft.com/office/drawing/2014/main" id="{A30FA41F-74A5-B4E9-1C96-0A93EA403148}"/>
                  </a:ext>
                </a:extLst>
              </p:cNvPr>
              <p:cNvSpPr>
                <a:spLocks noEditPoints="1"/>
              </p:cNvSpPr>
              <p:nvPr/>
            </p:nvSpPr>
            <p:spPr bwMode="auto">
              <a:xfrm>
                <a:off x="6858389" y="2696180"/>
                <a:ext cx="925961" cy="1080286"/>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45" name="Freeform 47">
                <a:extLst>
                  <a:ext uri="{FF2B5EF4-FFF2-40B4-BE49-F238E27FC236}">
                    <a16:creationId xmlns:a16="http://schemas.microsoft.com/office/drawing/2014/main" id="{7666AEAF-0C18-1959-EA0D-6B30DCFBD8D7}"/>
                  </a:ext>
                </a:extLst>
              </p:cNvPr>
              <p:cNvSpPr>
                <a:spLocks noEditPoints="1"/>
              </p:cNvSpPr>
              <p:nvPr/>
            </p:nvSpPr>
            <p:spPr bwMode="auto">
              <a:xfrm>
                <a:off x="7017234" y="2474712"/>
                <a:ext cx="400174" cy="785990"/>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47" name="Freeform 74">
                <a:extLst>
                  <a:ext uri="{FF2B5EF4-FFF2-40B4-BE49-F238E27FC236}">
                    <a16:creationId xmlns:a16="http://schemas.microsoft.com/office/drawing/2014/main" id="{9EAF2F6C-A89E-2E3F-4BAF-15B51A287CB9}"/>
                  </a:ext>
                </a:extLst>
              </p:cNvPr>
              <p:cNvSpPr>
                <a:spLocks noEditPoints="1"/>
              </p:cNvSpPr>
              <p:nvPr/>
            </p:nvSpPr>
            <p:spPr bwMode="auto">
              <a:xfrm>
                <a:off x="6490162" y="2908589"/>
                <a:ext cx="425298" cy="520404"/>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48" name="Freeform 81">
                <a:extLst>
                  <a:ext uri="{FF2B5EF4-FFF2-40B4-BE49-F238E27FC236}">
                    <a16:creationId xmlns:a16="http://schemas.microsoft.com/office/drawing/2014/main" id="{4BF584A4-6C59-3581-FFCA-CCC14FCF100C}"/>
                  </a:ext>
                </a:extLst>
              </p:cNvPr>
              <p:cNvSpPr>
                <a:spLocks noEditPoints="1"/>
              </p:cNvSpPr>
              <p:nvPr/>
            </p:nvSpPr>
            <p:spPr bwMode="auto">
              <a:xfrm>
                <a:off x="7460073" y="3028588"/>
                <a:ext cx="426052" cy="612944"/>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grpSp>
      <p:sp>
        <p:nvSpPr>
          <p:cNvPr id="5" name="TextBox 4">
            <a:extLst>
              <a:ext uri="{FF2B5EF4-FFF2-40B4-BE49-F238E27FC236}">
                <a16:creationId xmlns:a16="http://schemas.microsoft.com/office/drawing/2014/main" id="{BF6005A5-B513-743D-41CA-48DE2837B6A6}"/>
              </a:ext>
            </a:extLst>
          </p:cNvPr>
          <p:cNvSpPr txBox="1"/>
          <p:nvPr/>
        </p:nvSpPr>
        <p:spPr>
          <a:xfrm>
            <a:off x="1311199" y="3825657"/>
            <a:ext cx="4687053" cy="2400657"/>
          </a:xfrm>
          <a:prstGeom prst="rect">
            <a:avLst/>
          </a:prstGeom>
          <a:noFill/>
        </p:spPr>
        <p:txBody>
          <a:bodyPr wrap="square" rtlCol="0">
            <a:spAutoFit/>
          </a:bodyPr>
          <a:lstStyle/>
          <a:p>
            <a:r>
              <a:rPr lang="en-GB" sz="2500" b="1" dirty="0">
                <a:solidFill>
                  <a:schemeClr val="bg1"/>
                </a:solidFill>
              </a:rPr>
              <a:t>U</a:t>
            </a:r>
            <a:r>
              <a:rPr lang="en-HR" sz="2500" b="1" dirty="0">
                <a:solidFill>
                  <a:schemeClr val="bg1"/>
                </a:solidFill>
              </a:rPr>
              <a:t>kupna vrijednost projekta:</a:t>
            </a:r>
          </a:p>
          <a:p>
            <a:r>
              <a:rPr lang="en-HR" sz="2500" b="1" dirty="0">
                <a:solidFill>
                  <a:schemeClr val="bg1"/>
                </a:solidFill>
              </a:rPr>
              <a:t>6.234.500,00 eura</a:t>
            </a:r>
          </a:p>
          <a:p>
            <a:endParaRPr lang="en-HR" sz="2500" b="1" dirty="0">
              <a:solidFill>
                <a:schemeClr val="bg1"/>
              </a:solidFill>
            </a:endParaRPr>
          </a:p>
          <a:p>
            <a:r>
              <a:rPr lang="en-HR" sz="2500" b="1" dirty="0">
                <a:solidFill>
                  <a:schemeClr val="bg1"/>
                </a:solidFill>
              </a:rPr>
              <a:t>ITU sufinanciranje:</a:t>
            </a:r>
          </a:p>
          <a:p>
            <a:r>
              <a:rPr lang="en-HR" sz="2500" b="1" dirty="0">
                <a:solidFill>
                  <a:schemeClr val="bg1"/>
                </a:solidFill>
              </a:rPr>
              <a:t>5.299.325,00 eura</a:t>
            </a:r>
          </a:p>
          <a:p>
            <a:endParaRPr lang="en-HR" sz="2500" b="1" dirty="0">
              <a:solidFill>
                <a:schemeClr val="bg1"/>
              </a:solidFill>
            </a:endParaRPr>
          </a:p>
        </p:txBody>
      </p:sp>
      <p:sp>
        <p:nvSpPr>
          <p:cNvPr id="6" name="TextBox 5">
            <a:extLst>
              <a:ext uri="{FF2B5EF4-FFF2-40B4-BE49-F238E27FC236}">
                <a16:creationId xmlns:a16="http://schemas.microsoft.com/office/drawing/2014/main" id="{FEB3C3F3-6D89-7E66-F000-3E324794F484}"/>
              </a:ext>
            </a:extLst>
          </p:cNvPr>
          <p:cNvSpPr txBox="1"/>
          <p:nvPr/>
        </p:nvSpPr>
        <p:spPr>
          <a:xfrm>
            <a:off x="6563908" y="3525272"/>
            <a:ext cx="4399408" cy="3924151"/>
          </a:xfrm>
          <a:prstGeom prst="rect">
            <a:avLst/>
          </a:prstGeom>
          <a:noFill/>
        </p:spPr>
        <p:txBody>
          <a:bodyPr wrap="square" rtlCol="0">
            <a:spAutoFit/>
          </a:bodyPr>
          <a:lstStyle/>
          <a:p>
            <a:r>
              <a:rPr lang="en-HR" sz="1900" u="sng" dirty="0">
                <a:solidFill>
                  <a:schemeClr val="bg1"/>
                </a:solidFill>
              </a:rPr>
              <a:t>Imovinsko-pravni odnosi:</a:t>
            </a:r>
          </a:p>
          <a:p>
            <a:r>
              <a:rPr lang="en-HR" sz="1900" dirty="0">
                <a:solidFill>
                  <a:schemeClr val="bg1"/>
                </a:solidFill>
              </a:rPr>
              <a:t>Centar:</a:t>
            </a:r>
          </a:p>
          <a:p>
            <a:r>
              <a:rPr lang="en-HR" sz="1900" dirty="0">
                <a:solidFill>
                  <a:schemeClr val="bg1"/>
                </a:solidFill>
              </a:rPr>
              <a:t>Vlasništvo :Grad Varaždin 1/1</a:t>
            </a:r>
          </a:p>
          <a:p>
            <a:r>
              <a:rPr lang="en-HR" sz="1900" dirty="0">
                <a:solidFill>
                  <a:schemeClr val="bg1"/>
                </a:solidFill>
              </a:rPr>
              <a:t>Pravo građenja: FOI</a:t>
            </a:r>
          </a:p>
          <a:p>
            <a:endParaRPr lang="en-HR" sz="1900" dirty="0">
              <a:solidFill>
                <a:schemeClr val="bg1"/>
              </a:solidFill>
            </a:endParaRPr>
          </a:p>
          <a:p>
            <a:r>
              <a:rPr lang="en-GB" sz="1900" dirty="0">
                <a:solidFill>
                  <a:schemeClr val="bg1"/>
                </a:solidFill>
              </a:rPr>
              <a:t>L</a:t>
            </a:r>
            <a:r>
              <a:rPr lang="en-HR" sz="1900" dirty="0">
                <a:solidFill>
                  <a:schemeClr val="bg1"/>
                </a:solidFill>
              </a:rPr>
              <a:t>okalne točke razvoja:</a:t>
            </a:r>
          </a:p>
          <a:p>
            <a:r>
              <a:rPr lang="en-GB" sz="1900" dirty="0">
                <a:solidFill>
                  <a:schemeClr val="bg1"/>
                </a:solidFill>
              </a:rPr>
              <a:t>R</a:t>
            </a:r>
            <a:r>
              <a:rPr lang="en-HR" sz="1900" dirty="0">
                <a:solidFill>
                  <a:schemeClr val="bg1"/>
                </a:solidFill>
              </a:rPr>
              <a:t>iješeni imovinsko-pravni odnosi: </a:t>
            </a:r>
          </a:p>
          <a:p>
            <a:r>
              <a:rPr lang="en-GB" sz="1900" dirty="0">
                <a:solidFill>
                  <a:schemeClr val="bg1"/>
                </a:solidFill>
              </a:rPr>
              <a:t>Grad </a:t>
            </a:r>
            <a:r>
              <a:rPr lang="en-GB" sz="1900" dirty="0" err="1">
                <a:solidFill>
                  <a:schemeClr val="bg1"/>
                </a:solidFill>
              </a:rPr>
              <a:t>Ludbreg</a:t>
            </a:r>
            <a:endParaRPr lang="en-GB" sz="1900" dirty="0">
              <a:solidFill>
                <a:schemeClr val="bg1"/>
              </a:solidFill>
            </a:endParaRPr>
          </a:p>
          <a:p>
            <a:r>
              <a:rPr lang="en-GB" sz="1900" dirty="0">
                <a:solidFill>
                  <a:schemeClr val="bg1"/>
                </a:solidFill>
              </a:rPr>
              <a:t>Grad Novi </a:t>
            </a:r>
            <a:r>
              <a:rPr lang="en-GB" sz="1900" dirty="0" err="1">
                <a:solidFill>
                  <a:schemeClr val="bg1"/>
                </a:solidFill>
              </a:rPr>
              <a:t>Marof</a:t>
            </a:r>
            <a:r>
              <a:rPr lang="en-GB" sz="1900" dirty="0">
                <a:solidFill>
                  <a:schemeClr val="bg1"/>
                </a:solidFill>
              </a:rPr>
              <a:t> </a:t>
            </a:r>
          </a:p>
          <a:p>
            <a:r>
              <a:rPr lang="en-GB" sz="1900" dirty="0" err="1">
                <a:solidFill>
                  <a:schemeClr val="bg1"/>
                </a:solidFill>
              </a:rPr>
              <a:t>Općina</a:t>
            </a:r>
            <a:r>
              <a:rPr lang="en-GB" sz="1900" dirty="0">
                <a:solidFill>
                  <a:schemeClr val="bg1"/>
                </a:solidFill>
              </a:rPr>
              <a:t> Gornji </a:t>
            </a:r>
            <a:r>
              <a:rPr lang="en-GB" sz="1900" dirty="0" err="1">
                <a:solidFill>
                  <a:schemeClr val="bg1"/>
                </a:solidFill>
              </a:rPr>
              <a:t>Kneginec</a:t>
            </a:r>
            <a:endParaRPr lang="en-GB" sz="1900" dirty="0">
              <a:solidFill>
                <a:schemeClr val="bg1"/>
              </a:solidFill>
            </a:endParaRPr>
          </a:p>
          <a:p>
            <a:r>
              <a:rPr lang="en-GB" sz="1900" dirty="0" err="1">
                <a:solidFill>
                  <a:schemeClr val="bg1"/>
                </a:solidFill>
              </a:rPr>
              <a:t>Općina</a:t>
            </a:r>
            <a:r>
              <a:rPr lang="en-GB" sz="1900" dirty="0">
                <a:solidFill>
                  <a:schemeClr val="bg1"/>
                </a:solidFill>
              </a:rPr>
              <a:t> </a:t>
            </a:r>
            <a:r>
              <a:rPr lang="en-GB" sz="1900" dirty="0" err="1">
                <a:solidFill>
                  <a:schemeClr val="bg1"/>
                </a:solidFill>
              </a:rPr>
              <a:t>Vidovec</a:t>
            </a:r>
            <a:endParaRPr lang="en-GB" sz="1900" dirty="0">
              <a:solidFill>
                <a:schemeClr val="bg1"/>
              </a:solidFill>
            </a:endParaRPr>
          </a:p>
          <a:p>
            <a:endParaRPr lang="en-HR" sz="2000" dirty="0">
              <a:solidFill>
                <a:schemeClr val="bg1"/>
              </a:solidFill>
            </a:endParaRPr>
          </a:p>
          <a:p>
            <a:endParaRPr lang="en-HR" sz="2000" dirty="0">
              <a:solidFill>
                <a:schemeClr val="bg1"/>
              </a:solidFill>
            </a:endParaRPr>
          </a:p>
        </p:txBody>
      </p:sp>
    </p:spTree>
    <p:extLst>
      <p:ext uri="{BB962C8B-B14F-4D97-AF65-F5344CB8AC3E}">
        <p14:creationId xmlns:p14="http://schemas.microsoft.com/office/powerpoint/2010/main" val="15158387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p:cNvPicPr>
            <a:picLocks noGrp="1" noChangeAspect="1"/>
          </p:cNvPicPr>
          <p:nvPr>
            <p:ph type="pic" sz="quarter" idx="4294967295"/>
          </p:nvPr>
        </p:nvPicPr>
        <p:blipFill>
          <a:blip r:embed="rId3" cstate="print">
            <a:extLst>
              <a:ext uri="{28A0092B-C50C-407E-A947-70E740481C1C}">
                <a14:useLocalDpi xmlns:a14="http://schemas.microsoft.com/office/drawing/2010/main" val="0"/>
              </a:ext>
            </a:extLst>
          </a:blip>
          <a:srcRect t="34615" b="34615"/>
          <a:stretch>
            <a:fillRect/>
          </a:stretch>
        </p:blipFill>
        <p:spPr>
          <a:xfrm>
            <a:off x="0" y="0"/>
            <a:ext cx="12192000" cy="2501900"/>
          </a:xfrm>
          <a:prstGeom prst="rect">
            <a:avLst/>
          </a:prstGeom>
        </p:spPr>
      </p:pic>
      <p:sp>
        <p:nvSpPr>
          <p:cNvPr id="9" name="Oval 8"/>
          <p:cNvSpPr/>
          <p:nvPr/>
        </p:nvSpPr>
        <p:spPr>
          <a:xfrm>
            <a:off x="7096230" y="1946077"/>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6" name="Rectangle 45"/>
          <p:cNvSpPr/>
          <p:nvPr/>
        </p:nvSpPr>
        <p:spPr>
          <a:xfrm>
            <a:off x="8285258" y="3460481"/>
            <a:ext cx="3397140" cy="469487"/>
          </a:xfrm>
          <a:prstGeom prst="rect">
            <a:avLst/>
          </a:prstGeom>
          <a:noFill/>
        </p:spPr>
        <p:txBody>
          <a:bodyPr wrap="square">
            <a:spAutoFit/>
          </a:bodyPr>
          <a:lstStyle/>
          <a:p>
            <a:pPr algn="ctr">
              <a:buClr>
                <a:srgbClr val="F8B323"/>
              </a:buClr>
            </a:pPr>
            <a:endParaRPr lang="hr-HR" sz="1400" b="1" dirty="0">
              <a:solidFill>
                <a:schemeClr val="bg1"/>
              </a:solidFill>
              <a:latin typeface="Raleway" panose="020B0003030101060003" pitchFamily="34" charset="0"/>
            </a:endParaRPr>
          </a:p>
          <a:p>
            <a:pPr algn="ctr">
              <a:buClr>
                <a:srgbClr val="F8B323"/>
              </a:buClr>
            </a:pPr>
            <a:endParaRPr lang="hr-HR" sz="1051" dirty="0">
              <a:solidFill>
                <a:schemeClr val="bg1"/>
              </a:solidFill>
              <a:latin typeface="Raleway" panose="020B0003030101060003" pitchFamily="34" charset="0"/>
            </a:endParaRPr>
          </a:p>
        </p:txBody>
      </p:sp>
      <p:grpSp>
        <p:nvGrpSpPr>
          <p:cNvPr id="33" name="Group 32"/>
          <p:cNvGrpSpPr/>
          <p:nvPr/>
        </p:nvGrpSpPr>
        <p:grpSpPr>
          <a:xfrm>
            <a:off x="7171275" y="2202740"/>
            <a:ext cx="1243509" cy="748923"/>
            <a:chOff x="1132881" y="3224157"/>
            <a:chExt cx="1658011" cy="998562"/>
          </a:xfrm>
        </p:grpSpPr>
        <p:sp>
          <p:nvSpPr>
            <p:cNvPr id="35" name="Freeform 102"/>
            <p:cNvSpPr>
              <a:spLocks/>
            </p:cNvSpPr>
            <p:nvPr/>
          </p:nvSpPr>
          <p:spPr bwMode="auto">
            <a:xfrm>
              <a:off x="1132881"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75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36" name="Freeform 102"/>
            <p:cNvSpPr>
              <a:spLocks/>
            </p:cNvSpPr>
            <p:nvPr/>
          </p:nvSpPr>
          <p:spPr bwMode="auto">
            <a:xfrm>
              <a:off x="1724207" y="3224157"/>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37" name="Freeform 102"/>
            <p:cNvSpPr>
              <a:spLocks/>
            </p:cNvSpPr>
            <p:nvPr/>
          </p:nvSpPr>
          <p:spPr bwMode="auto">
            <a:xfrm>
              <a:off x="1442192" y="3482455"/>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38" name="Freeform 102"/>
            <p:cNvSpPr>
              <a:spLocks/>
            </p:cNvSpPr>
            <p:nvPr/>
          </p:nvSpPr>
          <p:spPr bwMode="auto">
            <a:xfrm>
              <a:off x="2101758"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65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grpSp>
        <p:nvGrpSpPr>
          <p:cNvPr id="15" name="Group 14"/>
          <p:cNvGrpSpPr/>
          <p:nvPr/>
        </p:nvGrpSpPr>
        <p:grpSpPr>
          <a:xfrm>
            <a:off x="3936840" y="1885020"/>
            <a:ext cx="1422949" cy="1422949"/>
            <a:chOff x="5488042" y="1898481"/>
            <a:chExt cx="1422949" cy="1422949"/>
          </a:xfrm>
        </p:grpSpPr>
        <p:sp>
          <p:nvSpPr>
            <p:cNvPr id="56" name="Oval 55"/>
            <p:cNvSpPr/>
            <p:nvPr/>
          </p:nvSpPr>
          <p:spPr>
            <a:xfrm>
              <a:off x="5488042" y="1898481"/>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nvGrpSpPr>
            <p:cNvPr id="58" name="Group 57"/>
            <p:cNvGrpSpPr/>
            <p:nvPr/>
          </p:nvGrpSpPr>
          <p:grpSpPr>
            <a:xfrm>
              <a:off x="5617656" y="2054727"/>
              <a:ext cx="1085591" cy="1012328"/>
              <a:chOff x="6490162" y="2474712"/>
              <a:chExt cx="1395963" cy="1301754"/>
            </a:xfrm>
          </p:grpSpPr>
          <p:sp>
            <p:nvSpPr>
              <p:cNvPr id="59" name="Freeform 46"/>
              <p:cNvSpPr>
                <a:spLocks noEditPoints="1"/>
              </p:cNvSpPr>
              <p:nvPr/>
            </p:nvSpPr>
            <p:spPr bwMode="auto">
              <a:xfrm>
                <a:off x="6858389" y="2696180"/>
                <a:ext cx="925961" cy="1080286"/>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60" name="Freeform 47"/>
              <p:cNvSpPr>
                <a:spLocks noEditPoints="1"/>
              </p:cNvSpPr>
              <p:nvPr/>
            </p:nvSpPr>
            <p:spPr bwMode="auto">
              <a:xfrm>
                <a:off x="7017234" y="2474712"/>
                <a:ext cx="400174" cy="785990"/>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61" name="Freeform 74"/>
              <p:cNvSpPr>
                <a:spLocks noEditPoints="1"/>
              </p:cNvSpPr>
              <p:nvPr/>
            </p:nvSpPr>
            <p:spPr bwMode="auto">
              <a:xfrm>
                <a:off x="6490162" y="2908589"/>
                <a:ext cx="425298" cy="520404"/>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63" name="Freeform 81"/>
              <p:cNvSpPr>
                <a:spLocks noEditPoints="1"/>
              </p:cNvSpPr>
              <p:nvPr/>
            </p:nvSpPr>
            <p:spPr bwMode="auto">
              <a:xfrm>
                <a:off x="7460073" y="3028588"/>
                <a:ext cx="426052" cy="612944"/>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grpSp>
      <p:sp>
        <p:nvSpPr>
          <p:cNvPr id="82" name="Rectangle 2"/>
          <p:cNvSpPr txBox="1">
            <a:spLocks noChangeArrowheads="1"/>
          </p:cNvSpPr>
          <p:nvPr/>
        </p:nvSpPr>
        <p:spPr bwMode="auto">
          <a:xfrm>
            <a:off x="8970398" y="789489"/>
            <a:ext cx="2463819" cy="996251"/>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endParaRPr lang="hr-HR" sz="2500" b="1" kern="0" dirty="0">
              <a:solidFill>
                <a:schemeClr val="bg1">
                  <a:alpha val="74000"/>
                </a:schemeClr>
              </a:solidFill>
              <a:latin typeface="Raleway Black" panose="020B0A03030101060003" pitchFamily="34" charset="-18"/>
            </a:endParaRPr>
          </a:p>
        </p:txBody>
      </p:sp>
      <p:sp>
        <p:nvSpPr>
          <p:cNvPr id="83" name="Oval 82"/>
          <p:cNvSpPr/>
          <p:nvPr/>
        </p:nvSpPr>
        <p:spPr>
          <a:xfrm>
            <a:off x="972641" y="1909051"/>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nvGrpSpPr>
          <p:cNvPr id="84" name="Group 83"/>
          <p:cNvGrpSpPr/>
          <p:nvPr/>
        </p:nvGrpSpPr>
        <p:grpSpPr>
          <a:xfrm>
            <a:off x="1079216" y="2244651"/>
            <a:ext cx="1243509" cy="748923"/>
            <a:chOff x="1132881" y="3224157"/>
            <a:chExt cx="1658011" cy="998562"/>
          </a:xfrm>
        </p:grpSpPr>
        <p:sp>
          <p:nvSpPr>
            <p:cNvPr id="85" name="Freeform 102"/>
            <p:cNvSpPr>
              <a:spLocks/>
            </p:cNvSpPr>
            <p:nvPr/>
          </p:nvSpPr>
          <p:spPr bwMode="auto">
            <a:xfrm>
              <a:off x="1132881"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75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86" name="Freeform 102"/>
            <p:cNvSpPr>
              <a:spLocks/>
            </p:cNvSpPr>
            <p:nvPr/>
          </p:nvSpPr>
          <p:spPr bwMode="auto">
            <a:xfrm>
              <a:off x="1724207" y="3224157"/>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87" name="Freeform 102"/>
            <p:cNvSpPr>
              <a:spLocks/>
            </p:cNvSpPr>
            <p:nvPr/>
          </p:nvSpPr>
          <p:spPr bwMode="auto">
            <a:xfrm>
              <a:off x="1442192" y="3482455"/>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88" name="Freeform 102"/>
            <p:cNvSpPr>
              <a:spLocks/>
            </p:cNvSpPr>
            <p:nvPr/>
          </p:nvSpPr>
          <p:spPr bwMode="auto">
            <a:xfrm>
              <a:off x="2101758"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65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grpSp>
        <p:nvGrpSpPr>
          <p:cNvPr id="41" name="Group 40">
            <a:extLst>
              <a:ext uri="{FF2B5EF4-FFF2-40B4-BE49-F238E27FC236}">
                <a16:creationId xmlns:a16="http://schemas.microsoft.com/office/drawing/2014/main" id="{EB7B7515-E506-DBB8-F9C9-98C82017BB4F}"/>
              </a:ext>
            </a:extLst>
          </p:cNvPr>
          <p:cNvGrpSpPr/>
          <p:nvPr/>
        </p:nvGrpSpPr>
        <p:grpSpPr>
          <a:xfrm>
            <a:off x="10079437" y="2032846"/>
            <a:ext cx="1422949" cy="1422949"/>
            <a:chOff x="5488042" y="1898481"/>
            <a:chExt cx="1422949" cy="1422949"/>
          </a:xfrm>
        </p:grpSpPr>
        <p:sp>
          <p:nvSpPr>
            <p:cNvPr id="42" name="Oval 41">
              <a:extLst>
                <a:ext uri="{FF2B5EF4-FFF2-40B4-BE49-F238E27FC236}">
                  <a16:creationId xmlns:a16="http://schemas.microsoft.com/office/drawing/2014/main" id="{F2939A93-2F12-16C8-D8B7-36D1F2548343}"/>
                </a:ext>
              </a:extLst>
            </p:cNvPr>
            <p:cNvSpPr/>
            <p:nvPr/>
          </p:nvSpPr>
          <p:spPr>
            <a:xfrm>
              <a:off x="5488042" y="1898481"/>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nvGrpSpPr>
            <p:cNvPr id="43" name="Group 42">
              <a:extLst>
                <a:ext uri="{FF2B5EF4-FFF2-40B4-BE49-F238E27FC236}">
                  <a16:creationId xmlns:a16="http://schemas.microsoft.com/office/drawing/2014/main" id="{7BEAD7BE-277D-F073-4F7F-03C43BE51023}"/>
                </a:ext>
              </a:extLst>
            </p:cNvPr>
            <p:cNvGrpSpPr/>
            <p:nvPr/>
          </p:nvGrpSpPr>
          <p:grpSpPr>
            <a:xfrm>
              <a:off x="5617656" y="2054727"/>
              <a:ext cx="1085591" cy="1012328"/>
              <a:chOff x="6490162" y="2474712"/>
              <a:chExt cx="1395963" cy="1301754"/>
            </a:xfrm>
          </p:grpSpPr>
          <p:sp>
            <p:nvSpPr>
              <p:cNvPr id="44" name="Freeform 46">
                <a:extLst>
                  <a:ext uri="{FF2B5EF4-FFF2-40B4-BE49-F238E27FC236}">
                    <a16:creationId xmlns:a16="http://schemas.microsoft.com/office/drawing/2014/main" id="{A30FA41F-74A5-B4E9-1C96-0A93EA403148}"/>
                  </a:ext>
                </a:extLst>
              </p:cNvPr>
              <p:cNvSpPr>
                <a:spLocks noEditPoints="1"/>
              </p:cNvSpPr>
              <p:nvPr/>
            </p:nvSpPr>
            <p:spPr bwMode="auto">
              <a:xfrm>
                <a:off x="6858389" y="2696180"/>
                <a:ext cx="925961" cy="1080286"/>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45" name="Freeform 47">
                <a:extLst>
                  <a:ext uri="{FF2B5EF4-FFF2-40B4-BE49-F238E27FC236}">
                    <a16:creationId xmlns:a16="http://schemas.microsoft.com/office/drawing/2014/main" id="{7666AEAF-0C18-1959-EA0D-6B30DCFBD8D7}"/>
                  </a:ext>
                </a:extLst>
              </p:cNvPr>
              <p:cNvSpPr>
                <a:spLocks noEditPoints="1"/>
              </p:cNvSpPr>
              <p:nvPr/>
            </p:nvSpPr>
            <p:spPr bwMode="auto">
              <a:xfrm>
                <a:off x="7017234" y="2474712"/>
                <a:ext cx="400174" cy="785990"/>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47" name="Freeform 74">
                <a:extLst>
                  <a:ext uri="{FF2B5EF4-FFF2-40B4-BE49-F238E27FC236}">
                    <a16:creationId xmlns:a16="http://schemas.microsoft.com/office/drawing/2014/main" id="{9EAF2F6C-A89E-2E3F-4BAF-15B51A287CB9}"/>
                  </a:ext>
                </a:extLst>
              </p:cNvPr>
              <p:cNvSpPr>
                <a:spLocks noEditPoints="1"/>
              </p:cNvSpPr>
              <p:nvPr/>
            </p:nvSpPr>
            <p:spPr bwMode="auto">
              <a:xfrm>
                <a:off x="6490162" y="2908589"/>
                <a:ext cx="425298" cy="520404"/>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48" name="Freeform 81">
                <a:extLst>
                  <a:ext uri="{FF2B5EF4-FFF2-40B4-BE49-F238E27FC236}">
                    <a16:creationId xmlns:a16="http://schemas.microsoft.com/office/drawing/2014/main" id="{4BF584A4-6C59-3581-FFCA-CCC14FCF100C}"/>
                  </a:ext>
                </a:extLst>
              </p:cNvPr>
              <p:cNvSpPr>
                <a:spLocks noEditPoints="1"/>
              </p:cNvSpPr>
              <p:nvPr/>
            </p:nvSpPr>
            <p:spPr bwMode="auto">
              <a:xfrm>
                <a:off x="7460073" y="3028588"/>
                <a:ext cx="426052" cy="612944"/>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grpSp>
      <p:sp>
        <p:nvSpPr>
          <p:cNvPr id="5" name="TextBox 4">
            <a:extLst>
              <a:ext uri="{FF2B5EF4-FFF2-40B4-BE49-F238E27FC236}">
                <a16:creationId xmlns:a16="http://schemas.microsoft.com/office/drawing/2014/main" id="{BF6005A5-B513-743D-41CA-48DE2837B6A6}"/>
              </a:ext>
            </a:extLst>
          </p:cNvPr>
          <p:cNvSpPr txBox="1"/>
          <p:nvPr/>
        </p:nvSpPr>
        <p:spPr>
          <a:xfrm>
            <a:off x="918633" y="4131382"/>
            <a:ext cx="4687053" cy="1631216"/>
          </a:xfrm>
          <a:prstGeom prst="rect">
            <a:avLst/>
          </a:prstGeom>
          <a:noFill/>
        </p:spPr>
        <p:txBody>
          <a:bodyPr wrap="square" rtlCol="0">
            <a:spAutoFit/>
          </a:bodyPr>
          <a:lstStyle/>
          <a:p>
            <a:r>
              <a:rPr lang="en-GB" sz="2500" b="1" dirty="0" err="1">
                <a:solidFill>
                  <a:schemeClr val="bg1"/>
                </a:solidFill>
              </a:rPr>
              <a:t>Projekt</a:t>
            </a:r>
            <a:r>
              <a:rPr lang="en-GB" sz="2500" b="1" dirty="0">
                <a:solidFill>
                  <a:schemeClr val="bg1"/>
                </a:solidFill>
              </a:rPr>
              <a:t> je </a:t>
            </a:r>
            <a:r>
              <a:rPr lang="en-GB" sz="2500" b="1" dirty="0" err="1">
                <a:solidFill>
                  <a:schemeClr val="bg1"/>
                </a:solidFill>
              </a:rPr>
              <a:t>djelomično</a:t>
            </a:r>
            <a:r>
              <a:rPr lang="en-GB" sz="2500" b="1" dirty="0">
                <a:solidFill>
                  <a:schemeClr val="bg1"/>
                </a:solidFill>
              </a:rPr>
              <a:t> </a:t>
            </a:r>
            <a:r>
              <a:rPr lang="en-GB" sz="2500" b="1" dirty="0" err="1">
                <a:solidFill>
                  <a:schemeClr val="bg1"/>
                </a:solidFill>
              </a:rPr>
              <a:t>spreman</a:t>
            </a:r>
            <a:r>
              <a:rPr lang="en-GB" sz="2500" b="1" dirty="0">
                <a:solidFill>
                  <a:schemeClr val="bg1"/>
                </a:solidFill>
              </a:rPr>
              <a:t> za </a:t>
            </a:r>
            <a:r>
              <a:rPr lang="en-GB" sz="2500" b="1" dirty="0" err="1">
                <a:solidFill>
                  <a:schemeClr val="bg1"/>
                </a:solidFill>
              </a:rPr>
              <a:t>provedbu</a:t>
            </a:r>
            <a:r>
              <a:rPr lang="en-GB" sz="2500" b="1" dirty="0">
                <a:solidFill>
                  <a:schemeClr val="bg1"/>
                </a:solidFill>
              </a:rPr>
              <a:t> </a:t>
            </a:r>
            <a:r>
              <a:rPr lang="en-GB" sz="2500" b="1" dirty="0" err="1">
                <a:solidFill>
                  <a:schemeClr val="bg1"/>
                </a:solidFill>
              </a:rPr>
              <a:t>te</a:t>
            </a:r>
            <a:r>
              <a:rPr lang="en-GB" sz="2500" b="1" dirty="0">
                <a:solidFill>
                  <a:schemeClr val="bg1"/>
                </a:solidFill>
              </a:rPr>
              <a:t> je </a:t>
            </a:r>
            <a:r>
              <a:rPr lang="en-GB" sz="2500" b="1" dirty="0" err="1">
                <a:solidFill>
                  <a:schemeClr val="bg1"/>
                </a:solidFill>
              </a:rPr>
              <a:t>projektno-tehnička</a:t>
            </a:r>
            <a:r>
              <a:rPr lang="en-GB" sz="2500" b="1" dirty="0">
                <a:solidFill>
                  <a:schemeClr val="bg1"/>
                </a:solidFill>
              </a:rPr>
              <a:t> </a:t>
            </a:r>
            <a:r>
              <a:rPr lang="en-GB" sz="2500" b="1" dirty="0" err="1">
                <a:solidFill>
                  <a:schemeClr val="bg1"/>
                </a:solidFill>
              </a:rPr>
              <a:t>dokumentacija</a:t>
            </a:r>
            <a:r>
              <a:rPr lang="en-GB" sz="2500" b="1" dirty="0">
                <a:solidFill>
                  <a:schemeClr val="bg1"/>
                </a:solidFill>
              </a:rPr>
              <a:t> u </a:t>
            </a:r>
            <a:r>
              <a:rPr lang="en-GB" sz="2500" b="1" dirty="0" err="1">
                <a:solidFill>
                  <a:schemeClr val="bg1"/>
                </a:solidFill>
              </a:rPr>
              <a:t>visokoj</a:t>
            </a:r>
            <a:r>
              <a:rPr lang="en-GB" sz="2500" b="1" dirty="0">
                <a:solidFill>
                  <a:schemeClr val="bg1"/>
                </a:solidFill>
              </a:rPr>
              <a:t> </a:t>
            </a:r>
            <a:r>
              <a:rPr lang="en-GB" sz="2500" b="1" dirty="0" err="1">
                <a:solidFill>
                  <a:schemeClr val="bg1"/>
                </a:solidFill>
              </a:rPr>
              <a:t>fazi</a:t>
            </a:r>
            <a:r>
              <a:rPr lang="en-GB" sz="2500" b="1" dirty="0">
                <a:solidFill>
                  <a:schemeClr val="bg1"/>
                </a:solidFill>
              </a:rPr>
              <a:t> </a:t>
            </a:r>
            <a:r>
              <a:rPr lang="en-GB" sz="2500" b="1" dirty="0" err="1">
                <a:solidFill>
                  <a:schemeClr val="bg1"/>
                </a:solidFill>
              </a:rPr>
              <a:t>izrade</a:t>
            </a:r>
            <a:r>
              <a:rPr lang="en-GB" sz="2500" b="1" dirty="0">
                <a:solidFill>
                  <a:schemeClr val="bg1"/>
                </a:solidFill>
              </a:rPr>
              <a:t>. </a:t>
            </a:r>
          </a:p>
        </p:txBody>
      </p:sp>
      <p:sp>
        <p:nvSpPr>
          <p:cNvPr id="6" name="TextBox 5">
            <a:extLst>
              <a:ext uri="{FF2B5EF4-FFF2-40B4-BE49-F238E27FC236}">
                <a16:creationId xmlns:a16="http://schemas.microsoft.com/office/drawing/2014/main" id="{FEB3C3F3-6D89-7E66-F000-3E324794F484}"/>
              </a:ext>
            </a:extLst>
          </p:cNvPr>
          <p:cNvSpPr txBox="1"/>
          <p:nvPr/>
        </p:nvSpPr>
        <p:spPr>
          <a:xfrm>
            <a:off x="6563908" y="3525272"/>
            <a:ext cx="4399408" cy="2554545"/>
          </a:xfrm>
          <a:prstGeom prst="rect">
            <a:avLst/>
          </a:prstGeom>
          <a:noFill/>
        </p:spPr>
        <p:txBody>
          <a:bodyPr wrap="square" rtlCol="0">
            <a:spAutoFit/>
          </a:bodyPr>
          <a:lstStyle/>
          <a:p>
            <a:pPr marL="342900" indent="-342900">
              <a:buFont typeface="Arial" panose="020B0604020202020204" pitchFamily="34" charset="0"/>
              <a:buChar char="•"/>
            </a:pPr>
            <a:r>
              <a:rPr lang="en-GB" sz="2000" dirty="0" err="1">
                <a:solidFill>
                  <a:schemeClr val="bg1"/>
                </a:solidFill>
              </a:rPr>
              <a:t>Studija</a:t>
            </a:r>
            <a:r>
              <a:rPr lang="en-GB" sz="2000" dirty="0">
                <a:solidFill>
                  <a:schemeClr val="bg1"/>
                </a:solidFill>
              </a:rPr>
              <a:t> </a:t>
            </a:r>
            <a:r>
              <a:rPr lang="en-GB" sz="2000" dirty="0" err="1">
                <a:solidFill>
                  <a:schemeClr val="bg1"/>
                </a:solidFill>
              </a:rPr>
              <a:t>izvedivosti</a:t>
            </a:r>
            <a:r>
              <a:rPr lang="en-GB" sz="2000" dirty="0">
                <a:solidFill>
                  <a:schemeClr val="bg1"/>
                </a:solidFill>
              </a:rPr>
              <a:t> s CBA </a:t>
            </a:r>
            <a:r>
              <a:rPr lang="en-GB" sz="2000" dirty="0" err="1">
                <a:solidFill>
                  <a:schemeClr val="bg1"/>
                </a:solidFill>
              </a:rPr>
              <a:t>analizom</a:t>
            </a:r>
            <a:endParaRPr lang="en-GB" sz="2000" dirty="0">
              <a:solidFill>
                <a:schemeClr val="bg1"/>
              </a:solidFill>
            </a:endParaRPr>
          </a:p>
          <a:p>
            <a:pPr marL="342900" indent="-342900">
              <a:buFont typeface="Arial" panose="020B0604020202020204" pitchFamily="34" charset="0"/>
              <a:buChar char="•"/>
            </a:pPr>
            <a:r>
              <a:rPr lang="en-GB" sz="2000" dirty="0" err="1">
                <a:solidFill>
                  <a:schemeClr val="bg1"/>
                </a:solidFill>
              </a:rPr>
              <a:t>Idejna</a:t>
            </a:r>
            <a:r>
              <a:rPr lang="en-GB" sz="2000" dirty="0">
                <a:solidFill>
                  <a:schemeClr val="bg1"/>
                </a:solidFill>
              </a:rPr>
              <a:t> </a:t>
            </a:r>
            <a:r>
              <a:rPr lang="en-GB" sz="2000" dirty="0" err="1">
                <a:solidFill>
                  <a:schemeClr val="bg1"/>
                </a:solidFill>
              </a:rPr>
              <a:t>studija</a:t>
            </a:r>
            <a:r>
              <a:rPr lang="en-GB" sz="2000" dirty="0">
                <a:solidFill>
                  <a:schemeClr val="bg1"/>
                </a:solidFill>
              </a:rPr>
              <a:t> </a:t>
            </a:r>
            <a:r>
              <a:rPr lang="en-GB" sz="2000" dirty="0" err="1">
                <a:solidFill>
                  <a:schemeClr val="bg1"/>
                </a:solidFill>
              </a:rPr>
              <a:t>Regionalni</a:t>
            </a:r>
            <a:r>
              <a:rPr lang="en-GB" sz="2000" dirty="0">
                <a:solidFill>
                  <a:schemeClr val="bg1"/>
                </a:solidFill>
              </a:rPr>
              <a:t> </a:t>
            </a:r>
            <a:r>
              <a:rPr lang="en-GB" sz="2000" dirty="0" err="1">
                <a:solidFill>
                  <a:schemeClr val="bg1"/>
                </a:solidFill>
              </a:rPr>
              <a:t>centar</a:t>
            </a:r>
            <a:r>
              <a:rPr lang="en-GB" sz="2000" dirty="0">
                <a:solidFill>
                  <a:schemeClr val="bg1"/>
                </a:solidFill>
              </a:rPr>
              <a:t> za </a:t>
            </a:r>
            <a:r>
              <a:rPr lang="en-GB" sz="2000" dirty="0" err="1">
                <a:solidFill>
                  <a:schemeClr val="bg1"/>
                </a:solidFill>
              </a:rPr>
              <a:t>predinkubaciju</a:t>
            </a:r>
            <a:r>
              <a:rPr lang="en-GB" sz="2000" dirty="0">
                <a:solidFill>
                  <a:schemeClr val="bg1"/>
                </a:solidFill>
              </a:rPr>
              <a:t> u </a:t>
            </a:r>
            <a:r>
              <a:rPr lang="en-GB" sz="2000" dirty="0" err="1">
                <a:solidFill>
                  <a:schemeClr val="bg1"/>
                </a:solidFill>
              </a:rPr>
              <a:t>pametnoj</a:t>
            </a:r>
            <a:r>
              <a:rPr lang="en-GB" sz="2000" dirty="0">
                <a:solidFill>
                  <a:schemeClr val="bg1"/>
                </a:solidFill>
              </a:rPr>
              <a:t> </a:t>
            </a:r>
            <a:r>
              <a:rPr lang="en-GB" sz="2000" dirty="0" err="1">
                <a:solidFill>
                  <a:schemeClr val="bg1"/>
                </a:solidFill>
              </a:rPr>
              <a:t>industriji</a:t>
            </a:r>
            <a:r>
              <a:rPr lang="en-GB" sz="2000" dirty="0">
                <a:solidFill>
                  <a:schemeClr val="bg1"/>
                </a:solidFill>
              </a:rPr>
              <a:t> (</a:t>
            </a:r>
            <a:r>
              <a:rPr lang="en-GB" sz="2000" dirty="0" err="1">
                <a:solidFill>
                  <a:schemeClr val="bg1"/>
                </a:solidFill>
              </a:rPr>
              <a:t>At.Ar</a:t>
            </a:r>
            <a:r>
              <a:rPr lang="en-GB" sz="2000" dirty="0">
                <a:solidFill>
                  <a:schemeClr val="bg1"/>
                </a:solidFill>
              </a:rPr>
              <a:t>. d.o.o.)</a:t>
            </a:r>
            <a:endParaRPr lang="en-HR" sz="2000" dirty="0">
              <a:solidFill>
                <a:schemeClr val="bg1"/>
              </a:solidFill>
            </a:endParaRPr>
          </a:p>
          <a:p>
            <a:pPr marL="342900" indent="-342900">
              <a:buFont typeface="Arial" panose="020B0604020202020204" pitchFamily="34" charset="0"/>
              <a:buChar char="•"/>
            </a:pPr>
            <a:r>
              <a:rPr lang="en-GB" sz="2000" dirty="0" err="1">
                <a:solidFill>
                  <a:schemeClr val="bg1"/>
                </a:solidFill>
              </a:rPr>
              <a:t>Procjena</a:t>
            </a:r>
            <a:r>
              <a:rPr lang="en-GB" sz="2000" dirty="0">
                <a:solidFill>
                  <a:schemeClr val="bg1"/>
                </a:solidFill>
              </a:rPr>
              <a:t> </a:t>
            </a:r>
            <a:r>
              <a:rPr lang="en-GB" sz="2000" dirty="0" err="1">
                <a:solidFill>
                  <a:schemeClr val="bg1"/>
                </a:solidFill>
              </a:rPr>
              <a:t>troškova</a:t>
            </a:r>
            <a:r>
              <a:rPr lang="en-GB" sz="2000" dirty="0">
                <a:solidFill>
                  <a:schemeClr val="bg1"/>
                </a:solidFill>
              </a:rPr>
              <a:t> </a:t>
            </a:r>
            <a:r>
              <a:rPr lang="en-GB" sz="2000" dirty="0" err="1">
                <a:solidFill>
                  <a:schemeClr val="bg1"/>
                </a:solidFill>
              </a:rPr>
              <a:t>projektiranja</a:t>
            </a:r>
            <a:r>
              <a:rPr lang="en-GB" sz="2000" dirty="0">
                <a:solidFill>
                  <a:schemeClr val="bg1"/>
                </a:solidFill>
              </a:rPr>
              <a:t> </a:t>
            </a:r>
            <a:r>
              <a:rPr lang="en-GB" sz="2000" dirty="0" err="1">
                <a:solidFill>
                  <a:schemeClr val="bg1"/>
                </a:solidFill>
              </a:rPr>
              <a:t>i</a:t>
            </a:r>
            <a:r>
              <a:rPr lang="en-GB" sz="2000" dirty="0">
                <a:solidFill>
                  <a:schemeClr val="bg1"/>
                </a:solidFill>
              </a:rPr>
              <a:t> </a:t>
            </a:r>
            <a:r>
              <a:rPr lang="en-GB" sz="2000" dirty="0" err="1">
                <a:solidFill>
                  <a:schemeClr val="bg1"/>
                </a:solidFill>
              </a:rPr>
              <a:t>izgradnje</a:t>
            </a:r>
            <a:r>
              <a:rPr lang="en-GB" sz="2000" dirty="0">
                <a:solidFill>
                  <a:schemeClr val="bg1"/>
                </a:solidFill>
              </a:rPr>
              <a:t> </a:t>
            </a:r>
            <a:r>
              <a:rPr lang="en-GB" sz="2000" dirty="0" err="1">
                <a:solidFill>
                  <a:schemeClr val="bg1"/>
                </a:solidFill>
              </a:rPr>
              <a:t>zgrade</a:t>
            </a:r>
            <a:r>
              <a:rPr lang="en-GB" sz="2000" dirty="0">
                <a:solidFill>
                  <a:schemeClr val="bg1"/>
                </a:solidFill>
              </a:rPr>
              <a:t> </a:t>
            </a:r>
            <a:r>
              <a:rPr lang="en-GB" sz="2000" dirty="0" err="1">
                <a:solidFill>
                  <a:schemeClr val="bg1"/>
                </a:solidFill>
              </a:rPr>
              <a:t>Regionalnog</a:t>
            </a:r>
            <a:r>
              <a:rPr lang="en-GB" sz="2000" dirty="0">
                <a:solidFill>
                  <a:schemeClr val="bg1"/>
                </a:solidFill>
              </a:rPr>
              <a:t> centra za </a:t>
            </a:r>
            <a:r>
              <a:rPr lang="en-GB" sz="2000" dirty="0" err="1">
                <a:solidFill>
                  <a:schemeClr val="bg1"/>
                </a:solidFill>
              </a:rPr>
              <a:t>predinkubaciju</a:t>
            </a:r>
            <a:r>
              <a:rPr lang="en-GB" sz="2000" dirty="0">
                <a:solidFill>
                  <a:schemeClr val="bg1"/>
                </a:solidFill>
              </a:rPr>
              <a:t> u </a:t>
            </a:r>
            <a:r>
              <a:rPr lang="en-GB" sz="2000" dirty="0" err="1">
                <a:solidFill>
                  <a:schemeClr val="bg1"/>
                </a:solidFill>
              </a:rPr>
              <a:t>pametnoj</a:t>
            </a:r>
            <a:r>
              <a:rPr lang="en-GB" sz="2000" dirty="0">
                <a:solidFill>
                  <a:schemeClr val="bg1"/>
                </a:solidFill>
              </a:rPr>
              <a:t> </a:t>
            </a:r>
            <a:r>
              <a:rPr lang="en-GB" sz="2000" dirty="0" err="1">
                <a:solidFill>
                  <a:schemeClr val="bg1"/>
                </a:solidFill>
              </a:rPr>
              <a:t>industriji</a:t>
            </a:r>
            <a:endParaRPr lang="en-HR" sz="2000" dirty="0">
              <a:solidFill>
                <a:schemeClr val="bg1"/>
              </a:solidFill>
            </a:endParaRPr>
          </a:p>
        </p:txBody>
      </p:sp>
    </p:spTree>
    <p:extLst>
      <p:ext uri="{BB962C8B-B14F-4D97-AF65-F5344CB8AC3E}">
        <p14:creationId xmlns:p14="http://schemas.microsoft.com/office/powerpoint/2010/main" val="18089287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6"/>
          <p:cNvSpPr/>
          <p:nvPr/>
        </p:nvSpPr>
        <p:spPr>
          <a:xfrm>
            <a:off x="6533" y="0"/>
            <a:ext cx="4559301" cy="6858000"/>
          </a:xfrm>
          <a:prstGeom prst="rect">
            <a:avLst/>
          </a:prstGeom>
          <a:solidFill>
            <a:srgbClr val="CE003D">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351"/>
          </a:p>
        </p:txBody>
      </p:sp>
      <p:sp>
        <p:nvSpPr>
          <p:cNvPr id="3" name="Rectangle 2"/>
          <p:cNvSpPr txBox="1">
            <a:spLocks noChangeArrowheads="1"/>
          </p:cNvSpPr>
          <p:nvPr/>
        </p:nvSpPr>
        <p:spPr bwMode="auto">
          <a:xfrm>
            <a:off x="2061190" y="140269"/>
            <a:ext cx="2752440" cy="1718547"/>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r>
              <a:rPr lang="hr-HR" sz="2200" kern="0" dirty="0">
                <a:solidFill>
                  <a:schemeClr val="bg1"/>
                </a:solidFill>
                <a:latin typeface="Raleway Black" panose="020B0A03030101060003" pitchFamily="34" charset="-18"/>
              </a:rPr>
              <a:t>PREDINKUBACIJA</a:t>
            </a:r>
          </a:p>
          <a:p>
            <a:r>
              <a:rPr lang="hr-HR" sz="2200" kern="0" dirty="0">
                <a:solidFill>
                  <a:schemeClr val="bg1"/>
                </a:solidFill>
                <a:latin typeface="Raleway Black" panose="020B0A03030101060003" pitchFamily="34" charset="-18"/>
              </a:rPr>
              <a:t> I INKUBACIJA -</a:t>
            </a:r>
          </a:p>
          <a:p>
            <a:r>
              <a:rPr lang="hr-HR" sz="2200" kern="0" dirty="0">
                <a:solidFill>
                  <a:schemeClr val="bg1"/>
                </a:solidFill>
                <a:latin typeface="Raleway Black" panose="020B0A03030101060003" pitchFamily="34" charset="-18"/>
              </a:rPr>
              <a:t>DOPRINOS IND. TRANZICIJI</a:t>
            </a:r>
            <a:endParaRPr lang="hr-HR" sz="2200" kern="0" dirty="0">
              <a:solidFill>
                <a:srgbClr val="A7A7A7"/>
              </a:solidFill>
              <a:latin typeface="Raleway" panose="020B0503030101060003" pitchFamily="34" charset="-18"/>
            </a:endParaRPr>
          </a:p>
        </p:txBody>
      </p:sp>
      <p:cxnSp>
        <p:nvCxnSpPr>
          <p:cNvPr id="4" name="Straight Connector 50"/>
          <p:cNvCxnSpPr/>
          <p:nvPr/>
        </p:nvCxnSpPr>
        <p:spPr>
          <a:xfrm>
            <a:off x="1886516" y="204666"/>
            <a:ext cx="0" cy="158975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Pravokutnik 4"/>
          <p:cNvSpPr/>
          <p:nvPr/>
        </p:nvSpPr>
        <p:spPr>
          <a:xfrm>
            <a:off x="5725923" y="902652"/>
            <a:ext cx="6156712" cy="4690515"/>
          </a:xfrm>
          <a:prstGeom prst="rect">
            <a:avLst/>
          </a:prstGeom>
          <a:noFill/>
        </p:spPr>
        <p:txBody>
          <a:bodyPr wrap="square">
            <a:spAutoFit/>
          </a:bodyPr>
          <a:lstStyle/>
          <a:p>
            <a:pPr>
              <a:lnSpc>
                <a:spcPct val="90000"/>
              </a:lnSpc>
            </a:pPr>
            <a:r>
              <a:rPr lang="hr-HR" sz="1800" dirty="0">
                <a:effectLst/>
                <a:latin typeface="Times New Roman" panose="02020603050405020304" pitchFamily="18" charset="0"/>
                <a:ea typeface="Calibri" panose="020F0502020204030204" pitchFamily="34" charset="0"/>
              </a:rPr>
              <a:t>Regionalni centar za </a:t>
            </a:r>
            <a:r>
              <a:rPr lang="hr-HR" sz="1800" dirty="0" err="1">
                <a:effectLst/>
                <a:latin typeface="Times New Roman" panose="02020603050405020304" pitchFamily="18" charset="0"/>
                <a:ea typeface="Calibri" panose="020F0502020204030204" pitchFamily="34" charset="0"/>
              </a:rPr>
              <a:t>predinkubaciju</a:t>
            </a:r>
            <a:r>
              <a:rPr lang="hr-HR" sz="1800" dirty="0">
                <a:effectLst/>
                <a:latin typeface="Times New Roman" panose="02020603050405020304" pitchFamily="18" charset="0"/>
                <a:ea typeface="Calibri" panose="020F0502020204030204" pitchFamily="34" charset="0"/>
              </a:rPr>
              <a:t> osmišljen je kao platforma koja će na jednom mjestu poticati nove oblike suradnje poduzetnika (početnika) i MSP-ova </a:t>
            </a:r>
            <a:r>
              <a:rPr lang="hr-HR" sz="1800" dirty="0">
                <a:solidFill>
                  <a:srgbClr val="C00000"/>
                </a:solidFill>
                <a:effectLst/>
                <a:latin typeface="Times New Roman" panose="02020603050405020304" pitchFamily="18" charset="0"/>
                <a:ea typeface="Calibri" panose="020F0502020204030204" pitchFamily="34" charset="0"/>
              </a:rPr>
              <a:t>– SURADNJA IZMEĐU POSLOVNOG, ZNANSTVENOG I JAVNOG SEKTORA  (DOPRINOS UMREŽAVANJU UMREŽAVANJE)</a:t>
            </a:r>
            <a:r>
              <a:rPr lang="en-HR" sz="2000" dirty="0">
                <a:solidFill>
                  <a:srgbClr val="C00000"/>
                </a:solidFill>
                <a:effectLst/>
              </a:rPr>
              <a:t> </a:t>
            </a:r>
          </a:p>
          <a:p>
            <a:pPr>
              <a:lnSpc>
                <a:spcPct val="90000"/>
              </a:lnSpc>
            </a:pPr>
            <a:endParaRPr lang="en-HR" altLang="en-US" sz="2000" dirty="0">
              <a:solidFill>
                <a:srgbClr val="C00000"/>
              </a:solidFill>
            </a:endParaRPr>
          </a:p>
          <a:p>
            <a:pPr>
              <a:lnSpc>
                <a:spcPct val="90000"/>
              </a:lnSpc>
            </a:pPr>
            <a:endParaRPr lang="en-HR" altLang="en-US" sz="2000" dirty="0">
              <a:solidFill>
                <a:srgbClr val="C00000"/>
              </a:solidFill>
            </a:endParaRPr>
          </a:p>
          <a:p>
            <a:pPr>
              <a:lnSpc>
                <a:spcPct val="90000"/>
              </a:lnSpc>
            </a:pPr>
            <a:r>
              <a:rPr lang="hr-HR" sz="1800" dirty="0">
                <a:effectLst/>
                <a:latin typeface="Times New Roman" panose="02020603050405020304" pitchFamily="18" charset="0"/>
                <a:ea typeface="Calibri" panose="020F0502020204030204" pitchFamily="34" charset="0"/>
              </a:rPr>
              <a:t>Kroz </a:t>
            </a:r>
            <a:r>
              <a:rPr lang="hr-HR" sz="1800" dirty="0" err="1">
                <a:effectLst/>
                <a:latin typeface="Times New Roman" panose="02020603050405020304" pitchFamily="18" charset="0"/>
                <a:ea typeface="Calibri" panose="020F0502020204030204" pitchFamily="34" charset="0"/>
              </a:rPr>
              <a:t>predinkubaciju</a:t>
            </a:r>
            <a:r>
              <a:rPr lang="hr-HR" sz="1800" dirty="0">
                <a:effectLst/>
                <a:latin typeface="Times New Roman" panose="02020603050405020304" pitchFamily="18" charset="0"/>
                <a:ea typeface="Calibri" panose="020F0502020204030204" pitchFamily="34" charset="0"/>
              </a:rPr>
              <a:t>, mijenja se oblik suradnje dionika na regionalnoj razini jer se izravno povezuje znanstveno-istraživačka zajednica s poduzetnicima/mladima/građanima u svrhu razvoja pametnih vještina, start-</a:t>
            </a:r>
            <a:r>
              <a:rPr lang="hr-HR" sz="1800" dirty="0" err="1">
                <a:effectLst/>
                <a:latin typeface="Times New Roman" panose="02020603050405020304" pitchFamily="18" charset="0"/>
                <a:ea typeface="Calibri" panose="020F0502020204030204" pitchFamily="34" charset="0"/>
              </a:rPr>
              <a:t>upova</a:t>
            </a:r>
            <a:r>
              <a:rPr lang="hr-HR" sz="1800" dirty="0">
                <a:effectLst/>
                <a:latin typeface="Times New Roman" panose="02020603050405020304" pitchFamily="18" charset="0"/>
                <a:ea typeface="Calibri" panose="020F0502020204030204" pitchFamily="34" charset="0"/>
              </a:rPr>
              <a:t>, društveno korisnih inovacija kako bi se odgovorilo na razvojne izazove Sjeverne Hrvatske  </a:t>
            </a:r>
            <a:r>
              <a:rPr lang="hr-HR" dirty="0">
                <a:solidFill>
                  <a:srgbClr val="C00000"/>
                </a:solidFill>
                <a:latin typeface="Times New Roman" panose="02020603050405020304" pitchFamily="18" charset="0"/>
                <a:ea typeface="Calibri" panose="020F0502020204030204" pitchFamily="34" charset="0"/>
              </a:rPr>
              <a:t>- </a:t>
            </a:r>
            <a:r>
              <a:rPr lang="hr-HR" sz="1800" dirty="0">
                <a:solidFill>
                  <a:srgbClr val="C00000"/>
                </a:solidFill>
                <a:effectLst/>
                <a:latin typeface="Times New Roman" panose="02020603050405020304" pitchFamily="18" charset="0"/>
                <a:ea typeface="Calibri" panose="020F0502020204030204" pitchFamily="34" charset="0"/>
              </a:rPr>
              <a:t>RAZVOJ PAMETNIH VJEŠTINA ZA INDUSTRIJSKU TRANZICIJU - DOPRINOS REGIONALNOM LANCU VRIJEDNOSTI „PAMETNA INDUSTRIJA“ </a:t>
            </a:r>
          </a:p>
          <a:p>
            <a:pPr>
              <a:lnSpc>
                <a:spcPct val="90000"/>
              </a:lnSpc>
            </a:pPr>
            <a:endParaRPr lang="hr-HR" altLang="en-US" dirty="0">
              <a:solidFill>
                <a:srgbClr val="C00000"/>
              </a:solidFill>
              <a:latin typeface="Times New Roman" panose="02020603050405020304" pitchFamily="18" charset="0"/>
            </a:endParaRPr>
          </a:p>
          <a:p>
            <a:pPr>
              <a:lnSpc>
                <a:spcPct val="90000"/>
              </a:lnSpc>
            </a:pPr>
            <a:endParaRPr lang="hr-HR" altLang="en-US" sz="2000" dirty="0">
              <a:solidFill>
                <a:srgbClr val="C00000"/>
              </a:solidFill>
            </a:endParaRPr>
          </a:p>
        </p:txBody>
      </p:sp>
      <p:pic>
        <p:nvPicPr>
          <p:cNvPr id="13" name="Picture 13"/>
          <p:cNvPicPr>
            <a:picLocks noChangeAspect="1"/>
          </p:cNvPicPr>
          <p:nvPr/>
        </p:nvPicPr>
        <p:blipFill rotWithShape="1">
          <a:blip r:embed="rId2" cstate="print">
            <a:extLst>
              <a:ext uri="{28A0092B-C50C-407E-A947-70E740481C1C}">
                <a14:useLocalDpi xmlns:a14="http://schemas.microsoft.com/office/drawing/2010/main" val="0"/>
              </a:ext>
            </a:extLst>
          </a:blip>
          <a:srcRect r="11249"/>
          <a:stretch/>
        </p:blipFill>
        <p:spPr>
          <a:xfrm>
            <a:off x="6533" y="2235669"/>
            <a:ext cx="5275895" cy="3952526"/>
          </a:xfrm>
          <a:prstGeom prst="rect">
            <a:avLst/>
          </a:prstGeom>
        </p:spPr>
      </p:pic>
      <p:sp>
        <p:nvSpPr>
          <p:cNvPr id="16" name="Oval 15"/>
          <p:cNvSpPr/>
          <p:nvPr/>
        </p:nvSpPr>
        <p:spPr>
          <a:xfrm>
            <a:off x="288894" y="345062"/>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nvGrpSpPr>
          <p:cNvPr id="17" name="Group 16"/>
          <p:cNvGrpSpPr/>
          <p:nvPr/>
        </p:nvGrpSpPr>
        <p:grpSpPr>
          <a:xfrm>
            <a:off x="288894" y="625053"/>
            <a:ext cx="1243509" cy="748923"/>
            <a:chOff x="1132881" y="3224157"/>
            <a:chExt cx="1658011" cy="998562"/>
          </a:xfrm>
        </p:grpSpPr>
        <p:sp>
          <p:nvSpPr>
            <p:cNvPr id="18" name="Freeform 102"/>
            <p:cNvSpPr>
              <a:spLocks/>
            </p:cNvSpPr>
            <p:nvPr/>
          </p:nvSpPr>
          <p:spPr bwMode="auto">
            <a:xfrm>
              <a:off x="1132881"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75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19" name="Freeform 102"/>
            <p:cNvSpPr>
              <a:spLocks/>
            </p:cNvSpPr>
            <p:nvPr/>
          </p:nvSpPr>
          <p:spPr bwMode="auto">
            <a:xfrm>
              <a:off x="1724207" y="3224157"/>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20" name="Freeform 102"/>
            <p:cNvSpPr>
              <a:spLocks/>
            </p:cNvSpPr>
            <p:nvPr/>
          </p:nvSpPr>
          <p:spPr bwMode="auto">
            <a:xfrm>
              <a:off x="1442192" y="3482455"/>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21" name="Freeform 102"/>
            <p:cNvSpPr>
              <a:spLocks/>
            </p:cNvSpPr>
            <p:nvPr/>
          </p:nvSpPr>
          <p:spPr bwMode="auto">
            <a:xfrm>
              <a:off x="2101758"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65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pic>
        <p:nvPicPr>
          <p:cNvPr id="6" name="Slika 4">
            <a:extLst>
              <a:ext uri="{FF2B5EF4-FFF2-40B4-BE49-F238E27FC236}">
                <a16:creationId xmlns:a16="http://schemas.microsoft.com/office/drawing/2014/main" id="{086675C5-7607-AE0C-AC6D-20DD652C29D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42517" y="4793823"/>
            <a:ext cx="5244820" cy="3026228"/>
          </a:xfrm>
          <a:prstGeom prst="rect">
            <a:avLst/>
          </a:prstGeom>
        </p:spPr>
      </p:pic>
    </p:spTree>
    <p:extLst>
      <p:ext uri="{BB962C8B-B14F-4D97-AF65-F5344CB8AC3E}">
        <p14:creationId xmlns:p14="http://schemas.microsoft.com/office/powerpoint/2010/main" val="1793200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6"/>
          <p:cNvSpPr/>
          <p:nvPr/>
        </p:nvSpPr>
        <p:spPr>
          <a:xfrm>
            <a:off x="6533" y="0"/>
            <a:ext cx="4559301" cy="6858000"/>
          </a:xfrm>
          <a:prstGeom prst="rect">
            <a:avLst/>
          </a:prstGeom>
          <a:solidFill>
            <a:srgbClr val="CE003D">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351"/>
          </a:p>
        </p:txBody>
      </p:sp>
      <p:sp>
        <p:nvSpPr>
          <p:cNvPr id="3" name="Rectangle 2"/>
          <p:cNvSpPr txBox="1">
            <a:spLocks noChangeArrowheads="1"/>
          </p:cNvSpPr>
          <p:nvPr/>
        </p:nvSpPr>
        <p:spPr bwMode="auto">
          <a:xfrm>
            <a:off x="2061190" y="140269"/>
            <a:ext cx="2752440" cy="1718547"/>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r>
              <a:rPr lang="hr-HR" sz="2200" kern="0" dirty="0">
                <a:solidFill>
                  <a:schemeClr val="bg1"/>
                </a:solidFill>
                <a:latin typeface="Raleway Black" panose="020B0A03030101060003" pitchFamily="34" charset="-18"/>
              </a:rPr>
              <a:t>PREDINKUBACIJA</a:t>
            </a:r>
          </a:p>
          <a:p>
            <a:r>
              <a:rPr lang="hr-HR" sz="2200" kern="0" dirty="0">
                <a:solidFill>
                  <a:schemeClr val="bg1"/>
                </a:solidFill>
                <a:latin typeface="Raleway Black" panose="020B0A03030101060003" pitchFamily="34" charset="-18"/>
              </a:rPr>
              <a:t> I INKUBACIJA -</a:t>
            </a:r>
          </a:p>
          <a:p>
            <a:r>
              <a:rPr lang="hr-HR" sz="2200" kern="0" dirty="0">
                <a:solidFill>
                  <a:schemeClr val="bg1"/>
                </a:solidFill>
                <a:latin typeface="Raleway Black" panose="020B0A03030101060003" pitchFamily="34" charset="-18"/>
              </a:rPr>
              <a:t>DOPRINOS IND. TRANZICIJI</a:t>
            </a:r>
            <a:endParaRPr lang="hr-HR" sz="2200" kern="0" dirty="0">
              <a:solidFill>
                <a:srgbClr val="A7A7A7"/>
              </a:solidFill>
              <a:latin typeface="Raleway" panose="020B0503030101060003" pitchFamily="34" charset="-18"/>
            </a:endParaRPr>
          </a:p>
        </p:txBody>
      </p:sp>
      <p:cxnSp>
        <p:nvCxnSpPr>
          <p:cNvPr id="4" name="Straight Connector 50"/>
          <p:cNvCxnSpPr/>
          <p:nvPr/>
        </p:nvCxnSpPr>
        <p:spPr>
          <a:xfrm>
            <a:off x="1886516" y="204666"/>
            <a:ext cx="0" cy="158975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Pravokutnik 4"/>
          <p:cNvSpPr/>
          <p:nvPr/>
        </p:nvSpPr>
        <p:spPr>
          <a:xfrm>
            <a:off x="5746394" y="1056536"/>
            <a:ext cx="6156712" cy="2862322"/>
          </a:xfrm>
          <a:prstGeom prst="rect">
            <a:avLst/>
          </a:prstGeom>
          <a:noFill/>
        </p:spPr>
        <p:txBody>
          <a:bodyPr wrap="square">
            <a:spAutoFit/>
          </a:bodyPr>
          <a:lstStyle/>
          <a:p>
            <a:pPr>
              <a:lnSpc>
                <a:spcPct val="90000"/>
              </a:lnSpc>
            </a:pPr>
            <a:endParaRPr lang="hr-HR" altLang="en-US" dirty="0">
              <a:solidFill>
                <a:srgbClr val="C00000"/>
              </a:solidFill>
              <a:latin typeface="Times New Roman" panose="02020603050405020304" pitchFamily="18" charset="0"/>
            </a:endParaRPr>
          </a:p>
          <a:p>
            <a:pPr>
              <a:lnSpc>
                <a:spcPct val="90000"/>
              </a:lnSpc>
            </a:pPr>
            <a:r>
              <a:rPr lang="hr-HR" sz="18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POTICANJE RAZVOJA PAMETNIH VJEŠTINA I RAZVOJA START UP EKOSUSTAVA koji će biti usmjeren na glavnu nišu regionalnog gospodarstva Sjeverne Hrvatske – „PAMETNA INDUSTRIJA”</a:t>
            </a:r>
          </a:p>
          <a:p>
            <a:pPr>
              <a:lnSpc>
                <a:spcPct val="90000"/>
              </a:lnSpc>
            </a:pPr>
            <a:endParaRPr lang="hr-HR" altLang="en-US" dirty="0">
              <a:solidFill>
                <a:srgbClr val="C00000"/>
              </a:solidFill>
              <a:latin typeface="Times New Roman" panose="02020603050405020304" pitchFamily="18" charset="0"/>
              <a:cs typeface="Times New Roman" panose="02020603050405020304" pitchFamily="18" charset="0"/>
            </a:endParaRPr>
          </a:p>
          <a:p>
            <a:pPr>
              <a:lnSpc>
                <a:spcPct val="90000"/>
              </a:lnSpc>
            </a:pPr>
            <a:r>
              <a:rPr lang="hr-HR" sz="1800" dirty="0">
                <a:effectLst/>
                <a:latin typeface="Times New Roman" panose="02020603050405020304" pitchFamily="18" charset="0"/>
                <a:ea typeface="Calibri" panose="020F0502020204030204" pitchFamily="34" charset="0"/>
              </a:rPr>
              <a:t>Kroz edukacije, savjetovanje, </a:t>
            </a:r>
            <a:r>
              <a:rPr lang="hr-HR" sz="1800" dirty="0" err="1">
                <a:effectLst/>
                <a:latin typeface="Times New Roman" panose="02020603050405020304" pitchFamily="18" charset="0"/>
                <a:ea typeface="Calibri" panose="020F0502020204030204" pitchFamily="34" charset="0"/>
              </a:rPr>
              <a:t>mentoriranje</a:t>
            </a:r>
            <a:r>
              <a:rPr lang="hr-HR" sz="1800" dirty="0">
                <a:effectLst/>
                <a:latin typeface="Times New Roman" panose="02020603050405020304" pitchFamily="18" charset="0"/>
                <a:ea typeface="Calibri" panose="020F0502020204030204" pitchFamily="34" charset="0"/>
              </a:rPr>
              <a:t> i poticanje inovacija, u suradnji sa studentima i mladima, uz pomoć mentora i savjetnika, </a:t>
            </a:r>
            <a:r>
              <a:rPr lang="hr-HR" sz="1800" dirty="0">
                <a:solidFill>
                  <a:srgbClr val="C00000"/>
                </a:solidFill>
                <a:effectLst/>
                <a:latin typeface="Times New Roman" panose="02020603050405020304" pitchFamily="18" charset="0"/>
                <a:ea typeface="Calibri" panose="020F0502020204030204" pitchFamily="34" charset="0"/>
              </a:rPr>
              <a:t>stvaraju se i RAZVIJAJU STARTUP EKOSUSTAVI kao dodatna vrijednost za gospodarstvo i društvo Sjeverne Hrvatske.</a:t>
            </a:r>
            <a:r>
              <a:rPr lang="en-HR" sz="2000" dirty="0">
                <a:solidFill>
                  <a:srgbClr val="C00000"/>
                </a:solidFill>
                <a:effectLst/>
              </a:rPr>
              <a:t> </a:t>
            </a:r>
            <a:endParaRPr lang="hr-HR" altLang="en-US" sz="2000" dirty="0">
              <a:solidFill>
                <a:srgbClr val="C00000"/>
              </a:solidFill>
            </a:endParaRPr>
          </a:p>
        </p:txBody>
      </p:sp>
      <p:pic>
        <p:nvPicPr>
          <p:cNvPr id="13" name="Picture 13"/>
          <p:cNvPicPr>
            <a:picLocks noChangeAspect="1"/>
          </p:cNvPicPr>
          <p:nvPr/>
        </p:nvPicPr>
        <p:blipFill rotWithShape="1">
          <a:blip r:embed="rId2" cstate="print">
            <a:extLst>
              <a:ext uri="{28A0092B-C50C-407E-A947-70E740481C1C}">
                <a14:useLocalDpi xmlns:a14="http://schemas.microsoft.com/office/drawing/2010/main" val="0"/>
              </a:ext>
            </a:extLst>
          </a:blip>
          <a:srcRect r="11249"/>
          <a:stretch/>
        </p:blipFill>
        <p:spPr>
          <a:xfrm>
            <a:off x="6533" y="2235669"/>
            <a:ext cx="5275895" cy="3952526"/>
          </a:xfrm>
          <a:prstGeom prst="rect">
            <a:avLst/>
          </a:prstGeom>
        </p:spPr>
      </p:pic>
      <p:sp>
        <p:nvSpPr>
          <p:cNvPr id="16" name="Oval 15"/>
          <p:cNvSpPr/>
          <p:nvPr/>
        </p:nvSpPr>
        <p:spPr>
          <a:xfrm>
            <a:off x="288894" y="345062"/>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nvGrpSpPr>
          <p:cNvPr id="17" name="Group 16"/>
          <p:cNvGrpSpPr/>
          <p:nvPr/>
        </p:nvGrpSpPr>
        <p:grpSpPr>
          <a:xfrm>
            <a:off x="288894" y="625053"/>
            <a:ext cx="1243509" cy="748923"/>
            <a:chOff x="1132881" y="3224157"/>
            <a:chExt cx="1658011" cy="998562"/>
          </a:xfrm>
        </p:grpSpPr>
        <p:sp>
          <p:nvSpPr>
            <p:cNvPr id="18" name="Freeform 102"/>
            <p:cNvSpPr>
              <a:spLocks/>
            </p:cNvSpPr>
            <p:nvPr/>
          </p:nvSpPr>
          <p:spPr bwMode="auto">
            <a:xfrm>
              <a:off x="1132881"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75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19" name="Freeform 102"/>
            <p:cNvSpPr>
              <a:spLocks/>
            </p:cNvSpPr>
            <p:nvPr/>
          </p:nvSpPr>
          <p:spPr bwMode="auto">
            <a:xfrm>
              <a:off x="1724207" y="3224157"/>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20" name="Freeform 102"/>
            <p:cNvSpPr>
              <a:spLocks/>
            </p:cNvSpPr>
            <p:nvPr/>
          </p:nvSpPr>
          <p:spPr bwMode="auto">
            <a:xfrm>
              <a:off x="1442192" y="3482455"/>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21" name="Freeform 102"/>
            <p:cNvSpPr>
              <a:spLocks/>
            </p:cNvSpPr>
            <p:nvPr/>
          </p:nvSpPr>
          <p:spPr bwMode="auto">
            <a:xfrm>
              <a:off x="2101758"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65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pic>
        <p:nvPicPr>
          <p:cNvPr id="6" name="Slika 4">
            <a:extLst>
              <a:ext uri="{FF2B5EF4-FFF2-40B4-BE49-F238E27FC236}">
                <a16:creationId xmlns:a16="http://schemas.microsoft.com/office/drawing/2014/main" id="{CC0AD57B-A054-AD7F-D9C5-B310AE5090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02340" y="4211932"/>
            <a:ext cx="5244820" cy="3026228"/>
          </a:xfrm>
          <a:prstGeom prst="rect">
            <a:avLst/>
          </a:prstGeom>
        </p:spPr>
      </p:pic>
    </p:spTree>
    <p:extLst>
      <p:ext uri="{BB962C8B-B14F-4D97-AF65-F5344CB8AC3E}">
        <p14:creationId xmlns:p14="http://schemas.microsoft.com/office/powerpoint/2010/main" val="179756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6"/>
          <p:cNvSpPr/>
          <p:nvPr/>
        </p:nvSpPr>
        <p:spPr>
          <a:xfrm>
            <a:off x="6533" y="0"/>
            <a:ext cx="4559301" cy="6858000"/>
          </a:xfrm>
          <a:prstGeom prst="rect">
            <a:avLst/>
          </a:prstGeom>
          <a:solidFill>
            <a:srgbClr val="CE003D">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351"/>
          </a:p>
        </p:txBody>
      </p:sp>
      <p:sp>
        <p:nvSpPr>
          <p:cNvPr id="3" name="Rectangle 2"/>
          <p:cNvSpPr txBox="1">
            <a:spLocks noChangeArrowheads="1"/>
          </p:cNvSpPr>
          <p:nvPr/>
        </p:nvSpPr>
        <p:spPr bwMode="auto">
          <a:xfrm>
            <a:off x="2061190" y="140269"/>
            <a:ext cx="2752440" cy="1718547"/>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r>
              <a:rPr lang="hr-HR" sz="2200" kern="0" dirty="0">
                <a:solidFill>
                  <a:schemeClr val="bg1"/>
                </a:solidFill>
                <a:latin typeface="Raleway Black" panose="020B0A03030101060003" pitchFamily="34" charset="-18"/>
              </a:rPr>
              <a:t>PREDINKUBACIJA</a:t>
            </a:r>
          </a:p>
          <a:p>
            <a:r>
              <a:rPr lang="hr-HR" sz="2200" kern="0" dirty="0">
                <a:solidFill>
                  <a:schemeClr val="bg1"/>
                </a:solidFill>
                <a:latin typeface="Raleway Black" panose="020B0A03030101060003" pitchFamily="34" charset="-18"/>
              </a:rPr>
              <a:t> I INKUBACIJA</a:t>
            </a:r>
            <a:endParaRPr lang="hr-HR" sz="2200" kern="0" dirty="0">
              <a:solidFill>
                <a:srgbClr val="A7A7A7"/>
              </a:solidFill>
              <a:latin typeface="Raleway" panose="020B0503030101060003" pitchFamily="34" charset="-18"/>
            </a:endParaRPr>
          </a:p>
        </p:txBody>
      </p:sp>
      <p:cxnSp>
        <p:nvCxnSpPr>
          <p:cNvPr id="4" name="Straight Connector 50"/>
          <p:cNvCxnSpPr/>
          <p:nvPr/>
        </p:nvCxnSpPr>
        <p:spPr>
          <a:xfrm>
            <a:off x="1886516" y="204666"/>
            <a:ext cx="0" cy="158975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Pravokutnik 4"/>
          <p:cNvSpPr/>
          <p:nvPr/>
        </p:nvSpPr>
        <p:spPr>
          <a:xfrm>
            <a:off x="5889289" y="197115"/>
            <a:ext cx="6156712" cy="4524315"/>
          </a:xfrm>
          <a:prstGeom prst="rect">
            <a:avLst/>
          </a:prstGeom>
          <a:noFill/>
        </p:spPr>
        <p:txBody>
          <a:bodyPr wrap="square">
            <a:spAutoFit/>
          </a:bodyPr>
          <a:lstStyle/>
          <a:p>
            <a:pPr>
              <a:lnSpc>
                <a:spcPct val="90000"/>
              </a:lnSpc>
            </a:pPr>
            <a:r>
              <a:rPr lang="hr-HR" altLang="en-US" sz="2000" dirty="0"/>
              <a:t>Pokazatelj ostvarenja RCO15- Kapacitet stvorene inkubacije </a:t>
            </a:r>
          </a:p>
          <a:p>
            <a:pPr>
              <a:lnSpc>
                <a:spcPct val="90000"/>
              </a:lnSpc>
            </a:pPr>
            <a:endParaRPr lang="hr-HR" altLang="en-US" sz="2000" dirty="0"/>
          </a:p>
          <a:p>
            <a:pPr marL="285750" indent="-285750">
              <a:lnSpc>
                <a:spcPct val="90000"/>
              </a:lnSpc>
              <a:buFontTx/>
              <a:buChar char="-"/>
            </a:pPr>
            <a:r>
              <a:rPr lang="hr-HR" altLang="en-US" sz="2000" b="1" dirty="0"/>
              <a:t>osigurati podršku za pametnu tranziciju malog i srednjeg poduzetništva razvojem novih vještina, provedbom programa inovativnosti, poticanjem poduzetništva</a:t>
            </a:r>
            <a:r>
              <a:rPr lang="hr-HR" altLang="en-US" sz="2000" dirty="0"/>
              <a:t>. </a:t>
            </a:r>
          </a:p>
          <a:p>
            <a:pPr>
              <a:lnSpc>
                <a:spcPct val="90000"/>
              </a:lnSpc>
            </a:pPr>
            <a:endParaRPr lang="hr-HR" altLang="en-US" sz="2000" dirty="0"/>
          </a:p>
          <a:p>
            <a:pPr marL="285750" indent="-285750">
              <a:lnSpc>
                <a:spcPct val="90000"/>
              </a:lnSpc>
              <a:buFontTx/>
              <a:buChar char="-"/>
            </a:pPr>
            <a:r>
              <a:rPr lang="hr-HR" altLang="en-US" sz="2000" dirty="0"/>
              <a:t>jačanje kapaciteta provest će se uspostavom novih platformi suradnje dionika, </a:t>
            </a:r>
            <a:r>
              <a:rPr lang="hr-HR" altLang="en-US" sz="2000" b="1" dirty="0"/>
              <a:t>unaprijediti </a:t>
            </a:r>
            <a:r>
              <a:rPr lang="hr-HR" altLang="en-US" sz="2000" b="1" dirty="0" err="1"/>
              <a:t>predinkubacijske</a:t>
            </a:r>
            <a:r>
              <a:rPr lang="hr-HR" altLang="en-US" sz="2000" b="1" dirty="0"/>
              <a:t> usluge</a:t>
            </a:r>
            <a:r>
              <a:rPr lang="hr-HR" altLang="en-US" sz="2000" dirty="0"/>
              <a:t>, kao i </a:t>
            </a:r>
            <a:r>
              <a:rPr lang="hr-HR" altLang="en-US" sz="2000" b="1" dirty="0"/>
              <a:t>aktivnosti razvoja i inovacija u svrhu novih proizvoda, tehnologija i usluga</a:t>
            </a:r>
          </a:p>
          <a:p>
            <a:pPr>
              <a:lnSpc>
                <a:spcPct val="90000"/>
              </a:lnSpc>
            </a:pPr>
            <a:endParaRPr lang="hr-HR" altLang="en-US" sz="2000" dirty="0"/>
          </a:p>
          <a:p>
            <a:pPr marL="285750" indent="-285750">
              <a:lnSpc>
                <a:spcPct val="90000"/>
              </a:lnSpc>
              <a:buFontTx/>
              <a:buChar char="-"/>
            </a:pPr>
            <a:r>
              <a:rPr lang="hr-HR" altLang="en-US" sz="2000" dirty="0"/>
              <a:t>poticati međunarodnu u međusektorsku suradnju sa svrhom transfera i razmjene tehnologija i znanja, što će omogućiti gospodarstvu UPVŽ-a da bude konkurentnije</a:t>
            </a:r>
          </a:p>
        </p:txBody>
      </p:sp>
      <p:pic>
        <p:nvPicPr>
          <p:cNvPr id="13" name="Picture 13"/>
          <p:cNvPicPr>
            <a:picLocks noChangeAspect="1"/>
          </p:cNvPicPr>
          <p:nvPr/>
        </p:nvPicPr>
        <p:blipFill rotWithShape="1">
          <a:blip r:embed="rId2" cstate="print">
            <a:extLst>
              <a:ext uri="{28A0092B-C50C-407E-A947-70E740481C1C}">
                <a14:useLocalDpi xmlns:a14="http://schemas.microsoft.com/office/drawing/2010/main" val="0"/>
              </a:ext>
            </a:extLst>
          </a:blip>
          <a:srcRect r="11249"/>
          <a:stretch/>
        </p:blipFill>
        <p:spPr>
          <a:xfrm>
            <a:off x="6533" y="2235669"/>
            <a:ext cx="5275895" cy="3952526"/>
          </a:xfrm>
          <a:prstGeom prst="rect">
            <a:avLst/>
          </a:prstGeom>
        </p:spPr>
      </p:pic>
      <p:sp>
        <p:nvSpPr>
          <p:cNvPr id="16" name="Oval 15"/>
          <p:cNvSpPr/>
          <p:nvPr/>
        </p:nvSpPr>
        <p:spPr>
          <a:xfrm>
            <a:off x="288894" y="345062"/>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nvGrpSpPr>
          <p:cNvPr id="17" name="Group 16"/>
          <p:cNvGrpSpPr/>
          <p:nvPr/>
        </p:nvGrpSpPr>
        <p:grpSpPr>
          <a:xfrm>
            <a:off x="288894" y="625053"/>
            <a:ext cx="1243509" cy="748923"/>
            <a:chOff x="1132881" y="3224157"/>
            <a:chExt cx="1658011" cy="998562"/>
          </a:xfrm>
        </p:grpSpPr>
        <p:sp>
          <p:nvSpPr>
            <p:cNvPr id="18" name="Freeform 102"/>
            <p:cNvSpPr>
              <a:spLocks/>
            </p:cNvSpPr>
            <p:nvPr/>
          </p:nvSpPr>
          <p:spPr bwMode="auto">
            <a:xfrm>
              <a:off x="1132881"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75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19" name="Freeform 102"/>
            <p:cNvSpPr>
              <a:spLocks/>
            </p:cNvSpPr>
            <p:nvPr/>
          </p:nvSpPr>
          <p:spPr bwMode="auto">
            <a:xfrm>
              <a:off x="1724207" y="3224157"/>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20" name="Freeform 102"/>
            <p:cNvSpPr>
              <a:spLocks/>
            </p:cNvSpPr>
            <p:nvPr/>
          </p:nvSpPr>
          <p:spPr bwMode="auto">
            <a:xfrm>
              <a:off x="1442192" y="3482455"/>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21" name="Freeform 102"/>
            <p:cNvSpPr>
              <a:spLocks/>
            </p:cNvSpPr>
            <p:nvPr/>
          </p:nvSpPr>
          <p:spPr bwMode="auto">
            <a:xfrm>
              <a:off x="2101758"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65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pic>
        <p:nvPicPr>
          <p:cNvPr id="2" name="Slika 4">
            <a:extLst>
              <a:ext uri="{FF2B5EF4-FFF2-40B4-BE49-F238E27FC236}">
                <a16:creationId xmlns:a16="http://schemas.microsoft.com/office/drawing/2014/main" id="{C2EC1A26-D212-4BDF-E181-494DFC8E1D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6258" y="4721430"/>
            <a:ext cx="5244820" cy="3026228"/>
          </a:xfrm>
          <a:prstGeom prst="rect">
            <a:avLst/>
          </a:prstGeom>
        </p:spPr>
      </p:pic>
    </p:spTree>
    <p:extLst>
      <p:ext uri="{BB962C8B-B14F-4D97-AF65-F5344CB8AC3E}">
        <p14:creationId xmlns:p14="http://schemas.microsoft.com/office/powerpoint/2010/main" val="4278911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6"/>
          <p:cNvSpPr/>
          <p:nvPr/>
        </p:nvSpPr>
        <p:spPr>
          <a:xfrm>
            <a:off x="6533" y="0"/>
            <a:ext cx="4559301" cy="6858000"/>
          </a:xfrm>
          <a:prstGeom prst="rect">
            <a:avLst/>
          </a:prstGeom>
          <a:solidFill>
            <a:srgbClr val="CE003D">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sz="1351"/>
          </a:p>
        </p:txBody>
      </p:sp>
      <p:sp>
        <p:nvSpPr>
          <p:cNvPr id="3" name="Rectangle 2"/>
          <p:cNvSpPr txBox="1">
            <a:spLocks noChangeArrowheads="1"/>
          </p:cNvSpPr>
          <p:nvPr/>
        </p:nvSpPr>
        <p:spPr bwMode="auto">
          <a:xfrm>
            <a:off x="2061190" y="140269"/>
            <a:ext cx="2752440" cy="1718547"/>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r>
              <a:rPr lang="hr-HR" sz="2200" kern="0" dirty="0">
                <a:solidFill>
                  <a:schemeClr val="bg1"/>
                </a:solidFill>
                <a:latin typeface="Raleway Black" panose="020B0A03030101060003" pitchFamily="34" charset="-18"/>
              </a:rPr>
              <a:t>INDUSTRIJSKA TRANZICIJA</a:t>
            </a:r>
            <a:endParaRPr lang="hr-HR" sz="2200" kern="0" dirty="0">
              <a:solidFill>
                <a:srgbClr val="A7A7A7"/>
              </a:solidFill>
              <a:latin typeface="Raleway" panose="020B0503030101060003" pitchFamily="34" charset="-18"/>
            </a:endParaRPr>
          </a:p>
        </p:txBody>
      </p:sp>
      <p:cxnSp>
        <p:nvCxnSpPr>
          <p:cNvPr id="4" name="Straight Connector 50"/>
          <p:cNvCxnSpPr/>
          <p:nvPr/>
        </p:nvCxnSpPr>
        <p:spPr>
          <a:xfrm>
            <a:off x="1886516" y="204666"/>
            <a:ext cx="0" cy="158975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Pravokutnik 4"/>
          <p:cNvSpPr/>
          <p:nvPr/>
        </p:nvSpPr>
        <p:spPr>
          <a:xfrm>
            <a:off x="5095991" y="204666"/>
            <a:ext cx="6786644" cy="6352508"/>
          </a:xfrm>
          <a:prstGeom prst="rect">
            <a:avLst/>
          </a:prstGeom>
          <a:noFill/>
        </p:spPr>
        <p:txBody>
          <a:bodyPr wrap="square">
            <a:spAutoFit/>
          </a:bodyPr>
          <a:lstStyle/>
          <a:p>
            <a:pPr>
              <a:lnSpc>
                <a:spcPct val="90000"/>
              </a:lnSpc>
            </a:pPr>
            <a:r>
              <a:rPr lang="hr-HR" altLang="en-US" sz="1600" dirty="0">
                <a:latin typeface="Calibri" panose="020F0502020204030204" pitchFamily="34" charset="0"/>
                <a:cs typeface="Calibri" panose="020F0502020204030204" pitchFamily="34" charset="0"/>
              </a:rPr>
              <a:t>Industrijska tranzicija Sjeverne Hrvatske ima za cilj jačanje regionalne konkurentnosti; odabrane su prioritetne niše i grupirane su u</a:t>
            </a:r>
            <a:r>
              <a:rPr lang="hr-HR" altLang="en-US" sz="1600" b="1" dirty="0">
                <a:latin typeface="Calibri" panose="020F0502020204030204" pitchFamily="34" charset="0"/>
                <a:cs typeface="Calibri" panose="020F0502020204030204" pitchFamily="34" charset="0"/>
              </a:rPr>
              <a:t> regionalne lance vrijednosti (RLV) </a:t>
            </a:r>
          </a:p>
          <a:p>
            <a:pPr>
              <a:lnSpc>
                <a:spcPct val="90000"/>
              </a:lnSpc>
            </a:pPr>
            <a:endParaRPr lang="hr-HR" altLang="en-US" sz="1600" dirty="0">
              <a:latin typeface="Calibri" panose="020F0502020204030204" pitchFamily="34" charset="0"/>
              <a:cs typeface="Calibri" panose="020F0502020204030204" pitchFamily="34" charset="0"/>
            </a:endParaRPr>
          </a:p>
          <a:p>
            <a:r>
              <a:rPr lang="en-US" sz="1600" dirty="0">
                <a:latin typeface="Calibri" panose="020F0502020204030204" pitchFamily="34" charset="0"/>
                <a:ea typeface="Verdana" charset="0"/>
                <a:cs typeface="Calibri" panose="020F0502020204030204" pitchFamily="34" charset="0"/>
              </a:rPr>
              <a:t>RLV za </a:t>
            </a:r>
            <a:r>
              <a:rPr lang="en-US" sz="1600" dirty="0" err="1">
                <a:latin typeface="Calibri" panose="020F0502020204030204" pitchFamily="34" charset="0"/>
                <a:ea typeface="Verdana" charset="0"/>
                <a:cs typeface="Calibri" panose="020F0502020204030204" pitchFamily="34" charset="0"/>
              </a:rPr>
              <a:t>Sjevernu</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Hrvatsku</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su</a:t>
            </a:r>
            <a:r>
              <a:rPr lang="en-US" sz="1600" dirty="0">
                <a:latin typeface="Calibri" panose="020F0502020204030204" pitchFamily="34" charset="0"/>
                <a:ea typeface="Verdana" charset="0"/>
                <a:cs typeface="Calibri" panose="020F0502020204030204" pitchFamily="34" charset="0"/>
              </a:rPr>
              <a:t>:</a:t>
            </a:r>
          </a:p>
          <a:p>
            <a:pPr lvl="1"/>
            <a:r>
              <a:rPr lang="en-US" sz="1600" b="1" dirty="0" err="1">
                <a:latin typeface="Calibri" panose="020F0502020204030204" pitchFamily="34" charset="0"/>
                <a:ea typeface="Verdana" charset="0"/>
                <a:cs typeface="Calibri" panose="020F0502020204030204" pitchFamily="34" charset="0"/>
              </a:rPr>
              <a:t>Pametne</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industrije</a:t>
            </a:r>
            <a:r>
              <a:rPr lang="en-US" sz="1600" b="1" dirty="0">
                <a:latin typeface="Calibri" panose="020F0502020204030204" pitchFamily="34" charset="0"/>
                <a:ea typeface="Verdana" charset="0"/>
                <a:cs typeface="Calibri" panose="020F0502020204030204" pitchFamily="34" charset="0"/>
              </a:rPr>
              <a:t> </a:t>
            </a:r>
            <a:r>
              <a:rPr lang="en-US" sz="1600" dirty="0">
                <a:latin typeface="Calibri" panose="020F0502020204030204" pitchFamily="34" charset="0"/>
                <a:ea typeface="Verdana" charset="0"/>
                <a:cs typeface="Calibri" panose="020F0502020204030204" pitchFamily="34" charset="0"/>
              </a:rPr>
              <a:t>/</a:t>
            </a:r>
            <a:r>
              <a:rPr lang="en-US" sz="1600" dirty="0" err="1">
                <a:latin typeface="Calibri" panose="020F0502020204030204" pitchFamily="34" charset="0"/>
                <a:ea typeface="Verdana" charset="0"/>
                <a:cs typeface="Calibri" panose="020F0502020204030204" pitchFamily="34" charset="0"/>
              </a:rPr>
              <a:t>proizvodne</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tehnologije</a:t>
            </a:r>
            <a:r>
              <a:rPr lang="en-US" sz="1600" dirty="0">
                <a:latin typeface="Calibri" panose="020F0502020204030204" pitchFamily="34" charset="0"/>
                <a:ea typeface="Verdana" charset="0"/>
                <a:cs typeface="Calibri" panose="020F0502020204030204" pitchFamily="34" charset="0"/>
              </a:rPr>
              <a:t>, </a:t>
            </a:r>
            <a:r>
              <a:rPr lang="en-US" sz="1600" b="1" dirty="0">
                <a:latin typeface="Calibri" panose="020F0502020204030204" pitchFamily="34" charset="0"/>
                <a:ea typeface="Verdana" charset="0"/>
                <a:cs typeface="Calibri" panose="020F0502020204030204" pitchFamily="34" charset="0"/>
              </a:rPr>
              <a:t>IKT </a:t>
            </a:r>
            <a:r>
              <a:rPr lang="en-US" sz="1600" b="1" dirty="0" err="1">
                <a:latin typeface="Calibri" panose="020F0502020204030204" pitchFamily="34" charset="0"/>
                <a:ea typeface="Verdana" charset="0"/>
                <a:cs typeface="Calibri" panose="020F0502020204030204" pitchFamily="34" charset="0"/>
              </a:rPr>
              <a:t>rješenja</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i</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modeli</a:t>
            </a:r>
            <a:r>
              <a:rPr lang="en-US" sz="1600" b="1" dirty="0">
                <a:latin typeface="Calibri" panose="020F0502020204030204" pitchFamily="34" charset="0"/>
                <a:ea typeface="Verdana" charset="0"/>
                <a:cs typeface="Calibri" panose="020F0502020204030204" pitchFamily="34" charset="0"/>
              </a:rPr>
              <a:t> za </a:t>
            </a:r>
            <a:r>
              <a:rPr lang="en-US" sz="1600" b="1" dirty="0" err="1">
                <a:latin typeface="Calibri" panose="020F0502020204030204" pitchFamily="34" charset="0"/>
                <a:ea typeface="Verdana" charset="0"/>
                <a:cs typeface="Calibri" panose="020F0502020204030204" pitchFamily="34" charset="0"/>
              </a:rPr>
              <a:t>industriju</a:t>
            </a:r>
            <a:r>
              <a:rPr lang="en-US" sz="1600" b="1" dirty="0">
                <a:latin typeface="Calibri" panose="020F0502020204030204" pitchFamily="34" charset="0"/>
                <a:ea typeface="Verdana" charset="0"/>
                <a:cs typeface="Calibri" panose="020F0502020204030204" pitchFamily="34" charset="0"/>
              </a:rPr>
              <a:t> 4.0,</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inovativna</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modna</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industrija</a:t>
            </a:r>
            <a:r>
              <a:rPr lang="en-US" sz="1600" dirty="0">
                <a:latin typeface="Calibri" panose="020F0502020204030204" pitchFamily="34" charset="0"/>
                <a:ea typeface="Verdana" charset="0"/>
                <a:cs typeface="Calibri" panose="020F0502020204030204" pitchFamily="34" charset="0"/>
              </a:rPr>
              <a:t>, dual use – </a:t>
            </a:r>
            <a:r>
              <a:rPr lang="en-US" sz="1600" dirty="0" err="1">
                <a:latin typeface="Calibri" panose="020F0502020204030204" pitchFamily="34" charset="0"/>
                <a:ea typeface="Verdana" charset="0"/>
                <a:cs typeface="Calibri" panose="020F0502020204030204" pitchFamily="34" charset="0"/>
              </a:rPr>
              <a:t>proizodi</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dvojne</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namjene</a:t>
            </a:r>
            <a:endParaRPr lang="en-US" sz="1600" dirty="0">
              <a:latin typeface="Calibri" panose="020F0502020204030204" pitchFamily="34" charset="0"/>
              <a:ea typeface="Verdana" charset="0"/>
              <a:cs typeface="Calibri" panose="020F0502020204030204" pitchFamily="34" charset="0"/>
            </a:endParaRPr>
          </a:p>
          <a:p>
            <a:pPr lvl="1"/>
            <a:r>
              <a:rPr lang="en-US" sz="1600" dirty="0" err="1">
                <a:latin typeface="Calibri" panose="020F0502020204030204" pitchFamily="34" charset="0"/>
                <a:ea typeface="Verdana" charset="0"/>
                <a:cs typeface="Calibri" panose="020F0502020204030204" pitchFamily="34" charset="0"/>
              </a:rPr>
              <a:t>Proizvodnja</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vozila</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komponente</a:t>
            </a:r>
            <a:r>
              <a:rPr lang="en-US" sz="1600" dirty="0">
                <a:latin typeface="Calibri" panose="020F0502020204030204" pitchFamily="34" charset="0"/>
                <a:ea typeface="Verdana" charset="0"/>
                <a:cs typeface="Calibri" panose="020F0502020204030204" pitchFamily="34" charset="0"/>
              </a:rPr>
              <a:t> za </a:t>
            </a:r>
            <a:r>
              <a:rPr lang="en-US" sz="1600" dirty="0" err="1">
                <a:latin typeface="Calibri" panose="020F0502020204030204" pitchFamily="34" charset="0"/>
                <a:ea typeface="Verdana" charset="0"/>
                <a:cs typeface="Calibri" panose="020F0502020204030204" pitchFamily="34" charset="0"/>
              </a:rPr>
              <a:t>proizvodnju</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vozila</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zelena</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mobilnost</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i</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autonomna</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vozila</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inteligentni</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transportni</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sustavi</a:t>
            </a:r>
            <a:endParaRPr lang="en-US" sz="1600" dirty="0">
              <a:latin typeface="Calibri" panose="020F0502020204030204" pitchFamily="34" charset="0"/>
              <a:ea typeface="Verdana" charset="0"/>
              <a:cs typeface="Calibri" panose="020F0502020204030204" pitchFamily="34" charset="0"/>
            </a:endParaRPr>
          </a:p>
          <a:p>
            <a:pPr lvl="1"/>
            <a:r>
              <a:rPr lang="en-US" sz="1600" dirty="0" err="1">
                <a:latin typeface="Calibri" panose="020F0502020204030204" pitchFamily="34" charset="0"/>
                <a:ea typeface="Verdana" charset="0"/>
                <a:cs typeface="Calibri" panose="020F0502020204030204" pitchFamily="34" charset="0"/>
              </a:rPr>
              <a:t>Zdravstvena</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industrija</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FutureFarma</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farmaceutika</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budućnosti</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personalizirana</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medicina</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zdrava</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i</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funkcionalna</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hrana</a:t>
            </a:r>
            <a:r>
              <a:rPr lang="en-US" sz="1600" dirty="0">
                <a:latin typeface="Calibri" panose="020F0502020204030204" pitchFamily="34" charset="0"/>
                <a:ea typeface="Verdana" charset="0"/>
                <a:cs typeface="Calibri" panose="020F0502020204030204" pitchFamily="34" charset="0"/>
              </a:rPr>
              <a:t>, </a:t>
            </a:r>
          </a:p>
          <a:p>
            <a:pPr lvl="1"/>
            <a:r>
              <a:rPr lang="en-US" sz="1600" dirty="0" err="1">
                <a:latin typeface="Calibri" panose="020F0502020204030204" pitchFamily="34" charset="0"/>
                <a:ea typeface="Verdana" charset="0"/>
                <a:cs typeface="Calibri" panose="020F0502020204030204" pitchFamily="34" charset="0"/>
              </a:rPr>
              <a:t>Zeleni</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rast</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ekološki</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prihvatljivi</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materijali</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i</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zelene</a:t>
            </a:r>
            <a:r>
              <a:rPr lang="en-US" sz="1600" dirty="0">
                <a:latin typeface="Calibri" panose="020F0502020204030204" pitchFamily="34" charset="0"/>
                <a:ea typeface="Verdana" charset="0"/>
                <a:cs typeface="Calibri" panose="020F0502020204030204" pitchFamily="34" charset="0"/>
              </a:rPr>
              <a:t> </a:t>
            </a:r>
            <a:r>
              <a:rPr lang="en-US" sz="1600" dirty="0" err="1">
                <a:latin typeface="Calibri" panose="020F0502020204030204" pitchFamily="34" charset="0"/>
                <a:ea typeface="Verdana" charset="0"/>
                <a:cs typeface="Calibri" panose="020F0502020204030204" pitchFamily="34" charset="0"/>
              </a:rPr>
              <a:t>tehnologije</a:t>
            </a:r>
            <a:r>
              <a:rPr lang="en-US" sz="1600" dirty="0">
                <a:latin typeface="Calibri" panose="020F0502020204030204" pitchFamily="34" charset="0"/>
                <a:ea typeface="Verdana" charset="0"/>
                <a:cs typeface="Calibri" panose="020F0502020204030204" pitchFamily="34" charset="0"/>
              </a:rPr>
              <a:t> za OIE, …</a:t>
            </a:r>
          </a:p>
          <a:p>
            <a:pPr>
              <a:lnSpc>
                <a:spcPct val="90000"/>
              </a:lnSpc>
            </a:pPr>
            <a:endParaRPr lang="hr-HR" altLang="en-US" sz="1600" dirty="0">
              <a:latin typeface="Calibri" panose="020F0502020204030204" pitchFamily="34" charset="0"/>
              <a:cs typeface="Calibri" panose="020F0502020204030204" pitchFamily="34" charset="0"/>
            </a:endParaRPr>
          </a:p>
          <a:p>
            <a:pPr>
              <a:lnSpc>
                <a:spcPct val="90000"/>
              </a:lnSpc>
            </a:pPr>
            <a:endParaRPr lang="en-US" sz="1600" b="1" dirty="0">
              <a:latin typeface="Calibri" panose="020F0502020204030204" pitchFamily="34" charset="0"/>
              <a:ea typeface="Verdana" charset="0"/>
              <a:cs typeface="Calibri" panose="020F0502020204030204" pitchFamily="34" charset="0"/>
            </a:endParaRPr>
          </a:p>
          <a:p>
            <a:pPr>
              <a:lnSpc>
                <a:spcPct val="90000"/>
              </a:lnSpc>
            </a:pPr>
            <a:r>
              <a:rPr lang="en-US" sz="1600" b="1" dirty="0" err="1">
                <a:latin typeface="Calibri" panose="020F0502020204030204" pitchFamily="34" charset="0"/>
                <a:ea typeface="Verdana" charset="0"/>
                <a:cs typeface="Calibri" panose="020F0502020204030204" pitchFamily="34" charset="0"/>
              </a:rPr>
              <a:t>Centar</a:t>
            </a:r>
            <a:r>
              <a:rPr lang="en-US" sz="1600" b="1" dirty="0">
                <a:latin typeface="Calibri" panose="020F0502020204030204" pitchFamily="34" charset="0"/>
                <a:ea typeface="Verdana" charset="0"/>
                <a:cs typeface="Calibri" panose="020F0502020204030204" pitchFamily="34" charset="0"/>
              </a:rPr>
              <a:t> u </a:t>
            </a:r>
            <a:r>
              <a:rPr lang="en-US" sz="1600" b="1" dirty="0" err="1">
                <a:latin typeface="Calibri" panose="020F0502020204030204" pitchFamily="34" charset="0"/>
                <a:ea typeface="Verdana" charset="0"/>
                <a:cs typeface="Calibri" panose="020F0502020204030204" pitchFamily="34" charset="0"/>
              </a:rPr>
              <a:t>segmentu</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predinkubacije</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različitim</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instrumentima</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otkriva</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inovativne</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koncepte</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te</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osvješćuje</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educira</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i</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daje</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potporu</a:t>
            </a:r>
            <a:r>
              <a:rPr lang="en-US" sz="1600" b="1" dirty="0">
                <a:latin typeface="Calibri" panose="020F0502020204030204" pitchFamily="34" charset="0"/>
                <a:ea typeface="Verdana" charset="0"/>
                <a:cs typeface="Calibri" panose="020F0502020204030204" pitchFamily="34" charset="0"/>
              </a:rPr>
              <a:t> u </a:t>
            </a:r>
            <a:r>
              <a:rPr lang="en-US" sz="1600" b="1" dirty="0" err="1">
                <a:latin typeface="Calibri" panose="020F0502020204030204" pitchFamily="34" charset="0"/>
                <a:ea typeface="Verdana" charset="0"/>
                <a:cs typeface="Calibri" panose="020F0502020204030204" pitchFamily="34" charset="0"/>
              </a:rPr>
              <a:t>primjeni</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novih</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tehnologija</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i</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najnovijih</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tehnoloških</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dostignuća</a:t>
            </a:r>
            <a:r>
              <a:rPr lang="en-US" sz="1600" b="1" dirty="0">
                <a:latin typeface="Calibri" panose="020F0502020204030204" pitchFamily="34" charset="0"/>
                <a:ea typeface="Verdana" charset="0"/>
                <a:cs typeface="Calibri" panose="020F0502020204030204" pitchFamily="34" charset="0"/>
              </a:rPr>
              <a:t> – od </a:t>
            </a:r>
            <a:r>
              <a:rPr lang="en-US" sz="1600" b="1" dirty="0" err="1">
                <a:latin typeface="Calibri" panose="020F0502020204030204" pitchFamily="34" charset="0"/>
                <a:ea typeface="Verdana" charset="0"/>
                <a:cs typeface="Calibri" panose="020F0502020204030204" pitchFamily="34" charset="0"/>
              </a:rPr>
              <a:t>ideje</a:t>
            </a:r>
            <a:r>
              <a:rPr lang="en-US" sz="1600" b="1" dirty="0">
                <a:latin typeface="Calibri" panose="020F0502020204030204" pitchFamily="34" charset="0"/>
                <a:ea typeface="Verdana" charset="0"/>
                <a:cs typeface="Calibri" panose="020F0502020204030204" pitchFamily="34" charset="0"/>
              </a:rPr>
              <a:t> do </a:t>
            </a:r>
            <a:r>
              <a:rPr lang="en-US" sz="1600" b="1" dirty="0" err="1">
                <a:latin typeface="Calibri" panose="020F0502020204030204" pitchFamily="34" charset="0"/>
                <a:ea typeface="Verdana" charset="0"/>
                <a:cs typeface="Calibri" panose="020F0502020204030204" pitchFamily="34" charset="0"/>
              </a:rPr>
              <a:t>realizacije</a:t>
            </a:r>
            <a:r>
              <a:rPr lang="en-US" sz="1600" b="1" dirty="0">
                <a:latin typeface="Calibri" panose="020F0502020204030204" pitchFamily="34" charset="0"/>
                <a:ea typeface="Verdana" charset="0"/>
                <a:cs typeface="Calibri" panose="020F0502020204030204" pitchFamily="34" charset="0"/>
              </a:rPr>
              <a:t>; od </a:t>
            </a:r>
            <a:r>
              <a:rPr lang="en-US" sz="1600" b="1" dirty="0" err="1">
                <a:latin typeface="Calibri" panose="020F0502020204030204" pitchFamily="34" charset="0"/>
                <a:ea typeface="Verdana" charset="0"/>
                <a:cs typeface="Calibri" panose="020F0502020204030204" pitchFamily="34" charset="0"/>
              </a:rPr>
              <a:t>predinkubacije</a:t>
            </a:r>
            <a:r>
              <a:rPr lang="en-US" sz="1600" b="1" dirty="0">
                <a:latin typeface="Calibri" panose="020F0502020204030204" pitchFamily="34" charset="0"/>
                <a:ea typeface="Verdana" charset="0"/>
                <a:cs typeface="Calibri" panose="020F0502020204030204" pitchFamily="34" charset="0"/>
              </a:rPr>
              <a:t> do </a:t>
            </a:r>
            <a:r>
              <a:rPr lang="en-US" sz="1600" b="1" dirty="0" err="1">
                <a:latin typeface="Calibri" panose="020F0502020204030204" pitchFamily="34" charset="0"/>
                <a:ea typeface="Verdana" charset="0"/>
                <a:cs typeface="Calibri" panose="020F0502020204030204" pitchFamily="34" charset="0"/>
              </a:rPr>
              <a:t>inkubacije</a:t>
            </a:r>
            <a:r>
              <a:rPr lang="en-US" sz="1600" b="1" dirty="0">
                <a:latin typeface="Calibri" panose="020F0502020204030204" pitchFamily="34" charset="0"/>
                <a:ea typeface="Verdana" charset="0"/>
                <a:cs typeface="Calibri" panose="020F0502020204030204" pitchFamily="34" charset="0"/>
              </a:rPr>
              <a:t>.</a:t>
            </a:r>
          </a:p>
          <a:p>
            <a:pPr>
              <a:lnSpc>
                <a:spcPct val="90000"/>
              </a:lnSpc>
            </a:pPr>
            <a:endParaRPr lang="en-US" sz="1600" b="1" dirty="0">
              <a:latin typeface="Calibri" panose="020F0502020204030204" pitchFamily="34" charset="0"/>
              <a:ea typeface="Verdana" charset="0"/>
              <a:cs typeface="Calibri" panose="020F0502020204030204" pitchFamily="34" charset="0"/>
            </a:endParaRPr>
          </a:p>
          <a:p>
            <a:pPr>
              <a:lnSpc>
                <a:spcPct val="90000"/>
              </a:lnSpc>
            </a:pPr>
            <a:r>
              <a:rPr lang="hr-HR" sz="1600" b="1" dirty="0">
                <a:latin typeface="Calibri" panose="020F0502020204030204" pitchFamily="34" charset="0"/>
                <a:ea typeface="Verdana" charset="0"/>
                <a:cs typeface="Calibri" panose="020F0502020204030204" pitchFamily="34" charset="0"/>
              </a:rPr>
              <a:t>R</a:t>
            </a:r>
            <a:r>
              <a:rPr lang="hr-HR" sz="1600" b="1" dirty="0">
                <a:effectLst/>
                <a:latin typeface="Calibri" panose="020F0502020204030204" pitchFamily="34" charset="0"/>
                <a:ea typeface="Verdana" charset="0"/>
                <a:cs typeface="Calibri" panose="020F0502020204030204" pitchFamily="34" charset="0"/>
              </a:rPr>
              <a:t>ano prepoznavanje i razvoj tehnološki inovativne i komercijalno isplative poduzetničke ideje</a:t>
            </a:r>
            <a:r>
              <a:rPr lang="hr-HR" sz="1600" b="1" dirty="0">
                <a:latin typeface="Calibri" panose="020F0502020204030204" pitchFamily="34" charset="0"/>
                <a:ea typeface="Verdana" charset="0"/>
                <a:cs typeface="Calibri" panose="020F0502020204030204" pitchFamily="34" charset="0"/>
              </a:rPr>
              <a:t> – inkubacija</a:t>
            </a:r>
          </a:p>
          <a:p>
            <a:pPr>
              <a:lnSpc>
                <a:spcPct val="90000"/>
              </a:lnSpc>
            </a:pPr>
            <a:endParaRPr lang="en-US" sz="1600" b="1" dirty="0">
              <a:latin typeface="Calibri" panose="020F0502020204030204" pitchFamily="34" charset="0"/>
              <a:ea typeface="Verdana" charset="0"/>
              <a:cs typeface="Calibri" panose="020F0502020204030204" pitchFamily="34" charset="0"/>
            </a:endParaRPr>
          </a:p>
          <a:p>
            <a:pPr>
              <a:lnSpc>
                <a:spcPct val="90000"/>
              </a:lnSpc>
            </a:pPr>
            <a:r>
              <a:rPr lang="en-US" sz="1600" b="1" dirty="0" err="1">
                <a:latin typeface="Calibri" panose="020F0502020204030204" pitchFamily="34" charset="0"/>
                <a:ea typeface="Verdana" charset="0"/>
                <a:cs typeface="Calibri" panose="020F0502020204030204" pitchFamily="34" charset="0"/>
              </a:rPr>
              <a:t>Ovom</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spregom</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podiže</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konkurentnost</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gospodarstva</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što</a:t>
            </a:r>
            <a:r>
              <a:rPr lang="en-US" sz="1600" b="1" dirty="0">
                <a:latin typeface="Calibri" panose="020F0502020204030204" pitchFamily="34" charset="0"/>
                <a:ea typeface="Verdana" charset="0"/>
                <a:cs typeface="Calibri" panose="020F0502020204030204" pitchFamily="34" charset="0"/>
              </a:rPr>
              <a:t> u </a:t>
            </a:r>
            <a:r>
              <a:rPr lang="en-US" sz="1600" b="1" dirty="0" err="1">
                <a:latin typeface="Calibri" panose="020F0502020204030204" pitchFamily="34" charset="0"/>
                <a:ea typeface="Verdana" charset="0"/>
                <a:cs typeface="Calibri" panose="020F0502020204030204" pitchFamily="34" charset="0"/>
              </a:rPr>
              <a:t>konačnici</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znači</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tranziciju</a:t>
            </a:r>
            <a:r>
              <a:rPr lang="en-US" sz="1600" b="1" dirty="0">
                <a:latin typeface="Calibri" panose="020F0502020204030204" pitchFamily="34" charset="0"/>
                <a:ea typeface="Verdana" charset="0"/>
                <a:cs typeface="Calibri" panose="020F0502020204030204" pitchFamily="34" charset="0"/>
              </a:rPr>
              <a:t> u </a:t>
            </a:r>
            <a:r>
              <a:rPr lang="en-US" sz="1600" b="1" dirty="0" err="1">
                <a:latin typeface="Calibri" panose="020F0502020204030204" pitchFamily="34" charset="0"/>
                <a:ea typeface="Verdana" charset="0"/>
                <a:cs typeface="Calibri" panose="020F0502020204030204" pitchFamily="34" charset="0"/>
              </a:rPr>
              <a:t>inovativno</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i</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na</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znanju</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utemeljeno</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gospodarstvo</a:t>
            </a:r>
            <a:r>
              <a:rPr lang="en-US" sz="1600" b="1" dirty="0">
                <a:latin typeface="Calibri" panose="020F0502020204030204" pitchFamily="34" charset="0"/>
                <a:ea typeface="Verdana" charset="0"/>
                <a:cs typeface="Calibri" panose="020F0502020204030204" pitchFamily="34" charset="0"/>
              </a:rPr>
              <a:t> s </a:t>
            </a:r>
            <a:r>
              <a:rPr lang="en-US" sz="1600" b="1" dirty="0" err="1">
                <a:latin typeface="Calibri" panose="020F0502020204030204" pitchFamily="34" charset="0"/>
                <a:ea typeface="Verdana" charset="0"/>
                <a:cs typeface="Calibri" panose="020F0502020204030204" pitchFamily="34" charset="0"/>
              </a:rPr>
              <a:t>primjenom</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najnovijih</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tehnoloških</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dostignuća</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industrijska</a:t>
            </a:r>
            <a:r>
              <a:rPr lang="en-US" sz="1600" b="1" dirty="0">
                <a:latin typeface="Calibri" panose="020F0502020204030204" pitchFamily="34" charset="0"/>
                <a:ea typeface="Verdana" charset="0"/>
                <a:cs typeface="Calibri" panose="020F0502020204030204" pitchFamily="34" charset="0"/>
              </a:rPr>
              <a:t> </a:t>
            </a:r>
            <a:r>
              <a:rPr lang="en-US" sz="1600" b="1" dirty="0" err="1">
                <a:latin typeface="Calibri" panose="020F0502020204030204" pitchFamily="34" charset="0"/>
                <a:ea typeface="Verdana" charset="0"/>
                <a:cs typeface="Calibri" panose="020F0502020204030204" pitchFamily="34" charset="0"/>
              </a:rPr>
              <a:t>tranzicija</a:t>
            </a:r>
            <a:r>
              <a:rPr lang="en-US" sz="1600" b="1" dirty="0">
                <a:latin typeface="Calibri" panose="020F0502020204030204" pitchFamily="34" charset="0"/>
                <a:ea typeface="Verdana" charset="0"/>
                <a:cs typeface="Calibri" panose="020F0502020204030204" pitchFamily="34" charset="0"/>
              </a:rPr>
              <a:t>/.</a:t>
            </a:r>
            <a:endParaRPr lang="hr-HR" sz="1600" b="1" dirty="0">
              <a:latin typeface="Calibri" panose="020F0502020204030204" pitchFamily="34" charset="0"/>
              <a:ea typeface="Verdana" charset="0"/>
              <a:cs typeface="Calibri" panose="020F0502020204030204" pitchFamily="34" charset="0"/>
            </a:endParaRPr>
          </a:p>
          <a:p>
            <a:pPr>
              <a:lnSpc>
                <a:spcPct val="90000"/>
              </a:lnSpc>
            </a:pPr>
            <a:endParaRPr lang="hr-HR" altLang="en-US" sz="2000" dirty="0"/>
          </a:p>
        </p:txBody>
      </p:sp>
      <p:sp>
        <p:nvSpPr>
          <p:cNvPr id="16" name="Oval 15"/>
          <p:cNvSpPr/>
          <p:nvPr/>
        </p:nvSpPr>
        <p:spPr>
          <a:xfrm>
            <a:off x="288894" y="345062"/>
            <a:ext cx="1422949" cy="1422949"/>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nvGrpSpPr>
          <p:cNvPr id="17" name="Group 16"/>
          <p:cNvGrpSpPr/>
          <p:nvPr/>
        </p:nvGrpSpPr>
        <p:grpSpPr>
          <a:xfrm>
            <a:off x="288894" y="625053"/>
            <a:ext cx="1243509" cy="748923"/>
            <a:chOff x="1132881" y="3224157"/>
            <a:chExt cx="1658011" cy="998562"/>
          </a:xfrm>
        </p:grpSpPr>
        <p:sp>
          <p:nvSpPr>
            <p:cNvPr id="18" name="Freeform 102"/>
            <p:cNvSpPr>
              <a:spLocks/>
            </p:cNvSpPr>
            <p:nvPr/>
          </p:nvSpPr>
          <p:spPr bwMode="auto">
            <a:xfrm>
              <a:off x="1132881"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75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19" name="Freeform 102"/>
            <p:cNvSpPr>
              <a:spLocks/>
            </p:cNvSpPr>
            <p:nvPr/>
          </p:nvSpPr>
          <p:spPr bwMode="auto">
            <a:xfrm>
              <a:off x="1724207" y="3224157"/>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50000"/>
              </a:schemeClr>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20" name="Freeform 102"/>
            <p:cNvSpPr>
              <a:spLocks/>
            </p:cNvSpPr>
            <p:nvPr/>
          </p:nvSpPr>
          <p:spPr bwMode="auto">
            <a:xfrm>
              <a:off x="1442192" y="3482455"/>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rgbClr val="CE003D"/>
            </a:solidFill>
            <a:ln>
              <a:noFill/>
            </a:ln>
          </p:spPr>
          <p:txBody>
            <a:bodyPr vert="horz" wrap="square" lIns="51435" tIns="25719" rIns="51435" bIns="25719" numCol="1" anchor="t" anchorCtr="0" compatLnSpc="1">
              <a:prstTxWarp prst="textNoShape">
                <a:avLst/>
              </a:prstTxWarp>
            </a:bodyPr>
            <a:lstStyle/>
            <a:p>
              <a:endParaRPr lang="id-ID" sz="1013"/>
            </a:p>
          </p:txBody>
        </p:sp>
        <p:sp>
          <p:nvSpPr>
            <p:cNvPr id="21" name="Freeform 102"/>
            <p:cNvSpPr>
              <a:spLocks/>
            </p:cNvSpPr>
            <p:nvPr/>
          </p:nvSpPr>
          <p:spPr bwMode="auto">
            <a:xfrm>
              <a:off x="2101758" y="3353306"/>
              <a:ext cx="689134" cy="740264"/>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chemeClr val="bg1">
                <a:lumMod val="65000"/>
              </a:schemeClr>
            </a:solidFill>
            <a:ln>
              <a:noFill/>
            </a:ln>
          </p:spPr>
          <p:txBody>
            <a:bodyPr vert="horz" wrap="square" lIns="51435" tIns="25719" rIns="51435" bIns="25719" numCol="1" anchor="t" anchorCtr="0" compatLnSpc="1">
              <a:prstTxWarp prst="textNoShape">
                <a:avLst/>
              </a:prstTxWarp>
            </a:bodyPr>
            <a:lstStyle/>
            <a:p>
              <a:endParaRPr lang="id-ID" sz="1013"/>
            </a:p>
          </p:txBody>
        </p:sp>
      </p:grpSp>
      <p:pic>
        <p:nvPicPr>
          <p:cNvPr id="2" name="Picture 1">
            <a:extLst>
              <a:ext uri="{FF2B5EF4-FFF2-40B4-BE49-F238E27FC236}">
                <a16:creationId xmlns:a16="http://schemas.microsoft.com/office/drawing/2014/main" id="{ADF25431-A3B3-C09F-48E3-58BEC607F12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9207" y="2701138"/>
            <a:ext cx="4794423" cy="2990019"/>
          </a:xfrm>
          <a:prstGeom prst="rect">
            <a:avLst/>
          </a:prstGeom>
          <a:noFill/>
          <a:ln>
            <a:noFill/>
          </a:ln>
        </p:spPr>
      </p:pic>
    </p:spTree>
    <p:extLst>
      <p:ext uri="{BB962C8B-B14F-4D97-AF65-F5344CB8AC3E}">
        <p14:creationId xmlns:p14="http://schemas.microsoft.com/office/powerpoint/2010/main" val="3584708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cstate="print">
            <a:extLst>
              <a:ext uri="{28A0092B-C50C-407E-A947-70E740481C1C}">
                <a14:useLocalDpi xmlns:a14="http://schemas.microsoft.com/office/drawing/2010/main" val="0"/>
              </a:ext>
            </a:extLst>
          </a:blip>
          <a:srcRect l="34551" b="22206"/>
          <a:stretch/>
        </p:blipFill>
        <p:spPr>
          <a:xfrm>
            <a:off x="10760765" y="0"/>
            <a:ext cx="1431235" cy="1131115"/>
          </a:xfrm>
          <a:prstGeom prst="rect">
            <a:avLst/>
          </a:prstGeom>
        </p:spPr>
      </p:pic>
      <p:sp>
        <p:nvSpPr>
          <p:cNvPr id="4" name="Title 6"/>
          <p:cNvSpPr txBox="1">
            <a:spLocks/>
          </p:cNvSpPr>
          <p:nvPr/>
        </p:nvSpPr>
        <p:spPr>
          <a:xfrm>
            <a:off x="469900" y="402587"/>
            <a:ext cx="11252200" cy="33410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hr-HR" sz="2000" dirty="0" err="1">
                <a:solidFill>
                  <a:schemeClr val="accent6">
                    <a:lumMod val="50000"/>
                  </a:schemeClr>
                </a:solidFill>
                <a:latin typeface="Verdana" charset="0"/>
                <a:ea typeface="Verdana" charset="0"/>
                <a:cs typeface="Verdana" charset="0"/>
              </a:rPr>
              <a:t>preIncubation</a:t>
            </a:r>
            <a:r>
              <a:rPr lang="hr-HR" sz="2000" dirty="0">
                <a:latin typeface="Verdana" charset="0"/>
                <a:ea typeface="Verdana" charset="0"/>
                <a:cs typeface="Verdana" charset="0"/>
              </a:rPr>
              <a:t> :: Ciljevi projekta</a:t>
            </a:r>
            <a:endParaRPr lang="en-US" sz="2000" dirty="0">
              <a:latin typeface="Verdana" charset="0"/>
              <a:ea typeface="Verdana" charset="0"/>
              <a:cs typeface="Verdana" charset="0"/>
            </a:endParaRPr>
          </a:p>
        </p:txBody>
      </p:sp>
      <p:cxnSp>
        <p:nvCxnSpPr>
          <p:cNvPr id="5" name="Straight Connector 4"/>
          <p:cNvCxnSpPr/>
          <p:nvPr/>
        </p:nvCxnSpPr>
        <p:spPr>
          <a:xfrm flipV="1">
            <a:off x="492760" y="842143"/>
            <a:ext cx="10434320" cy="1769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H="1">
            <a:off x="5477749" y="1962568"/>
            <a:ext cx="836" cy="401248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780585" y="1039074"/>
            <a:ext cx="10236820" cy="923330"/>
          </a:xfrm>
          <a:prstGeom prst="rect">
            <a:avLst/>
          </a:prstGeom>
        </p:spPr>
        <p:txBody>
          <a:bodyPr wrap="square">
            <a:spAutoFit/>
          </a:bodyPr>
          <a:lstStyle/>
          <a:p>
            <a:pPr algn="ctr">
              <a:spcAft>
                <a:spcPts val="0"/>
              </a:spcAft>
            </a:pPr>
            <a:r>
              <a:rPr lang="hr-HR" b="1" dirty="0">
                <a:solidFill>
                  <a:srgbClr val="C00000"/>
                </a:solidFill>
                <a:effectLst/>
                <a:latin typeface="Calibri" charset="0"/>
                <a:ea typeface="Calibri" charset="0"/>
                <a:cs typeface="Times New Roman" charset="0"/>
              </a:rPr>
              <a:t>Glavni cilj</a:t>
            </a:r>
            <a:r>
              <a:rPr lang="hr-HR" dirty="0">
                <a:solidFill>
                  <a:srgbClr val="C00000"/>
                </a:solidFill>
                <a:effectLst/>
                <a:latin typeface="Calibri" charset="0"/>
                <a:ea typeface="Calibri" charset="0"/>
                <a:cs typeface="Times New Roman" charset="0"/>
              </a:rPr>
              <a:t> projekta jest institucionlano ojačati aktivnosti ranog prepoznavanja i razvoja inovativnih poduzetničkih ideja, razvoja digitalnih i poduzetničkih znanja i pametnih tehnologija, </a:t>
            </a:r>
            <a:r>
              <a:rPr lang="hr-HR" dirty="0">
                <a:solidFill>
                  <a:srgbClr val="C00000"/>
                </a:solidFill>
                <a:latin typeface="Calibri" charset="0"/>
                <a:ea typeface="Calibri" charset="0"/>
                <a:cs typeface="Times New Roman" charset="0"/>
              </a:rPr>
              <a:t>te </a:t>
            </a:r>
            <a:r>
              <a:rPr lang="hr-HR" dirty="0">
                <a:solidFill>
                  <a:srgbClr val="C00000"/>
                </a:solidFill>
                <a:effectLst/>
                <a:latin typeface="Calibri" charset="0"/>
                <a:ea typeface="Calibri" charset="0"/>
                <a:cs typeface="Times New Roman" charset="0"/>
              </a:rPr>
              <a:t>sudjelovanje i potpora njihovom razvoju i komercijalizaciji.</a:t>
            </a:r>
            <a:endParaRPr lang="en-US" dirty="0">
              <a:solidFill>
                <a:srgbClr val="C00000"/>
              </a:solidFill>
              <a:effectLst/>
              <a:latin typeface="Calibri" charset="0"/>
              <a:ea typeface="Calibri" charset="0"/>
              <a:cs typeface="Times New Roman" charset="0"/>
            </a:endParaRPr>
          </a:p>
        </p:txBody>
      </p:sp>
      <p:sp>
        <p:nvSpPr>
          <p:cNvPr id="9" name="Rectangle 8"/>
          <p:cNvSpPr/>
          <p:nvPr/>
        </p:nvSpPr>
        <p:spPr>
          <a:xfrm>
            <a:off x="200721" y="2475560"/>
            <a:ext cx="4984595" cy="3046988"/>
          </a:xfrm>
          <a:prstGeom prst="rect">
            <a:avLst/>
          </a:prstGeom>
        </p:spPr>
        <p:txBody>
          <a:bodyPr wrap="square">
            <a:spAutoFit/>
          </a:bodyPr>
          <a:lstStyle/>
          <a:p>
            <a:pPr lvl="1">
              <a:spcAft>
                <a:spcPts val="0"/>
              </a:spcAft>
            </a:pPr>
            <a:r>
              <a:rPr lang="hr-HR" sz="1200" b="1" dirty="0">
                <a:effectLst/>
                <a:latin typeface="Calibri" charset="0"/>
                <a:ea typeface="Calibri" charset="0"/>
                <a:cs typeface="Times New Roman" charset="0"/>
              </a:rPr>
              <a:t>GOSPODARSTVO</a:t>
            </a:r>
          </a:p>
          <a:p>
            <a:pPr lvl="1">
              <a:spcAft>
                <a:spcPts val="0"/>
              </a:spcAft>
            </a:pPr>
            <a:endParaRPr lang="hr-HR" sz="1200" dirty="0">
              <a:effectLst/>
              <a:latin typeface="Calibri" charset="0"/>
              <a:ea typeface="Calibri" charset="0"/>
              <a:cs typeface="Times New Roman" charset="0"/>
            </a:endParaRPr>
          </a:p>
          <a:p>
            <a:pPr marL="628650" lvl="1" indent="-171450">
              <a:spcAft>
                <a:spcPts val="0"/>
              </a:spcAft>
              <a:buFont typeface="Arial" charset="0"/>
              <a:buChar char="•"/>
            </a:pPr>
            <a:r>
              <a:rPr lang="hr-HR" sz="1200" dirty="0">
                <a:effectLst/>
                <a:latin typeface="Calibri" charset="0"/>
                <a:ea typeface="Calibri" charset="0"/>
                <a:cs typeface="Times New Roman" charset="0"/>
              </a:rPr>
              <a:t>Dati doprinos digitalnoj i zelenoj tranziciji kroz komercijalizaciju razvojno-istraživačkih djelatnosti sveučilišta, te kroz primjenu pametnih tehnologija pomoći razvoju modernog gospodarstva,</a:t>
            </a:r>
            <a:endParaRPr lang="en-US" sz="1200" dirty="0">
              <a:effectLst/>
              <a:latin typeface="Calibri" charset="0"/>
              <a:ea typeface="Calibri" charset="0"/>
              <a:cs typeface="Times New Roman" charset="0"/>
            </a:endParaRPr>
          </a:p>
          <a:p>
            <a:pPr marL="628650" lvl="1" indent="-171450">
              <a:spcAft>
                <a:spcPts val="0"/>
              </a:spcAft>
              <a:buFont typeface="Arial" charset="0"/>
              <a:buChar char="•"/>
            </a:pPr>
            <a:r>
              <a:rPr lang="hr-HR" sz="1200" dirty="0">
                <a:effectLst/>
                <a:latin typeface="Calibri" charset="0"/>
                <a:ea typeface="Calibri" charset="0"/>
                <a:cs typeface="Times New Roman" charset="0"/>
              </a:rPr>
              <a:t>Doprinijeti ujednačenom teritorijalnom gospodarskom razvoju osiguravanjem gradskih/općinskih predinkubacijskih podružnica i(ili) pametnih učionica s ciljem provođenja programa cjeloživotnog učenja/kreativnih poduzetničkih radionica u skladu s identificiranim potrebama lokalne zajednice,</a:t>
            </a:r>
            <a:endParaRPr lang="en-US" sz="1200" dirty="0">
              <a:effectLst/>
              <a:latin typeface="Calibri" charset="0"/>
              <a:ea typeface="Calibri" charset="0"/>
              <a:cs typeface="Times New Roman" charset="0"/>
            </a:endParaRPr>
          </a:p>
          <a:p>
            <a:pPr marL="628650" lvl="1" indent="-171450">
              <a:spcAft>
                <a:spcPts val="0"/>
              </a:spcAft>
              <a:buFont typeface="Arial" charset="0"/>
              <a:buChar char="•"/>
            </a:pPr>
            <a:r>
              <a:rPr lang="hr-HR" sz="1200" dirty="0">
                <a:effectLst/>
                <a:latin typeface="Calibri" charset="0"/>
                <a:ea typeface="Calibri" charset="0"/>
                <a:cs typeface="Times New Roman" charset="0"/>
              </a:rPr>
              <a:t>Omogućiti poduzetnicima, kreativcima, studentima i općenito zainteresiranoj javnosti predinkubacijski proces uz sustav podrške i mentoriranja s naglaskom na inovacije i pametne industrije, </a:t>
            </a:r>
            <a:endParaRPr lang="en-US" sz="1200" dirty="0">
              <a:effectLst/>
              <a:latin typeface="Calibri" charset="0"/>
              <a:ea typeface="Calibri" charset="0"/>
              <a:cs typeface="Times New Roman" charset="0"/>
            </a:endParaRPr>
          </a:p>
          <a:p>
            <a:pPr marL="628650" lvl="1" indent="-171450">
              <a:spcAft>
                <a:spcPts val="0"/>
              </a:spcAft>
              <a:buFont typeface="Arial" charset="0"/>
              <a:buChar char="•"/>
            </a:pPr>
            <a:r>
              <a:rPr lang="hr-HR" sz="1200" dirty="0">
                <a:effectLst/>
                <a:latin typeface="Calibri" charset="0"/>
                <a:ea typeface="Calibri" charset="0"/>
                <a:cs typeface="Times New Roman" charset="0"/>
              </a:rPr>
              <a:t>Osigurati stalnu točku za predstavljanje i razvoj novih poduzetničkih ideja u širem smislu</a:t>
            </a:r>
            <a:r>
              <a:rPr lang="hr-HR" sz="1200" dirty="0">
                <a:latin typeface="Calibri" charset="0"/>
                <a:ea typeface="Calibri" charset="0"/>
                <a:cs typeface="Times New Roman" charset="0"/>
              </a:rPr>
              <a:t>,</a:t>
            </a:r>
            <a:endParaRPr lang="hr-HR" sz="1200" dirty="0">
              <a:effectLst/>
              <a:latin typeface="Calibri" charset="0"/>
              <a:ea typeface="Calibri" charset="0"/>
              <a:cs typeface="Times New Roman" charset="0"/>
            </a:endParaRPr>
          </a:p>
          <a:p>
            <a:pPr marL="628650" lvl="1" indent="-171450">
              <a:spcAft>
                <a:spcPts val="0"/>
              </a:spcAft>
              <a:buFont typeface="Arial" charset="0"/>
              <a:buChar char="•"/>
            </a:pPr>
            <a:r>
              <a:rPr lang="hr-HR" sz="1200" dirty="0">
                <a:latin typeface="Calibri" charset="0"/>
                <a:ea typeface="Calibri" charset="0"/>
                <a:cs typeface="Times New Roman" charset="0"/>
              </a:rPr>
              <a:t>Osnažiti društvene inovacije i njihovu primjenu.</a:t>
            </a:r>
            <a:endParaRPr lang="en-US" sz="1200" dirty="0">
              <a:effectLst/>
              <a:latin typeface="Calibri" charset="0"/>
              <a:ea typeface="Calibri" charset="0"/>
              <a:cs typeface="Times New Roman" charset="0"/>
            </a:endParaRPr>
          </a:p>
        </p:txBody>
      </p:sp>
      <p:sp>
        <p:nvSpPr>
          <p:cNvPr id="10" name="Rectangle 9"/>
          <p:cNvSpPr/>
          <p:nvPr/>
        </p:nvSpPr>
        <p:spPr>
          <a:xfrm>
            <a:off x="5843240" y="2475560"/>
            <a:ext cx="4951140" cy="3785652"/>
          </a:xfrm>
          <a:prstGeom prst="rect">
            <a:avLst/>
          </a:prstGeom>
        </p:spPr>
        <p:txBody>
          <a:bodyPr wrap="square">
            <a:spAutoFit/>
          </a:bodyPr>
          <a:lstStyle/>
          <a:p>
            <a:pPr lvl="0">
              <a:spcAft>
                <a:spcPts val="0"/>
              </a:spcAft>
            </a:pPr>
            <a:r>
              <a:rPr lang="hr-HR" sz="1200" b="1" dirty="0">
                <a:effectLst/>
                <a:latin typeface="Calibri" charset="0"/>
                <a:ea typeface="Calibri" charset="0"/>
                <a:cs typeface="Times New Roman" charset="0"/>
              </a:rPr>
              <a:t>Edukacija i </a:t>
            </a:r>
            <a:r>
              <a:rPr lang="hr-HR" sz="1200" b="1" dirty="0" err="1">
                <a:effectLst/>
                <a:latin typeface="Calibri" charset="0"/>
                <a:ea typeface="Calibri" charset="0"/>
                <a:cs typeface="Times New Roman" charset="0"/>
              </a:rPr>
              <a:t>mentoriranje</a:t>
            </a:r>
            <a:r>
              <a:rPr lang="hr-HR" sz="1200" b="1" dirty="0">
                <a:effectLst/>
                <a:latin typeface="Calibri" charset="0"/>
                <a:ea typeface="Calibri" charset="0"/>
                <a:cs typeface="Times New Roman" charset="0"/>
              </a:rPr>
              <a:t>;</a:t>
            </a:r>
          </a:p>
          <a:p>
            <a:pPr lvl="0">
              <a:spcAft>
                <a:spcPts val="0"/>
              </a:spcAft>
            </a:pPr>
            <a:endParaRPr lang="en-US" sz="1200" dirty="0">
              <a:effectLst/>
              <a:latin typeface="Calibri" charset="0"/>
              <a:ea typeface="Calibri" charset="0"/>
              <a:cs typeface="Times New Roman" charset="0"/>
            </a:endParaRPr>
          </a:p>
          <a:p>
            <a:pPr marL="628650" lvl="1" indent="-171450">
              <a:spcAft>
                <a:spcPts val="0"/>
              </a:spcAft>
              <a:buFont typeface="Arial" charset="0"/>
              <a:buChar char="•"/>
            </a:pPr>
            <a:r>
              <a:rPr lang="hr-HR" sz="1200" dirty="0">
                <a:effectLst/>
                <a:latin typeface="Calibri" charset="0"/>
                <a:ea typeface="Calibri" charset="0"/>
                <a:cs typeface="Times New Roman" charset="0"/>
              </a:rPr>
              <a:t>Razviti i unaprijediti digitalna i poduzetnička znanja uz primjenu pametnih tehnologija, </a:t>
            </a:r>
          </a:p>
          <a:p>
            <a:pPr marL="628650" lvl="1" indent="-171450">
              <a:spcAft>
                <a:spcPts val="0"/>
              </a:spcAft>
              <a:buFont typeface="Arial" charset="0"/>
              <a:buChar char="•"/>
            </a:pPr>
            <a:r>
              <a:rPr lang="hr-HR" sz="1200" dirty="0">
                <a:effectLst/>
                <a:latin typeface="Calibri" charset="0"/>
                <a:ea typeface="Calibri" charset="0"/>
                <a:cs typeface="Times New Roman" charset="0"/>
              </a:rPr>
              <a:t>Razviti i unaprijediti programe cjeloživotnog učenja s ciljem razvoja znanja i vještina za radna mjesta budućnosti,</a:t>
            </a:r>
            <a:endParaRPr lang="en-US" sz="1200" dirty="0">
              <a:effectLst/>
              <a:latin typeface="Calibri" charset="0"/>
              <a:ea typeface="Calibri" charset="0"/>
              <a:cs typeface="Times New Roman" charset="0"/>
            </a:endParaRPr>
          </a:p>
          <a:p>
            <a:pPr marL="628650" lvl="1" indent="-171450">
              <a:spcAft>
                <a:spcPts val="0"/>
              </a:spcAft>
              <a:buFont typeface="Arial" charset="0"/>
              <a:buChar char="•"/>
            </a:pPr>
            <a:r>
              <a:rPr lang="hr-HR" sz="1200" dirty="0">
                <a:effectLst/>
                <a:latin typeface="Calibri" charset="0"/>
                <a:ea typeface="Calibri" charset="0"/>
                <a:cs typeface="Times New Roman" charset="0"/>
              </a:rPr>
              <a:t>Osnažiti transfer znanja i tehnologija između gospodarstva, znanosti i istraživačkog sektora,</a:t>
            </a:r>
            <a:endParaRPr lang="en-US" sz="1200" dirty="0">
              <a:effectLst/>
              <a:latin typeface="Calibri" charset="0"/>
              <a:ea typeface="Calibri" charset="0"/>
              <a:cs typeface="Times New Roman" charset="0"/>
            </a:endParaRPr>
          </a:p>
          <a:p>
            <a:pPr marL="628650" lvl="1" indent="-171450">
              <a:spcAft>
                <a:spcPts val="0"/>
              </a:spcAft>
              <a:buFont typeface="Arial" charset="0"/>
              <a:buChar char="•"/>
            </a:pPr>
            <a:r>
              <a:rPr lang="hr-HR" sz="1200" dirty="0">
                <a:effectLst/>
                <a:latin typeface="Calibri" charset="0"/>
                <a:ea typeface="Calibri" charset="0"/>
                <a:cs typeface="Times New Roman" charset="0"/>
              </a:rPr>
              <a:t>Poboljšati stvaranje, registriranje i unaprjeđenje intelektualnog vlasništva.</a:t>
            </a:r>
            <a:endParaRPr lang="en-US" sz="1200" dirty="0">
              <a:effectLst/>
              <a:latin typeface="Calibri" charset="0"/>
              <a:ea typeface="Calibri" charset="0"/>
              <a:cs typeface="Times New Roman" charset="0"/>
            </a:endParaRPr>
          </a:p>
          <a:p>
            <a:pPr lvl="0">
              <a:spcAft>
                <a:spcPts val="0"/>
              </a:spcAft>
            </a:pPr>
            <a:endParaRPr lang="hr-HR" sz="1200" b="1" dirty="0">
              <a:effectLst/>
              <a:latin typeface="Calibri" charset="0"/>
              <a:ea typeface="Calibri" charset="0"/>
              <a:cs typeface="Times New Roman" charset="0"/>
            </a:endParaRPr>
          </a:p>
          <a:p>
            <a:pPr lvl="0">
              <a:spcAft>
                <a:spcPts val="0"/>
              </a:spcAft>
            </a:pPr>
            <a:r>
              <a:rPr lang="hr-HR" sz="1200" b="1" dirty="0">
                <a:effectLst/>
                <a:latin typeface="Calibri" charset="0"/>
                <a:ea typeface="Calibri" charset="0"/>
                <a:cs typeface="Times New Roman" charset="0"/>
              </a:rPr>
              <a:t>Lokalna zajednica;</a:t>
            </a:r>
          </a:p>
          <a:p>
            <a:pPr lvl="0">
              <a:spcAft>
                <a:spcPts val="0"/>
              </a:spcAft>
            </a:pPr>
            <a:endParaRPr lang="en-US" sz="1200" dirty="0">
              <a:effectLst/>
              <a:latin typeface="Calibri" charset="0"/>
              <a:ea typeface="Calibri" charset="0"/>
              <a:cs typeface="Times New Roman" charset="0"/>
            </a:endParaRPr>
          </a:p>
          <a:p>
            <a:pPr marL="628650" lvl="1" indent="-171450">
              <a:buFont typeface="Arial" charset="0"/>
              <a:buChar char="•"/>
            </a:pPr>
            <a:r>
              <a:rPr lang="hr-HR" sz="1200" dirty="0">
                <a:effectLst/>
                <a:latin typeface="Calibri" charset="0"/>
                <a:ea typeface="Calibri" charset="0"/>
                <a:cs typeface="Times New Roman" charset="0"/>
              </a:rPr>
              <a:t>Ojačati institucionalne kapacitete obrazovnog sustava u regiji u skladu sa suvremenim trendovima u tehnologiji i gospodarstvu, </a:t>
            </a:r>
            <a:endParaRPr lang="en-US" sz="1200" dirty="0">
              <a:effectLst/>
              <a:latin typeface="Calibri" charset="0"/>
              <a:ea typeface="Calibri" charset="0"/>
              <a:cs typeface="Times New Roman" charset="0"/>
            </a:endParaRPr>
          </a:p>
          <a:p>
            <a:pPr marL="628650" lvl="1" indent="-171450">
              <a:buFont typeface="Arial" charset="0"/>
              <a:buChar char="•"/>
            </a:pPr>
            <a:r>
              <a:rPr lang="hr-HR" sz="1200" dirty="0">
                <a:effectLst/>
                <a:latin typeface="Calibri" charset="0"/>
                <a:ea typeface="Calibri" charset="0"/>
                <a:cs typeface="Times New Roman" charset="0"/>
              </a:rPr>
              <a:t>Osigurati prisutnost tvrtki i institucija utemeljenih na znanju i suvremenim trehnoogijama u regiji,</a:t>
            </a:r>
            <a:endParaRPr lang="en-US" sz="1200" dirty="0">
              <a:effectLst/>
              <a:latin typeface="Calibri" charset="0"/>
              <a:ea typeface="Calibri" charset="0"/>
              <a:cs typeface="Times New Roman" charset="0"/>
            </a:endParaRPr>
          </a:p>
          <a:p>
            <a:pPr marL="628650" lvl="1" indent="-171450">
              <a:buFont typeface="Arial" charset="0"/>
              <a:buChar char="•"/>
            </a:pPr>
            <a:r>
              <a:rPr lang="hr-HR" sz="1200" dirty="0">
                <a:effectLst/>
                <a:latin typeface="Calibri" charset="0"/>
                <a:ea typeface="Calibri" charset="0"/>
                <a:cs typeface="Times New Roman" charset="0"/>
              </a:rPr>
              <a:t>Osnažiti suradnju nacionalnih i međunarodnih sveučilišta, instituta, istraživačkih organizacija i lokalnog gospodarstva kroz vlastitu razvojnu platformu centra.</a:t>
            </a:r>
            <a:endParaRPr lang="en-US" sz="1200" dirty="0">
              <a:effectLst/>
              <a:latin typeface="Calibri" charset="0"/>
              <a:ea typeface="Calibri" charset="0"/>
              <a:cs typeface="Times New Roman" charset="0"/>
            </a:endParaRPr>
          </a:p>
        </p:txBody>
      </p:sp>
      <p:cxnSp>
        <p:nvCxnSpPr>
          <p:cNvPr id="12" name="Straight Connector 11"/>
          <p:cNvCxnSpPr/>
          <p:nvPr/>
        </p:nvCxnSpPr>
        <p:spPr>
          <a:xfrm flipV="1">
            <a:off x="469900" y="1991705"/>
            <a:ext cx="11252200" cy="42005"/>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13E6728B-B899-3FC5-AD1B-A91FB50C75AD}"/>
              </a:ext>
            </a:extLst>
          </p:cNvPr>
          <p:cNvGrpSpPr/>
          <p:nvPr/>
        </p:nvGrpSpPr>
        <p:grpSpPr>
          <a:xfrm>
            <a:off x="4986515" y="4831750"/>
            <a:ext cx="1390900" cy="1766793"/>
            <a:chOff x="4731358" y="948241"/>
            <a:chExt cx="3409950" cy="4643948"/>
          </a:xfrm>
        </p:grpSpPr>
        <p:sp>
          <p:nvSpPr>
            <p:cNvPr id="3" name="Freeform 239">
              <a:extLst>
                <a:ext uri="{FF2B5EF4-FFF2-40B4-BE49-F238E27FC236}">
                  <a16:creationId xmlns:a16="http://schemas.microsoft.com/office/drawing/2014/main" id="{193BA91A-7EC2-89ED-C9DD-56AD97477B84}"/>
                </a:ext>
              </a:extLst>
            </p:cNvPr>
            <p:cNvSpPr>
              <a:spLocks noEditPoints="1"/>
            </p:cNvSpPr>
            <p:nvPr/>
          </p:nvSpPr>
          <p:spPr bwMode="auto">
            <a:xfrm>
              <a:off x="6141058" y="2259119"/>
              <a:ext cx="2000250" cy="2000250"/>
            </a:xfrm>
            <a:custGeom>
              <a:avLst/>
              <a:gdLst>
                <a:gd name="T0" fmla="*/ 2116 w 2116"/>
                <a:gd name="T1" fmla="*/ 1052 h 2116"/>
                <a:gd name="T2" fmla="*/ 1925 w 2116"/>
                <a:gd name="T3" fmla="*/ 883 h 2116"/>
                <a:gd name="T4" fmla="*/ 2038 w 2116"/>
                <a:gd name="T5" fmla="*/ 652 h 2116"/>
                <a:gd name="T6" fmla="*/ 1795 w 2116"/>
                <a:gd name="T7" fmla="*/ 570 h 2116"/>
                <a:gd name="T8" fmla="*/ 1802 w 2116"/>
                <a:gd name="T9" fmla="*/ 305 h 2116"/>
                <a:gd name="T10" fmla="*/ 1548 w 2116"/>
                <a:gd name="T11" fmla="*/ 321 h 2116"/>
                <a:gd name="T12" fmla="*/ 1464 w 2116"/>
                <a:gd name="T13" fmla="*/ 80 h 2116"/>
                <a:gd name="T14" fmla="*/ 1234 w 2116"/>
                <a:gd name="T15" fmla="*/ 191 h 2116"/>
                <a:gd name="T16" fmla="*/ 1052 w 2116"/>
                <a:gd name="T17" fmla="*/ 0 h 2116"/>
                <a:gd name="T18" fmla="*/ 884 w 2116"/>
                <a:gd name="T19" fmla="*/ 191 h 2116"/>
                <a:gd name="T20" fmla="*/ 653 w 2116"/>
                <a:gd name="T21" fmla="*/ 78 h 2116"/>
                <a:gd name="T22" fmla="*/ 570 w 2116"/>
                <a:gd name="T23" fmla="*/ 321 h 2116"/>
                <a:gd name="T24" fmla="*/ 305 w 2116"/>
                <a:gd name="T25" fmla="*/ 314 h 2116"/>
                <a:gd name="T26" fmla="*/ 322 w 2116"/>
                <a:gd name="T27" fmla="*/ 568 h 2116"/>
                <a:gd name="T28" fmla="*/ 81 w 2116"/>
                <a:gd name="T29" fmla="*/ 652 h 2116"/>
                <a:gd name="T30" fmla="*/ 192 w 2116"/>
                <a:gd name="T31" fmla="*/ 882 h 2116"/>
                <a:gd name="T32" fmla="*/ 0 w 2116"/>
                <a:gd name="T33" fmla="*/ 1064 h 2116"/>
                <a:gd name="T34" fmla="*/ 191 w 2116"/>
                <a:gd name="T35" fmla="*/ 1233 h 2116"/>
                <a:gd name="T36" fmla="*/ 78 w 2116"/>
                <a:gd name="T37" fmla="*/ 1463 h 2116"/>
                <a:gd name="T38" fmla="*/ 321 w 2116"/>
                <a:gd name="T39" fmla="*/ 1546 h 2116"/>
                <a:gd name="T40" fmla="*/ 314 w 2116"/>
                <a:gd name="T41" fmla="*/ 1811 h 2116"/>
                <a:gd name="T42" fmla="*/ 569 w 2116"/>
                <a:gd name="T43" fmla="*/ 1794 h 2116"/>
                <a:gd name="T44" fmla="*/ 653 w 2116"/>
                <a:gd name="T45" fmla="*/ 2035 h 2116"/>
                <a:gd name="T46" fmla="*/ 882 w 2116"/>
                <a:gd name="T47" fmla="*/ 1925 h 2116"/>
                <a:gd name="T48" fmla="*/ 1064 w 2116"/>
                <a:gd name="T49" fmla="*/ 2116 h 2116"/>
                <a:gd name="T50" fmla="*/ 1233 w 2116"/>
                <a:gd name="T51" fmla="*/ 1925 h 2116"/>
                <a:gd name="T52" fmla="*/ 1464 w 2116"/>
                <a:gd name="T53" fmla="*/ 2038 h 2116"/>
                <a:gd name="T54" fmla="*/ 1546 w 2116"/>
                <a:gd name="T55" fmla="*/ 1795 h 2116"/>
                <a:gd name="T56" fmla="*/ 1811 w 2116"/>
                <a:gd name="T57" fmla="*/ 1802 h 2116"/>
                <a:gd name="T58" fmla="*/ 1795 w 2116"/>
                <a:gd name="T59" fmla="*/ 1547 h 2116"/>
                <a:gd name="T60" fmla="*/ 2036 w 2116"/>
                <a:gd name="T61" fmla="*/ 1463 h 2116"/>
                <a:gd name="T62" fmla="*/ 1925 w 2116"/>
                <a:gd name="T63" fmla="*/ 1234 h 2116"/>
                <a:gd name="T64" fmla="*/ 1358 w 2116"/>
                <a:gd name="T65" fmla="*/ 1669 h 2116"/>
                <a:gd name="T66" fmla="*/ 759 w 2116"/>
                <a:gd name="T67" fmla="*/ 447 h 2116"/>
                <a:gd name="T68" fmla="*/ 1358 w 2116"/>
                <a:gd name="T69" fmla="*/ 1669 h 2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16" h="2116">
                  <a:moveTo>
                    <a:pt x="1941" y="1111"/>
                  </a:moveTo>
                  <a:cubicBezTo>
                    <a:pt x="2116" y="1052"/>
                    <a:pt x="2116" y="1052"/>
                    <a:pt x="2116" y="1052"/>
                  </a:cubicBezTo>
                  <a:cubicBezTo>
                    <a:pt x="2107" y="917"/>
                    <a:pt x="2107" y="917"/>
                    <a:pt x="2107" y="917"/>
                  </a:cubicBezTo>
                  <a:cubicBezTo>
                    <a:pt x="1925" y="883"/>
                    <a:pt x="1925" y="883"/>
                    <a:pt x="1925" y="883"/>
                  </a:cubicBezTo>
                  <a:cubicBezTo>
                    <a:pt x="1918" y="847"/>
                    <a:pt x="1908" y="810"/>
                    <a:pt x="1896" y="774"/>
                  </a:cubicBezTo>
                  <a:cubicBezTo>
                    <a:pt x="2038" y="652"/>
                    <a:pt x="2038" y="652"/>
                    <a:pt x="2038" y="652"/>
                  </a:cubicBezTo>
                  <a:cubicBezTo>
                    <a:pt x="1979" y="532"/>
                    <a:pt x="1979" y="532"/>
                    <a:pt x="1979" y="532"/>
                  </a:cubicBezTo>
                  <a:cubicBezTo>
                    <a:pt x="1795" y="570"/>
                    <a:pt x="1795" y="570"/>
                    <a:pt x="1795" y="570"/>
                  </a:cubicBezTo>
                  <a:cubicBezTo>
                    <a:pt x="1772" y="535"/>
                    <a:pt x="1747" y="502"/>
                    <a:pt x="1720" y="471"/>
                  </a:cubicBezTo>
                  <a:cubicBezTo>
                    <a:pt x="1802" y="305"/>
                    <a:pt x="1802" y="305"/>
                    <a:pt x="1802" y="305"/>
                  </a:cubicBezTo>
                  <a:cubicBezTo>
                    <a:pt x="1700" y="217"/>
                    <a:pt x="1700" y="217"/>
                    <a:pt x="1700" y="217"/>
                  </a:cubicBezTo>
                  <a:cubicBezTo>
                    <a:pt x="1548" y="321"/>
                    <a:pt x="1548" y="321"/>
                    <a:pt x="1548" y="321"/>
                  </a:cubicBezTo>
                  <a:cubicBezTo>
                    <a:pt x="1516" y="301"/>
                    <a:pt x="1483" y="282"/>
                    <a:pt x="1450" y="265"/>
                  </a:cubicBezTo>
                  <a:cubicBezTo>
                    <a:pt x="1464" y="80"/>
                    <a:pt x="1464" y="80"/>
                    <a:pt x="1464" y="80"/>
                  </a:cubicBezTo>
                  <a:cubicBezTo>
                    <a:pt x="1336" y="37"/>
                    <a:pt x="1336" y="37"/>
                    <a:pt x="1336" y="37"/>
                  </a:cubicBezTo>
                  <a:cubicBezTo>
                    <a:pt x="1234" y="191"/>
                    <a:pt x="1234" y="191"/>
                    <a:pt x="1234" y="191"/>
                  </a:cubicBezTo>
                  <a:cubicBezTo>
                    <a:pt x="1194" y="183"/>
                    <a:pt x="1152" y="178"/>
                    <a:pt x="1111" y="175"/>
                  </a:cubicBezTo>
                  <a:cubicBezTo>
                    <a:pt x="1052" y="0"/>
                    <a:pt x="1052" y="0"/>
                    <a:pt x="1052" y="0"/>
                  </a:cubicBezTo>
                  <a:cubicBezTo>
                    <a:pt x="918" y="9"/>
                    <a:pt x="918" y="9"/>
                    <a:pt x="918" y="9"/>
                  </a:cubicBezTo>
                  <a:cubicBezTo>
                    <a:pt x="884" y="191"/>
                    <a:pt x="884" y="191"/>
                    <a:pt x="884" y="191"/>
                  </a:cubicBezTo>
                  <a:cubicBezTo>
                    <a:pt x="847" y="198"/>
                    <a:pt x="810" y="208"/>
                    <a:pt x="774" y="220"/>
                  </a:cubicBezTo>
                  <a:cubicBezTo>
                    <a:pt x="653" y="78"/>
                    <a:pt x="653" y="78"/>
                    <a:pt x="653" y="78"/>
                  </a:cubicBezTo>
                  <a:cubicBezTo>
                    <a:pt x="532" y="137"/>
                    <a:pt x="532" y="137"/>
                    <a:pt x="532" y="137"/>
                  </a:cubicBezTo>
                  <a:cubicBezTo>
                    <a:pt x="570" y="321"/>
                    <a:pt x="570" y="321"/>
                    <a:pt x="570" y="321"/>
                  </a:cubicBezTo>
                  <a:cubicBezTo>
                    <a:pt x="535" y="344"/>
                    <a:pt x="502" y="369"/>
                    <a:pt x="471" y="396"/>
                  </a:cubicBezTo>
                  <a:cubicBezTo>
                    <a:pt x="305" y="314"/>
                    <a:pt x="305" y="314"/>
                    <a:pt x="305" y="314"/>
                  </a:cubicBezTo>
                  <a:cubicBezTo>
                    <a:pt x="217" y="416"/>
                    <a:pt x="217" y="416"/>
                    <a:pt x="217" y="416"/>
                  </a:cubicBezTo>
                  <a:cubicBezTo>
                    <a:pt x="322" y="568"/>
                    <a:pt x="322" y="568"/>
                    <a:pt x="322" y="568"/>
                  </a:cubicBezTo>
                  <a:cubicBezTo>
                    <a:pt x="301" y="600"/>
                    <a:pt x="282" y="633"/>
                    <a:pt x="265" y="666"/>
                  </a:cubicBezTo>
                  <a:cubicBezTo>
                    <a:pt x="81" y="652"/>
                    <a:pt x="81" y="652"/>
                    <a:pt x="81" y="652"/>
                  </a:cubicBezTo>
                  <a:cubicBezTo>
                    <a:pt x="37" y="780"/>
                    <a:pt x="37" y="780"/>
                    <a:pt x="37" y="780"/>
                  </a:cubicBezTo>
                  <a:cubicBezTo>
                    <a:pt x="192" y="882"/>
                    <a:pt x="192" y="882"/>
                    <a:pt x="192" y="882"/>
                  </a:cubicBezTo>
                  <a:cubicBezTo>
                    <a:pt x="183" y="923"/>
                    <a:pt x="178" y="964"/>
                    <a:pt x="175" y="1005"/>
                  </a:cubicBezTo>
                  <a:cubicBezTo>
                    <a:pt x="0" y="1064"/>
                    <a:pt x="0" y="1064"/>
                    <a:pt x="0" y="1064"/>
                  </a:cubicBezTo>
                  <a:cubicBezTo>
                    <a:pt x="9" y="1198"/>
                    <a:pt x="9" y="1198"/>
                    <a:pt x="9" y="1198"/>
                  </a:cubicBezTo>
                  <a:cubicBezTo>
                    <a:pt x="191" y="1233"/>
                    <a:pt x="191" y="1233"/>
                    <a:pt x="191" y="1233"/>
                  </a:cubicBezTo>
                  <a:cubicBezTo>
                    <a:pt x="199" y="1269"/>
                    <a:pt x="208" y="1306"/>
                    <a:pt x="221" y="1342"/>
                  </a:cubicBezTo>
                  <a:cubicBezTo>
                    <a:pt x="78" y="1463"/>
                    <a:pt x="78" y="1463"/>
                    <a:pt x="78" y="1463"/>
                  </a:cubicBezTo>
                  <a:cubicBezTo>
                    <a:pt x="138" y="1584"/>
                    <a:pt x="138" y="1584"/>
                    <a:pt x="138" y="1584"/>
                  </a:cubicBezTo>
                  <a:cubicBezTo>
                    <a:pt x="321" y="1546"/>
                    <a:pt x="321" y="1546"/>
                    <a:pt x="321" y="1546"/>
                  </a:cubicBezTo>
                  <a:cubicBezTo>
                    <a:pt x="344" y="1581"/>
                    <a:pt x="369" y="1614"/>
                    <a:pt x="397" y="1645"/>
                  </a:cubicBezTo>
                  <a:cubicBezTo>
                    <a:pt x="314" y="1811"/>
                    <a:pt x="314" y="1811"/>
                    <a:pt x="314" y="1811"/>
                  </a:cubicBezTo>
                  <a:cubicBezTo>
                    <a:pt x="416" y="1899"/>
                    <a:pt x="416" y="1899"/>
                    <a:pt x="416" y="1899"/>
                  </a:cubicBezTo>
                  <a:cubicBezTo>
                    <a:pt x="569" y="1794"/>
                    <a:pt x="569" y="1794"/>
                    <a:pt x="569" y="1794"/>
                  </a:cubicBezTo>
                  <a:cubicBezTo>
                    <a:pt x="600" y="1815"/>
                    <a:pt x="633" y="1834"/>
                    <a:pt x="667" y="1851"/>
                  </a:cubicBezTo>
                  <a:cubicBezTo>
                    <a:pt x="653" y="2035"/>
                    <a:pt x="653" y="2035"/>
                    <a:pt x="653" y="2035"/>
                  </a:cubicBezTo>
                  <a:cubicBezTo>
                    <a:pt x="780" y="2079"/>
                    <a:pt x="780" y="2079"/>
                    <a:pt x="780" y="2079"/>
                  </a:cubicBezTo>
                  <a:cubicBezTo>
                    <a:pt x="882" y="1925"/>
                    <a:pt x="882" y="1925"/>
                    <a:pt x="882" y="1925"/>
                  </a:cubicBezTo>
                  <a:cubicBezTo>
                    <a:pt x="923" y="1933"/>
                    <a:pt x="964" y="1938"/>
                    <a:pt x="1005" y="1941"/>
                  </a:cubicBezTo>
                  <a:cubicBezTo>
                    <a:pt x="1064" y="2116"/>
                    <a:pt x="1064" y="2116"/>
                    <a:pt x="1064" y="2116"/>
                  </a:cubicBezTo>
                  <a:cubicBezTo>
                    <a:pt x="1199" y="2107"/>
                    <a:pt x="1199" y="2107"/>
                    <a:pt x="1199" y="2107"/>
                  </a:cubicBezTo>
                  <a:cubicBezTo>
                    <a:pt x="1233" y="1925"/>
                    <a:pt x="1233" y="1925"/>
                    <a:pt x="1233" y="1925"/>
                  </a:cubicBezTo>
                  <a:cubicBezTo>
                    <a:pt x="1269" y="1918"/>
                    <a:pt x="1306" y="1908"/>
                    <a:pt x="1342" y="1896"/>
                  </a:cubicBezTo>
                  <a:cubicBezTo>
                    <a:pt x="1464" y="2038"/>
                    <a:pt x="1464" y="2038"/>
                    <a:pt x="1464" y="2038"/>
                  </a:cubicBezTo>
                  <a:cubicBezTo>
                    <a:pt x="1584" y="1979"/>
                    <a:pt x="1584" y="1979"/>
                    <a:pt x="1584" y="1979"/>
                  </a:cubicBezTo>
                  <a:cubicBezTo>
                    <a:pt x="1546" y="1795"/>
                    <a:pt x="1546" y="1795"/>
                    <a:pt x="1546" y="1795"/>
                  </a:cubicBezTo>
                  <a:cubicBezTo>
                    <a:pt x="1581" y="1772"/>
                    <a:pt x="1614" y="1747"/>
                    <a:pt x="1645" y="1719"/>
                  </a:cubicBezTo>
                  <a:cubicBezTo>
                    <a:pt x="1811" y="1802"/>
                    <a:pt x="1811" y="1802"/>
                    <a:pt x="1811" y="1802"/>
                  </a:cubicBezTo>
                  <a:cubicBezTo>
                    <a:pt x="1899" y="1700"/>
                    <a:pt x="1899" y="1700"/>
                    <a:pt x="1899" y="1700"/>
                  </a:cubicBezTo>
                  <a:cubicBezTo>
                    <a:pt x="1795" y="1547"/>
                    <a:pt x="1795" y="1547"/>
                    <a:pt x="1795" y="1547"/>
                  </a:cubicBezTo>
                  <a:cubicBezTo>
                    <a:pt x="1816" y="1516"/>
                    <a:pt x="1834" y="1483"/>
                    <a:pt x="1851" y="1450"/>
                  </a:cubicBezTo>
                  <a:cubicBezTo>
                    <a:pt x="2036" y="1463"/>
                    <a:pt x="2036" y="1463"/>
                    <a:pt x="2036" y="1463"/>
                  </a:cubicBezTo>
                  <a:cubicBezTo>
                    <a:pt x="2079" y="1336"/>
                    <a:pt x="2079" y="1336"/>
                    <a:pt x="2079" y="1336"/>
                  </a:cubicBezTo>
                  <a:cubicBezTo>
                    <a:pt x="1925" y="1234"/>
                    <a:pt x="1925" y="1234"/>
                    <a:pt x="1925" y="1234"/>
                  </a:cubicBezTo>
                  <a:cubicBezTo>
                    <a:pt x="1933" y="1193"/>
                    <a:pt x="1938" y="1152"/>
                    <a:pt x="1941" y="1111"/>
                  </a:cubicBezTo>
                  <a:close/>
                  <a:moveTo>
                    <a:pt x="1358" y="1669"/>
                  </a:moveTo>
                  <a:cubicBezTo>
                    <a:pt x="1020" y="1834"/>
                    <a:pt x="613" y="1695"/>
                    <a:pt x="447" y="1357"/>
                  </a:cubicBezTo>
                  <a:cubicBezTo>
                    <a:pt x="282" y="1020"/>
                    <a:pt x="421" y="613"/>
                    <a:pt x="759" y="447"/>
                  </a:cubicBezTo>
                  <a:cubicBezTo>
                    <a:pt x="1096" y="282"/>
                    <a:pt x="1504" y="421"/>
                    <a:pt x="1669" y="759"/>
                  </a:cubicBezTo>
                  <a:cubicBezTo>
                    <a:pt x="1834" y="1096"/>
                    <a:pt x="1695" y="1503"/>
                    <a:pt x="1358" y="1669"/>
                  </a:cubicBezTo>
                  <a:close/>
                </a:path>
              </a:pathLst>
            </a:custGeom>
            <a:solidFill>
              <a:srgbClr val="F6AC19"/>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7" name="Freeform 240">
              <a:extLst>
                <a:ext uri="{FF2B5EF4-FFF2-40B4-BE49-F238E27FC236}">
                  <a16:creationId xmlns:a16="http://schemas.microsoft.com/office/drawing/2014/main" id="{546498E2-2165-6086-2BC9-74EAD5FA86FC}"/>
                </a:ext>
              </a:extLst>
            </p:cNvPr>
            <p:cNvSpPr>
              <a:spLocks noEditPoints="1"/>
            </p:cNvSpPr>
            <p:nvPr/>
          </p:nvSpPr>
          <p:spPr bwMode="auto">
            <a:xfrm>
              <a:off x="4731358" y="1519741"/>
              <a:ext cx="1739504" cy="1739503"/>
            </a:xfrm>
            <a:custGeom>
              <a:avLst/>
              <a:gdLst>
                <a:gd name="T0" fmla="*/ 1840 w 1840"/>
                <a:gd name="T1" fmla="*/ 964 h 1840"/>
                <a:gd name="T2" fmla="*/ 1682 w 1840"/>
                <a:gd name="T3" fmla="*/ 808 h 1840"/>
                <a:gd name="T4" fmla="*/ 1791 w 1840"/>
                <a:gd name="T5" fmla="*/ 614 h 1840"/>
                <a:gd name="T6" fmla="*/ 1578 w 1840"/>
                <a:gd name="T7" fmla="*/ 521 h 1840"/>
                <a:gd name="T8" fmla="*/ 1602 w 1840"/>
                <a:gd name="T9" fmla="*/ 301 h 1840"/>
                <a:gd name="T10" fmla="*/ 1379 w 1840"/>
                <a:gd name="T11" fmla="*/ 303 h 1840"/>
                <a:gd name="T12" fmla="*/ 1318 w 1840"/>
                <a:gd name="T13" fmla="*/ 90 h 1840"/>
                <a:gd name="T14" fmla="*/ 1103 w 1840"/>
                <a:gd name="T15" fmla="*/ 173 h 1840"/>
                <a:gd name="T16" fmla="*/ 964 w 1840"/>
                <a:gd name="T17" fmla="*/ 0 h 1840"/>
                <a:gd name="T18" fmla="*/ 808 w 1840"/>
                <a:gd name="T19" fmla="*/ 159 h 1840"/>
                <a:gd name="T20" fmla="*/ 613 w 1840"/>
                <a:gd name="T21" fmla="*/ 49 h 1840"/>
                <a:gd name="T22" fmla="*/ 521 w 1840"/>
                <a:gd name="T23" fmla="*/ 262 h 1840"/>
                <a:gd name="T24" fmla="*/ 301 w 1840"/>
                <a:gd name="T25" fmla="*/ 239 h 1840"/>
                <a:gd name="T26" fmla="*/ 303 w 1840"/>
                <a:gd name="T27" fmla="*/ 461 h 1840"/>
                <a:gd name="T28" fmla="*/ 89 w 1840"/>
                <a:gd name="T29" fmla="*/ 522 h 1840"/>
                <a:gd name="T30" fmla="*/ 173 w 1840"/>
                <a:gd name="T31" fmla="*/ 737 h 1840"/>
                <a:gd name="T32" fmla="*/ 0 w 1840"/>
                <a:gd name="T33" fmla="*/ 877 h 1840"/>
                <a:gd name="T34" fmla="*/ 159 w 1840"/>
                <a:gd name="T35" fmla="*/ 1032 h 1840"/>
                <a:gd name="T36" fmla="*/ 49 w 1840"/>
                <a:gd name="T37" fmla="*/ 1227 h 1840"/>
                <a:gd name="T38" fmla="*/ 262 w 1840"/>
                <a:gd name="T39" fmla="*/ 1320 h 1840"/>
                <a:gd name="T40" fmla="*/ 239 w 1840"/>
                <a:gd name="T41" fmla="*/ 1540 h 1840"/>
                <a:gd name="T42" fmla="*/ 461 w 1840"/>
                <a:gd name="T43" fmla="*/ 1538 h 1840"/>
                <a:gd name="T44" fmla="*/ 522 w 1840"/>
                <a:gd name="T45" fmla="*/ 1751 h 1840"/>
                <a:gd name="T46" fmla="*/ 737 w 1840"/>
                <a:gd name="T47" fmla="*/ 1668 h 1840"/>
                <a:gd name="T48" fmla="*/ 876 w 1840"/>
                <a:gd name="T49" fmla="*/ 1840 h 1840"/>
                <a:gd name="T50" fmla="*/ 1032 w 1840"/>
                <a:gd name="T51" fmla="*/ 1682 h 1840"/>
                <a:gd name="T52" fmla="*/ 1227 w 1840"/>
                <a:gd name="T53" fmla="*/ 1791 h 1840"/>
                <a:gd name="T54" fmla="*/ 1319 w 1840"/>
                <a:gd name="T55" fmla="*/ 1579 h 1840"/>
                <a:gd name="T56" fmla="*/ 1540 w 1840"/>
                <a:gd name="T57" fmla="*/ 1602 h 1840"/>
                <a:gd name="T58" fmla="*/ 1538 w 1840"/>
                <a:gd name="T59" fmla="*/ 1380 h 1840"/>
                <a:gd name="T60" fmla="*/ 1751 w 1840"/>
                <a:gd name="T61" fmla="*/ 1318 h 1840"/>
                <a:gd name="T62" fmla="*/ 1668 w 1840"/>
                <a:gd name="T63" fmla="*/ 1104 h 1840"/>
                <a:gd name="T64" fmla="*/ 1081 w 1840"/>
                <a:gd name="T65" fmla="*/ 1490 h 1840"/>
                <a:gd name="T66" fmla="*/ 759 w 1840"/>
                <a:gd name="T67" fmla="*/ 351 h 1840"/>
                <a:gd name="T68" fmla="*/ 1081 w 1840"/>
                <a:gd name="T69" fmla="*/ 1490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40" h="1840">
                  <a:moveTo>
                    <a:pt x="1827" y="1080"/>
                  </a:moveTo>
                  <a:cubicBezTo>
                    <a:pt x="1840" y="964"/>
                    <a:pt x="1840" y="964"/>
                    <a:pt x="1840" y="964"/>
                  </a:cubicBezTo>
                  <a:cubicBezTo>
                    <a:pt x="1690" y="906"/>
                    <a:pt x="1690" y="906"/>
                    <a:pt x="1690" y="906"/>
                  </a:cubicBezTo>
                  <a:cubicBezTo>
                    <a:pt x="1689" y="874"/>
                    <a:pt x="1687" y="841"/>
                    <a:pt x="1682" y="808"/>
                  </a:cubicBezTo>
                  <a:cubicBezTo>
                    <a:pt x="1823" y="726"/>
                    <a:pt x="1823" y="726"/>
                    <a:pt x="1823" y="726"/>
                  </a:cubicBezTo>
                  <a:cubicBezTo>
                    <a:pt x="1791" y="614"/>
                    <a:pt x="1791" y="614"/>
                    <a:pt x="1791" y="614"/>
                  </a:cubicBezTo>
                  <a:cubicBezTo>
                    <a:pt x="1628" y="618"/>
                    <a:pt x="1628" y="618"/>
                    <a:pt x="1628" y="618"/>
                  </a:cubicBezTo>
                  <a:cubicBezTo>
                    <a:pt x="1614" y="584"/>
                    <a:pt x="1597" y="552"/>
                    <a:pt x="1578" y="521"/>
                  </a:cubicBezTo>
                  <a:cubicBezTo>
                    <a:pt x="1675" y="392"/>
                    <a:pt x="1675" y="392"/>
                    <a:pt x="1675" y="392"/>
                  </a:cubicBezTo>
                  <a:cubicBezTo>
                    <a:pt x="1602" y="301"/>
                    <a:pt x="1602" y="301"/>
                    <a:pt x="1602" y="301"/>
                  </a:cubicBezTo>
                  <a:cubicBezTo>
                    <a:pt x="1455" y="366"/>
                    <a:pt x="1455" y="366"/>
                    <a:pt x="1455" y="366"/>
                  </a:cubicBezTo>
                  <a:cubicBezTo>
                    <a:pt x="1431" y="344"/>
                    <a:pt x="1406" y="322"/>
                    <a:pt x="1379" y="303"/>
                  </a:cubicBezTo>
                  <a:cubicBezTo>
                    <a:pt x="1420" y="147"/>
                    <a:pt x="1420" y="147"/>
                    <a:pt x="1420" y="147"/>
                  </a:cubicBezTo>
                  <a:cubicBezTo>
                    <a:pt x="1318" y="90"/>
                    <a:pt x="1318" y="90"/>
                    <a:pt x="1318" y="90"/>
                  </a:cubicBezTo>
                  <a:cubicBezTo>
                    <a:pt x="1206" y="206"/>
                    <a:pt x="1206" y="206"/>
                    <a:pt x="1206" y="206"/>
                  </a:cubicBezTo>
                  <a:cubicBezTo>
                    <a:pt x="1173" y="193"/>
                    <a:pt x="1139" y="181"/>
                    <a:pt x="1103" y="173"/>
                  </a:cubicBezTo>
                  <a:cubicBezTo>
                    <a:pt x="1080" y="13"/>
                    <a:pt x="1080" y="13"/>
                    <a:pt x="1080" y="13"/>
                  </a:cubicBezTo>
                  <a:cubicBezTo>
                    <a:pt x="964" y="0"/>
                    <a:pt x="964" y="0"/>
                    <a:pt x="964" y="0"/>
                  </a:cubicBezTo>
                  <a:cubicBezTo>
                    <a:pt x="906" y="151"/>
                    <a:pt x="906" y="151"/>
                    <a:pt x="906" y="151"/>
                  </a:cubicBezTo>
                  <a:cubicBezTo>
                    <a:pt x="874" y="151"/>
                    <a:pt x="841" y="154"/>
                    <a:pt x="808" y="159"/>
                  </a:cubicBezTo>
                  <a:cubicBezTo>
                    <a:pt x="726" y="17"/>
                    <a:pt x="726" y="17"/>
                    <a:pt x="726" y="17"/>
                  </a:cubicBezTo>
                  <a:cubicBezTo>
                    <a:pt x="613" y="49"/>
                    <a:pt x="613" y="49"/>
                    <a:pt x="613" y="49"/>
                  </a:cubicBezTo>
                  <a:cubicBezTo>
                    <a:pt x="617" y="213"/>
                    <a:pt x="617" y="213"/>
                    <a:pt x="617" y="213"/>
                  </a:cubicBezTo>
                  <a:cubicBezTo>
                    <a:pt x="584" y="227"/>
                    <a:pt x="552" y="244"/>
                    <a:pt x="521" y="262"/>
                  </a:cubicBezTo>
                  <a:cubicBezTo>
                    <a:pt x="392" y="166"/>
                    <a:pt x="392" y="166"/>
                    <a:pt x="392" y="166"/>
                  </a:cubicBezTo>
                  <a:cubicBezTo>
                    <a:pt x="301" y="239"/>
                    <a:pt x="301" y="239"/>
                    <a:pt x="301" y="239"/>
                  </a:cubicBezTo>
                  <a:cubicBezTo>
                    <a:pt x="366" y="386"/>
                    <a:pt x="366" y="386"/>
                    <a:pt x="366" y="386"/>
                  </a:cubicBezTo>
                  <a:cubicBezTo>
                    <a:pt x="343" y="410"/>
                    <a:pt x="322" y="435"/>
                    <a:pt x="303" y="461"/>
                  </a:cubicBezTo>
                  <a:cubicBezTo>
                    <a:pt x="147" y="420"/>
                    <a:pt x="147" y="420"/>
                    <a:pt x="147" y="420"/>
                  </a:cubicBezTo>
                  <a:cubicBezTo>
                    <a:pt x="89" y="522"/>
                    <a:pt x="89" y="522"/>
                    <a:pt x="89" y="522"/>
                  </a:cubicBezTo>
                  <a:cubicBezTo>
                    <a:pt x="206" y="634"/>
                    <a:pt x="206" y="634"/>
                    <a:pt x="206" y="634"/>
                  </a:cubicBezTo>
                  <a:cubicBezTo>
                    <a:pt x="192" y="668"/>
                    <a:pt x="181" y="702"/>
                    <a:pt x="173" y="737"/>
                  </a:cubicBezTo>
                  <a:cubicBezTo>
                    <a:pt x="13" y="760"/>
                    <a:pt x="13" y="760"/>
                    <a:pt x="13" y="760"/>
                  </a:cubicBezTo>
                  <a:cubicBezTo>
                    <a:pt x="0" y="877"/>
                    <a:pt x="0" y="877"/>
                    <a:pt x="0" y="877"/>
                  </a:cubicBezTo>
                  <a:cubicBezTo>
                    <a:pt x="151" y="934"/>
                    <a:pt x="151" y="934"/>
                    <a:pt x="151" y="934"/>
                  </a:cubicBezTo>
                  <a:cubicBezTo>
                    <a:pt x="151" y="967"/>
                    <a:pt x="154" y="1000"/>
                    <a:pt x="159" y="1032"/>
                  </a:cubicBezTo>
                  <a:cubicBezTo>
                    <a:pt x="17" y="1115"/>
                    <a:pt x="17" y="1115"/>
                    <a:pt x="17" y="1115"/>
                  </a:cubicBezTo>
                  <a:cubicBezTo>
                    <a:pt x="49" y="1227"/>
                    <a:pt x="49" y="1227"/>
                    <a:pt x="49" y="1227"/>
                  </a:cubicBezTo>
                  <a:cubicBezTo>
                    <a:pt x="212" y="1223"/>
                    <a:pt x="212" y="1223"/>
                    <a:pt x="212" y="1223"/>
                  </a:cubicBezTo>
                  <a:cubicBezTo>
                    <a:pt x="227" y="1257"/>
                    <a:pt x="243" y="1289"/>
                    <a:pt x="262" y="1320"/>
                  </a:cubicBezTo>
                  <a:cubicBezTo>
                    <a:pt x="166" y="1449"/>
                    <a:pt x="166" y="1449"/>
                    <a:pt x="166" y="1449"/>
                  </a:cubicBezTo>
                  <a:cubicBezTo>
                    <a:pt x="239" y="1540"/>
                    <a:pt x="239" y="1540"/>
                    <a:pt x="239" y="1540"/>
                  </a:cubicBezTo>
                  <a:cubicBezTo>
                    <a:pt x="386" y="1474"/>
                    <a:pt x="386" y="1474"/>
                    <a:pt x="386" y="1474"/>
                  </a:cubicBezTo>
                  <a:cubicBezTo>
                    <a:pt x="410" y="1497"/>
                    <a:pt x="435" y="1518"/>
                    <a:pt x="461" y="1538"/>
                  </a:cubicBezTo>
                  <a:cubicBezTo>
                    <a:pt x="420" y="1694"/>
                    <a:pt x="420" y="1694"/>
                    <a:pt x="420" y="1694"/>
                  </a:cubicBezTo>
                  <a:cubicBezTo>
                    <a:pt x="522" y="1751"/>
                    <a:pt x="522" y="1751"/>
                    <a:pt x="522" y="1751"/>
                  </a:cubicBezTo>
                  <a:cubicBezTo>
                    <a:pt x="634" y="1635"/>
                    <a:pt x="634" y="1635"/>
                    <a:pt x="634" y="1635"/>
                  </a:cubicBezTo>
                  <a:cubicBezTo>
                    <a:pt x="667" y="1648"/>
                    <a:pt x="702" y="1659"/>
                    <a:pt x="737" y="1668"/>
                  </a:cubicBezTo>
                  <a:cubicBezTo>
                    <a:pt x="760" y="1827"/>
                    <a:pt x="760" y="1827"/>
                    <a:pt x="760" y="1827"/>
                  </a:cubicBezTo>
                  <a:cubicBezTo>
                    <a:pt x="876" y="1840"/>
                    <a:pt x="876" y="1840"/>
                    <a:pt x="876" y="1840"/>
                  </a:cubicBezTo>
                  <a:cubicBezTo>
                    <a:pt x="934" y="1690"/>
                    <a:pt x="934" y="1690"/>
                    <a:pt x="934" y="1690"/>
                  </a:cubicBezTo>
                  <a:cubicBezTo>
                    <a:pt x="967" y="1689"/>
                    <a:pt x="1000" y="1687"/>
                    <a:pt x="1032" y="1682"/>
                  </a:cubicBezTo>
                  <a:cubicBezTo>
                    <a:pt x="1114" y="1823"/>
                    <a:pt x="1114" y="1823"/>
                    <a:pt x="1114" y="1823"/>
                  </a:cubicBezTo>
                  <a:cubicBezTo>
                    <a:pt x="1227" y="1791"/>
                    <a:pt x="1227" y="1791"/>
                    <a:pt x="1227" y="1791"/>
                  </a:cubicBezTo>
                  <a:cubicBezTo>
                    <a:pt x="1223" y="1628"/>
                    <a:pt x="1223" y="1628"/>
                    <a:pt x="1223" y="1628"/>
                  </a:cubicBezTo>
                  <a:cubicBezTo>
                    <a:pt x="1256" y="1614"/>
                    <a:pt x="1289" y="1597"/>
                    <a:pt x="1319" y="1579"/>
                  </a:cubicBezTo>
                  <a:cubicBezTo>
                    <a:pt x="1448" y="1675"/>
                    <a:pt x="1448" y="1675"/>
                    <a:pt x="1448" y="1675"/>
                  </a:cubicBezTo>
                  <a:cubicBezTo>
                    <a:pt x="1540" y="1602"/>
                    <a:pt x="1540" y="1602"/>
                    <a:pt x="1540" y="1602"/>
                  </a:cubicBezTo>
                  <a:cubicBezTo>
                    <a:pt x="1474" y="1455"/>
                    <a:pt x="1474" y="1455"/>
                    <a:pt x="1474" y="1455"/>
                  </a:cubicBezTo>
                  <a:cubicBezTo>
                    <a:pt x="1497" y="1431"/>
                    <a:pt x="1518" y="1406"/>
                    <a:pt x="1538" y="1380"/>
                  </a:cubicBezTo>
                  <a:cubicBezTo>
                    <a:pt x="1694" y="1420"/>
                    <a:pt x="1694" y="1420"/>
                    <a:pt x="1694" y="1420"/>
                  </a:cubicBezTo>
                  <a:cubicBezTo>
                    <a:pt x="1751" y="1318"/>
                    <a:pt x="1751" y="1318"/>
                    <a:pt x="1751" y="1318"/>
                  </a:cubicBezTo>
                  <a:cubicBezTo>
                    <a:pt x="1635" y="1207"/>
                    <a:pt x="1635" y="1207"/>
                    <a:pt x="1635" y="1207"/>
                  </a:cubicBezTo>
                  <a:cubicBezTo>
                    <a:pt x="1648" y="1173"/>
                    <a:pt x="1659" y="1139"/>
                    <a:pt x="1668" y="1104"/>
                  </a:cubicBezTo>
                  <a:lnTo>
                    <a:pt x="1827" y="1080"/>
                  </a:lnTo>
                  <a:close/>
                  <a:moveTo>
                    <a:pt x="1081" y="1490"/>
                  </a:moveTo>
                  <a:cubicBezTo>
                    <a:pt x="766" y="1579"/>
                    <a:pt x="439" y="1396"/>
                    <a:pt x="350" y="1081"/>
                  </a:cubicBezTo>
                  <a:cubicBezTo>
                    <a:pt x="262" y="767"/>
                    <a:pt x="445" y="439"/>
                    <a:pt x="759" y="351"/>
                  </a:cubicBezTo>
                  <a:cubicBezTo>
                    <a:pt x="1074" y="262"/>
                    <a:pt x="1401" y="445"/>
                    <a:pt x="1490" y="760"/>
                  </a:cubicBezTo>
                  <a:cubicBezTo>
                    <a:pt x="1579" y="1074"/>
                    <a:pt x="1396" y="1401"/>
                    <a:pt x="1081" y="1490"/>
                  </a:cubicBezTo>
                  <a:close/>
                </a:path>
              </a:pathLst>
            </a:custGeom>
            <a:solidFill>
              <a:srgbClr val="F6AC19"/>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3" name="Freeform 241">
              <a:extLst>
                <a:ext uri="{FF2B5EF4-FFF2-40B4-BE49-F238E27FC236}">
                  <a16:creationId xmlns:a16="http://schemas.microsoft.com/office/drawing/2014/main" id="{77C7A6D5-CB97-3E10-47A9-659086899618}"/>
                </a:ext>
              </a:extLst>
            </p:cNvPr>
            <p:cNvSpPr>
              <a:spLocks noEditPoints="1"/>
            </p:cNvSpPr>
            <p:nvPr/>
          </p:nvSpPr>
          <p:spPr bwMode="auto">
            <a:xfrm>
              <a:off x="6179158" y="948241"/>
              <a:ext cx="1262063" cy="1262063"/>
            </a:xfrm>
            <a:custGeom>
              <a:avLst/>
              <a:gdLst>
                <a:gd name="T0" fmla="*/ 1335 w 1335"/>
                <a:gd name="T1" fmla="*/ 699 h 1335"/>
                <a:gd name="T2" fmla="*/ 1220 w 1335"/>
                <a:gd name="T3" fmla="*/ 586 h 1335"/>
                <a:gd name="T4" fmla="*/ 1300 w 1335"/>
                <a:gd name="T5" fmla="*/ 445 h 1335"/>
                <a:gd name="T6" fmla="*/ 1145 w 1335"/>
                <a:gd name="T7" fmla="*/ 378 h 1335"/>
                <a:gd name="T8" fmla="*/ 1162 w 1335"/>
                <a:gd name="T9" fmla="*/ 218 h 1335"/>
                <a:gd name="T10" fmla="*/ 1001 w 1335"/>
                <a:gd name="T11" fmla="*/ 219 h 1335"/>
                <a:gd name="T12" fmla="*/ 956 w 1335"/>
                <a:gd name="T13" fmla="*/ 65 h 1335"/>
                <a:gd name="T14" fmla="*/ 801 w 1335"/>
                <a:gd name="T15" fmla="*/ 125 h 1335"/>
                <a:gd name="T16" fmla="*/ 699 w 1335"/>
                <a:gd name="T17" fmla="*/ 0 h 1335"/>
                <a:gd name="T18" fmla="*/ 586 w 1335"/>
                <a:gd name="T19" fmla="*/ 115 h 1335"/>
                <a:gd name="T20" fmla="*/ 445 w 1335"/>
                <a:gd name="T21" fmla="*/ 35 h 1335"/>
                <a:gd name="T22" fmla="*/ 378 w 1335"/>
                <a:gd name="T23" fmla="*/ 190 h 1335"/>
                <a:gd name="T24" fmla="*/ 218 w 1335"/>
                <a:gd name="T25" fmla="*/ 173 h 1335"/>
                <a:gd name="T26" fmla="*/ 220 w 1335"/>
                <a:gd name="T27" fmla="*/ 334 h 1335"/>
                <a:gd name="T28" fmla="*/ 65 w 1335"/>
                <a:gd name="T29" fmla="*/ 379 h 1335"/>
                <a:gd name="T30" fmla="*/ 125 w 1335"/>
                <a:gd name="T31" fmla="*/ 535 h 1335"/>
                <a:gd name="T32" fmla="*/ 0 w 1335"/>
                <a:gd name="T33" fmla="*/ 636 h 1335"/>
                <a:gd name="T34" fmla="*/ 115 w 1335"/>
                <a:gd name="T35" fmla="*/ 749 h 1335"/>
                <a:gd name="T36" fmla="*/ 35 w 1335"/>
                <a:gd name="T37" fmla="*/ 890 h 1335"/>
                <a:gd name="T38" fmla="*/ 190 w 1335"/>
                <a:gd name="T39" fmla="*/ 957 h 1335"/>
                <a:gd name="T40" fmla="*/ 173 w 1335"/>
                <a:gd name="T41" fmla="*/ 1117 h 1335"/>
                <a:gd name="T42" fmla="*/ 334 w 1335"/>
                <a:gd name="T43" fmla="*/ 1116 h 1335"/>
                <a:gd name="T44" fmla="*/ 379 w 1335"/>
                <a:gd name="T45" fmla="*/ 1270 h 1335"/>
                <a:gd name="T46" fmla="*/ 535 w 1335"/>
                <a:gd name="T47" fmla="*/ 1210 h 1335"/>
                <a:gd name="T48" fmla="*/ 636 w 1335"/>
                <a:gd name="T49" fmla="*/ 1335 h 1335"/>
                <a:gd name="T50" fmla="*/ 749 w 1335"/>
                <a:gd name="T51" fmla="*/ 1220 h 1335"/>
                <a:gd name="T52" fmla="*/ 890 w 1335"/>
                <a:gd name="T53" fmla="*/ 1299 h 1335"/>
                <a:gd name="T54" fmla="*/ 957 w 1335"/>
                <a:gd name="T55" fmla="*/ 1145 h 1335"/>
                <a:gd name="T56" fmla="*/ 1117 w 1335"/>
                <a:gd name="T57" fmla="*/ 1162 h 1335"/>
                <a:gd name="T58" fmla="*/ 1116 w 1335"/>
                <a:gd name="T59" fmla="*/ 1001 h 1335"/>
                <a:gd name="T60" fmla="*/ 1271 w 1335"/>
                <a:gd name="T61" fmla="*/ 956 h 1335"/>
                <a:gd name="T62" fmla="*/ 1210 w 1335"/>
                <a:gd name="T63" fmla="*/ 801 h 1335"/>
                <a:gd name="T64" fmla="*/ 776 w 1335"/>
                <a:gd name="T65" fmla="*/ 1050 h 1335"/>
                <a:gd name="T66" fmla="*/ 560 w 1335"/>
                <a:gd name="T67" fmla="*/ 286 h 1335"/>
                <a:gd name="T68" fmla="*/ 776 w 1335"/>
                <a:gd name="T69" fmla="*/ 1050 h 1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35" h="1335">
                  <a:moveTo>
                    <a:pt x="1326" y="784"/>
                  </a:moveTo>
                  <a:cubicBezTo>
                    <a:pt x="1335" y="699"/>
                    <a:pt x="1335" y="699"/>
                    <a:pt x="1335" y="699"/>
                  </a:cubicBezTo>
                  <a:cubicBezTo>
                    <a:pt x="1226" y="658"/>
                    <a:pt x="1226" y="658"/>
                    <a:pt x="1226" y="658"/>
                  </a:cubicBezTo>
                  <a:cubicBezTo>
                    <a:pt x="1226" y="634"/>
                    <a:pt x="1224" y="610"/>
                    <a:pt x="1220" y="586"/>
                  </a:cubicBezTo>
                  <a:cubicBezTo>
                    <a:pt x="1323" y="527"/>
                    <a:pt x="1323" y="527"/>
                    <a:pt x="1323" y="527"/>
                  </a:cubicBezTo>
                  <a:cubicBezTo>
                    <a:pt x="1300" y="445"/>
                    <a:pt x="1300" y="445"/>
                    <a:pt x="1300" y="445"/>
                  </a:cubicBezTo>
                  <a:cubicBezTo>
                    <a:pt x="1181" y="448"/>
                    <a:pt x="1181" y="448"/>
                    <a:pt x="1181" y="448"/>
                  </a:cubicBezTo>
                  <a:cubicBezTo>
                    <a:pt x="1171" y="424"/>
                    <a:pt x="1159" y="400"/>
                    <a:pt x="1145" y="378"/>
                  </a:cubicBezTo>
                  <a:cubicBezTo>
                    <a:pt x="1215" y="284"/>
                    <a:pt x="1215" y="284"/>
                    <a:pt x="1215" y="284"/>
                  </a:cubicBezTo>
                  <a:cubicBezTo>
                    <a:pt x="1162" y="218"/>
                    <a:pt x="1162" y="218"/>
                    <a:pt x="1162" y="218"/>
                  </a:cubicBezTo>
                  <a:cubicBezTo>
                    <a:pt x="1055" y="266"/>
                    <a:pt x="1055" y="266"/>
                    <a:pt x="1055" y="266"/>
                  </a:cubicBezTo>
                  <a:cubicBezTo>
                    <a:pt x="1038" y="249"/>
                    <a:pt x="1020" y="234"/>
                    <a:pt x="1001" y="219"/>
                  </a:cubicBezTo>
                  <a:cubicBezTo>
                    <a:pt x="1031" y="106"/>
                    <a:pt x="1031" y="106"/>
                    <a:pt x="1031" y="106"/>
                  </a:cubicBezTo>
                  <a:cubicBezTo>
                    <a:pt x="956" y="65"/>
                    <a:pt x="956" y="65"/>
                    <a:pt x="956" y="65"/>
                  </a:cubicBezTo>
                  <a:cubicBezTo>
                    <a:pt x="875" y="149"/>
                    <a:pt x="875" y="149"/>
                    <a:pt x="875" y="149"/>
                  </a:cubicBezTo>
                  <a:cubicBezTo>
                    <a:pt x="851" y="139"/>
                    <a:pt x="826" y="131"/>
                    <a:pt x="801" y="125"/>
                  </a:cubicBezTo>
                  <a:cubicBezTo>
                    <a:pt x="784" y="9"/>
                    <a:pt x="784" y="9"/>
                    <a:pt x="784" y="9"/>
                  </a:cubicBezTo>
                  <a:cubicBezTo>
                    <a:pt x="699" y="0"/>
                    <a:pt x="699" y="0"/>
                    <a:pt x="699" y="0"/>
                  </a:cubicBezTo>
                  <a:cubicBezTo>
                    <a:pt x="658" y="109"/>
                    <a:pt x="658" y="109"/>
                    <a:pt x="658" y="109"/>
                  </a:cubicBezTo>
                  <a:cubicBezTo>
                    <a:pt x="634" y="109"/>
                    <a:pt x="610" y="111"/>
                    <a:pt x="586" y="115"/>
                  </a:cubicBezTo>
                  <a:cubicBezTo>
                    <a:pt x="527" y="12"/>
                    <a:pt x="527" y="12"/>
                    <a:pt x="527" y="12"/>
                  </a:cubicBezTo>
                  <a:cubicBezTo>
                    <a:pt x="445" y="35"/>
                    <a:pt x="445" y="35"/>
                    <a:pt x="445" y="35"/>
                  </a:cubicBezTo>
                  <a:cubicBezTo>
                    <a:pt x="448" y="154"/>
                    <a:pt x="448" y="154"/>
                    <a:pt x="448" y="154"/>
                  </a:cubicBezTo>
                  <a:cubicBezTo>
                    <a:pt x="424" y="164"/>
                    <a:pt x="400" y="176"/>
                    <a:pt x="378" y="190"/>
                  </a:cubicBezTo>
                  <a:cubicBezTo>
                    <a:pt x="284" y="120"/>
                    <a:pt x="284" y="120"/>
                    <a:pt x="284" y="120"/>
                  </a:cubicBezTo>
                  <a:cubicBezTo>
                    <a:pt x="218" y="173"/>
                    <a:pt x="218" y="173"/>
                    <a:pt x="218" y="173"/>
                  </a:cubicBezTo>
                  <a:cubicBezTo>
                    <a:pt x="266" y="280"/>
                    <a:pt x="266" y="280"/>
                    <a:pt x="266" y="280"/>
                  </a:cubicBezTo>
                  <a:cubicBezTo>
                    <a:pt x="249" y="297"/>
                    <a:pt x="234" y="315"/>
                    <a:pt x="220" y="334"/>
                  </a:cubicBezTo>
                  <a:cubicBezTo>
                    <a:pt x="106" y="305"/>
                    <a:pt x="106" y="305"/>
                    <a:pt x="106" y="305"/>
                  </a:cubicBezTo>
                  <a:cubicBezTo>
                    <a:pt x="65" y="379"/>
                    <a:pt x="65" y="379"/>
                    <a:pt x="65" y="379"/>
                  </a:cubicBezTo>
                  <a:cubicBezTo>
                    <a:pt x="149" y="460"/>
                    <a:pt x="149" y="460"/>
                    <a:pt x="149" y="460"/>
                  </a:cubicBezTo>
                  <a:cubicBezTo>
                    <a:pt x="139" y="484"/>
                    <a:pt x="131" y="509"/>
                    <a:pt x="125" y="535"/>
                  </a:cubicBezTo>
                  <a:cubicBezTo>
                    <a:pt x="9" y="551"/>
                    <a:pt x="9" y="551"/>
                    <a:pt x="9" y="551"/>
                  </a:cubicBezTo>
                  <a:cubicBezTo>
                    <a:pt x="0" y="636"/>
                    <a:pt x="0" y="636"/>
                    <a:pt x="0" y="636"/>
                  </a:cubicBezTo>
                  <a:cubicBezTo>
                    <a:pt x="109" y="678"/>
                    <a:pt x="109" y="678"/>
                    <a:pt x="109" y="678"/>
                  </a:cubicBezTo>
                  <a:cubicBezTo>
                    <a:pt x="110" y="701"/>
                    <a:pt x="111" y="725"/>
                    <a:pt x="115" y="749"/>
                  </a:cubicBezTo>
                  <a:cubicBezTo>
                    <a:pt x="12" y="809"/>
                    <a:pt x="12" y="809"/>
                    <a:pt x="12" y="809"/>
                  </a:cubicBezTo>
                  <a:cubicBezTo>
                    <a:pt x="35" y="890"/>
                    <a:pt x="35" y="890"/>
                    <a:pt x="35" y="890"/>
                  </a:cubicBezTo>
                  <a:cubicBezTo>
                    <a:pt x="154" y="887"/>
                    <a:pt x="154" y="887"/>
                    <a:pt x="154" y="887"/>
                  </a:cubicBezTo>
                  <a:cubicBezTo>
                    <a:pt x="164" y="912"/>
                    <a:pt x="177" y="935"/>
                    <a:pt x="190" y="957"/>
                  </a:cubicBezTo>
                  <a:cubicBezTo>
                    <a:pt x="120" y="1051"/>
                    <a:pt x="120" y="1051"/>
                    <a:pt x="120" y="1051"/>
                  </a:cubicBezTo>
                  <a:cubicBezTo>
                    <a:pt x="173" y="1117"/>
                    <a:pt x="173" y="1117"/>
                    <a:pt x="173" y="1117"/>
                  </a:cubicBezTo>
                  <a:cubicBezTo>
                    <a:pt x="280" y="1070"/>
                    <a:pt x="280" y="1070"/>
                    <a:pt x="280" y="1070"/>
                  </a:cubicBezTo>
                  <a:cubicBezTo>
                    <a:pt x="297" y="1086"/>
                    <a:pt x="315" y="1102"/>
                    <a:pt x="334" y="1116"/>
                  </a:cubicBezTo>
                  <a:cubicBezTo>
                    <a:pt x="305" y="1229"/>
                    <a:pt x="305" y="1229"/>
                    <a:pt x="305" y="1229"/>
                  </a:cubicBezTo>
                  <a:cubicBezTo>
                    <a:pt x="379" y="1270"/>
                    <a:pt x="379" y="1270"/>
                    <a:pt x="379" y="1270"/>
                  </a:cubicBezTo>
                  <a:cubicBezTo>
                    <a:pt x="460" y="1186"/>
                    <a:pt x="460" y="1186"/>
                    <a:pt x="460" y="1186"/>
                  </a:cubicBezTo>
                  <a:cubicBezTo>
                    <a:pt x="484" y="1196"/>
                    <a:pt x="509" y="1204"/>
                    <a:pt x="535" y="1210"/>
                  </a:cubicBezTo>
                  <a:cubicBezTo>
                    <a:pt x="551" y="1326"/>
                    <a:pt x="551" y="1326"/>
                    <a:pt x="551" y="1326"/>
                  </a:cubicBezTo>
                  <a:cubicBezTo>
                    <a:pt x="636" y="1335"/>
                    <a:pt x="636" y="1335"/>
                    <a:pt x="636" y="1335"/>
                  </a:cubicBezTo>
                  <a:cubicBezTo>
                    <a:pt x="678" y="1226"/>
                    <a:pt x="678" y="1226"/>
                    <a:pt x="678" y="1226"/>
                  </a:cubicBezTo>
                  <a:cubicBezTo>
                    <a:pt x="701" y="1226"/>
                    <a:pt x="725" y="1224"/>
                    <a:pt x="749" y="1220"/>
                  </a:cubicBezTo>
                  <a:cubicBezTo>
                    <a:pt x="808" y="1323"/>
                    <a:pt x="808" y="1323"/>
                    <a:pt x="808" y="1323"/>
                  </a:cubicBezTo>
                  <a:cubicBezTo>
                    <a:pt x="890" y="1299"/>
                    <a:pt x="890" y="1299"/>
                    <a:pt x="890" y="1299"/>
                  </a:cubicBezTo>
                  <a:cubicBezTo>
                    <a:pt x="887" y="1181"/>
                    <a:pt x="887" y="1181"/>
                    <a:pt x="887" y="1181"/>
                  </a:cubicBezTo>
                  <a:cubicBezTo>
                    <a:pt x="912" y="1171"/>
                    <a:pt x="935" y="1159"/>
                    <a:pt x="957" y="1145"/>
                  </a:cubicBezTo>
                  <a:cubicBezTo>
                    <a:pt x="1051" y="1215"/>
                    <a:pt x="1051" y="1215"/>
                    <a:pt x="1051" y="1215"/>
                  </a:cubicBezTo>
                  <a:cubicBezTo>
                    <a:pt x="1117" y="1162"/>
                    <a:pt x="1117" y="1162"/>
                    <a:pt x="1117" y="1162"/>
                  </a:cubicBezTo>
                  <a:cubicBezTo>
                    <a:pt x="1070" y="1055"/>
                    <a:pt x="1070" y="1055"/>
                    <a:pt x="1070" y="1055"/>
                  </a:cubicBezTo>
                  <a:cubicBezTo>
                    <a:pt x="1086" y="1038"/>
                    <a:pt x="1102" y="1020"/>
                    <a:pt x="1116" y="1001"/>
                  </a:cubicBezTo>
                  <a:cubicBezTo>
                    <a:pt x="1229" y="1031"/>
                    <a:pt x="1229" y="1031"/>
                    <a:pt x="1229" y="1031"/>
                  </a:cubicBezTo>
                  <a:cubicBezTo>
                    <a:pt x="1271" y="956"/>
                    <a:pt x="1271" y="956"/>
                    <a:pt x="1271" y="956"/>
                  </a:cubicBezTo>
                  <a:cubicBezTo>
                    <a:pt x="1186" y="875"/>
                    <a:pt x="1186" y="875"/>
                    <a:pt x="1186" y="875"/>
                  </a:cubicBezTo>
                  <a:cubicBezTo>
                    <a:pt x="1196" y="851"/>
                    <a:pt x="1204" y="826"/>
                    <a:pt x="1210" y="801"/>
                  </a:cubicBezTo>
                  <a:lnTo>
                    <a:pt x="1326" y="784"/>
                  </a:lnTo>
                  <a:close/>
                  <a:moveTo>
                    <a:pt x="776" y="1050"/>
                  </a:moveTo>
                  <a:cubicBezTo>
                    <a:pt x="565" y="1109"/>
                    <a:pt x="345" y="986"/>
                    <a:pt x="286" y="775"/>
                  </a:cubicBezTo>
                  <a:cubicBezTo>
                    <a:pt x="226" y="564"/>
                    <a:pt x="349" y="345"/>
                    <a:pt x="560" y="286"/>
                  </a:cubicBezTo>
                  <a:cubicBezTo>
                    <a:pt x="771" y="226"/>
                    <a:pt x="990" y="349"/>
                    <a:pt x="1050" y="560"/>
                  </a:cubicBezTo>
                  <a:cubicBezTo>
                    <a:pt x="1109" y="771"/>
                    <a:pt x="987" y="990"/>
                    <a:pt x="776" y="1050"/>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4" name="Freeform 242">
              <a:extLst>
                <a:ext uri="{FF2B5EF4-FFF2-40B4-BE49-F238E27FC236}">
                  <a16:creationId xmlns:a16="http://schemas.microsoft.com/office/drawing/2014/main" id="{8881CD7E-7D49-4047-D8E7-F0B337FA3DE4}"/>
                </a:ext>
              </a:extLst>
            </p:cNvPr>
            <p:cNvSpPr>
              <a:spLocks noEditPoints="1"/>
            </p:cNvSpPr>
            <p:nvPr/>
          </p:nvSpPr>
          <p:spPr bwMode="auto">
            <a:xfrm>
              <a:off x="5882692" y="3977191"/>
              <a:ext cx="1072754" cy="1071563"/>
            </a:xfrm>
            <a:custGeom>
              <a:avLst/>
              <a:gdLst>
                <a:gd name="T0" fmla="*/ 1013 w 1135"/>
                <a:gd name="T1" fmla="*/ 544 h 1134"/>
                <a:gd name="T2" fmla="*/ 1135 w 1135"/>
                <a:gd name="T3" fmla="*/ 472 h 1134"/>
                <a:gd name="T4" fmla="*/ 1107 w 1135"/>
                <a:gd name="T5" fmla="*/ 367 h 1134"/>
                <a:gd name="T6" fmla="*/ 965 w 1135"/>
                <a:gd name="T7" fmla="*/ 366 h 1134"/>
                <a:gd name="T8" fmla="*/ 866 w 1135"/>
                <a:gd name="T9" fmla="*/ 237 h 1134"/>
                <a:gd name="T10" fmla="*/ 901 w 1135"/>
                <a:gd name="T11" fmla="*/ 99 h 1134"/>
                <a:gd name="T12" fmla="*/ 808 w 1135"/>
                <a:gd name="T13" fmla="*/ 45 h 1134"/>
                <a:gd name="T14" fmla="*/ 706 w 1135"/>
                <a:gd name="T15" fmla="*/ 144 h 1134"/>
                <a:gd name="T16" fmla="*/ 544 w 1135"/>
                <a:gd name="T17" fmla="*/ 123 h 1134"/>
                <a:gd name="T18" fmla="*/ 472 w 1135"/>
                <a:gd name="T19" fmla="*/ 0 h 1134"/>
                <a:gd name="T20" fmla="*/ 367 w 1135"/>
                <a:gd name="T21" fmla="*/ 28 h 1134"/>
                <a:gd name="T22" fmla="*/ 365 w 1135"/>
                <a:gd name="T23" fmla="*/ 170 h 1134"/>
                <a:gd name="T24" fmla="*/ 237 w 1135"/>
                <a:gd name="T25" fmla="*/ 269 h 1134"/>
                <a:gd name="T26" fmla="*/ 99 w 1135"/>
                <a:gd name="T27" fmla="*/ 234 h 1134"/>
                <a:gd name="T28" fmla="*/ 45 w 1135"/>
                <a:gd name="T29" fmla="*/ 327 h 1134"/>
                <a:gd name="T30" fmla="*/ 144 w 1135"/>
                <a:gd name="T31" fmla="*/ 429 h 1134"/>
                <a:gd name="T32" fmla="*/ 123 w 1135"/>
                <a:gd name="T33" fmla="*/ 590 h 1134"/>
                <a:gd name="T34" fmla="*/ 0 w 1135"/>
                <a:gd name="T35" fmla="*/ 663 h 1134"/>
                <a:gd name="T36" fmla="*/ 28 w 1135"/>
                <a:gd name="T37" fmla="*/ 767 h 1134"/>
                <a:gd name="T38" fmla="*/ 171 w 1135"/>
                <a:gd name="T39" fmla="*/ 769 h 1134"/>
                <a:gd name="T40" fmla="*/ 269 w 1135"/>
                <a:gd name="T41" fmla="*/ 898 h 1134"/>
                <a:gd name="T42" fmla="*/ 234 w 1135"/>
                <a:gd name="T43" fmla="*/ 1036 h 1134"/>
                <a:gd name="T44" fmla="*/ 328 w 1135"/>
                <a:gd name="T45" fmla="*/ 1090 h 1134"/>
                <a:gd name="T46" fmla="*/ 429 w 1135"/>
                <a:gd name="T47" fmla="*/ 991 h 1134"/>
                <a:gd name="T48" fmla="*/ 591 w 1135"/>
                <a:gd name="T49" fmla="*/ 1012 h 1134"/>
                <a:gd name="T50" fmla="*/ 664 w 1135"/>
                <a:gd name="T51" fmla="*/ 1134 h 1134"/>
                <a:gd name="T52" fmla="*/ 768 w 1135"/>
                <a:gd name="T53" fmla="*/ 1106 h 1134"/>
                <a:gd name="T54" fmla="*/ 770 w 1135"/>
                <a:gd name="T55" fmla="*/ 964 h 1134"/>
                <a:gd name="T56" fmla="*/ 899 w 1135"/>
                <a:gd name="T57" fmla="*/ 865 h 1134"/>
                <a:gd name="T58" fmla="*/ 1036 w 1135"/>
                <a:gd name="T59" fmla="*/ 900 h 1134"/>
                <a:gd name="T60" fmla="*/ 1090 w 1135"/>
                <a:gd name="T61" fmla="*/ 807 h 1134"/>
                <a:gd name="T62" fmla="*/ 992 w 1135"/>
                <a:gd name="T63" fmla="*/ 705 h 1134"/>
                <a:gd name="T64" fmla="*/ 1013 w 1135"/>
                <a:gd name="T65" fmla="*/ 544 h 1134"/>
                <a:gd name="T66" fmla="*/ 593 w 1135"/>
                <a:gd name="T67" fmla="*/ 879 h 1134"/>
                <a:gd name="T68" fmla="*/ 256 w 1135"/>
                <a:gd name="T69" fmla="*/ 593 h 1134"/>
                <a:gd name="T70" fmla="*/ 543 w 1135"/>
                <a:gd name="T71" fmla="*/ 256 h 1134"/>
                <a:gd name="T72" fmla="*/ 879 w 1135"/>
                <a:gd name="T73" fmla="*/ 542 h 1134"/>
                <a:gd name="T74" fmla="*/ 593 w 1135"/>
                <a:gd name="T75" fmla="*/ 879 h 1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35" h="1134">
                  <a:moveTo>
                    <a:pt x="1013" y="544"/>
                  </a:moveTo>
                  <a:cubicBezTo>
                    <a:pt x="1135" y="472"/>
                    <a:pt x="1135" y="472"/>
                    <a:pt x="1135" y="472"/>
                  </a:cubicBezTo>
                  <a:cubicBezTo>
                    <a:pt x="1107" y="367"/>
                    <a:pt x="1107" y="367"/>
                    <a:pt x="1107" y="367"/>
                  </a:cubicBezTo>
                  <a:cubicBezTo>
                    <a:pt x="965" y="366"/>
                    <a:pt x="965" y="366"/>
                    <a:pt x="965" y="366"/>
                  </a:cubicBezTo>
                  <a:cubicBezTo>
                    <a:pt x="940" y="317"/>
                    <a:pt x="906" y="273"/>
                    <a:pt x="866" y="237"/>
                  </a:cubicBezTo>
                  <a:cubicBezTo>
                    <a:pt x="901" y="99"/>
                    <a:pt x="901" y="99"/>
                    <a:pt x="901" y="99"/>
                  </a:cubicBezTo>
                  <a:cubicBezTo>
                    <a:pt x="808" y="45"/>
                    <a:pt x="808" y="45"/>
                    <a:pt x="808" y="45"/>
                  </a:cubicBezTo>
                  <a:cubicBezTo>
                    <a:pt x="706" y="144"/>
                    <a:pt x="706" y="144"/>
                    <a:pt x="706" y="144"/>
                  </a:cubicBezTo>
                  <a:cubicBezTo>
                    <a:pt x="655" y="127"/>
                    <a:pt x="601" y="120"/>
                    <a:pt x="544" y="123"/>
                  </a:cubicBezTo>
                  <a:cubicBezTo>
                    <a:pt x="472" y="0"/>
                    <a:pt x="472" y="0"/>
                    <a:pt x="472" y="0"/>
                  </a:cubicBezTo>
                  <a:cubicBezTo>
                    <a:pt x="367" y="28"/>
                    <a:pt x="367" y="28"/>
                    <a:pt x="367" y="28"/>
                  </a:cubicBezTo>
                  <a:cubicBezTo>
                    <a:pt x="365" y="170"/>
                    <a:pt x="365" y="170"/>
                    <a:pt x="365" y="170"/>
                  </a:cubicBezTo>
                  <a:cubicBezTo>
                    <a:pt x="317" y="195"/>
                    <a:pt x="273" y="229"/>
                    <a:pt x="237" y="269"/>
                  </a:cubicBezTo>
                  <a:cubicBezTo>
                    <a:pt x="99" y="234"/>
                    <a:pt x="99" y="234"/>
                    <a:pt x="99" y="234"/>
                  </a:cubicBezTo>
                  <a:cubicBezTo>
                    <a:pt x="45" y="327"/>
                    <a:pt x="45" y="327"/>
                    <a:pt x="45" y="327"/>
                  </a:cubicBezTo>
                  <a:cubicBezTo>
                    <a:pt x="144" y="429"/>
                    <a:pt x="144" y="429"/>
                    <a:pt x="144" y="429"/>
                  </a:cubicBezTo>
                  <a:cubicBezTo>
                    <a:pt x="128" y="480"/>
                    <a:pt x="120" y="534"/>
                    <a:pt x="123" y="590"/>
                  </a:cubicBezTo>
                  <a:cubicBezTo>
                    <a:pt x="0" y="663"/>
                    <a:pt x="0" y="663"/>
                    <a:pt x="0" y="663"/>
                  </a:cubicBezTo>
                  <a:cubicBezTo>
                    <a:pt x="28" y="767"/>
                    <a:pt x="28" y="767"/>
                    <a:pt x="28" y="767"/>
                  </a:cubicBezTo>
                  <a:cubicBezTo>
                    <a:pt x="171" y="769"/>
                    <a:pt x="171" y="769"/>
                    <a:pt x="171" y="769"/>
                  </a:cubicBezTo>
                  <a:cubicBezTo>
                    <a:pt x="195" y="818"/>
                    <a:pt x="229" y="862"/>
                    <a:pt x="269" y="898"/>
                  </a:cubicBezTo>
                  <a:cubicBezTo>
                    <a:pt x="234" y="1036"/>
                    <a:pt x="234" y="1036"/>
                    <a:pt x="234" y="1036"/>
                  </a:cubicBezTo>
                  <a:cubicBezTo>
                    <a:pt x="328" y="1090"/>
                    <a:pt x="328" y="1090"/>
                    <a:pt x="328" y="1090"/>
                  </a:cubicBezTo>
                  <a:cubicBezTo>
                    <a:pt x="429" y="991"/>
                    <a:pt x="429" y="991"/>
                    <a:pt x="429" y="991"/>
                  </a:cubicBezTo>
                  <a:cubicBezTo>
                    <a:pt x="480" y="1008"/>
                    <a:pt x="535" y="1015"/>
                    <a:pt x="591" y="1012"/>
                  </a:cubicBezTo>
                  <a:cubicBezTo>
                    <a:pt x="664" y="1134"/>
                    <a:pt x="664" y="1134"/>
                    <a:pt x="664" y="1134"/>
                  </a:cubicBezTo>
                  <a:cubicBezTo>
                    <a:pt x="768" y="1106"/>
                    <a:pt x="768" y="1106"/>
                    <a:pt x="768" y="1106"/>
                  </a:cubicBezTo>
                  <a:cubicBezTo>
                    <a:pt x="770" y="964"/>
                    <a:pt x="770" y="964"/>
                    <a:pt x="770" y="964"/>
                  </a:cubicBezTo>
                  <a:cubicBezTo>
                    <a:pt x="819" y="939"/>
                    <a:pt x="863" y="906"/>
                    <a:pt x="899" y="865"/>
                  </a:cubicBezTo>
                  <a:cubicBezTo>
                    <a:pt x="1036" y="900"/>
                    <a:pt x="1036" y="900"/>
                    <a:pt x="1036" y="900"/>
                  </a:cubicBezTo>
                  <a:cubicBezTo>
                    <a:pt x="1090" y="807"/>
                    <a:pt x="1090" y="807"/>
                    <a:pt x="1090" y="807"/>
                  </a:cubicBezTo>
                  <a:cubicBezTo>
                    <a:pt x="992" y="705"/>
                    <a:pt x="992" y="705"/>
                    <a:pt x="992" y="705"/>
                  </a:cubicBezTo>
                  <a:cubicBezTo>
                    <a:pt x="1008" y="654"/>
                    <a:pt x="1015" y="600"/>
                    <a:pt x="1013" y="544"/>
                  </a:cubicBezTo>
                  <a:close/>
                  <a:moveTo>
                    <a:pt x="593" y="879"/>
                  </a:moveTo>
                  <a:cubicBezTo>
                    <a:pt x="421" y="893"/>
                    <a:pt x="270" y="764"/>
                    <a:pt x="256" y="593"/>
                  </a:cubicBezTo>
                  <a:cubicBezTo>
                    <a:pt x="243" y="421"/>
                    <a:pt x="371" y="270"/>
                    <a:pt x="543" y="256"/>
                  </a:cubicBezTo>
                  <a:cubicBezTo>
                    <a:pt x="714" y="242"/>
                    <a:pt x="865" y="370"/>
                    <a:pt x="879" y="542"/>
                  </a:cubicBezTo>
                  <a:cubicBezTo>
                    <a:pt x="893" y="714"/>
                    <a:pt x="765" y="865"/>
                    <a:pt x="593" y="879"/>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 name="Freeform 243">
              <a:extLst>
                <a:ext uri="{FF2B5EF4-FFF2-40B4-BE49-F238E27FC236}">
                  <a16:creationId xmlns:a16="http://schemas.microsoft.com/office/drawing/2014/main" id="{E691A2DA-A3CD-31A4-3421-CD98FF2DCB3B}"/>
                </a:ext>
              </a:extLst>
            </p:cNvPr>
            <p:cNvSpPr>
              <a:spLocks/>
            </p:cNvSpPr>
            <p:nvPr/>
          </p:nvSpPr>
          <p:spPr bwMode="auto">
            <a:xfrm>
              <a:off x="6819714" y="5051135"/>
              <a:ext cx="190500" cy="177403"/>
            </a:xfrm>
            <a:custGeom>
              <a:avLst/>
              <a:gdLst>
                <a:gd name="T0" fmla="*/ 127 w 202"/>
                <a:gd name="T1" fmla="*/ 3 h 188"/>
                <a:gd name="T2" fmla="*/ 104 w 202"/>
                <a:gd name="T3" fmla="*/ 0 h 188"/>
                <a:gd name="T4" fmla="*/ 12 w 202"/>
                <a:gd name="T5" fmla="*/ 72 h 188"/>
                <a:gd name="T6" fmla="*/ 81 w 202"/>
                <a:gd name="T7" fmla="*/ 186 h 188"/>
                <a:gd name="T8" fmla="*/ 104 w 202"/>
                <a:gd name="T9" fmla="*/ 188 h 188"/>
                <a:gd name="T10" fmla="*/ 104 w 202"/>
                <a:gd name="T11" fmla="*/ 188 h 188"/>
                <a:gd name="T12" fmla="*/ 196 w 202"/>
                <a:gd name="T13" fmla="*/ 117 h 188"/>
                <a:gd name="T14" fmla="*/ 185 w 202"/>
                <a:gd name="T15" fmla="*/ 46 h 188"/>
                <a:gd name="T16" fmla="*/ 127 w 202"/>
                <a:gd name="T17" fmla="*/ 3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2" h="188">
                  <a:moveTo>
                    <a:pt x="127" y="3"/>
                  </a:moveTo>
                  <a:cubicBezTo>
                    <a:pt x="119" y="1"/>
                    <a:pt x="112" y="0"/>
                    <a:pt x="104" y="0"/>
                  </a:cubicBezTo>
                  <a:cubicBezTo>
                    <a:pt x="60" y="0"/>
                    <a:pt x="23" y="30"/>
                    <a:pt x="12" y="72"/>
                  </a:cubicBezTo>
                  <a:cubicBezTo>
                    <a:pt x="0" y="122"/>
                    <a:pt x="30" y="173"/>
                    <a:pt x="81" y="186"/>
                  </a:cubicBezTo>
                  <a:cubicBezTo>
                    <a:pt x="89" y="188"/>
                    <a:pt x="96" y="188"/>
                    <a:pt x="104" y="188"/>
                  </a:cubicBezTo>
                  <a:cubicBezTo>
                    <a:pt x="104" y="188"/>
                    <a:pt x="104" y="188"/>
                    <a:pt x="104" y="188"/>
                  </a:cubicBezTo>
                  <a:cubicBezTo>
                    <a:pt x="147" y="188"/>
                    <a:pt x="185" y="159"/>
                    <a:pt x="196" y="117"/>
                  </a:cubicBezTo>
                  <a:cubicBezTo>
                    <a:pt x="202" y="93"/>
                    <a:pt x="198" y="68"/>
                    <a:pt x="185" y="46"/>
                  </a:cubicBezTo>
                  <a:cubicBezTo>
                    <a:pt x="172" y="24"/>
                    <a:pt x="151" y="9"/>
                    <a:pt x="127" y="3"/>
                  </a:cubicBezTo>
                  <a:close/>
                </a:path>
              </a:pathLst>
            </a:custGeom>
            <a:solidFill>
              <a:srgbClr val="F6AC19"/>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 name="Freeform 244">
              <a:extLst>
                <a:ext uri="{FF2B5EF4-FFF2-40B4-BE49-F238E27FC236}">
                  <a16:creationId xmlns:a16="http://schemas.microsoft.com/office/drawing/2014/main" id="{67DF7421-0D0D-7B07-96E1-5B4585E5B2F0}"/>
                </a:ext>
              </a:extLst>
            </p:cNvPr>
            <p:cNvSpPr>
              <a:spLocks noEditPoints="1"/>
            </p:cNvSpPr>
            <p:nvPr/>
          </p:nvSpPr>
          <p:spPr bwMode="auto">
            <a:xfrm>
              <a:off x="6568493" y="4792770"/>
              <a:ext cx="697706" cy="697706"/>
            </a:xfrm>
            <a:custGeom>
              <a:avLst/>
              <a:gdLst>
                <a:gd name="T0" fmla="*/ 730 w 738"/>
                <a:gd name="T1" fmla="*/ 444 h 738"/>
                <a:gd name="T2" fmla="*/ 738 w 738"/>
                <a:gd name="T3" fmla="*/ 357 h 738"/>
                <a:gd name="T4" fmla="*/ 646 w 738"/>
                <a:gd name="T5" fmla="*/ 318 h 738"/>
                <a:gd name="T6" fmla="*/ 624 w 738"/>
                <a:gd name="T7" fmla="*/ 249 h 738"/>
                <a:gd name="T8" fmla="*/ 677 w 738"/>
                <a:gd name="T9" fmla="*/ 167 h 738"/>
                <a:gd name="T10" fmla="*/ 621 w 738"/>
                <a:gd name="T11" fmla="*/ 99 h 738"/>
                <a:gd name="T12" fmla="*/ 530 w 738"/>
                <a:gd name="T13" fmla="*/ 137 h 738"/>
                <a:gd name="T14" fmla="*/ 468 w 738"/>
                <a:gd name="T15" fmla="*/ 104 h 738"/>
                <a:gd name="T16" fmla="*/ 447 w 738"/>
                <a:gd name="T17" fmla="*/ 8 h 738"/>
                <a:gd name="T18" fmla="*/ 360 w 738"/>
                <a:gd name="T19" fmla="*/ 0 h 738"/>
                <a:gd name="T20" fmla="*/ 322 w 738"/>
                <a:gd name="T21" fmla="*/ 90 h 738"/>
                <a:gd name="T22" fmla="*/ 252 w 738"/>
                <a:gd name="T23" fmla="*/ 112 h 738"/>
                <a:gd name="T24" fmla="*/ 169 w 738"/>
                <a:gd name="T25" fmla="*/ 58 h 738"/>
                <a:gd name="T26" fmla="*/ 102 w 738"/>
                <a:gd name="T27" fmla="*/ 114 h 738"/>
                <a:gd name="T28" fmla="*/ 139 w 738"/>
                <a:gd name="T29" fmla="*/ 205 h 738"/>
                <a:gd name="T30" fmla="*/ 105 w 738"/>
                <a:gd name="T31" fmla="*/ 270 h 738"/>
                <a:gd name="T32" fmla="*/ 8 w 738"/>
                <a:gd name="T33" fmla="*/ 291 h 738"/>
                <a:gd name="T34" fmla="*/ 0 w 738"/>
                <a:gd name="T35" fmla="*/ 379 h 738"/>
                <a:gd name="T36" fmla="*/ 92 w 738"/>
                <a:gd name="T37" fmla="*/ 417 h 738"/>
                <a:gd name="T38" fmla="*/ 113 w 738"/>
                <a:gd name="T39" fmla="*/ 485 h 738"/>
                <a:gd name="T40" fmla="*/ 59 w 738"/>
                <a:gd name="T41" fmla="*/ 569 h 738"/>
                <a:gd name="T42" fmla="*/ 115 w 738"/>
                <a:gd name="T43" fmla="*/ 637 h 738"/>
                <a:gd name="T44" fmla="*/ 208 w 738"/>
                <a:gd name="T45" fmla="*/ 599 h 738"/>
                <a:gd name="T46" fmla="*/ 269 w 738"/>
                <a:gd name="T47" fmla="*/ 631 h 738"/>
                <a:gd name="T48" fmla="*/ 290 w 738"/>
                <a:gd name="T49" fmla="*/ 729 h 738"/>
                <a:gd name="T50" fmla="*/ 378 w 738"/>
                <a:gd name="T51" fmla="*/ 738 h 738"/>
                <a:gd name="T52" fmla="*/ 417 w 738"/>
                <a:gd name="T53" fmla="*/ 645 h 738"/>
                <a:gd name="T54" fmla="*/ 484 w 738"/>
                <a:gd name="T55" fmla="*/ 625 h 738"/>
                <a:gd name="T56" fmla="*/ 568 w 738"/>
                <a:gd name="T57" fmla="*/ 679 h 738"/>
                <a:gd name="T58" fmla="*/ 636 w 738"/>
                <a:gd name="T59" fmla="*/ 623 h 738"/>
                <a:gd name="T60" fmla="*/ 599 w 738"/>
                <a:gd name="T61" fmla="*/ 531 h 738"/>
                <a:gd name="T62" fmla="*/ 633 w 738"/>
                <a:gd name="T63" fmla="*/ 465 h 738"/>
                <a:gd name="T64" fmla="*/ 730 w 738"/>
                <a:gd name="T65" fmla="*/ 444 h 738"/>
                <a:gd name="T66" fmla="*/ 503 w 738"/>
                <a:gd name="T67" fmla="*/ 401 h 738"/>
                <a:gd name="T68" fmla="*/ 369 w 738"/>
                <a:gd name="T69" fmla="*/ 505 h 738"/>
                <a:gd name="T70" fmla="*/ 369 w 738"/>
                <a:gd name="T71" fmla="*/ 505 h 738"/>
                <a:gd name="T72" fmla="*/ 335 w 738"/>
                <a:gd name="T73" fmla="*/ 502 h 738"/>
                <a:gd name="T74" fmla="*/ 234 w 738"/>
                <a:gd name="T75" fmla="*/ 334 h 738"/>
                <a:gd name="T76" fmla="*/ 369 w 738"/>
                <a:gd name="T77" fmla="*/ 229 h 738"/>
                <a:gd name="T78" fmla="*/ 403 w 738"/>
                <a:gd name="T79" fmla="*/ 233 h 738"/>
                <a:gd name="T80" fmla="*/ 488 w 738"/>
                <a:gd name="T81" fmla="*/ 297 h 738"/>
                <a:gd name="T82" fmla="*/ 503 w 738"/>
                <a:gd name="T83" fmla="*/ 401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38" h="738">
                  <a:moveTo>
                    <a:pt x="730" y="444"/>
                  </a:moveTo>
                  <a:cubicBezTo>
                    <a:pt x="738" y="357"/>
                    <a:pt x="738" y="357"/>
                    <a:pt x="738" y="357"/>
                  </a:cubicBezTo>
                  <a:cubicBezTo>
                    <a:pt x="646" y="318"/>
                    <a:pt x="646" y="318"/>
                    <a:pt x="646" y="318"/>
                  </a:cubicBezTo>
                  <a:cubicBezTo>
                    <a:pt x="642" y="294"/>
                    <a:pt x="635" y="271"/>
                    <a:pt x="624" y="249"/>
                  </a:cubicBezTo>
                  <a:cubicBezTo>
                    <a:pt x="677" y="167"/>
                    <a:pt x="677" y="167"/>
                    <a:pt x="677" y="167"/>
                  </a:cubicBezTo>
                  <a:cubicBezTo>
                    <a:pt x="621" y="99"/>
                    <a:pt x="621" y="99"/>
                    <a:pt x="621" y="99"/>
                  </a:cubicBezTo>
                  <a:cubicBezTo>
                    <a:pt x="530" y="137"/>
                    <a:pt x="530" y="137"/>
                    <a:pt x="530" y="137"/>
                  </a:cubicBezTo>
                  <a:cubicBezTo>
                    <a:pt x="511" y="124"/>
                    <a:pt x="490" y="113"/>
                    <a:pt x="468" y="104"/>
                  </a:cubicBezTo>
                  <a:cubicBezTo>
                    <a:pt x="447" y="8"/>
                    <a:pt x="447" y="8"/>
                    <a:pt x="447" y="8"/>
                  </a:cubicBezTo>
                  <a:cubicBezTo>
                    <a:pt x="360" y="0"/>
                    <a:pt x="360" y="0"/>
                    <a:pt x="360" y="0"/>
                  </a:cubicBezTo>
                  <a:cubicBezTo>
                    <a:pt x="322" y="90"/>
                    <a:pt x="322" y="90"/>
                    <a:pt x="322" y="90"/>
                  </a:cubicBezTo>
                  <a:cubicBezTo>
                    <a:pt x="298" y="94"/>
                    <a:pt x="274" y="102"/>
                    <a:pt x="252" y="112"/>
                  </a:cubicBezTo>
                  <a:cubicBezTo>
                    <a:pt x="169" y="58"/>
                    <a:pt x="169" y="58"/>
                    <a:pt x="169" y="58"/>
                  </a:cubicBezTo>
                  <a:cubicBezTo>
                    <a:pt x="102" y="114"/>
                    <a:pt x="102" y="114"/>
                    <a:pt x="102" y="114"/>
                  </a:cubicBezTo>
                  <a:cubicBezTo>
                    <a:pt x="139" y="205"/>
                    <a:pt x="139" y="205"/>
                    <a:pt x="139" y="205"/>
                  </a:cubicBezTo>
                  <a:cubicBezTo>
                    <a:pt x="125" y="225"/>
                    <a:pt x="113" y="247"/>
                    <a:pt x="105" y="270"/>
                  </a:cubicBezTo>
                  <a:cubicBezTo>
                    <a:pt x="8" y="291"/>
                    <a:pt x="8" y="291"/>
                    <a:pt x="8" y="291"/>
                  </a:cubicBezTo>
                  <a:cubicBezTo>
                    <a:pt x="0" y="379"/>
                    <a:pt x="0" y="379"/>
                    <a:pt x="0" y="379"/>
                  </a:cubicBezTo>
                  <a:cubicBezTo>
                    <a:pt x="92" y="417"/>
                    <a:pt x="92" y="417"/>
                    <a:pt x="92" y="417"/>
                  </a:cubicBezTo>
                  <a:cubicBezTo>
                    <a:pt x="96" y="441"/>
                    <a:pt x="103" y="464"/>
                    <a:pt x="113" y="485"/>
                  </a:cubicBezTo>
                  <a:cubicBezTo>
                    <a:pt x="59" y="569"/>
                    <a:pt x="59" y="569"/>
                    <a:pt x="59" y="569"/>
                  </a:cubicBezTo>
                  <a:cubicBezTo>
                    <a:pt x="115" y="637"/>
                    <a:pt x="115" y="637"/>
                    <a:pt x="115" y="637"/>
                  </a:cubicBezTo>
                  <a:cubicBezTo>
                    <a:pt x="208" y="599"/>
                    <a:pt x="208" y="599"/>
                    <a:pt x="208" y="599"/>
                  </a:cubicBezTo>
                  <a:cubicBezTo>
                    <a:pt x="226" y="612"/>
                    <a:pt x="247" y="623"/>
                    <a:pt x="269" y="631"/>
                  </a:cubicBezTo>
                  <a:cubicBezTo>
                    <a:pt x="290" y="729"/>
                    <a:pt x="290" y="729"/>
                    <a:pt x="290" y="729"/>
                  </a:cubicBezTo>
                  <a:cubicBezTo>
                    <a:pt x="378" y="738"/>
                    <a:pt x="378" y="738"/>
                    <a:pt x="378" y="738"/>
                  </a:cubicBezTo>
                  <a:cubicBezTo>
                    <a:pt x="417" y="645"/>
                    <a:pt x="417" y="645"/>
                    <a:pt x="417" y="645"/>
                  </a:cubicBezTo>
                  <a:cubicBezTo>
                    <a:pt x="440" y="641"/>
                    <a:pt x="463" y="634"/>
                    <a:pt x="484" y="625"/>
                  </a:cubicBezTo>
                  <a:cubicBezTo>
                    <a:pt x="568" y="679"/>
                    <a:pt x="568" y="679"/>
                    <a:pt x="568" y="679"/>
                  </a:cubicBezTo>
                  <a:cubicBezTo>
                    <a:pt x="636" y="623"/>
                    <a:pt x="636" y="623"/>
                    <a:pt x="636" y="623"/>
                  </a:cubicBezTo>
                  <a:cubicBezTo>
                    <a:pt x="599" y="531"/>
                    <a:pt x="599" y="531"/>
                    <a:pt x="599" y="531"/>
                  </a:cubicBezTo>
                  <a:cubicBezTo>
                    <a:pt x="613" y="511"/>
                    <a:pt x="624" y="489"/>
                    <a:pt x="633" y="465"/>
                  </a:cubicBezTo>
                  <a:lnTo>
                    <a:pt x="730" y="444"/>
                  </a:lnTo>
                  <a:close/>
                  <a:moveTo>
                    <a:pt x="503" y="401"/>
                  </a:moveTo>
                  <a:cubicBezTo>
                    <a:pt x="488" y="463"/>
                    <a:pt x="433" y="505"/>
                    <a:pt x="369" y="505"/>
                  </a:cubicBezTo>
                  <a:cubicBezTo>
                    <a:pt x="369" y="505"/>
                    <a:pt x="369" y="505"/>
                    <a:pt x="369" y="505"/>
                  </a:cubicBezTo>
                  <a:cubicBezTo>
                    <a:pt x="358" y="505"/>
                    <a:pt x="346" y="504"/>
                    <a:pt x="335" y="502"/>
                  </a:cubicBezTo>
                  <a:cubicBezTo>
                    <a:pt x="261" y="483"/>
                    <a:pt x="216" y="408"/>
                    <a:pt x="234" y="334"/>
                  </a:cubicBezTo>
                  <a:cubicBezTo>
                    <a:pt x="250" y="272"/>
                    <a:pt x="305" y="229"/>
                    <a:pt x="369" y="229"/>
                  </a:cubicBezTo>
                  <a:cubicBezTo>
                    <a:pt x="380" y="229"/>
                    <a:pt x="392" y="231"/>
                    <a:pt x="403" y="233"/>
                  </a:cubicBezTo>
                  <a:cubicBezTo>
                    <a:pt x="439" y="242"/>
                    <a:pt x="469" y="265"/>
                    <a:pt x="488" y="297"/>
                  </a:cubicBezTo>
                  <a:cubicBezTo>
                    <a:pt x="507" y="328"/>
                    <a:pt x="512" y="365"/>
                    <a:pt x="503" y="401"/>
                  </a:cubicBezTo>
                  <a:close/>
                </a:path>
              </a:pathLst>
            </a:custGeom>
            <a:solidFill>
              <a:srgbClr val="F6AC19"/>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7" name="Freeform 245">
              <a:extLst>
                <a:ext uri="{FF2B5EF4-FFF2-40B4-BE49-F238E27FC236}">
                  <a16:creationId xmlns:a16="http://schemas.microsoft.com/office/drawing/2014/main" id="{7AFA6EE7-84E9-7948-FAC7-AB9BD22F6438}"/>
                </a:ext>
              </a:extLst>
            </p:cNvPr>
            <p:cNvSpPr>
              <a:spLocks/>
            </p:cNvSpPr>
            <p:nvPr/>
          </p:nvSpPr>
          <p:spPr bwMode="auto">
            <a:xfrm>
              <a:off x="7522183" y="1941222"/>
              <a:ext cx="190500" cy="178594"/>
            </a:xfrm>
            <a:custGeom>
              <a:avLst/>
              <a:gdLst>
                <a:gd name="T0" fmla="*/ 128 w 202"/>
                <a:gd name="T1" fmla="*/ 3 h 189"/>
                <a:gd name="T2" fmla="*/ 104 w 202"/>
                <a:gd name="T3" fmla="*/ 0 h 189"/>
                <a:gd name="T4" fmla="*/ 13 w 202"/>
                <a:gd name="T5" fmla="*/ 71 h 189"/>
                <a:gd name="T6" fmla="*/ 82 w 202"/>
                <a:gd name="T7" fmla="*/ 186 h 189"/>
                <a:gd name="T8" fmla="*/ 105 w 202"/>
                <a:gd name="T9" fmla="*/ 189 h 189"/>
                <a:gd name="T10" fmla="*/ 196 w 202"/>
                <a:gd name="T11" fmla="*/ 117 h 189"/>
                <a:gd name="T12" fmla="*/ 186 w 202"/>
                <a:gd name="T13" fmla="*/ 46 h 189"/>
                <a:gd name="T14" fmla="*/ 128 w 202"/>
                <a:gd name="T15" fmla="*/ 3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2" h="189">
                  <a:moveTo>
                    <a:pt x="128" y="3"/>
                  </a:moveTo>
                  <a:cubicBezTo>
                    <a:pt x="120" y="1"/>
                    <a:pt x="112" y="0"/>
                    <a:pt x="104" y="0"/>
                  </a:cubicBezTo>
                  <a:cubicBezTo>
                    <a:pt x="61" y="0"/>
                    <a:pt x="23" y="29"/>
                    <a:pt x="13" y="71"/>
                  </a:cubicBezTo>
                  <a:cubicBezTo>
                    <a:pt x="0" y="122"/>
                    <a:pt x="31" y="173"/>
                    <a:pt x="82" y="186"/>
                  </a:cubicBezTo>
                  <a:cubicBezTo>
                    <a:pt x="89" y="188"/>
                    <a:pt x="97" y="189"/>
                    <a:pt x="105" y="189"/>
                  </a:cubicBezTo>
                  <a:cubicBezTo>
                    <a:pt x="148" y="189"/>
                    <a:pt x="186" y="160"/>
                    <a:pt x="196" y="117"/>
                  </a:cubicBezTo>
                  <a:cubicBezTo>
                    <a:pt x="202" y="93"/>
                    <a:pt x="199" y="67"/>
                    <a:pt x="186" y="46"/>
                  </a:cubicBezTo>
                  <a:cubicBezTo>
                    <a:pt x="173" y="24"/>
                    <a:pt x="152" y="9"/>
                    <a:pt x="128" y="3"/>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 name="Freeform 246">
              <a:extLst>
                <a:ext uri="{FF2B5EF4-FFF2-40B4-BE49-F238E27FC236}">
                  <a16:creationId xmlns:a16="http://schemas.microsoft.com/office/drawing/2014/main" id="{D992F609-17AC-7703-4C7E-4CC1DB090E09}"/>
                </a:ext>
              </a:extLst>
            </p:cNvPr>
            <p:cNvSpPr>
              <a:spLocks noEditPoints="1"/>
            </p:cNvSpPr>
            <p:nvPr/>
          </p:nvSpPr>
          <p:spPr bwMode="auto">
            <a:xfrm>
              <a:off x="7270962" y="1681666"/>
              <a:ext cx="697706" cy="697706"/>
            </a:xfrm>
            <a:custGeom>
              <a:avLst/>
              <a:gdLst>
                <a:gd name="T0" fmla="*/ 730 w 738"/>
                <a:gd name="T1" fmla="*/ 445 h 738"/>
                <a:gd name="T2" fmla="*/ 738 w 738"/>
                <a:gd name="T3" fmla="*/ 357 h 738"/>
                <a:gd name="T4" fmla="*/ 647 w 738"/>
                <a:gd name="T5" fmla="*/ 319 h 738"/>
                <a:gd name="T6" fmla="*/ 625 w 738"/>
                <a:gd name="T7" fmla="*/ 250 h 738"/>
                <a:gd name="T8" fmla="*/ 678 w 738"/>
                <a:gd name="T9" fmla="*/ 168 h 738"/>
                <a:gd name="T10" fmla="*/ 622 w 738"/>
                <a:gd name="T11" fmla="*/ 100 h 738"/>
                <a:gd name="T12" fmla="*/ 530 w 738"/>
                <a:gd name="T13" fmla="*/ 137 h 738"/>
                <a:gd name="T14" fmla="*/ 469 w 738"/>
                <a:gd name="T15" fmla="*/ 105 h 738"/>
                <a:gd name="T16" fmla="*/ 448 w 738"/>
                <a:gd name="T17" fmla="*/ 9 h 738"/>
                <a:gd name="T18" fmla="*/ 360 w 738"/>
                <a:gd name="T19" fmla="*/ 0 h 738"/>
                <a:gd name="T20" fmla="*/ 322 w 738"/>
                <a:gd name="T21" fmla="*/ 91 h 738"/>
                <a:gd name="T22" fmla="*/ 253 w 738"/>
                <a:gd name="T23" fmla="*/ 112 h 738"/>
                <a:gd name="T24" fmla="*/ 170 w 738"/>
                <a:gd name="T25" fmla="*/ 59 h 738"/>
                <a:gd name="T26" fmla="*/ 102 w 738"/>
                <a:gd name="T27" fmla="*/ 115 h 738"/>
                <a:gd name="T28" fmla="*/ 139 w 738"/>
                <a:gd name="T29" fmla="*/ 206 h 738"/>
                <a:gd name="T30" fmla="*/ 105 w 738"/>
                <a:gd name="T31" fmla="*/ 271 h 738"/>
                <a:gd name="T32" fmla="*/ 8 w 738"/>
                <a:gd name="T33" fmla="*/ 292 h 738"/>
                <a:gd name="T34" fmla="*/ 0 w 738"/>
                <a:gd name="T35" fmla="*/ 379 h 738"/>
                <a:gd name="T36" fmla="*/ 92 w 738"/>
                <a:gd name="T37" fmla="*/ 418 h 738"/>
                <a:gd name="T38" fmla="*/ 113 w 738"/>
                <a:gd name="T39" fmla="*/ 486 h 738"/>
                <a:gd name="T40" fmla="*/ 59 w 738"/>
                <a:gd name="T41" fmla="*/ 570 h 738"/>
                <a:gd name="T42" fmla="*/ 116 w 738"/>
                <a:gd name="T43" fmla="*/ 637 h 738"/>
                <a:gd name="T44" fmla="*/ 208 w 738"/>
                <a:gd name="T45" fmla="*/ 599 h 738"/>
                <a:gd name="T46" fmla="*/ 270 w 738"/>
                <a:gd name="T47" fmla="*/ 632 h 738"/>
                <a:gd name="T48" fmla="*/ 291 w 738"/>
                <a:gd name="T49" fmla="*/ 730 h 738"/>
                <a:gd name="T50" fmla="*/ 379 w 738"/>
                <a:gd name="T51" fmla="*/ 738 h 738"/>
                <a:gd name="T52" fmla="*/ 417 w 738"/>
                <a:gd name="T53" fmla="*/ 646 h 738"/>
                <a:gd name="T54" fmla="*/ 485 w 738"/>
                <a:gd name="T55" fmla="*/ 625 h 738"/>
                <a:gd name="T56" fmla="*/ 569 w 738"/>
                <a:gd name="T57" fmla="*/ 680 h 738"/>
                <a:gd name="T58" fmla="*/ 637 w 738"/>
                <a:gd name="T59" fmla="*/ 623 h 738"/>
                <a:gd name="T60" fmla="*/ 599 w 738"/>
                <a:gd name="T61" fmla="*/ 532 h 738"/>
                <a:gd name="T62" fmla="*/ 634 w 738"/>
                <a:gd name="T63" fmla="*/ 466 h 738"/>
                <a:gd name="T64" fmla="*/ 730 w 738"/>
                <a:gd name="T65" fmla="*/ 445 h 738"/>
                <a:gd name="T66" fmla="*/ 504 w 738"/>
                <a:gd name="T67" fmla="*/ 402 h 738"/>
                <a:gd name="T68" fmla="*/ 370 w 738"/>
                <a:gd name="T69" fmla="*/ 507 h 738"/>
                <a:gd name="T70" fmla="*/ 336 w 738"/>
                <a:gd name="T71" fmla="*/ 503 h 738"/>
                <a:gd name="T72" fmla="*/ 235 w 738"/>
                <a:gd name="T73" fmla="*/ 335 h 738"/>
                <a:gd name="T74" fmla="*/ 369 w 738"/>
                <a:gd name="T75" fmla="*/ 230 h 738"/>
                <a:gd name="T76" fmla="*/ 403 w 738"/>
                <a:gd name="T77" fmla="*/ 234 h 738"/>
                <a:gd name="T78" fmla="*/ 488 w 738"/>
                <a:gd name="T79" fmla="*/ 297 h 738"/>
                <a:gd name="T80" fmla="*/ 504 w 738"/>
                <a:gd name="T81" fmla="*/ 402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38" h="738">
                  <a:moveTo>
                    <a:pt x="730" y="445"/>
                  </a:moveTo>
                  <a:cubicBezTo>
                    <a:pt x="738" y="357"/>
                    <a:pt x="738" y="357"/>
                    <a:pt x="738" y="357"/>
                  </a:cubicBezTo>
                  <a:cubicBezTo>
                    <a:pt x="647" y="319"/>
                    <a:pt x="647" y="319"/>
                    <a:pt x="647" y="319"/>
                  </a:cubicBezTo>
                  <a:cubicBezTo>
                    <a:pt x="643" y="295"/>
                    <a:pt x="635" y="272"/>
                    <a:pt x="625" y="250"/>
                  </a:cubicBezTo>
                  <a:cubicBezTo>
                    <a:pt x="678" y="168"/>
                    <a:pt x="678" y="168"/>
                    <a:pt x="678" y="168"/>
                  </a:cubicBezTo>
                  <a:cubicBezTo>
                    <a:pt x="622" y="100"/>
                    <a:pt x="622" y="100"/>
                    <a:pt x="622" y="100"/>
                  </a:cubicBezTo>
                  <a:cubicBezTo>
                    <a:pt x="530" y="137"/>
                    <a:pt x="530" y="137"/>
                    <a:pt x="530" y="137"/>
                  </a:cubicBezTo>
                  <a:cubicBezTo>
                    <a:pt x="512" y="124"/>
                    <a:pt x="491" y="113"/>
                    <a:pt x="469" y="105"/>
                  </a:cubicBezTo>
                  <a:cubicBezTo>
                    <a:pt x="448" y="9"/>
                    <a:pt x="448" y="9"/>
                    <a:pt x="448" y="9"/>
                  </a:cubicBezTo>
                  <a:cubicBezTo>
                    <a:pt x="360" y="0"/>
                    <a:pt x="360" y="0"/>
                    <a:pt x="360" y="0"/>
                  </a:cubicBezTo>
                  <a:cubicBezTo>
                    <a:pt x="322" y="91"/>
                    <a:pt x="322" y="91"/>
                    <a:pt x="322" y="91"/>
                  </a:cubicBezTo>
                  <a:cubicBezTo>
                    <a:pt x="298" y="95"/>
                    <a:pt x="275" y="102"/>
                    <a:pt x="253" y="112"/>
                  </a:cubicBezTo>
                  <a:cubicBezTo>
                    <a:pt x="170" y="59"/>
                    <a:pt x="170" y="59"/>
                    <a:pt x="170" y="59"/>
                  </a:cubicBezTo>
                  <a:cubicBezTo>
                    <a:pt x="102" y="115"/>
                    <a:pt x="102" y="115"/>
                    <a:pt x="102" y="115"/>
                  </a:cubicBezTo>
                  <a:cubicBezTo>
                    <a:pt x="139" y="206"/>
                    <a:pt x="139" y="206"/>
                    <a:pt x="139" y="206"/>
                  </a:cubicBezTo>
                  <a:cubicBezTo>
                    <a:pt x="125" y="226"/>
                    <a:pt x="114" y="247"/>
                    <a:pt x="105" y="271"/>
                  </a:cubicBezTo>
                  <a:cubicBezTo>
                    <a:pt x="8" y="292"/>
                    <a:pt x="8" y="292"/>
                    <a:pt x="8" y="292"/>
                  </a:cubicBezTo>
                  <a:cubicBezTo>
                    <a:pt x="0" y="379"/>
                    <a:pt x="0" y="379"/>
                    <a:pt x="0" y="379"/>
                  </a:cubicBezTo>
                  <a:cubicBezTo>
                    <a:pt x="92" y="418"/>
                    <a:pt x="92" y="418"/>
                    <a:pt x="92" y="418"/>
                  </a:cubicBezTo>
                  <a:cubicBezTo>
                    <a:pt x="97" y="441"/>
                    <a:pt x="104" y="464"/>
                    <a:pt x="113" y="486"/>
                  </a:cubicBezTo>
                  <a:cubicBezTo>
                    <a:pt x="59" y="570"/>
                    <a:pt x="59" y="570"/>
                    <a:pt x="59" y="570"/>
                  </a:cubicBezTo>
                  <a:cubicBezTo>
                    <a:pt x="116" y="637"/>
                    <a:pt x="116" y="637"/>
                    <a:pt x="116" y="637"/>
                  </a:cubicBezTo>
                  <a:cubicBezTo>
                    <a:pt x="208" y="599"/>
                    <a:pt x="208" y="599"/>
                    <a:pt x="208" y="599"/>
                  </a:cubicBezTo>
                  <a:cubicBezTo>
                    <a:pt x="227" y="612"/>
                    <a:pt x="248" y="623"/>
                    <a:pt x="270" y="632"/>
                  </a:cubicBezTo>
                  <a:cubicBezTo>
                    <a:pt x="291" y="730"/>
                    <a:pt x="291" y="730"/>
                    <a:pt x="291" y="730"/>
                  </a:cubicBezTo>
                  <a:cubicBezTo>
                    <a:pt x="379" y="738"/>
                    <a:pt x="379" y="738"/>
                    <a:pt x="379" y="738"/>
                  </a:cubicBezTo>
                  <a:cubicBezTo>
                    <a:pt x="417" y="646"/>
                    <a:pt x="417" y="646"/>
                    <a:pt x="417" y="646"/>
                  </a:cubicBezTo>
                  <a:cubicBezTo>
                    <a:pt x="441" y="642"/>
                    <a:pt x="463" y="635"/>
                    <a:pt x="485" y="625"/>
                  </a:cubicBezTo>
                  <a:cubicBezTo>
                    <a:pt x="569" y="680"/>
                    <a:pt x="569" y="680"/>
                    <a:pt x="569" y="680"/>
                  </a:cubicBezTo>
                  <a:cubicBezTo>
                    <a:pt x="637" y="623"/>
                    <a:pt x="637" y="623"/>
                    <a:pt x="637" y="623"/>
                  </a:cubicBezTo>
                  <a:cubicBezTo>
                    <a:pt x="599" y="532"/>
                    <a:pt x="599" y="532"/>
                    <a:pt x="599" y="532"/>
                  </a:cubicBezTo>
                  <a:cubicBezTo>
                    <a:pt x="613" y="512"/>
                    <a:pt x="625" y="490"/>
                    <a:pt x="634" y="466"/>
                  </a:cubicBezTo>
                  <a:lnTo>
                    <a:pt x="730" y="445"/>
                  </a:lnTo>
                  <a:close/>
                  <a:moveTo>
                    <a:pt x="504" y="402"/>
                  </a:moveTo>
                  <a:cubicBezTo>
                    <a:pt x="489" y="464"/>
                    <a:pt x="433" y="507"/>
                    <a:pt x="370" y="507"/>
                  </a:cubicBezTo>
                  <a:cubicBezTo>
                    <a:pt x="358" y="507"/>
                    <a:pt x="347" y="506"/>
                    <a:pt x="336" y="503"/>
                  </a:cubicBezTo>
                  <a:cubicBezTo>
                    <a:pt x="262" y="484"/>
                    <a:pt x="217" y="409"/>
                    <a:pt x="235" y="335"/>
                  </a:cubicBezTo>
                  <a:cubicBezTo>
                    <a:pt x="251" y="273"/>
                    <a:pt x="306" y="230"/>
                    <a:pt x="369" y="230"/>
                  </a:cubicBezTo>
                  <a:cubicBezTo>
                    <a:pt x="381" y="230"/>
                    <a:pt x="392" y="231"/>
                    <a:pt x="403" y="234"/>
                  </a:cubicBezTo>
                  <a:cubicBezTo>
                    <a:pt x="439" y="243"/>
                    <a:pt x="469" y="265"/>
                    <a:pt x="488" y="297"/>
                  </a:cubicBezTo>
                  <a:cubicBezTo>
                    <a:pt x="508" y="329"/>
                    <a:pt x="513" y="366"/>
                    <a:pt x="504" y="402"/>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9" name="Freeform 247">
              <a:extLst>
                <a:ext uri="{FF2B5EF4-FFF2-40B4-BE49-F238E27FC236}">
                  <a16:creationId xmlns:a16="http://schemas.microsoft.com/office/drawing/2014/main" id="{749EA90D-A35D-C010-B2E1-FEF893EB1B56}"/>
                </a:ext>
              </a:extLst>
            </p:cNvPr>
            <p:cNvSpPr>
              <a:spLocks noEditPoints="1"/>
            </p:cNvSpPr>
            <p:nvPr/>
          </p:nvSpPr>
          <p:spPr bwMode="auto">
            <a:xfrm>
              <a:off x="5364770" y="2154344"/>
              <a:ext cx="472679" cy="471488"/>
            </a:xfrm>
            <a:custGeom>
              <a:avLst/>
              <a:gdLst>
                <a:gd name="T0" fmla="*/ 250 w 500"/>
                <a:gd name="T1" fmla="*/ 499 h 499"/>
                <a:gd name="T2" fmla="*/ 0 w 500"/>
                <a:gd name="T3" fmla="*/ 249 h 499"/>
                <a:gd name="T4" fmla="*/ 250 w 500"/>
                <a:gd name="T5" fmla="*/ 0 h 499"/>
                <a:gd name="T6" fmla="*/ 500 w 500"/>
                <a:gd name="T7" fmla="*/ 249 h 499"/>
                <a:gd name="T8" fmla="*/ 250 w 500"/>
                <a:gd name="T9" fmla="*/ 499 h 499"/>
                <a:gd name="T10" fmla="*/ 250 w 500"/>
                <a:gd name="T11" fmla="*/ 140 h 499"/>
                <a:gd name="T12" fmla="*/ 140 w 500"/>
                <a:gd name="T13" fmla="*/ 249 h 499"/>
                <a:gd name="T14" fmla="*/ 250 w 500"/>
                <a:gd name="T15" fmla="*/ 359 h 499"/>
                <a:gd name="T16" fmla="*/ 360 w 500"/>
                <a:gd name="T17" fmla="*/ 249 h 499"/>
                <a:gd name="T18" fmla="*/ 250 w 500"/>
                <a:gd name="T19" fmla="*/ 140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0" h="499">
                  <a:moveTo>
                    <a:pt x="250" y="499"/>
                  </a:moveTo>
                  <a:cubicBezTo>
                    <a:pt x="112" y="499"/>
                    <a:pt x="0" y="387"/>
                    <a:pt x="0" y="249"/>
                  </a:cubicBezTo>
                  <a:cubicBezTo>
                    <a:pt x="0" y="112"/>
                    <a:pt x="112" y="0"/>
                    <a:pt x="250" y="0"/>
                  </a:cubicBezTo>
                  <a:cubicBezTo>
                    <a:pt x="388" y="0"/>
                    <a:pt x="500" y="112"/>
                    <a:pt x="500" y="249"/>
                  </a:cubicBezTo>
                  <a:cubicBezTo>
                    <a:pt x="500" y="387"/>
                    <a:pt x="388" y="499"/>
                    <a:pt x="250" y="499"/>
                  </a:cubicBezTo>
                  <a:close/>
                  <a:moveTo>
                    <a:pt x="250" y="140"/>
                  </a:moveTo>
                  <a:cubicBezTo>
                    <a:pt x="190" y="140"/>
                    <a:pt x="140" y="189"/>
                    <a:pt x="140" y="249"/>
                  </a:cubicBezTo>
                  <a:cubicBezTo>
                    <a:pt x="140" y="310"/>
                    <a:pt x="190" y="359"/>
                    <a:pt x="250" y="359"/>
                  </a:cubicBezTo>
                  <a:cubicBezTo>
                    <a:pt x="311" y="359"/>
                    <a:pt x="360" y="310"/>
                    <a:pt x="360" y="249"/>
                  </a:cubicBezTo>
                  <a:cubicBezTo>
                    <a:pt x="360" y="189"/>
                    <a:pt x="311" y="140"/>
                    <a:pt x="250" y="140"/>
                  </a:cubicBezTo>
                  <a:close/>
                </a:path>
              </a:pathLst>
            </a:custGeom>
            <a:solidFill>
              <a:srgbClr val="F6AC19"/>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0" name="Freeform 248">
              <a:extLst>
                <a:ext uri="{FF2B5EF4-FFF2-40B4-BE49-F238E27FC236}">
                  <a16:creationId xmlns:a16="http://schemas.microsoft.com/office/drawing/2014/main" id="{64DA4A1D-DFF6-B955-6298-00DC427F6F41}"/>
                </a:ext>
              </a:extLst>
            </p:cNvPr>
            <p:cNvSpPr>
              <a:spLocks noEditPoints="1"/>
            </p:cNvSpPr>
            <p:nvPr/>
          </p:nvSpPr>
          <p:spPr bwMode="auto">
            <a:xfrm>
              <a:off x="6880437" y="2987782"/>
              <a:ext cx="541735" cy="544115"/>
            </a:xfrm>
            <a:custGeom>
              <a:avLst/>
              <a:gdLst>
                <a:gd name="T0" fmla="*/ 287 w 574"/>
                <a:gd name="T1" fmla="*/ 575 h 575"/>
                <a:gd name="T2" fmla="*/ 0 w 574"/>
                <a:gd name="T3" fmla="*/ 287 h 575"/>
                <a:gd name="T4" fmla="*/ 287 w 574"/>
                <a:gd name="T5" fmla="*/ 0 h 575"/>
                <a:gd name="T6" fmla="*/ 574 w 574"/>
                <a:gd name="T7" fmla="*/ 287 h 575"/>
                <a:gd name="T8" fmla="*/ 287 w 574"/>
                <a:gd name="T9" fmla="*/ 575 h 575"/>
                <a:gd name="T10" fmla="*/ 287 w 574"/>
                <a:gd name="T11" fmla="*/ 160 h 575"/>
                <a:gd name="T12" fmla="*/ 160 w 574"/>
                <a:gd name="T13" fmla="*/ 287 h 575"/>
                <a:gd name="T14" fmla="*/ 287 w 574"/>
                <a:gd name="T15" fmla="*/ 415 h 575"/>
                <a:gd name="T16" fmla="*/ 414 w 574"/>
                <a:gd name="T17" fmla="*/ 287 h 575"/>
                <a:gd name="T18" fmla="*/ 287 w 574"/>
                <a:gd name="T19" fmla="*/ 160 h 5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4" h="575">
                  <a:moveTo>
                    <a:pt x="287" y="575"/>
                  </a:moveTo>
                  <a:cubicBezTo>
                    <a:pt x="129" y="575"/>
                    <a:pt x="0" y="446"/>
                    <a:pt x="0" y="287"/>
                  </a:cubicBezTo>
                  <a:cubicBezTo>
                    <a:pt x="0" y="129"/>
                    <a:pt x="129" y="0"/>
                    <a:pt x="287" y="0"/>
                  </a:cubicBezTo>
                  <a:cubicBezTo>
                    <a:pt x="446" y="0"/>
                    <a:pt x="574" y="129"/>
                    <a:pt x="574" y="287"/>
                  </a:cubicBezTo>
                  <a:cubicBezTo>
                    <a:pt x="574" y="446"/>
                    <a:pt x="446" y="575"/>
                    <a:pt x="287" y="575"/>
                  </a:cubicBezTo>
                  <a:close/>
                  <a:moveTo>
                    <a:pt x="287" y="160"/>
                  </a:moveTo>
                  <a:cubicBezTo>
                    <a:pt x="217" y="160"/>
                    <a:pt x="160" y="217"/>
                    <a:pt x="160" y="287"/>
                  </a:cubicBezTo>
                  <a:cubicBezTo>
                    <a:pt x="160" y="358"/>
                    <a:pt x="217" y="415"/>
                    <a:pt x="287" y="415"/>
                  </a:cubicBezTo>
                  <a:cubicBezTo>
                    <a:pt x="357" y="415"/>
                    <a:pt x="414" y="358"/>
                    <a:pt x="414" y="287"/>
                  </a:cubicBezTo>
                  <a:cubicBezTo>
                    <a:pt x="414" y="217"/>
                    <a:pt x="357" y="160"/>
                    <a:pt x="287" y="160"/>
                  </a:cubicBezTo>
                  <a:close/>
                </a:path>
              </a:pathLst>
            </a:custGeom>
            <a:solidFill>
              <a:srgbClr val="F6AC19"/>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1" name="Freeform 249">
              <a:extLst>
                <a:ext uri="{FF2B5EF4-FFF2-40B4-BE49-F238E27FC236}">
                  <a16:creationId xmlns:a16="http://schemas.microsoft.com/office/drawing/2014/main" id="{C62742C5-DEB3-599F-9939-0765964A6AFD}"/>
                </a:ext>
              </a:extLst>
            </p:cNvPr>
            <p:cNvSpPr>
              <a:spLocks noEditPoints="1"/>
            </p:cNvSpPr>
            <p:nvPr/>
          </p:nvSpPr>
          <p:spPr bwMode="auto">
            <a:xfrm>
              <a:off x="6639930" y="1410203"/>
              <a:ext cx="342900" cy="342900"/>
            </a:xfrm>
            <a:custGeom>
              <a:avLst/>
              <a:gdLst>
                <a:gd name="T0" fmla="*/ 181 w 363"/>
                <a:gd name="T1" fmla="*/ 363 h 363"/>
                <a:gd name="T2" fmla="*/ 0 w 363"/>
                <a:gd name="T3" fmla="*/ 181 h 363"/>
                <a:gd name="T4" fmla="*/ 181 w 363"/>
                <a:gd name="T5" fmla="*/ 0 h 363"/>
                <a:gd name="T6" fmla="*/ 363 w 363"/>
                <a:gd name="T7" fmla="*/ 181 h 363"/>
                <a:gd name="T8" fmla="*/ 181 w 363"/>
                <a:gd name="T9" fmla="*/ 363 h 363"/>
                <a:gd name="T10" fmla="*/ 181 w 363"/>
                <a:gd name="T11" fmla="*/ 120 h 363"/>
                <a:gd name="T12" fmla="*/ 120 w 363"/>
                <a:gd name="T13" fmla="*/ 181 h 363"/>
                <a:gd name="T14" fmla="*/ 181 w 363"/>
                <a:gd name="T15" fmla="*/ 243 h 363"/>
                <a:gd name="T16" fmla="*/ 243 w 363"/>
                <a:gd name="T17" fmla="*/ 181 h 363"/>
                <a:gd name="T18" fmla="*/ 181 w 363"/>
                <a:gd name="T19" fmla="*/ 120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3" h="363">
                  <a:moveTo>
                    <a:pt x="181" y="363"/>
                  </a:moveTo>
                  <a:cubicBezTo>
                    <a:pt x="81" y="363"/>
                    <a:pt x="0" y="282"/>
                    <a:pt x="0" y="181"/>
                  </a:cubicBezTo>
                  <a:cubicBezTo>
                    <a:pt x="0" y="81"/>
                    <a:pt x="81" y="0"/>
                    <a:pt x="181" y="0"/>
                  </a:cubicBezTo>
                  <a:cubicBezTo>
                    <a:pt x="281" y="0"/>
                    <a:pt x="363" y="81"/>
                    <a:pt x="363" y="181"/>
                  </a:cubicBezTo>
                  <a:cubicBezTo>
                    <a:pt x="363" y="282"/>
                    <a:pt x="281" y="363"/>
                    <a:pt x="181" y="363"/>
                  </a:cubicBezTo>
                  <a:close/>
                  <a:moveTo>
                    <a:pt x="181" y="120"/>
                  </a:moveTo>
                  <a:cubicBezTo>
                    <a:pt x="147" y="120"/>
                    <a:pt x="120" y="147"/>
                    <a:pt x="120" y="181"/>
                  </a:cubicBezTo>
                  <a:cubicBezTo>
                    <a:pt x="120" y="215"/>
                    <a:pt x="147" y="243"/>
                    <a:pt x="181" y="243"/>
                  </a:cubicBezTo>
                  <a:cubicBezTo>
                    <a:pt x="215" y="243"/>
                    <a:pt x="243" y="215"/>
                    <a:pt x="243" y="181"/>
                  </a:cubicBezTo>
                  <a:cubicBezTo>
                    <a:pt x="243" y="147"/>
                    <a:pt x="215" y="120"/>
                    <a:pt x="181" y="120"/>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2" name="Freeform 250">
              <a:extLst>
                <a:ext uri="{FF2B5EF4-FFF2-40B4-BE49-F238E27FC236}">
                  <a16:creationId xmlns:a16="http://schemas.microsoft.com/office/drawing/2014/main" id="{349CBA4B-9BB4-40AE-9696-C40F565FD635}"/>
                </a:ext>
              </a:extLst>
            </p:cNvPr>
            <p:cNvSpPr>
              <a:spLocks noEditPoints="1"/>
            </p:cNvSpPr>
            <p:nvPr/>
          </p:nvSpPr>
          <p:spPr bwMode="auto">
            <a:xfrm>
              <a:off x="6256549" y="4352239"/>
              <a:ext cx="323850" cy="325040"/>
            </a:xfrm>
            <a:custGeom>
              <a:avLst/>
              <a:gdLst>
                <a:gd name="T0" fmla="*/ 171 w 343"/>
                <a:gd name="T1" fmla="*/ 343 h 343"/>
                <a:gd name="T2" fmla="*/ 0 w 343"/>
                <a:gd name="T3" fmla="*/ 171 h 343"/>
                <a:gd name="T4" fmla="*/ 171 w 343"/>
                <a:gd name="T5" fmla="*/ 0 h 343"/>
                <a:gd name="T6" fmla="*/ 343 w 343"/>
                <a:gd name="T7" fmla="*/ 171 h 343"/>
                <a:gd name="T8" fmla="*/ 171 w 343"/>
                <a:gd name="T9" fmla="*/ 343 h 343"/>
                <a:gd name="T10" fmla="*/ 171 w 343"/>
                <a:gd name="T11" fmla="*/ 100 h 343"/>
                <a:gd name="T12" fmla="*/ 100 w 343"/>
                <a:gd name="T13" fmla="*/ 171 h 343"/>
                <a:gd name="T14" fmla="*/ 171 w 343"/>
                <a:gd name="T15" fmla="*/ 243 h 343"/>
                <a:gd name="T16" fmla="*/ 243 w 343"/>
                <a:gd name="T17" fmla="*/ 171 h 343"/>
                <a:gd name="T18" fmla="*/ 171 w 343"/>
                <a:gd name="T19" fmla="*/ 100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3" h="343">
                  <a:moveTo>
                    <a:pt x="171" y="343"/>
                  </a:moveTo>
                  <a:cubicBezTo>
                    <a:pt x="77" y="343"/>
                    <a:pt x="0" y="266"/>
                    <a:pt x="0" y="171"/>
                  </a:cubicBezTo>
                  <a:cubicBezTo>
                    <a:pt x="0" y="77"/>
                    <a:pt x="77" y="0"/>
                    <a:pt x="171" y="0"/>
                  </a:cubicBezTo>
                  <a:cubicBezTo>
                    <a:pt x="266" y="0"/>
                    <a:pt x="343" y="77"/>
                    <a:pt x="343" y="171"/>
                  </a:cubicBezTo>
                  <a:cubicBezTo>
                    <a:pt x="343" y="266"/>
                    <a:pt x="266" y="343"/>
                    <a:pt x="171" y="343"/>
                  </a:cubicBezTo>
                  <a:close/>
                  <a:moveTo>
                    <a:pt x="171" y="100"/>
                  </a:moveTo>
                  <a:cubicBezTo>
                    <a:pt x="132" y="100"/>
                    <a:pt x="100" y="132"/>
                    <a:pt x="100" y="171"/>
                  </a:cubicBezTo>
                  <a:cubicBezTo>
                    <a:pt x="100" y="211"/>
                    <a:pt x="132" y="243"/>
                    <a:pt x="171" y="243"/>
                  </a:cubicBezTo>
                  <a:cubicBezTo>
                    <a:pt x="211" y="243"/>
                    <a:pt x="243" y="211"/>
                    <a:pt x="243" y="171"/>
                  </a:cubicBezTo>
                  <a:cubicBezTo>
                    <a:pt x="243" y="132"/>
                    <a:pt x="211" y="100"/>
                    <a:pt x="171" y="100"/>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3" name="Freeform 254">
              <a:extLst>
                <a:ext uri="{FF2B5EF4-FFF2-40B4-BE49-F238E27FC236}">
                  <a16:creationId xmlns:a16="http://schemas.microsoft.com/office/drawing/2014/main" id="{115352EB-5417-C9A2-F596-6BBE0615F77A}"/>
                </a:ext>
              </a:extLst>
            </p:cNvPr>
            <p:cNvSpPr>
              <a:spLocks/>
            </p:cNvSpPr>
            <p:nvPr/>
          </p:nvSpPr>
          <p:spPr bwMode="auto">
            <a:xfrm>
              <a:off x="5007081" y="3392592"/>
              <a:ext cx="551260" cy="264319"/>
            </a:xfrm>
            <a:custGeom>
              <a:avLst/>
              <a:gdLst>
                <a:gd name="T0" fmla="*/ 630 w 651"/>
                <a:gd name="T1" fmla="*/ 273 h 313"/>
                <a:gd name="T2" fmla="*/ 589 w 651"/>
                <a:gd name="T3" fmla="*/ 273 h 313"/>
                <a:gd name="T4" fmla="*/ 304 w 651"/>
                <a:gd name="T5" fmla="*/ 0 h 313"/>
                <a:gd name="T6" fmla="*/ 19 w 651"/>
                <a:gd name="T7" fmla="*/ 271 h 313"/>
                <a:gd name="T8" fmla="*/ 0 w 651"/>
                <a:gd name="T9" fmla="*/ 292 h 313"/>
                <a:gd name="T10" fmla="*/ 21 w 651"/>
                <a:gd name="T11" fmla="*/ 313 h 313"/>
                <a:gd name="T12" fmla="*/ 630 w 651"/>
                <a:gd name="T13" fmla="*/ 313 h 313"/>
                <a:gd name="T14" fmla="*/ 651 w 651"/>
                <a:gd name="T15" fmla="*/ 293 h 313"/>
                <a:gd name="T16" fmla="*/ 630 w 651"/>
                <a:gd name="T17" fmla="*/ 273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1" h="313">
                  <a:moveTo>
                    <a:pt x="630" y="273"/>
                  </a:moveTo>
                  <a:cubicBezTo>
                    <a:pt x="589" y="273"/>
                    <a:pt x="589" y="273"/>
                    <a:pt x="589" y="273"/>
                  </a:cubicBezTo>
                  <a:cubicBezTo>
                    <a:pt x="578" y="113"/>
                    <a:pt x="454" y="0"/>
                    <a:pt x="304" y="0"/>
                  </a:cubicBezTo>
                  <a:cubicBezTo>
                    <a:pt x="153" y="0"/>
                    <a:pt x="30" y="116"/>
                    <a:pt x="19" y="271"/>
                  </a:cubicBezTo>
                  <a:cubicBezTo>
                    <a:pt x="9" y="272"/>
                    <a:pt x="0" y="281"/>
                    <a:pt x="0" y="292"/>
                  </a:cubicBezTo>
                  <a:cubicBezTo>
                    <a:pt x="0" y="303"/>
                    <a:pt x="10" y="313"/>
                    <a:pt x="21" y="313"/>
                  </a:cubicBezTo>
                  <a:cubicBezTo>
                    <a:pt x="630" y="313"/>
                    <a:pt x="630" y="313"/>
                    <a:pt x="630" y="313"/>
                  </a:cubicBezTo>
                  <a:cubicBezTo>
                    <a:pt x="642" y="313"/>
                    <a:pt x="651" y="304"/>
                    <a:pt x="651" y="293"/>
                  </a:cubicBezTo>
                  <a:cubicBezTo>
                    <a:pt x="651" y="282"/>
                    <a:pt x="642" y="273"/>
                    <a:pt x="630" y="273"/>
                  </a:cubicBezTo>
                  <a:close/>
                </a:path>
              </a:pathLst>
            </a:custGeom>
            <a:solidFill>
              <a:srgbClr val="F6AC19"/>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4" name="Freeform 255">
              <a:extLst>
                <a:ext uri="{FF2B5EF4-FFF2-40B4-BE49-F238E27FC236}">
                  <a16:creationId xmlns:a16="http://schemas.microsoft.com/office/drawing/2014/main" id="{34EF3831-D9C0-5C71-7882-84EDC1845AB3}"/>
                </a:ext>
              </a:extLst>
            </p:cNvPr>
            <p:cNvSpPr>
              <a:spLocks/>
            </p:cNvSpPr>
            <p:nvPr/>
          </p:nvSpPr>
          <p:spPr bwMode="auto">
            <a:xfrm>
              <a:off x="4880156" y="3471863"/>
              <a:ext cx="1106121" cy="2120326"/>
            </a:xfrm>
            <a:custGeom>
              <a:avLst/>
              <a:gdLst>
                <a:gd name="T0" fmla="*/ 835 w 1488"/>
                <a:gd name="T1" fmla="*/ 717 h 2854"/>
                <a:gd name="T2" fmla="*/ 851 w 1488"/>
                <a:gd name="T3" fmla="*/ 708 h 2854"/>
                <a:gd name="T4" fmla="*/ 1249 w 1488"/>
                <a:gd name="T5" fmla="*/ 68 h 2854"/>
                <a:gd name="T6" fmla="*/ 1417 w 1488"/>
                <a:gd name="T7" fmla="*/ 36 h 2854"/>
                <a:gd name="T8" fmla="*/ 1451 w 1488"/>
                <a:gd name="T9" fmla="*/ 199 h 2854"/>
                <a:gd name="T10" fmla="*/ 890 w 1488"/>
                <a:gd name="T11" fmla="*/ 1074 h 2854"/>
                <a:gd name="T12" fmla="*/ 887 w 1488"/>
                <a:gd name="T13" fmla="*/ 1085 h 2854"/>
                <a:gd name="T14" fmla="*/ 887 w 1488"/>
                <a:gd name="T15" fmla="*/ 1839 h 2854"/>
                <a:gd name="T16" fmla="*/ 887 w 1488"/>
                <a:gd name="T17" fmla="*/ 1906 h 2854"/>
                <a:gd name="T18" fmla="*/ 887 w 1488"/>
                <a:gd name="T19" fmla="*/ 2723 h 2854"/>
                <a:gd name="T20" fmla="*/ 751 w 1488"/>
                <a:gd name="T21" fmla="*/ 2854 h 2854"/>
                <a:gd name="T22" fmla="*/ 749 w 1488"/>
                <a:gd name="T23" fmla="*/ 2854 h 2854"/>
                <a:gd name="T24" fmla="*/ 614 w 1488"/>
                <a:gd name="T25" fmla="*/ 2723 h 2854"/>
                <a:gd name="T26" fmla="*/ 614 w 1488"/>
                <a:gd name="T27" fmla="*/ 1925 h 2854"/>
                <a:gd name="T28" fmla="*/ 595 w 1488"/>
                <a:gd name="T29" fmla="*/ 1906 h 2854"/>
                <a:gd name="T30" fmla="*/ 576 w 1488"/>
                <a:gd name="T31" fmla="*/ 1906 h 2854"/>
                <a:gd name="T32" fmla="*/ 557 w 1488"/>
                <a:gd name="T33" fmla="*/ 1925 h 2854"/>
                <a:gd name="T34" fmla="*/ 557 w 1488"/>
                <a:gd name="T35" fmla="*/ 2723 h 2854"/>
                <a:gd name="T36" fmla="*/ 421 w 1488"/>
                <a:gd name="T37" fmla="*/ 2854 h 2854"/>
                <a:gd name="T38" fmla="*/ 419 w 1488"/>
                <a:gd name="T39" fmla="*/ 2854 h 2854"/>
                <a:gd name="T40" fmla="*/ 283 w 1488"/>
                <a:gd name="T41" fmla="*/ 2723 h 2854"/>
                <a:gd name="T42" fmla="*/ 283 w 1488"/>
                <a:gd name="T43" fmla="*/ 1906 h 2854"/>
                <a:gd name="T44" fmla="*/ 283 w 1488"/>
                <a:gd name="T45" fmla="*/ 1839 h 2854"/>
                <a:gd name="T46" fmla="*/ 283 w 1488"/>
                <a:gd name="T47" fmla="*/ 1103 h 2854"/>
                <a:gd name="T48" fmla="*/ 263 w 1488"/>
                <a:gd name="T49" fmla="*/ 1085 h 2854"/>
                <a:gd name="T50" fmla="*/ 263 w 1488"/>
                <a:gd name="T51" fmla="*/ 1085 h 2854"/>
                <a:gd name="T52" fmla="*/ 246 w 1488"/>
                <a:gd name="T53" fmla="*/ 1103 h 2854"/>
                <a:gd name="T54" fmla="*/ 246 w 1488"/>
                <a:gd name="T55" fmla="*/ 1712 h 2854"/>
                <a:gd name="T56" fmla="*/ 123 w 1488"/>
                <a:gd name="T57" fmla="*/ 1830 h 2854"/>
                <a:gd name="T58" fmla="*/ 0 w 1488"/>
                <a:gd name="T59" fmla="*/ 1712 h 2854"/>
                <a:gd name="T60" fmla="*/ 0 w 1488"/>
                <a:gd name="T61" fmla="*/ 1170 h 2854"/>
                <a:gd name="T62" fmla="*/ 0 w 1488"/>
                <a:gd name="T63" fmla="*/ 1024 h 2854"/>
                <a:gd name="T64" fmla="*/ 0 w 1488"/>
                <a:gd name="T65" fmla="*/ 736 h 2854"/>
                <a:gd name="T66" fmla="*/ 19 w 1488"/>
                <a:gd name="T67" fmla="*/ 717 h 2854"/>
                <a:gd name="T68" fmla="*/ 835 w 1488"/>
                <a:gd name="T69" fmla="*/ 717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88" h="2854">
                  <a:moveTo>
                    <a:pt x="835" y="717"/>
                  </a:moveTo>
                  <a:cubicBezTo>
                    <a:pt x="841" y="717"/>
                    <a:pt x="847" y="714"/>
                    <a:pt x="851" y="708"/>
                  </a:cubicBezTo>
                  <a:cubicBezTo>
                    <a:pt x="1249" y="68"/>
                    <a:pt x="1249" y="68"/>
                    <a:pt x="1249" y="68"/>
                  </a:cubicBezTo>
                  <a:cubicBezTo>
                    <a:pt x="1286" y="14"/>
                    <a:pt x="1361" y="0"/>
                    <a:pt x="1417" y="36"/>
                  </a:cubicBezTo>
                  <a:cubicBezTo>
                    <a:pt x="1473" y="72"/>
                    <a:pt x="1488" y="145"/>
                    <a:pt x="1451" y="199"/>
                  </a:cubicBezTo>
                  <a:cubicBezTo>
                    <a:pt x="890" y="1074"/>
                    <a:pt x="890" y="1074"/>
                    <a:pt x="890" y="1074"/>
                  </a:cubicBezTo>
                  <a:cubicBezTo>
                    <a:pt x="888" y="1077"/>
                    <a:pt x="887" y="1081"/>
                    <a:pt x="887" y="1085"/>
                  </a:cubicBezTo>
                  <a:cubicBezTo>
                    <a:pt x="887" y="1839"/>
                    <a:pt x="887" y="1839"/>
                    <a:pt x="887" y="1839"/>
                  </a:cubicBezTo>
                  <a:cubicBezTo>
                    <a:pt x="887" y="1906"/>
                    <a:pt x="887" y="1906"/>
                    <a:pt x="887" y="1906"/>
                  </a:cubicBezTo>
                  <a:cubicBezTo>
                    <a:pt x="887" y="2723"/>
                    <a:pt x="887" y="2723"/>
                    <a:pt x="887" y="2723"/>
                  </a:cubicBezTo>
                  <a:cubicBezTo>
                    <a:pt x="887" y="2795"/>
                    <a:pt x="826" y="2854"/>
                    <a:pt x="751" y="2854"/>
                  </a:cubicBezTo>
                  <a:cubicBezTo>
                    <a:pt x="749" y="2854"/>
                    <a:pt x="749" y="2854"/>
                    <a:pt x="749" y="2854"/>
                  </a:cubicBezTo>
                  <a:cubicBezTo>
                    <a:pt x="675" y="2854"/>
                    <a:pt x="614" y="2795"/>
                    <a:pt x="614" y="2723"/>
                  </a:cubicBezTo>
                  <a:cubicBezTo>
                    <a:pt x="614" y="1925"/>
                    <a:pt x="614" y="1925"/>
                    <a:pt x="614" y="1925"/>
                  </a:cubicBezTo>
                  <a:cubicBezTo>
                    <a:pt x="614" y="1914"/>
                    <a:pt x="605" y="1906"/>
                    <a:pt x="595" y="1906"/>
                  </a:cubicBezTo>
                  <a:cubicBezTo>
                    <a:pt x="576" y="1906"/>
                    <a:pt x="576" y="1906"/>
                    <a:pt x="576" y="1906"/>
                  </a:cubicBezTo>
                  <a:cubicBezTo>
                    <a:pt x="565" y="1906"/>
                    <a:pt x="557" y="1914"/>
                    <a:pt x="557" y="1925"/>
                  </a:cubicBezTo>
                  <a:cubicBezTo>
                    <a:pt x="557" y="2723"/>
                    <a:pt x="557" y="2723"/>
                    <a:pt x="557" y="2723"/>
                  </a:cubicBezTo>
                  <a:cubicBezTo>
                    <a:pt x="557" y="2795"/>
                    <a:pt x="495" y="2854"/>
                    <a:pt x="421" y="2854"/>
                  </a:cubicBezTo>
                  <a:cubicBezTo>
                    <a:pt x="419" y="2854"/>
                    <a:pt x="419" y="2854"/>
                    <a:pt x="419" y="2854"/>
                  </a:cubicBezTo>
                  <a:cubicBezTo>
                    <a:pt x="344" y="2854"/>
                    <a:pt x="283" y="2795"/>
                    <a:pt x="283" y="2723"/>
                  </a:cubicBezTo>
                  <a:cubicBezTo>
                    <a:pt x="283" y="1906"/>
                    <a:pt x="283" y="1906"/>
                    <a:pt x="283" y="1906"/>
                  </a:cubicBezTo>
                  <a:cubicBezTo>
                    <a:pt x="283" y="1839"/>
                    <a:pt x="283" y="1839"/>
                    <a:pt x="283" y="1839"/>
                  </a:cubicBezTo>
                  <a:cubicBezTo>
                    <a:pt x="283" y="1103"/>
                    <a:pt x="283" y="1103"/>
                    <a:pt x="283" y="1103"/>
                  </a:cubicBezTo>
                  <a:cubicBezTo>
                    <a:pt x="283" y="1092"/>
                    <a:pt x="274" y="1084"/>
                    <a:pt x="263" y="1085"/>
                  </a:cubicBezTo>
                  <a:cubicBezTo>
                    <a:pt x="263" y="1085"/>
                    <a:pt x="263" y="1085"/>
                    <a:pt x="263" y="1085"/>
                  </a:cubicBezTo>
                  <a:cubicBezTo>
                    <a:pt x="253" y="1086"/>
                    <a:pt x="246" y="1094"/>
                    <a:pt x="246" y="1103"/>
                  </a:cubicBezTo>
                  <a:cubicBezTo>
                    <a:pt x="246" y="1712"/>
                    <a:pt x="246" y="1712"/>
                    <a:pt x="246" y="1712"/>
                  </a:cubicBezTo>
                  <a:cubicBezTo>
                    <a:pt x="246" y="1778"/>
                    <a:pt x="190" y="1830"/>
                    <a:pt x="123" y="1830"/>
                  </a:cubicBezTo>
                  <a:cubicBezTo>
                    <a:pt x="56" y="1830"/>
                    <a:pt x="0" y="1778"/>
                    <a:pt x="0" y="1712"/>
                  </a:cubicBezTo>
                  <a:cubicBezTo>
                    <a:pt x="0" y="1170"/>
                    <a:pt x="0" y="1170"/>
                    <a:pt x="0" y="1170"/>
                  </a:cubicBezTo>
                  <a:cubicBezTo>
                    <a:pt x="0" y="1024"/>
                    <a:pt x="0" y="1024"/>
                    <a:pt x="0" y="1024"/>
                  </a:cubicBezTo>
                  <a:cubicBezTo>
                    <a:pt x="0" y="736"/>
                    <a:pt x="0" y="736"/>
                    <a:pt x="0" y="736"/>
                  </a:cubicBezTo>
                  <a:cubicBezTo>
                    <a:pt x="0" y="726"/>
                    <a:pt x="9" y="717"/>
                    <a:pt x="19" y="717"/>
                  </a:cubicBezTo>
                  <a:lnTo>
                    <a:pt x="835" y="717"/>
                  </a:lnTo>
                  <a:close/>
                </a:path>
              </a:pathLst>
            </a:cu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5" name="Freeform 256">
              <a:extLst>
                <a:ext uri="{FF2B5EF4-FFF2-40B4-BE49-F238E27FC236}">
                  <a16:creationId xmlns:a16="http://schemas.microsoft.com/office/drawing/2014/main" id="{6F9AFB10-B231-C808-4CF5-479D31365F53}"/>
                </a:ext>
              </a:extLst>
            </p:cNvPr>
            <p:cNvSpPr>
              <a:spLocks/>
            </p:cNvSpPr>
            <p:nvPr/>
          </p:nvSpPr>
          <p:spPr bwMode="auto">
            <a:xfrm>
              <a:off x="5042799" y="3708108"/>
              <a:ext cx="453629" cy="245269"/>
            </a:xfrm>
            <a:custGeom>
              <a:avLst/>
              <a:gdLst>
                <a:gd name="T0" fmla="*/ 1 w 535"/>
                <a:gd name="T1" fmla="*/ 0 h 290"/>
                <a:gd name="T2" fmla="*/ 0 w 535"/>
                <a:gd name="T3" fmla="*/ 22 h 290"/>
                <a:gd name="T4" fmla="*/ 267 w 535"/>
                <a:gd name="T5" fmla="*/ 290 h 290"/>
                <a:gd name="T6" fmla="*/ 535 w 535"/>
                <a:gd name="T7" fmla="*/ 22 h 290"/>
                <a:gd name="T8" fmla="*/ 534 w 535"/>
                <a:gd name="T9" fmla="*/ 0 h 290"/>
                <a:gd name="T10" fmla="*/ 1 w 535"/>
                <a:gd name="T11" fmla="*/ 0 h 290"/>
              </a:gdLst>
              <a:ahLst/>
              <a:cxnLst>
                <a:cxn ang="0">
                  <a:pos x="T0" y="T1"/>
                </a:cxn>
                <a:cxn ang="0">
                  <a:pos x="T2" y="T3"/>
                </a:cxn>
                <a:cxn ang="0">
                  <a:pos x="T4" y="T5"/>
                </a:cxn>
                <a:cxn ang="0">
                  <a:pos x="T6" y="T7"/>
                </a:cxn>
                <a:cxn ang="0">
                  <a:pos x="T8" y="T9"/>
                </a:cxn>
                <a:cxn ang="0">
                  <a:pos x="T10" y="T11"/>
                </a:cxn>
              </a:cxnLst>
              <a:rect l="0" t="0" r="r" b="b"/>
              <a:pathLst>
                <a:path w="535" h="290">
                  <a:moveTo>
                    <a:pt x="1" y="0"/>
                  </a:moveTo>
                  <a:cubicBezTo>
                    <a:pt x="0" y="7"/>
                    <a:pt x="0" y="15"/>
                    <a:pt x="0" y="22"/>
                  </a:cubicBezTo>
                  <a:cubicBezTo>
                    <a:pt x="0" y="170"/>
                    <a:pt x="120" y="290"/>
                    <a:pt x="267" y="290"/>
                  </a:cubicBezTo>
                  <a:cubicBezTo>
                    <a:pt x="415" y="290"/>
                    <a:pt x="535" y="170"/>
                    <a:pt x="535" y="22"/>
                  </a:cubicBezTo>
                  <a:cubicBezTo>
                    <a:pt x="535" y="15"/>
                    <a:pt x="534" y="7"/>
                    <a:pt x="534" y="0"/>
                  </a:cubicBezTo>
                  <a:lnTo>
                    <a:pt x="1" y="0"/>
                  </a:lnTo>
                  <a:close/>
                </a:path>
              </a:pathLst>
            </a:cu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spTree>
    <p:extLst>
      <p:ext uri="{BB962C8B-B14F-4D97-AF65-F5344CB8AC3E}">
        <p14:creationId xmlns:p14="http://schemas.microsoft.com/office/powerpoint/2010/main" val="1800267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l="34551" b="22206"/>
          <a:stretch/>
        </p:blipFill>
        <p:spPr>
          <a:xfrm>
            <a:off x="11031415" y="1"/>
            <a:ext cx="1160585" cy="917218"/>
          </a:xfrm>
          <a:prstGeom prst="rect">
            <a:avLst/>
          </a:prstGeom>
        </p:spPr>
      </p:pic>
      <p:sp>
        <p:nvSpPr>
          <p:cNvPr id="5" name="Text Placeholder 11"/>
          <p:cNvSpPr>
            <a:spLocks noGrp="1"/>
          </p:cNvSpPr>
          <p:nvPr/>
        </p:nvSpPr>
        <p:spPr>
          <a:xfrm>
            <a:off x="436992" y="791843"/>
            <a:ext cx="11689618" cy="699098"/>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hr-HR" sz="1400" dirty="0"/>
              <a:t>Osnova je </a:t>
            </a:r>
            <a:r>
              <a:rPr lang="hr-HR" sz="1400" b="1" dirty="0"/>
              <a:t>prepoznavanje i razvoj inovacija, te primjena novih tehnologija</a:t>
            </a:r>
            <a:r>
              <a:rPr lang="hr-HR" sz="1400" dirty="0"/>
              <a:t>. Ovim pristupom postupno se događa industrijska tranzicija jer se </a:t>
            </a:r>
            <a:r>
              <a:rPr lang="hr-HR" sz="1400" b="1" dirty="0"/>
              <a:t>pojedincima/poduzetnicima omogućuje uvid i primjena najnovijih tehnoloških dostignuća koja se tiču njihovog poslovanja</a:t>
            </a:r>
            <a:r>
              <a:rPr lang="hr-HR" sz="1400" dirty="0"/>
              <a:t>. </a:t>
            </a:r>
          </a:p>
          <a:p>
            <a:r>
              <a:rPr lang="hr-HR" sz="1400" dirty="0"/>
              <a:t>Paralelno s tim se radi na </a:t>
            </a:r>
            <a:r>
              <a:rPr lang="hr-HR" sz="1400" b="1" dirty="0"/>
              <a:t>edukaciji, osvješćivanju i promociji novih tehnologija, kao i mogućnosti financiranjima poduzetničkih poduhvata</a:t>
            </a:r>
            <a:r>
              <a:rPr lang="hr-HR" sz="1400" dirty="0"/>
              <a:t>.</a:t>
            </a:r>
          </a:p>
        </p:txBody>
      </p:sp>
      <p:sp>
        <p:nvSpPr>
          <p:cNvPr id="6" name="Title 3"/>
          <p:cNvSpPr>
            <a:spLocks noGrp="1"/>
          </p:cNvSpPr>
          <p:nvPr/>
        </p:nvSpPr>
        <p:spPr bwMode="gray">
          <a:xfrm>
            <a:off x="224182" y="246999"/>
            <a:ext cx="11252200"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r>
              <a:rPr lang="hr-HR" dirty="0">
                <a:solidFill>
                  <a:schemeClr val="accent6">
                    <a:lumMod val="50000"/>
                  </a:schemeClr>
                </a:solidFill>
                <a:latin typeface="Verdana" charset="0"/>
                <a:ea typeface="Verdana" charset="0"/>
                <a:cs typeface="Verdana" charset="0"/>
              </a:rPr>
              <a:t>preIncubation</a:t>
            </a:r>
            <a:r>
              <a:rPr lang="hr-HR" dirty="0"/>
              <a:t> :: nove razvojne mogućnosti u zajednici</a:t>
            </a:r>
          </a:p>
        </p:txBody>
      </p:sp>
      <p:sp>
        <p:nvSpPr>
          <p:cNvPr id="40" name="Rounded Rectangle 39"/>
          <p:cNvSpPr/>
          <p:nvPr/>
        </p:nvSpPr>
        <p:spPr bwMode="gray">
          <a:xfrm>
            <a:off x="338728" y="1776804"/>
            <a:ext cx="2088000" cy="694267"/>
          </a:xfrm>
          <a:prstGeom prst="roundRect">
            <a:avLst/>
          </a:prstGeom>
          <a:solidFill>
            <a:srgbClr val="C00000"/>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prstClr val="white"/>
                </a:solidFill>
                <a:latin typeface="Verdana" charset="0"/>
                <a:ea typeface="Verdana" charset="0"/>
                <a:cs typeface="Verdana" charset="0"/>
              </a:rPr>
              <a:t>Lokalne Točke Razvoja</a:t>
            </a:r>
          </a:p>
        </p:txBody>
      </p:sp>
      <p:sp>
        <p:nvSpPr>
          <p:cNvPr id="41" name="Rounded Rectangle 40"/>
          <p:cNvSpPr/>
          <p:nvPr/>
        </p:nvSpPr>
        <p:spPr bwMode="gray">
          <a:xfrm>
            <a:off x="2663874" y="1776804"/>
            <a:ext cx="2088000" cy="694267"/>
          </a:xfrm>
          <a:prstGeom prst="roundRect">
            <a:avLst/>
          </a:prstGeom>
          <a:solidFill>
            <a:srgbClr val="C00000"/>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prstClr val="white"/>
                </a:solidFill>
                <a:latin typeface="Verdana" charset="0"/>
                <a:ea typeface="Verdana" charset="0"/>
                <a:cs typeface="Verdana" charset="0"/>
              </a:rPr>
              <a:t>Predinkubacijski Programi</a:t>
            </a:r>
          </a:p>
        </p:txBody>
      </p:sp>
      <p:sp>
        <p:nvSpPr>
          <p:cNvPr id="42" name="Rounded Rectangle 41"/>
          <p:cNvSpPr/>
          <p:nvPr/>
        </p:nvSpPr>
        <p:spPr bwMode="gray">
          <a:xfrm>
            <a:off x="4989024" y="1789129"/>
            <a:ext cx="2088000" cy="694267"/>
          </a:xfrm>
          <a:prstGeom prst="roundRect">
            <a:avLst/>
          </a:prstGeom>
          <a:solidFill>
            <a:srgbClr val="C00000"/>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prstClr val="white"/>
                </a:solidFill>
                <a:latin typeface="Verdana" charset="0"/>
                <a:ea typeface="Verdana" charset="0"/>
                <a:cs typeface="Verdana" charset="0"/>
              </a:rPr>
              <a:t>Razvoj Ideja i inovacija</a:t>
            </a:r>
          </a:p>
          <a:p>
            <a:pPr algn="ctr">
              <a:lnSpc>
                <a:spcPct val="106000"/>
              </a:lnSpc>
              <a:buFont typeface="Wingdings 2" pitchFamily="18" charset="2"/>
              <a:buNone/>
            </a:pPr>
            <a:r>
              <a:rPr lang="hr-HR" sz="900" dirty="0">
                <a:solidFill>
                  <a:prstClr val="white"/>
                </a:solidFill>
                <a:latin typeface="Verdana" charset="0"/>
                <a:ea typeface="Verdana" charset="0"/>
                <a:cs typeface="Verdana" charset="0"/>
              </a:rPr>
              <a:t>ThinkTank</a:t>
            </a:r>
          </a:p>
        </p:txBody>
      </p:sp>
      <p:sp>
        <p:nvSpPr>
          <p:cNvPr id="43" name="Rounded Rectangle 42"/>
          <p:cNvSpPr/>
          <p:nvPr/>
        </p:nvSpPr>
        <p:spPr bwMode="gray">
          <a:xfrm>
            <a:off x="7314174" y="1789129"/>
            <a:ext cx="2088000" cy="694267"/>
          </a:xfrm>
          <a:prstGeom prst="roundRect">
            <a:avLst/>
          </a:prstGeom>
          <a:solidFill>
            <a:srgbClr val="C00000"/>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prstClr val="white"/>
                </a:solidFill>
                <a:latin typeface="Verdana" charset="0"/>
                <a:ea typeface="Verdana" charset="0"/>
                <a:cs typeface="Verdana" charset="0"/>
              </a:rPr>
              <a:t>Pomoć u zatvaranju Financijskih Konstrukcija za Poduzetničke Projekte</a:t>
            </a:r>
          </a:p>
        </p:txBody>
      </p:sp>
      <p:sp>
        <p:nvSpPr>
          <p:cNvPr id="44" name="Rounded Rectangle 43"/>
          <p:cNvSpPr/>
          <p:nvPr/>
        </p:nvSpPr>
        <p:spPr bwMode="gray">
          <a:xfrm>
            <a:off x="338724" y="6073421"/>
            <a:ext cx="11383376" cy="548553"/>
          </a:xfrm>
          <a:prstGeom prst="roundRect">
            <a:avLst/>
          </a:prstGeom>
          <a:solidFill>
            <a:srgbClr val="C00000"/>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b="1" dirty="0">
                <a:solidFill>
                  <a:schemeClr val="bg1"/>
                </a:solidFill>
              </a:rPr>
              <a:t>Aktivnosti Centra za </a:t>
            </a:r>
            <a:r>
              <a:rPr lang="hr-HR" b="1" dirty="0" err="1">
                <a:solidFill>
                  <a:schemeClr val="bg1"/>
                </a:solidFill>
              </a:rPr>
              <a:t>predinkubaciju</a:t>
            </a:r>
            <a:r>
              <a:rPr lang="hr-HR" b="1" dirty="0">
                <a:solidFill>
                  <a:schemeClr val="bg1"/>
                </a:solidFill>
              </a:rPr>
              <a:t> usmjerene su na implementaciju pametnih tehnologija u gospodarstvo i društvo</a:t>
            </a:r>
          </a:p>
        </p:txBody>
      </p:sp>
      <p:cxnSp>
        <p:nvCxnSpPr>
          <p:cNvPr id="45" name="Straight Connector 44"/>
          <p:cNvCxnSpPr/>
          <p:nvPr/>
        </p:nvCxnSpPr>
        <p:spPr>
          <a:xfrm>
            <a:off x="92483" y="668453"/>
            <a:ext cx="11020994" cy="3603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6" name="Rounded Rectangle 45"/>
          <p:cNvSpPr/>
          <p:nvPr/>
        </p:nvSpPr>
        <p:spPr bwMode="gray">
          <a:xfrm>
            <a:off x="9634100" y="1789128"/>
            <a:ext cx="2088000" cy="694267"/>
          </a:xfrm>
          <a:prstGeom prst="roundRect">
            <a:avLst/>
          </a:prstGeom>
          <a:solidFill>
            <a:srgbClr val="C00000"/>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prstClr val="white"/>
                </a:solidFill>
                <a:latin typeface="Verdana" charset="0"/>
                <a:ea typeface="Verdana" charset="0"/>
                <a:cs typeface="Verdana" charset="0"/>
              </a:rPr>
              <a:t>Programi</a:t>
            </a:r>
          </a:p>
        </p:txBody>
      </p:sp>
      <p:sp>
        <p:nvSpPr>
          <p:cNvPr id="50" name="Rounded Rectangle 49"/>
          <p:cNvSpPr/>
          <p:nvPr/>
        </p:nvSpPr>
        <p:spPr bwMode="gray">
          <a:xfrm>
            <a:off x="338724" y="2594461"/>
            <a:ext cx="2190708" cy="3381603"/>
          </a:xfrm>
          <a:prstGeom prst="roundRect">
            <a:avLst/>
          </a:prstGeom>
          <a:no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marL="171450" indent="-171450" defTabSz="444500">
              <a:lnSpc>
                <a:spcPct val="90000"/>
              </a:lnSpc>
              <a:spcBef>
                <a:spcPct val="0"/>
              </a:spcBef>
              <a:spcAft>
                <a:spcPct val="35000"/>
              </a:spcAft>
              <a:buFont typeface="Arial" charset="0"/>
              <a:buChar char="•"/>
            </a:pPr>
            <a:r>
              <a:rPr lang="hr-HR" sz="800" dirty="0">
                <a:solidFill>
                  <a:schemeClr val="accent6">
                    <a:lumMod val="50000"/>
                  </a:schemeClr>
                </a:solidFill>
                <a:latin typeface="Verdana" charset="0"/>
                <a:ea typeface="Verdana" charset="0"/>
                <a:cs typeface="Verdana" charset="0"/>
              </a:rPr>
              <a:t>Svi partneri osim Varaždina ovim projektom dobivaju svoju Lokalnu Točku Razvoja /LTR,</a:t>
            </a:r>
          </a:p>
          <a:p>
            <a:pPr marL="171450" lvl="0" indent="-171450" defTabSz="444500">
              <a:lnSpc>
                <a:spcPct val="90000"/>
              </a:lnSpc>
              <a:spcBef>
                <a:spcPct val="0"/>
              </a:spcBef>
              <a:spcAft>
                <a:spcPct val="35000"/>
              </a:spcAft>
              <a:buFont typeface="Arial" charset="0"/>
              <a:buChar char="•"/>
            </a:pPr>
            <a:r>
              <a:rPr lang="hr-HR" sz="900" b="1" dirty="0">
                <a:solidFill>
                  <a:schemeClr val="accent6">
                    <a:lumMod val="50000"/>
                  </a:schemeClr>
                </a:solidFill>
                <a:latin typeface="Verdana" charset="0"/>
                <a:ea typeface="Verdana" charset="0"/>
                <a:cs typeface="Verdana" charset="0"/>
              </a:rPr>
              <a:t>LTR predstavlja prvi kontakt s poduzetnicima, odnosno pojedincima koji imaju poduzetničku ideju/namjeru iz tog kraja</a:t>
            </a:r>
            <a:r>
              <a:rPr lang="hr-HR" sz="900" dirty="0">
                <a:solidFill>
                  <a:schemeClr val="accent6">
                    <a:lumMod val="50000"/>
                  </a:schemeClr>
                </a:solidFill>
                <a:latin typeface="Verdana" charset="0"/>
                <a:ea typeface="Verdana" charset="0"/>
                <a:cs typeface="Verdana" charset="0"/>
              </a:rPr>
              <a:t>,</a:t>
            </a:r>
            <a:endParaRPr lang="en-US" sz="900" dirty="0">
              <a:solidFill>
                <a:schemeClr val="accent6">
                  <a:lumMod val="50000"/>
                </a:schemeClr>
              </a:solidFill>
              <a:latin typeface="Verdana" charset="0"/>
              <a:ea typeface="Verdana" charset="0"/>
              <a:cs typeface="Verdana" charset="0"/>
            </a:endParaRPr>
          </a:p>
          <a:p>
            <a:pPr marL="228600" lvl="1" indent="-171450" defTabSz="355600">
              <a:lnSpc>
                <a:spcPct val="90000"/>
              </a:lnSpc>
              <a:spcBef>
                <a:spcPct val="0"/>
              </a:spcBef>
              <a:spcAft>
                <a:spcPct val="15000"/>
              </a:spcAft>
              <a:buFont typeface="Arial" charset="0"/>
              <a:buChar char="•"/>
            </a:pPr>
            <a:r>
              <a:rPr lang="hr-HR" sz="900" dirty="0">
                <a:solidFill>
                  <a:schemeClr val="accent6">
                    <a:lumMod val="50000"/>
                  </a:schemeClr>
                </a:solidFill>
                <a:latin typeface="Verdana" charset="0"/>
                <a:ea typeface="Verdana" charset="0"/>
                <a:cs typeface="Verdana" charset="0"/>
              </a:rPr>
              <a:t>Za LTR zadužena je osoba širokih kompetencija koja može inicijalno obraditi zahtjev i kanalizirati ga na odgovarajuće mjesto,</a:t>
            </a:r>
          </a:p>
          <a:p>
            <a:pPr marL="228600" lvl="1" indent="-171450" defTabSz="355600">
              <a:lnSpc>
                <a:spcPct val="90000"/>
              </a:lnSpc>
              <a:spcBef>
                <a:spcPct val="0"/>
              </a:spcBef>
              <a:spcAft>
                <a:spcPct val="15000"/>
              </a:spcAft>
              <a:buFont typeface="Arial" charset="0"/>
              <a:buChar char="•"/>
            </a:pPr>
            <a:r>
              <a:rPr lang="hr-HR" sz="900" dirty="0">
                <a:solidFill>
                  <a:schemeClr val="accent6">
                    <a:lumMod val="50000"/>
                  </a:schemeClr>
                </a:solidFill>
                <a:latin typeface="Verdana" charset="0"/>
                <a:ea typeface="Verdana" charset="0"/>
                <a:cs typeface="Verdana" charset="0"/>
              </a:rPr>
              <a:t>Prostor LTR-a prilagođen je lokalnoj sredini i nema uniformiran pristup,</a:t>
            </a:r>
          </a:p>
          <a:p>
            <a:pPr marL="228600" lvl="1" indent="-171450" defTabSz="355600">
              <a:lnSpc>
                <a:spcPct val="90000"/>
              </a:lnSpc>
              <a:spcBef>
                <a:spcPct val="0"/>
              </a:spcBef>
              <a:spcAft>
                <a:spcPct val="15000"/>
              </a:spcAft>
              <a:buFont typeface="Arial" charset="0"/>
              <a:buChar char="•"/>
            </a:pPr>
            <a:r>
              <a:rPr lang="hr-HR" sz="900" dirty="0">
                <a:solidFill>
                  <a:schemeClr val="accent6">
                    <a:lumMod val="50000"/>
                  </a:schemeClr>
                </a:solidFill>
                <a:latin typeface="Verdana" charset="0"/>
                <a:ea typeface="Verdana" charset="0"/>
                <a:cs typeface="Verdana" charset="0"/>
              </a:rPr>
              <a:t>LTR dodjeljuje prostor i vrijeme korištenja zainteresiranim strankama,</a:t>
            </a:r>
          </a:p>
          <a:p>
            <a:pPr marL="228600" lvl="1" indent="-171450" defTabSz="355600">
              <a:lnSpc>
                <a:spcPct val="90000"/>
              </a:lnSpc>
              <a:spcBef>
                <a:spcPct val="0"/>
              </a:spcBef>
              <a:spcAft>
                <a:spcPct val="15000"/>
              </a:spcAft>
              <a:buFont typeface="Arial" charset="0"/>
              <a:buChar char="•"/>
            </a:pPr>
            <a:r>
              <a:rPr lang="hr-HR" sz="900" dirty="0">
                <a:solidFill>
                  <a:schemeClr val="accent6">
                    <a:lumMod val="50000"/>
                  </a:schemeClr>
                </a:solidFill>
                <a:latin typeface="Verdana" charset="0"/>
                <a:ea typeface="Verdana" charset="0"/>
                <a:cs typeface="Verdana" charset="0"/>
              </a:rPr>
              <a:t>Lokalna točka razvoja je produžena ruka koja</a:t>
            </a:r>
            <a:r>
              <a:rPr lang="hr-HR" sz="900" baseline="0" dirty="0">
                <a:solidFill>
                  <a:schemeClr val="accent6">
                    <a:lumMod val="50000"/>
                  </a:schemeClr>
                </a:solidFill>
                <a:latin typeface="Verdana" charset="0"/>
                <a:ea typeface="Verdana" charset="0"/>
                <a:cs typeface="Verdana" charset="0"/>
              </a:rPr>
              <a:t> osluškuje potrebe i redizajnira pristup ovisno o situaciji</a:t>
            </a:r>
          </a:p>
        </p:txBody>
      </p:sp>
      <p:sp>
        <p:nvSpPr>
          <p:cNvPr id="51" name="Rounded Rectangle 50"/>
          <p:cNvSpPr/>
          <p:nvPr/>
        </p:nvSpPr>
        <p:spPr bwMode="gray">
          <a:xfrm>
            <a:off x="2663874" y="2594462"/>
            <a:ext cx="2088000" cy="3381602"/>
          </a:xfrm>
          <a:prstGeom prst="roundRect">
            <a:avLst/>
          </a:prstGeom>
          <a:no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marL="171450" lvl="0" indent="-171450">
              <a:buFont typeface="Arial" charset="0"/>
              <a:buChar char="•"/>
            </a:pPr>
            <a:r>
              <a:rPr lang="en-US" sz="900" dirty="0">
                <a:solidFill>
                  <a:schemeClr val="accent6">
                    <a:lumMod val="50000"/>
                  </a:schemeClr>
                </a:solidFill>
                <a:latin typeface="Verdana" charset="0"/>
                <a:ea typeface="Verdana" charset="0"/>
                <a:cs typeface="Verdana" charset="0"/>
              </a:rPr>
              <a:t>Predinkubacijski programi su posebno </a:t>
            </a:r>
            <a:r>
              <a:rPr lang="en-US" sz="900" b="1" dirty="0" err="1">
                <a:solidFill>
                  <a:schemeClr val="accent6">
                    <a:lumMod val="50000"/>
                  </a:schemeClr>
                </a:solidFill>
                <a:latin typeface="Verdana" charset="0"/>
                <a:ea typeface="Verdana" charset="0"/>
                <a:cs typeface="Verdana" charset="0"/>
              </a:rPr>
              <a:t>dizajnirane</a:t>
            </a:r>
            <a:r>
              <a:rPr lang="en-US" sz="900" b="1" dirty="0">
                <a:solidFill>
                  <a:schemeClr val="accent6">
                    <a:lumMod val="50000"/>
                  </a:schemeClr>
                </a:solidFill>
                <a:latin typeface="Verdana" charset="0"/>
                <a:ea typeface="Verdana" charset="0"/>
                <a:cs typeface="Verdana" charset="0"/>
              </a:rPr>
              <a:t> </a:t>
            </a:r>
            <a:r>
              <a:rPr lang="en-US" sz="900" b="1" dirty="0" err="1">
                <a:solidFill>
                  <a:schemeClr val="accent6">
                    <a:lumMod val="50000"/>
                  </a:schemeClr>
                </a:solidFill>
                <a:latin typeface="Verdana" charset="0"/>
                <a:ea typeface="Verdana" charset="0"/>
                <a:cs typeface="Verdana" charset="0"/>
              </a:rPr>
              <a:t>radionice</a:t>
            </a:r>
            <a:r>
              <a:rPr lang="en-US" sz="900" b="1" dirty="0">
                <a:solidFill>
                  <a:schemeClr val="accent6">
                    <a:lumMod val="50000"/>
                  </a:schemeClr>
                </a:solidFill>
                <a:latin typeface="Verdana" charset="0"/>
                <a:ea typeface="Verdana" charset="0"/>
                <a:cs typeface="Verdana" charset="0"/>
              </a:rPr>
              <a:t> koje se provode u skladu s odgovarajućom metodologijom i to u LTR-</a:t>
            </a:r>
            <a:r>
              <a:rPr lang="en-US" sz="900" b="1" dirty="0" err="1">
                <a:solidFill>
                  <a:schemeClr val="accent6">
                    <a:lumMod val="50000"/>
                  </a:schemeClr>
                </a:solidFill>
                <a:latin typeface="Verdana" charset="0"/>
                <a:ea typeface="Verdana" charset="0"/>
                <a:cs typeface="Verdana" charset="0"/>
              </a:rPr>
              <a:t>ovima</a:t>
            </a:r>
            <a:r>
              <a:rPr lang="en-US" sz="900" b="1" dirty="0">
                <a:solidFill>
                  <a:schemeClr val="accent6">
                    <a:lumMod val="50000"/>
                  </a:schemeClr>
                </a:solidFill>
                <a:latin typeface="Verdana" charset="0"/>
                <a:ea typeface="Verdana" charset="0"/>
                <a:cs typeface="Verdana" charset="0"/>
              </a:rPr>
              <a:t> i </a:t>
            </a:r>
            <a:r>
              <a:rPr lang="en-US" sz="900" b="1" dirty="0" err="1">
                <a:solidFill>
                  <a:schemeClr val="accent6">
                    <a:lumMod val="50000"/>
                  </a:schemeClr>
                </a:solidFill>
                <a:latin typeface="Verdana" charset="0"/>
                <a:ea typeface="Verdana" charset="0"/>
                <a:cs typeface="Verdana" charset="0"/>
              </a:rPr>
              <a:t>centrali</a:t>
            </a:r>
            <a:endParaRPr lang="en-US" sz="900" b="1" dirty="0">
              <a:solidFill>
                <a:schemeClr val="accent6">
                  <a:lumMod val="50000"/>
                </a:schemeClr>
              </a:solidFill>
              <a:latin typeface="Verdana" charset="0"/>
              <a:ea typeface="Verdana" charset="0"/>
              <a:cs typeface="Verdana" charset="0"/>
            </a:endParaRPr>
          </a:p>
          <a:p>
            <a:pPr marL="171450" lvl="0" indent="-171450">
              <a:buFont typeface="Arial" charset="0"/>
              <a:buChar char="•"/>
            </a:pPr>
            <a:r>
              <a:rPr lang="en-US" sz="900" dirty="0">
                <a:solidFill>
                  <a:schemeClr val="accent6">
                    <a:lumMod val="50000"/>
                  </a:schemeClr>
                </a:solidFill>
                <a:latin typeface="Verdana" charset="0"/>
                <a:ea typeface="Verdana" charset="0"/>
                <a:cs typeface="Verdana" charset="0"/>
              </a:rPr>
              <a:t>Prrogrami se kreiraju na</a:t>
            </a:r>
            <a:r>
              <a:rPr lang="en-US" sz="900" baseline="0" dirty="0">
                <a:solidFill>
                  <a:schemeClr val="accent6">
                    <a:lumMod val="50000"/>
                  </a:schemeClr>
                </a:solidFill>
                <a:latin typeface="Verdana" charset="0"/>
                <a:ea typeface="Verdana" charset="0"/>
                <a:cs typeface="Verdana" charset="0"/>
              </a:rPr>
              <a:t> temelju procjene o </a:t>
            </a:r>
            <a:r>
              <a:rPr lang="en-US" sz="900" baseline="0" dirty="0" err="1">
                <a:solidFill>
                  <a:schemeClr val="accent6">
                    <a:lumMod val="50000"/>
                  </a:schemeClr>
                </a:solidFill>
                <a:latin typeface="Verdana" charset="0"/>
                <a:ea typeface="Verdana" charset="0"/>
                <a:cs typeface="Verdana" charset="0"/>
              </a:rPr>
              <a:t>znanju</a:t>
            </a:r>
            <a:r>
              <a:rPr lang="en-US" sz="900" baseline="0" dirty="0">
                <a:solidFill>
                  <a:schemeClr val="accent6">
                    <a:lumMod val="50000"/>
                  </a:schemeClr>
                </a:solidFill>
                <a:latin typeface="Verdana" charset="0"/>
                <a:ea typeface="Verdana" charset="0"/>
                <a:cs typeface="Verdana" charset="0"/>
              </a:rPr>
              <a:t> </a:t>
            </a:r>
            <a:r>
              <a:rPr lang="en-US" sz="900" baseline="0" dirty="0" err="1">
                <a:solidFill>
                  <a:schemeClr val="accent6">
                    <a:lumMod val="50000"/>
                  </a:schemeClr>
                </a:solidFill>
                <a:latin typeface="Verdana" charset="0"/>
                <a:ea typeface="Verdana" charset="0"/>
                <a:cs typeface="Verdana" charset="0"/>
              </a:rPr>
              <a:t>zainteresiranog</a:t>
            </a:r>
            <a:r>
              <a:rPr lang="en-US" sz="900" baseline="0" dirty="0">
                <a:solidFill>
                  <a:schemeClr val="accent6">
                    <a:lumMod val="50000"/>
                  </a:schemeClr>
                </a:solidFill>
                <a:latin typeface="Verdana" charset="0"/>
                <a:ea typeface="Verdana" charset="0"/>
                <a:cs typeface="Verdana" charset="0"/>
              </a:rPr>
              <a:t> </a:t>
            </a:r>
            <a:r>
              <a:rPr lang="en-US" sz="900" baseline="0" dirty="0" err="1">
                <a:solidFill>
                  <a:schemeClr val="accent6">
                    <a:lumMod val="50000"/>
                  </a:schemeClr>
                </a:solidFill>
                <a:latin typeface="Verdana" charset="0"/>
                <a:ea typeface="Verdana" charset="0"/>
                <a:cs typeface="Verdana" charset="0"/>
              </a:rPr>
              <a:t>auditorija</a:t>
            </a:r>
            <a:r>
              <a:rPr lang="en-US" sz="900" baseline="0" dirty="0">
                <a:solidFill>
                  <a:schemeClr val="accent6">
                    <a:lumMod val="50000"/>
                  </a:schemeClr>
                </a:solidFill>
                <a:latin typeface="Verdana" charset="0"/>
                <a:ea typeface="Verdana" charset="0"/>
                <a:cs typeface="Verdana" charset="0"/>
              </a:rPr>
              <a:t>, </a:t>
            </a:r>
          </a:p>
          <a:p>
            <a:pPr marL="171450" lvl="0" indent="-171450">
              <a:buFont typeface="Arial" charset="0"/>
              <a:buChar char="•"/>
            </a:pPr>
            <a:r>
              <a:rPr lang="en-US" sz="900" baseline="0" dirty="0">
                <a:solidFill>
                  <a:schemeClr val="accent6">
                    <a:lumMod val="50000"/>
                  </a:schemeClr>
                </a:solidFill>
                <a:latin typeface="Verdana" charset="0"/>
                <a:ea typeface="Verdana" charset="0"/>
                <a:cs typeface="Verdana" charset="0"/>
              </a:rPr>
              <a:t>Provode se kad se pojavi kritična masa ideja</a:t>
            </a:r>
          </a:p>
          <a:p>
            <a:pPr marL="171450" lvl="0" indent="-171450">
              <a:buFont typeface="Arial" charset="0"/>
              <a:buChar char="•"/>
            </a:pPr>
            <a:r>
              <a:rPr lang="en-US" sz="900" b="1" dirty="0">
                <a:solidFill>
                  <a:schemeClr val="accent6">
                    <a:lumMod val="50000"/>
                  </a:schemeClr>
                </a:solidFill>
                <a:latin typeface="Verdana" charset="0"/>
                <a:ea typeface="Verdana" charset="0"/>
                <a:cs typeface="Verdana" charset="0"/>
              </a:rPr>
              <a:t>Rano prepoznavanje komercijalno</a:t>
            </a:r>
            <a:r>
              <a:rPr lang="en-US" sz="900" b="1" baseline="0" dirty="0">
                <a:solidFill>
                  <a:schemeClr val="accent6">
                    <a:lumMod val="50000"/>
                  </a:schemeClr>
                </a:solidFill>
                <a:latin typeface="Verdana" charset="0"/>
                <a:ea typeface="Verdana" charset="0"/>
                <a:cs typeface="Verdana" charset="0"/>
              </a:rPr>
              <a:t> isplativih inovacija i kvalitetnih ideja</a:t>
            </a:r>
            <a:r>
              <a:rPr lang="en-US" sz="900" baseline="0" dirty="0">
                <a:solidFill>
                  <a:schemeClr val="accent6">
                    <a:lumMod val="50000"/>
                  </a:schemeClr>
                </a:solidFill>
                <a:latin typeface="Verdana" charset="0"/>
                <a:ea typeface="Verdana" charset="0"/>
                <a:cs typeface="Verdana" charset="0"/>
              </a:rPr>
              <a:t> rezultat je predinkubacijskog programa,</a:t>
            </a:r>
          </a:p>
          <a:p>
            <a:pPr marL="171450" lvl="0" indent="-171450">
              <a:buFont typeface="Arial" charset="0"/>
              <a:buChar char="•"/>
            </a:pPr>
            <a:r>
              <a:rPr lang="en-US" sz="900" dirty="0">
                <a:solidFill>
                  <a:schemeClr val="accent6">
                    <a:lumMod val="50000"/>
                  </a:schemeClr>
                </a:solidFill>
                <a:latin typeface="Verdana" charset="0"/>
                <a:ea typeface="Verdana" charset="0"/>
                <a:cs typeface="Verdana" charset="0"/>
              </a:rPr>
              <a:t>Predinkubacija se ne odnosi samo na tehnološke teme, već i na </a:t>
            </a:r>
            <a:r>
              <a:rPr lang="en-US" sz="900" dirty="0" err="1">
                <a:solidFill>
                  <a:schemeClr val="accent6">
                    <a:lumMod val="50000"/>
                  </a:schemeClr>
                </a:solidFill>
                <a:latin typeface="Verdana" charset="0"/>
                <a:ea typeface="Verdana" charset="0"/>
                <a:cs typeface="Verdana" charset="0"/>
              </a:rPr>
              <a:t>opće</a:t>
            </a:r>
            <a:r>
              <a:rPr lang="en-US" sz="900" dirty="0">
                <a:solidFill>
                  <a:schemeClr val="accent6">
                    <a:lumMod val="50000"/>
                  </a:schemeClr>
                </a:solidFill>
                <a:latin typeface="Verdana" charset="0"/>
                <a:ea typeface="Verdana" charset="0"/>
                <a:cs typeface="Verdana" charset="0"/>
              </a:rPr>
              <a:t> </a:t>
            </a:r>
            <a:r>
              <a:rPr lang="en-US" sz="900" dirty="0" err="1">
                <a:solidFill>
                  <a:schemeClr val="accent6">
                    <a:lumMod val="50000"/>
                  </a:schemeClr>
                </a:solidFill>
                <a:latin typeface="Verdana" charset="0"/>
                <a:ea typeface="Verdana" charset="0"/>
                <a:cs typeface="Verdana" charset="0"/>
              </a:rPr>
              <a:t>društvene</a:t>
            </a:r>
            <a:r>
              <a:rPr lang="en-US" sz="900" dirty="0">
                <a:solidFill>
                  <a:schemeClr val="accent6">
                    <a:lumMod val="50000"/>
                  </a:schemeClr>
                </a:solidFill>
                <a:latin typeface="Verdana" charset="0"/>
                <a:ea typeface="Verdana" charset="0"/>
                <a:cs typeface="Verdana" charset="0"/>
              </a:rPr>
              <a:t>.</a:t>
            </a:r>
          </a:p>
        </p:txBody>
      </p:sp>
      <p:sp>
        <p:nvSpPr>
          <p:cNvPr id="53" name="Rounded Rectangle 52"/>
          <p:cNvSpPr/>
          <p:nvPr/>
        </p:nvSpPr>
        <p:spPr bwMode="gray">
          <a:xfrm>
            <a:off x="4989023" y="2594461"/>
            <a:ext cx="2190709" cy="3530253"/>
          </a:xfrm>
          <a:prstGeom prst="roundRect">
            <a:avLst/>
          </a:prstGeom>
          <a:no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marL="171450" lvl="0" indent="-171450">
              <a:buFont typeface="Arial" charset="0"/>
              <a:buChar char="•"/>
            </a:pPr>
            <a:r>
              <a:rPr lang="en-US" sz="900" dirty="0">
                <a:solidFill>
                  <a:schemeClr val="accent6">
                    <a:lumMod val="50000"/>
                  </a:schemeClr>
                </a:solidFill>
                <a:latin typeface="Verdana" charset="0"/>
                <a:ea typeface="Verdana" charset="0"/>
                <a:cs typeface="Verdana" charset="0"/>
              </a:rPr>
              <a:t>U sklopu projekta </a:t>
            </a:r>
            <a:r>
              <a:rPr lang="en-US" sz="900" b="1" dirty="0">
                <a:solidFill>
                  <a:schemeClr val="accent6">
                    <a:lumMod val="50000"/>
                  </a:schemeClr>
                </a:solidFill>
                <a:latin typeface="Verdana" charset="0"/>
                <a:ea typeface="Verdana" charset="0"/>
                <a:cs typeface="Verdana" charset="0"/>
              </a:rPr>
              <a:t>ustrojava se ThinkTank koji se sastoji od stručnjaka iz različitih područja,</a:t>
            </a:r>
          </a:p>
          <a:p>
            <a:pPr marL="171450" lvl="0" indent="-171450">
              <a:buFont typeface="Arial" charset="0"/>
              <a:buChar char="•"/>
            </a:pPr>
            <a:r>
              <a:rPr lang="en-US" sz="900" dirty="0">
                <a:solidFill>
                  <a:schemeClr val="accent6">
                    <a:lumMod val="50000"/>
                  </a:schemeClr>
                </a:solidFill>
                <a:latin typeface="Verdana" charset="0"/>
                <a:ea typeface="Verdana" charset="0"/>
                <a:cs typeface="Verdana" charset="0"/>
              </a:rPr>
              <a:t>Svi projektni partneri predlažu stručnjake iz svojih sredina za rad u ThinkTanku,</a:t>
            </a:r>
          </a:p>
          <a:p>
            <a:pPr marL="171450" lvl="0" indent="-171450">
              <a:buFont typeface="Arial" charset="0"/>
              <a:buChar char="•"/>
            </a:pPr>
            <a:r>
              <a:rPr lang="en-US" sz="900" dirty="0">
                <a:solidFill>
                  <a:schemeClr val="accent6">
                    <a:lumMod val="50000"/>
                  </a:schemeClr>
                </a:solidFill>
                <a:latin typeface="Verdana" charset="0"/>
                <a:ea typeface="Verdana" charset="0"/>
                <a:cs typeface="Verdana" charset="0"/>
              </a:rPr>
              <a:t>Timovi stručnjaka rade na </a:t>
            </a:r>
            <a:r>
              <a:rPr lang="en-US" sz="900" b="1" dirty="0">
                <a:solidFill>
                  <a:schemeClr val="accent6">
                    <a:lumMod val="50000"/>
                  </a:schemeClr>
                </a:solidFill>
                <a:latin typeface="Verdana" charset="0"/>
                <a:ea typeface="Verdana" charset="0"/>
                <a:cs typeface="Verdana" charset="0"/>
              </a:rPr>
              <a:t>razvoju ideja i inovacija koje su prepoznate u ranijoj fazi,</a:t>
            </a:r>
          </a:p>
          <a:p>
            <a:pPr marL="171450" lvl="0" indent="-171450">
              <a:buFont typeface="Arial" charset="0"/>
              <a:buChar char="•"/>
            </a:pPr>
            <a:r>
              <a:rPr lang="en-US" sz="900" dirty="0">
                <a:solidFill>
                  <a:schemeClr val="accent6">
                    <a:lumMod val="50000"/>
                  </a:schemeClr>
                </a:solidFill>
                <a:latin typeface="Verdana" charset="0"/>
                <a:ea typeface="Verdana" charset="0"/>
                <a:cs typeface="Verdana" charset="0"/>
              </a:rPr>
              <a:t>Timovi svoj posao temelje na metodologiji,</a:t>
            </a:r>
          </a:p>
          <a:p>
            <a:pPr marL="171450" lvl="0" indent="-171450">
              <a:buFont typeface="Arial" charset="0"/>
              <a:buChar char="•"/>
            </a:pPr>
            <a:r>
              <a:rPr lang="en-US" sz="900" dirty="0">
                <a:solidFill>
                  <a:schemeClr val="accent6">
                    <a:lumMod val="50000"/>
                  </a:schemeClr>
                </a:solidFill>
                <a:latin typeface="Verdana" charset="0"/>
                <a:ea typeface="Verdana" charset="0"/>
                <a:cs typeface="Verdana" charset="0"/>
              </a:rPr>
              <a:t>Intelektualno vlasništvo je u fokusu i o njemu se vodi posebna pažnja,</a:t>
            </a:r>
          </a:p>
          <a:p>
            <a:pPr marL="171450" lvl="0" indent="-171450">
              <a:buFont typeface="Arial" charset="0"/>
              <a:buChar char="•"/>
            </a:pPr>
            <a:r>
              <a:rPr lang="en-US" sz="900" dirty="0">
                <a:solidFill>
                  <a:schemeClr val="accent6">
                    <a:lumMod val="50000"/>
                  </a:schemeClr>
                </a:solidFill>
                <a:latin typeface="Verdana" charset="0"/>
                <a:ea typeface="Verdana" charset="0"/>
                <a:cs typeface="Verdana" charset="0"/>
              </a:rPr>
              <a:t>Sve što se može zaštititi u domeni intelektualnog vlasništva- treba se zaštititi,</a:t>
            </a:r>
          </a:p>
          <a:p>
            <a:pPr marL="171450" lvl="0" indent="-171450">
              <a:buFont typeface="Arial" charset="0"/>
              <a:buChar char="•"/>
            </a:pPr>
            <a:r>
              <a:rPr lang="en-US" sz="900" dirty="0">
                <a:solidFill>
                  <a:schemeClr val="accent6">
                    <a:lumMod val="50000"/>
                  </a:schemeClr>
                </a:solidFill>
                <a:latin typeface="Verdana" charset="0"/>
                <a:ea typeface="Verdana" charset="0"/>
                <a:cs typeface="Verdana" charset="0"/>
              </a:rPr>
              <a:t>Svaki projekt ima mentora,</a:t>
            </a:r>
          </a:p>
        </p:txBody>
      </p:sp>
      <p:sp>
        <p:nvSpPr>
          <p:cNvPr id="16" name="Rounded Rectangle 15"/>
          <p:cNvSpPr/>
          <p:nvPr/>
        </p:nvSpPr>
        <p:spPr bwMode="gray">
          <a:xfrm>
            <a:off x="7314174" y="2594462"/>
            <a:ext cx="2088000" cy="3381602"/>
          </a:xfrm>
          <a:prstGeom prst="roundRect">
            <a:avLst/>
          </a:prstGeom>
          <a:no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marL="171450" lvl="0" indent="-171450">
              <a:buFont typeface="Arial" charset="0"/>
              <a:buChar char="•"/>
            </a:pPr>
            <a:r>
              <a:rPr lang="en-US" sz="900" b="1" dirty="0">
                <a:solidFill>
                  <a:schemeClr val="accent6">
                    <a:lumMod val="50000"/>
                  </a:schemeClr>
                </a:solidFill>
                <a:latin typeface="Verdana" charset="0"/>
                <a:ea typeface="Verdana" charset="0"/>
                <a:cs typeface="Verdana" charset="0"/>
              </a:rPr>
              <a:t>Zatvaranje financijskih konstrukcija za projektne prijedloge </a:t>
            </a:r>
            <a:r>
              <a:rPr lang="en-US" sz="900" dirty="0">
                <a:solidFill>
                  <a:schemeClr val="accent6">
                    <a:lumMod val="50000"/>
                  </a:schemeClr>
                </a:solidFill>
                <a:latin typeface="Verdana" charset="0"/>
                <a:ea typeface="Verdana" charset="0"/>
                <a:cs typeface="Verdana" charset="0"/>
              </a:rPr>
              <a:t>koji su proistekli iz ranijih faza provode stručnjaci,</a:t>
            </a:r>
          </a:p>
          <a:p>
            <a:pPr marL="171450" lvl="0" indent="-171450">
              <a:buFont typeface="Arial" charset="0"/>
              <a:buChar char="•"/>
            </a:pPr>
            <a:r>
              <a:rPr lang="en-US" sz="900" dirty="0">
                <a:solidFill>
                  <a:schemeClr val="accent6">
                    <a:lumMod val="50000"/>
                  </a:schemeClr>
                </a:solidFill>
                <a:latin typeface="Verdana" charset="0"/>
                <a:ea typeface="Verdana" charset="0"/>
                <a:cs typeface="Verdana" charset="0"/>
              </a:rPr>
              <a:t>Fondovi na koje se oslanjaju projekti su iz domaćih i stranih izvora,</a:t>
            </a:r>
          </a:p>
          <a:p>
            <a:pPr marL="171450" lvl="0" indent="-171450">
              <a:buFont typeface="Arial" charset="0"/>
              <a:buChar char="•"/>
            </a:pPr>
            <a:r>
              <a:rPr lang="en-US" sz="900" dirty="0">
                <a:solidFill>
                  <a:schemeClr val="accent6">
                    <a:lumMod val="50000"/>
                  </a:schemeClr>
                </a:solidFill>
                <a:latin typeface="Verdana" charset="0"/>
                <a:ea typeface="Verdana" charset="0"/>
                <a:cs typeface="Verdana" charset="0"/>
              </a:rPr>
              <a:t>Stručnjaci vode brigu i o umrežavanju na lokalnoj razini provjeravajući postoji li zainteresirana tvrtka ili pojedinac koji se može pojaviti kao investitor u ranoj fazi,</a:t>
            </a:r>
          </a:p>
          <a:p>
            <a:pPr marL="171450" lvl="0" indent="-171450">
              <a:buFont typeface="Arial" charset="0"/>
              <a:buChar char="•"/>
            </a:pPr>
            <a:r>
              <a:rPr lang="en-US" sz="900" dirty="0">
                <a:solidFill>
                  <a:schemeClr val="accent6">
                    <a:lumMod val="50000"/>
                  </a:schemeClr>
                </a:solidFill>
                <a:latin typeface="Verdana" charset="0"/>
                <a:ea typeface="Verdana" charset="0"/>
                <a:cs typeface="Verdana" charset="0"/>
              </a:rPr>
              <a:t>Koriste se sva legalna i dopuštena sredstva u prikupljanju sredstava za pokretanje dobre poslovne aktivnosti,</a:t>
            </a:r>
          </a:p>
          <a:p>
            <a:pPr marL="171450" lvl="0" indent="-171450">
              <a:buFont typeface="Arial" charset="0"/>
              <a:buChar char="•"/>
            </a:pPr>
            <a:r>
              <a:rPr lang="en-US" sz="900" dirty="0">
                <a:solidFill>
                  <a:schemeClr val="accent6">
                    <a:lumMod val="50000"/>
                  </a:schemeClr>
                </a:solidFill>
                <a:latin typeface="Verdana" charset="0"/>
                <a:ea typeface="Verdana" charset="0"/>
                <a:cs typeface="Verdana" charset="0"/>
              </a:rPr>
              <a:t>Nema zapreka da bilo tko uključen u ovaj proces postane investitor,</a:t>
            </a:r>
          </a:p>
          <a:p>
            <a:pPr marL="171450" lvl="0" indent="-171450">
              <a:buFont typeface="Arial" charset="0"/>
              <a:buChar char="•"/>
            </a:pPr>
            <a:r>
              <a:rPr lang="en-US" sz="900" dirty="0">
                <a:solidFill>
                  <a:schemeClr val="accent6">
                    <a:lumMod val="50000"/>
                  </a:schemeClr>
                </a:solidFill>
                <a:latin typeface="Verdana" charset="0"/>
                <a:ea typeface="Verdana" charset="0"/>
                <a:cs typeface="Verdana" charset="0"/>
              </a:rPr>
              <a:t>GDPR om se štiti tajnost</a:t>
            </a:r>
          </a:p>
        </p:txBody>
      </p:sp>
      <p:sp>
        <p:nvSpPr>
          <p:cNvPr id="17" name="Rounded Rectangle 16"/>
          <p:cNvSpPr/>
          <p:nvPr/>
        </p:nvSpPr>
        <p:spPr bwMode="gray">
          <a:xfrm>
            <a:off x="9639325" y="2594462"/>
            <a:ext cx="2082775" cy="3381602"/>
          </a:xfrm>
          <a:prstGeom prst="roundRect">
            <a:avLst/>
          </a:prstGeom>
          <a:no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marL="171450" lvl="0" indent="-171450">
              <a:buFont typeface="Arial" charset="0"/>
              <a:buChar char="•"/>
            </a:pPr>
            <a:r>
              <a:rPr lang="en-US" sz="900" dirty="0">
                <a:solidFill>
                  <a:schemeClr val="accent6">
                    <a:lumMod val="50000"/>
                  </a:schemeClr>
                </a:solidFill>
                <a:latin typeface="Verdana" charset="0"/>
                <a:ea typeface="Verdana" charset="0"/>
                <a:cs typeface="Verdana" charset="0"/>
              </a:rPr>
              <a:t>Projekt se oslanja na infrastrukturu Fakulteta /preko 3000 studenata, godišnje preko 300 novih studenata, </a:t>
            </a:r>
            <a:r>
              <a:rPr lang="en-US" sz="900" dirty="0" err="1">
                <a:solidFill>
                  <a:schemeClr val="accent6">
                    <a:lumMod val="50000"/>
                  </a:schemeClr>
                </a:solidFill>
                <a:latin typeface="Verdana" charset="0"/>
                <a:ea typeface="Verdana" charset="0"/>
                <a:cs typeface="Verdana" charset="0"/>
              </a:rPr>
              <a:t>mnoštvo</a:t>
            </a:r>
            <a:r>
              <a:rPr lang="en-US" sz="900" dirty="0">
                <a:solidFill>
                  <a:schemeClr val="accent6">
                    <a:lumMod val="50000"/>
                  </a:schemeClr>
                </a:solidFill>
                <a:latin typeface="Verdana" charset="0"/>
                <a:ea typeface="Verdana" charset="0"/>
                <a:cs typeface="Verdana" charset="0"/>
              </a:rPr>
              <a:t> </a:t>
            </a:r>
            <a:r>
              <a:rPr lang="en-US" sz="900" dirty="0" err="1">
                <a:solidFill>
                  <a:schemeClr val="accent6">
                    <a:lumMod val="50000"/>
                  </a:schemeClr>
                </a:solidFill>
                <a:latin typeface="Verdana" charset="0"/>
                <a:ea typeface="Verdana" charset="0"/>
                <a:cs typeface="Verdana" charset="0"/>
              </a:rPr>
              <a:t>objavljenih</a:t>
            </a:r>
            <a:r>
              <a:rPr lang="en-US" sz="900" dirty="0">
                <a:solidFill>
                  <a:schemeClr val="accent6">
                    <a:lumMod val="50000"/>
                  </a:schemeClr>
                </a:solidFill>
                <a:latin typeface="Verdana" charset="0"/>
                <a:ea typeface="Verdana" charset="0"/>
                <a:cs typeface="Verdana" charset="0"/>
              </a:rPr>
              <a:t> znanstvenih radova, </a:t>
            </a:r>
            <a:r>
              <a:rPr lang="en-US" sz="900" dirty="0" err="1">
                <a:solidFill>
                  <a:schemeClr val="accent6">
                    <a:lumMod val="50000"/>
                  </a:schemeClr>
                </a:solidFill>
                <a:latin typeface="Verdana" charset="0"/>
                <a:ea typeface="Verdana" charset="0"/>
                <a:cs typeface="Verdana" charset="0"/>
              </a:rPr>
              <a:t>patenata</a:t>
            </a:r>
            <a:r>
              <a:rPr lang="en-US" sz="900" dirty="0">
                <a:solidFill>
                  <a:schemeClr val="accent6">
                    <a:lumMod val="50000"/>
                  </a:schemeClr>
                </a:solidFill>
                <a:latin typeface="Verdana" charset="0"/>
                <a:ea typeface="Verdana" charset="0"/>
                <a:cs typeface="Verdana" charset="0"/>
              </a:rPr>
              <a:t> i EU </a:t>
            </a:r>
            <a:r>
              <a:rPr lang="en-US" sz="900" dirty="0" err="1">
                <a:solidFill>
                  <a:schemeClr val="accent6">
                    <a:lumMod val="50000"/>
                  </a:schemeClr>
                </a:solidFill>
                <a:latin typeface="Verdana" charset="0"/>
                <a:ea typeface="Verdana" charset="0"/>
                <a:cs typeface="Verdana" charset="0"/>
              </a:rPr>
              <a:t>projekata</a:t>
            </a:r>
            <a:r>
              <a:rPr lang="en-US" sz="900" dirty="0">
                <a:solidFill>
                  <a:schemeClr val="accent6">
                    <a:lumMod val="50000"/>
                  </a:schemeClr>
                </a:solidFill>
                <a:latin typeface="Verdana" charset="0"/>
                <a:ea typeface="Verdana" charset="0"/>
                <a:cs typeface="Verdana" charset="0"/>
              </a:rPr>
              <a:t>,</a:t>
            </a:r>
          </a:p>
          <a:p>
            <a:pPr marL="171450" lvl="0" indent="-171450">
              <a:buFont typeface="Arial" charset="0"/>
              <a:buChar char="•"/>
            </a:pPr>
            <a:r>
              <a:rPr lang="en-US" sz="900" dirty="0">
                <a:solidFill>
                  <a:schemeClr val="accent6">
                    <a:lumMod val="50000"/>
                  </a:schemeClr>
                </a:solidFill>
                <a:latin typeface="Verdana" charset="0"/>
                <a:ea typeface="Verdana" charset="0"/>
                <a:cs typeface="Verdana" charset="0"/>
              </a:rPr>
              <a:t>U sklopu projekta radi se na </a:t>
            </a:r>
            <a:r>
              <a:rPr lang="en-US" sz="900" b="1" dirty="0">
                <a:solidFill>
                  <a:schemeClr val="accent6">
                    <a:lumMod val="50000"/>
                  </a:schemeClr>
                </a:solidFill>
                <a:latin typeface="Verdana" charset="0"/>
                <a:ea typeface="Verdana" charset="0"/>
                <a:cs typeface="Verdana" charset="0"/>
              </a:rPr>
              <a:t>umrežavanju akademske zajednice i gospodarstva uz </a:t>
            </a:r>
            <a:r>
              <a:rPr lang="en-US" sz="900" b="1" dirty="0" err="1">
                <a:solidFill>
                  <a:schemeClr val="accent6">
                    <a:lumMod val="50000"/>
                  </a:schemeClr>
                </a:solidFill>
                <a:latin typeface="Verdana" charset="0"/>
                <a:ea typeface="Verdana" charset="0"/>
                <a:cs typeface="Verdana" charset="0"/>
              </a:rPr>
              <a:t>posredovanje</a:t>
            </a:r>
            <a:r>
              <a:rPr lang="en-US" sz="900" b="1" dirty="0">
                <a:solidFill>
                  <a:schemeClr val="accent6">
                    <a:lumMod val="50000"/>
                  </a:schemeClr>
                </a:solidFill>
                <a:latin typeface="Verdana" charset="0"/>
                <a:ea typeface="Verdana" charset="0"/>
                <a:cs typeface="Verdana" charset="0"/>
              </a:rPr>
              <a:t> </a:t>
            </a:r>
            <a:r>
              <a:rPr lang="en-US" sz="900" b="1" dirty="0" err="1">
                <a:solidFill>
                  <a:schemeClr val="accent6">
                    <a:lumMod val="50000"/>
                  </a:schemeClr>
                </a:solidFill>
                <a:latin typeface="Verdana" charset="0"/>
                <a:ea typeface="Verdana" charset="0"/>
                <a:cs typeface="Verdana" charset="0"/>
              </a:rPr>
              <a:t>ThinkTanka</a:t>
            </a:r>
            <a:r>
              <a:rPr lang="en-US" sz="900" dirty="0">
                <a:solidFill>
                  <a:schemeClr val="accent6">
                    <a:lumMod val="50000"/>
                  </a:schemeClr>
                </a:solidFill>
                <a:latin typeface="Verdana" charset="0"/>
                <a:ea typeface="Verdana" charset="0"/>
                <a:cs typeface="Verdana" charset="0"/>
              </a:rPr>
              <a:t>,</a:t>
            </a:r>
          </a:p>
          <a:p>
            <a:pPr marL="171450" lvl="0" indent="-171450">
              <a:buFont typeface="Arial" charset="0"/>
              <a:buChar char="•"/>
            </a:pPr>
            <a:r>
              <a:rPr lang="en-US" sz="900" b="1" dirty="0">
                <a:solidFill>
                  <a:schemeClr val="accent6">
                    <a:lumMod val="50000"/>
                  </a:schemeClr>
                </a:solidFill>
                <a:latin typeface="Verdana" charset="0"/>
                <a:ea typeface="Verdana" charset="0"/>
                <a:cs typeface="Verdana" charset="0"/>
              </a:rPr>
              <a:t>Razvijanjem ovako dinamičnog </a:t>
            </a:r>
            <a:r>
              <a:rPr lang="en-US" sz="900" b="1" dirty="0" err="1">
                <a:solidFill>
                  <a:schemeClr val="accent6">
                    <a:lumMod val="50000"/>
                  </a:schemeClr>
                </a:solidFill>
                <a:latin typeface="Verdana" charset="0"/>
                <a:ea typeface="Verdana" charset="0"/>
                <a:cs typeface="Verdana" charset="0"/>
              </a:rPr>
              <a:t>i</a:t>
            </a:r>
            <a:r>
              <a:rPr lang="en-US" sz="900" b="1" dirty="0">
                <a:solidFill>
                  <a:schemeClr val="accent6">
                    <a:lumMod val="50000"/>
                  </a:schemeClr>
                </a:solidFill>
                <a:latin typeface="Verdana" charset="0"/>
                <a:ea typeface="Verdana" charset="0"/>
                <a:cs typeface="Verdana" charset="0"/>
              </a:rPr>
              <a:t> </a:t>
            </a:r>
            <a:r>
              <a:rPr lang="en-US" sz="900" b="1" dirty="0" err="1">
                <a:solidFill>
                  <a:schemeClr val="accent6">
                    <a:lumMod val="50000"/>
                  </a:schemeClr>
                </a:solidFill>
                <a:latin typeface="Verdana" charset="0"/>
                <a:ea typeface="Verdana" charset="0"/>
                <a:cs typeface="Verdana" charset="0"/>
              </a:rPr>
              <a:t>otvorenog</a:t>
            </a:r>
            <a:r>
              <a:rPr lang="en-US" sz="900" b="1" dirty="0">
                <a:solidFill>
                  <a:schemeClr val="accent6">
                    <a:lumMod val="50000"/>
                  </a:schemeClr>
                </a:solidFill>
                <a:latin typeface="Verdana" charset="0"/>
                <a:ea typeface="Verdana" charset="0"/>
                <a:cs typeface="Verdana" charset="0"/>
              </a:rPr>
              <a:t> sustava otvara se ogroman prostor za društveni i gospodarski rast i industrijsku tranziciju </a:t>
            </a:r>
          </a:p>
          <a:p>
            <a:pPr marL="171450" lvl="0" indent="-171450">
              <a:buFont typeface="Arial" charset="0"/>
              <a:buChar char="•"/>
            </a:pPr>
            <a:r>
              <a:rPr lang="en-US" sz="900" dirty="0" err="1">
                <a:solidFill>
                  <a:schemeClr val="accent6">
                    <a:lumMod val="50000"/>
                  </a:schemeClr>
                </a:solidFill>
                <a:latin typeface="Verdana" charset="0"/>
                <a:ea typeface="Verdana" charset="0"/>
                <a:cs typeface="Verdana" charset="0"/>
              </a:rPr>
              <a:t>Fakultet</a:t>
            </a:r>
            <a:r>
              <a:rPr lang="en-US" sz="900" dirty="0">
                <a:solidFill>
                  <a:schemeClr val="accent6">
                    <a:lumMod val="50000"/>
                  </a:schemeClr>
                </a:solidFill>
                <a:latin typeface="Verdana" charset="0"/>
                <a:ea typeface="Verdana" charset="0"/>
                <a:cs typeface="Verdana" charset="0"/>
              </a:rPr>
              <a:t> će razvojem i provedbom novih kurikuluma usmjeravati protok znanja i suradnje.</a:t>
            </a:r>
          </a:p>
        </p:txBody>
      </p:sp>
    </p:spTree>
    <p:extLst>
      <p:ext uri="{BB962C8B-B14F-4D97-AF65-F5344CB8AC3E}">
        <p14:creationId xmlns:p14="http://schemas.microsoft.com/office/powerpoint/2010/main" val="2200486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6"/>
          <p:cNvSpPr txBox="1">
            <a:spLocks/>
          </p:cNvSpPr>
          <p:nvPr/>
        </p:nvSpPr>
        <p:spPr>
          <a:xfrm>
            <a:off x="427900" y="182302"/>
            <a:ext cx="11764100" cy="33410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hr-HR" sz="2000" dirty="0" err="1">
                <a:solidFill>
                  <a:schemeClr val="accent6">
                    <a:lumMod val="50000"/>
                  </a:schemeClr>
                </a:solidFill>
                <a:latin typeface="Verdana" charset="0"/>
                <a:ea typeface="Verdana" charset="0"/>
                <a:cs typeface="Verdana" charset="0"/>
              </a:rPr>
              <a:t>preIncubation</a:t>
            </a:r>
            <a:r>
              <a:rPr lang="hr-HR" sz="2000" dirty="0">
                <a:latin typeface="Verdana" charset="0"/>
                <a:ea typeface="Verdana" charset="0"/>
                <a:cs typeface="Verdana" charset="0"/>
              </a:rPr>
              <a:t> :: vremenski kontekst projekta</a:t>
            </a:r>
            <a:endParaRPr lang="en-US" sz="2000" dirty="0">
              <a:latin typeface="Verdana" charset="0"/>
              <a:ea typeface="Verdana" charset="0"/>
              <a:cs typeface="Verdana" charset="0"/>
            </a:endParaRPr>
          </a:p>
        </p:txBody>
      </p:sp>
      <p:cxnSp>
        <p:nvCxnSpPr>
          <p:cNvPr id="6" name="Straight Connector 5"/>
          <p:cNvCxnSpPr/>
          <p:nvPr/>
        </p:nvCxnSpPr>
        <p:spPr>
          <a:xfrm>
            <a:off x="280604" y="558748"/>
            <a:ext cx="11549446" cy="2219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bwMode="gray">
          <a:xfrm>
            <a:off x="3018237" y="1078133"/>
            <a:ext cx="6115438" cy="5317968"/>
          </a:xfrm>
          <a:prstGeom prst="rect">
            <a:avLst/>
          </a:prstGeom>
          <a:noFill/>
          <a:ln w="19050" algn="ctr">
            <a:solidFill>
              <a:schemeClr val="accent3"/>
            </a:solidFill>
            <a:prstDash val="dash"/>
            <a:miter lim="800000"/>
            <a:headEnd/>
            <a:tailEnd/>
          </a:ln>
        </p:spPr>
        <p:txBody>
          <a:bodyPr wrap="square" lIns="88900" tIns="88900" rIns="88900" bIns="8890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lnSpc>
                <a:spcPct val="106000"/>
              </a:lnSpc>
              <a:buFont typeface="Wingdings 2" pitchFamily="18" charset="2"/>
              <a:buNone/>
            </a:pPr>
            <a:endParaRPr lang="en-US" sz="1600" b="1" dirty="0">
              <a:solidFill>
                <a:schemeClr val="bg1"/>
              </a:solidFill>
            </a:endParaRPr>
          </a:p>
        </p:txBody>
      </p:sp>
      <p:grpSp>
        <p:nvGrpSpPr>
          <p:cNvPr id="9" name="Group 8"/>
          <p:cNvGrpSpPr/>
          <p:nvPr/>
        </p:nvGrpSpPr>
        <p:grpSpPr>
          <a:xfrm>
            <a:off x="5381780" y="2987112"/>
            <a:ext cx="1248197" cy="1248197"/>
            <a:chOff x="1801057" y="2010187"/>
            <a:chExt cx="1248197" cy="1248197"/>
          </a:xfrm>
          <a:solidFill>
            <a:schemeClr val="accent4">
              <a:lumMod val="60000"/>
              <a:lumOff val="40000"/>
            </a:schemeClr>
          </a:solidFill>
        </p:grpSpPr>
        <p:sp>
          <p:nvSpPr>
            <p:cNvPr id="10" name="Oval 9"/>
            <p:cNvSpPr/>
            <p:nvPr/>
          </p:nvSpPr>
          <p:spPr>
            <a:xfrm>
              <a:off x="1801057" y="2010187"/>
              <a:ext cx="1248197" cy="1248197"/>
            </a:xfrm>
            <a:prstGeom prst="ellipse">
              <a:avLst/>
            </a:prstGeom>
            <a:solidFill>
              <a:srgbClr val="C0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1" name="Oval 4"/>
            <p:cNvSpPr/>
            <p:nvPr/>
          </p:nvSpPr>
          <p:spPr>
            <a:xfrm>
              <a:off x="1886376" y="2216580"/>
              <a:ext cx="1060107" cy="882609"/>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hr-HR" sz="1200" dirty="0" err="1">
                  <a:solidFill>
                    <a:schemeClr val="tx1"/>
                  </a:solidFill>
                </a:rPr>
                <a:t>preIncubation@FOI</a:t>
              </a:r>
              <a:endParaRPr lang="hr-HR" sz="1200" kern="1200" baseline="0" dirty="0">
                <a:solidFill>
                  <a:schemeClr val="tx1"/>
                </a:solidFill>
              </a:endParaRPr>
            </a:p>
          </p:txBody>
        </p:sp>
      </p:grpSp>
      <p:grpSp>
        <p:nvGrpSpPr>
          <p:cNvPr id="12" name="Group 11"/>
          <p:cNvGrpSpPr/>
          <p:nvPr/>
        </p:nvGrpSpPr>
        <p:grpSpPr>
          <a:xfrm>
            <a:off x="3600119" y="4646317"/>
            <a:ext cx="1718969" cy="948630"/>
            <a:chOff x="371" y="2159971"/>
            <a:chExt cx="1185787" cy="948630"/>
          </a:xfrm>
        </p:grpSpPr>
        <p:sp>
          <p:nvSpPr>
            <p:cNvPr id="13" name="Rounded Rectangle 12"/>
            <p:cNvSpPr/>
            <p:nvPr/>
          </p:nvSpPr>
          <p:spPr>
            <a:xfrm>
              <a:off x="371" y="2159971"/>
              <a:ext cx="1185787"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4" name="Rounded Rectangle 7"/>
            <p:cNvSpPr/>
            <p:nvPr/>
          </p:nvSpPr>
          <p:spPr>
            <a:xfrm>
              <a:off x="28155" y="2187755"/>
              <a:ext cx="1130219"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lvl="0" algn="ctr" defTabSz="444500">
                <a:lnSpc>
                  <a:spcPct val="90000"/>
                </a:lnSpc>
                <a:spcBef>
                  <a:spcPct val="0"/>
                </a:spcBef>
                <a:spcAft>
                  <a:spcPct val="35000"/>
                </a:spcAft>
              </a:pPr>
              <a:r>
                <a:rPr lang="hr-HR" sz="1000" kern="1200" dirty="0">
                  <a:solidFill>
                    <a:schemeClr val="tx1"/>
                  </a:solidFill>
                </a:rPr>
                <a:t>Lokalne Točke Razvoja</a:t>
              </a:r>
            </a:p>
          </p:txBody>
        </p:sp>
      </p:grpSp>
      <p:grpSp>
        <p:nvGrpSpPr>
          <p:cNvPr id="15" name="Group 14"/>
          <p:cNvGrpSpPr/>
          <p:nvPr/>
        </p:nvGrpSpPr>
        <p:grpSpPr>
          <a:xfrm>
            <a:off x="3768547" y="1455809"/>
            <a:ext cx="1776378" cy="948630"/>
            <a:chOff x="393967" y="864628"/>
            <a:chExt cx="1471692" cy="948630"/>
          </a:xfrm>
        </p:grpSpPr>
        <p:sp>
          <p:nvSpPr>
            <p:cNvPr id="16" name="Rounded Rectangle 15"/>
            <p:cNvSpPr/>
            <p:nvPr/>
          </p:nvSpPr>
          <p:spPr>
            <a:xfrm>
              <a:off x="393967" y="864628"/>
              <a:ext cx="1471692"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7" name="Rounded Rectangle 10"/>
            <p:cNvSpPr/>
            <p:nvPr/>
          </p:nvSpPr>
          <p:spPr>
            <a:xfrm>
              <a:off x="421751" y="892412"/>
              <a:ext cx="1416124"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Potporne institucije</a:t>
              </a:r>
              <a:endParaRPr lang="en-US" sz="1000" kern="1200" dirty="0">
                <a:solidFill>
                  <a:schemeClr val="tx1"/>
                </a:solidFill>
              </a:endParaRPr>
            </a:p>
          </p:txBody>
        </p:sp>
      </p:grpSp>
      <p:grpSp>
        <p:nvGrpSpPr>
          <p:cNvPr id="18" name="Group 17"/>
          <p:cNvGrpSpPr/>
          <p:nvPr/>
        </p:nvGrpSpPr>
        <p:grpSpPr>
          <a:xfrm>
            <a:off x="6489551" y="1455472"/>
            <a:ext cx="1883218" cy="948630"/>
            <a:chOff x="1993813" y="294106"/>
            <a:chExt cx="1496665" cy="948630"/>
          </a:xfrm>
        </p:grpSpPr>
        <p:sp>
          <p:nvSpPr>
            <p:cNvPr id="19" name="Rounded Rectangle 18"/>
            <p:cNvSpPr/>
            <p:nvPr/>
          </p:nvSpPr>
          <p:spPr>
            <a:xfrm>
              <a:off x="1993813" y="294106"/>
              <a:ext cx="1496665"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0" name="Rounded Rectangle 13"/>
            <p:cNvSpPr/>
            <p:nvPr/>
          </p:nvSpPr>
          <p:spPr>
            <a:xfrm>
              <a:off x="2021597" y="321890"/>
              <a:ext cx="1441097"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lvl="0" algn="ctr" defTabSz="444500">
                <a:lnSpc>
                  <a:spcPct val="90000"/>
                </a:lnSpc>
                <a:spcBef>
                  <a:spcPct val="0"/>
                </a:spcBef>
                <a:spcAft>
                  <a:spcPct val="35000"/>
                </a:spcAft>
              </a:pPr>
              <a:r>
                <a:rPr lang="hr-HR" sz="1000" dirty="0">
                  <a:solidFill>
                    <a:schemeClr val="tx1"/>
                  </a:solidFill>
                </a:rPr>
                <a:t>Apsorpcija/prodor novih tehnologija</a:t>
              </a:r>
              <a:endParaRPr lang="en-US" sz="1000" kern="1200" dirty="0">
                <a:solidFill>
                  <a:schemeClr val="tx1"/>
                </a:solidFill>
              </a:endParaRPr>
            </a:p>
          </p:txBody>
        </p:sp>
      </p:grpSp>
      <p:grpSp>
        <p:nvGrpSpPr>
          <p:cNvPr id="21" name="Group 20"/>
          <p:cNvGrpSpPr/>
          <p:nvPr/>
        </p:nvGrpSpPr>
        <p:grpSpPr>
          <a:xfrm>
            <a:off x="7185770" y="3095892"/>
            <a:ext cx="1689642" cy="948630"/>
            <a:chOff x="3546413" y="1013755"/>
            <a:chExt cx="1185787" cy="948630"/>
          </a:xfrm>
        </p:grpSpPr>
        <p:sp>
          <p:nvSpPr>
            <p:cNvPr id="22" name="Rounded Rectangle 21"/>
            <p:cNvSpPr/>
            <p:nvPr/>
          </p:nvSpPr>
          <p:spPr>
            <a:xfrm>
              <a:off x="3546413" y="1013755"/>
              <a:ext cx="1185787"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3" name="Rounded Rectangle 16"/>
            <p:cNvSpPr/>
            <p:nvPr/>
          </p:nvSpPr>
          <p:spPr>
            <a:xfrm>
              <a:off x="3574197" y="1041539"/>
              <a:ext cx="1130219"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lvl="0" algn="ctr" defTabSz="444500">
                <a:lnSpc>
                  <a:spcPct val="90000"/>
                </a:lnSpc>
                <a:spcBef>
                  <a:spcPct val="0"/>
                </a:spcBef>
                <a:spcAft>
                  <a:spcPct val="35000"/>
                </a:spcAft>
              </a:pPr>
              <a:r>
                <a:rPr lang="hr-HR" sz="1000" dirty="0">
                  <a:solidFill>
                    <a:schemeClr val="tx1"/>
                  </a:solidFill>
                </a:rPr>
                <a:t>Obrazovne institucije</a:t>
              </a:r>
              <a:endParaRPr lang="en-US" sz="1000" kern="1200" dirty="0">
                <a:solidFill>
                  <a:schemeClr val="tx1"/>
                </a:solidFill>
              </a:endParaRPr>
            </a:p>
          </p:txBody>
        </p:sp>
      </p:grpSp>
      <p:grpSp>
        <p:nvGrpSpPr>
          <p:cNvPr id="24" name="Group 23"/>
          <p:cNvGrpSpPr/>
          <p:nvPr/>
        </p:nvGrpSpPr>
        <p:grpSpPr>
          <a:xfrm>
            <a:off x="6585030" y="4642498"/>
            <a:ext cx="1692259" cy="948630"/>
            <a:chOff x="3664153" y="2159971"/>
            <a:chExt cx="1185787" cy="948630"/>
          </a:xfrm>
          <a:solidFill>
            <a:srgbClr val="C00000"/>
          </a:solidFill>
        </p:grpSpPr>
        <p:sp>
          <p:nvSpPr>
            <p:cNvPr id="25" name="Rounded Rectangle 24"/>
            <p:cNvSpPr/>
            <p:nvPr/>
          </p:nvSpPr>
          <p:spPr>
            <a:xfrm>
              <a:off x="3664153" y="2159971"/>
              <a:ext cx="1185787" cy="948630"/>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6" name="Rounded Rectangle 19"/>
            <p:cNvSpPr/>
            <p:nvPr/>
          </p:nvSpPr>
          <p:spPr>
            <a:xfrm>
              <a:off x="3691937" y="2187755"/>
              <a:ext cx="1130219" cy="89306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36195" tIns="36195" rIns="36195" bIns="36195" numCol="1" spcCol="1270" anchor="ctr" anchorCtr="0">
              <a:noAutofit/>
            </a:bodyPr>
            <a:lstStyle/>
            <a:p>
              <a:pPr lvl="0" algn="ctr" defTabSz="844550">
                <a:lnSpc>
                  <a:spcPct val="90000"/>
                </a:lnSpc>
                <a:spcBef>
                  <a:spcPct val="0"/>
                </a:spcBef>
                <a:spcAft>
                  <a:spcPct val="35000"/>
                </a:spcAft>
              </a:pPr>
              <a:r>
                <a:rPr lang="en-US" sz="1900" dirty="0"/>
                <a:t>Zašto FOI ?</a:t>
              </a:r>
              <a:endParaRPr lang="en-US" sz="1900" kern="1200" dirty="0"/>
            </a:p>
          </p:txBody>
        </p:sp>
      </p:grpSp>
      <p:grpSp>
        <p:nvGrpSpPr>
          <p:cNvPr id="27" name="Group 26"/>
          <p:cNvGrpSpPr/>
          <p:nvPr/>
        </p:nvGrpSpPr>
        <p:grpSpPr>
          <a:xfrm>
            <a:off x="3352548" y="3136895"/>
            <a:ext cx="1471692" cy="948630"/>
            <a:chOff x="393967" y="864628"/>
            <a:chExt cx="1471692" cy="948630"/>
          </a:xfrm>
        </p:grpSpPr>
        <p:sp>
          <p:nvSpPr>
            <p:cNvPr id="28" name="Rounded Rectangle 27"/>
            <p:cNvSpPr/>
            <p:nvPr/>
          </p:nvSpPr>
          <p:spPr>
            <a:xfrm>
              <a:off x="393967" y="864628"/>
              <a:ext cx="1471692"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9" name="Rounded Rectangle 10"/>
            <p:cNvSpPr/>
            <p:nvPr/>
          </p:nvSpPr>
          <p:spPr>
            <a:xfrm>
              <a:off x="421751" y="892412"/>
              <a:ext cx="1416124"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Inkubacija poduzetnika</a:t>
              </a:r>
              <a:endParaRPr lang="en-US" sz="1000" kern="1200" dirty="0">
                <a:solidFill>
                  <a:schemeClr val="tx1"/>
                </a:solidFill>
              </a:endParaRPr>
            </a:p>
          </p:txBody>
        </p:sp>
      </p:grpSp>
      <p:sp>
        <p:nvSpPr>
          <p:cNvPr id="30" name="Rectangle 29"/>
          <p:cNvSpPr/>
          <p:nvPr/>
        </p:nvSpPr>
        <p:spPr>
          <a:xfrm>
            <a:off x="452054" y="4612801"/>
            <a:ext cx="2133484" cy="507831"/>
          </a:xfrm>
          <a:prstGeom prst="rect">
            <a:avLst/>
          </a:prstGeom>
        </p:spPr>
        <p:txBody>
          <a:bodyPr wrap="square">
            <a:spAutoFit/>
          </a:bodyPr>
          <a:lstStyle/>
          <a:p>
            <a:pPr marL="342900" lvl="0" indent="-342900">
              <a:spcAft>
                <a:spcPts val="0"/>
              </a:spcAft>
              <a:buFont typeface="Courier New" charset="0"/>
              <a:buChar char="o"/>
            </a:pPr>
            <a:endParaRPr lang="hr-HR" sz="900" dirty="0">
              <a:effectLst/>
              <a:latin typeface="Verdana" charset="0"/>
              <a:ea typeface="Verdana" charset="0"/>
              <a:cs typeface="Verdana" charset="0"/>
            </a:endParaRPr>
          </a:p>
          <a:p>
            <a:pPr lvl="0">
              <a:spcAft>
                <a:spcPts val="0"/>
              </a:spcAft>
            </a:pPr>
            <a:endParaRPr lang="hr-HR" sz="900" dirty="0">
              <a:effectLst/>
              <a:latin typeface="Verdana" charset="0"/>
              <a:ea typeface="Verdana" charset="0"/>
              <a:cs typeface="Verdana" charset="0"/>
            </a:endParaRPr>
          </a:p>
          <a:p>
            <a:pPr lvl="0">
              <a:spcAft>
                <a:spcPts val="0"/>
              </a:spcAft>
            </a:pPr>
            <a:endParaRPr lang="hr-HR" sz="900" dirty="0">
              <a:effectLst/>
              <a:latin typeface="Verdana" charset="0"/>
              <a:ea typeface="Verdana" charset="0"/>
              <a:cs typeface="Verdana" charset="0"/>
            </a:endParaRPr>
          </a:p>
        </p:txBody>
      </p:sp>
      <p:sp>
        <p:nvSpPr>
          <p:cNvPr id="2" name="Rounded Rectangular Callout 1"/>
          <p:cNvSpPr/>
          <p:nvPr/>
        </p:nvSpPr>
        <p:spPr>
          <a:xfrm>
            <a:off x="427900" y="709171"/>
            <a:ext cx="2309108" cy="2408578"/>
          </a:xfrm>
          <a:prstGeom prst="wedgeRoundRectCallout">
            <a:avLst>
              <a:gd name="adj1" fmla="val 81959"/>
              <a:gd name="adj2" fmla="val -9722"/>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spcAft>
                <a:spcPts val="0"/>
              </a:spcAft>
            </a:pPr>
            <a:r>
              <a:rPr lang="hr-HR" sz="900" dirty="0">
                <a:solidFill>
                  <a:schemeClr val="tx1"/>
                </a:solidFill>
                <a:latin typeface="Verdana" charset="0"/>
                <a:ea typeface="Verdana" charset="0"/>
                <a:cs typeface="Verdana" charset="0"/>
              </a:rPr>
              <a:t>U RH a napose u SZ RH postoje brojne </a:t>
            </a:r>
            <a:r>
              <a:rPr lang="hr-HR" sz="900" b="1" dirty="0">
                <a:solidFill>
                  <a:schemeClr val="tx1"/>
                </a:solidFill>
                <a:latin typeface="Verdana" charset="0"/>
                <a:ea typeface="Verdana" charset="0"/>
                <a:cs typeface="Verdana" charset="0"/>
              </a:rPr>
              <a:t>potporne</a:t>
            </a:r>
            <a:r>
              <a:rPr lang="hr-HR" sz="900" dirty="0">
                <a:solidFill>
                  <a:schemeClr val="tx1"/>
                </a:solidFill>
                <a:latin typeface="Verdana" charset="0"/>
                <a:ea typeface="Verdana" charset="0"/>
                <a:cs typeface="Verdana" charset="0"/>
              </a:rPr>
              <a:t> institucije. Većina njih se pretvorila u javne ustanove u cijelosti financirane javnim novcem. Učinkovitost je dvojbena u smislu "value for money", a doprinos društvu / kvaliteta usluga koje pružaju značajno varira. Ovim projektom se ne osniva nova potporna institucija. Ono što je društvu potrebno jest usluga ranog prepoznavanja tehnoloških i srodnih poduzetničkih inovacija. </a:t>
            </a:r>
          </a:p>
        </p:txBody>
      </p:sp>
      <p:sp>
        <p:nvSpPr>
          <p:cNvPr id="33" name="Rounded Rectangular Callout 32"/>
          <p:cNvSpPr/>
          <p:nvPr/>
        </p:nvSpPr>
        <p:spPr>
          <a:xfrm>
            <a:off x="452054" y="3245980"/>
            <a:ext cx="2309108" cy="2331860"/>
          </a:xfrm>
          <a:prstGeom prst="wedgeRoundRectCallout">
            <a:avLst>
              <a:gd name="adj1" fmla="val 70079"/>
              <a:gd name="adj2" fmla="val -35844"/>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hr-HR" sz="900" dirty="0">
                <a:solidFill>
                  <a:schemeClr val="tx1"/>
                </a:solidFill>
                <a:latin typeface="Verdana" charset="0"/>
                <a:ea typeface="Verdana" charset="0"/>
                <a:cs typeface="Verdana" charset="0"/>
              </a:rPr>
              <a:t>Inkubacijski proces se provodio u TPV, no on je nestao u smislu ispravne inkubacijske procedure, ali je ostao u domeni kvalitetnog prostora za poduzetnike. Inkubaciju valja osnažiti. </a:t>
            </a:r>
          </a:p>
          <a:p>
            <a:r>
              <a:rPr lang="hr-HR" sz="900" dirty="0">
                <a:solidFill>
                  <a:schemeClr val="tx1"/>
                </a:solidFill>
                <a:latin typeface="Verdana" charset="0"/>
                <a:ea typeface="Verdana" charset="0"/>
                <a:cs typeface="Verdana" charset="0"/>
              </a:rPr>
              <a:t>Posljedice toga su vrlo mali broj novoosnovanih tehnološki inovativnih tvrtki po glavi stanovnika i implementacija novih tehnologija u gospodarstvo, valja intervenirati u sustav obrazovanja /cjeloživotno i formalno/,</a:t>
            </a:r>
            <a:endParaRPr lang="en-US" sz="900" dirty="0">
              <a:solidFill>
                <a:schemeClr val="tx1"/>
              </a:solidFill>
              <a:latin typeface="Verdana" charset="0"/>
              <a:ea typeface="Verdana" charset="0"/>
              <a:cs typeface="Verdana" charset="0"/>
            </a:endParaRPr>
          </a:p>
          <a:p>
            <a:pPr lvl="0">
              <a:spcAft>
                <a:spcPts val="0"/>
              </a:spcAft>
            </a:pPr>
            <a:endParaRPr lang="hr-HR" sz="900" dirty="0">
              <a:solidFill>
                <a:schemeClr val="tx1"/>
              </a:solidFill>
              <a:latin typeface="Verdana" charset="0"/>
              <a:ea typeface="Verdana" charset="0"/>
              <a:cs typeface="Verdana" charset="0"/>
            </a:endParaRPr>
          </a:p>
        </p:txBody>
      </p:sp>
      <p:sp>
        <p:nvSpPr>
          <p:cNvPr id="34" name="Rounded Rectangular Callout 33"/>
          <p:cNvSpPr/>
          <p:nvPr/>
        </p:nvSpPr>
        <p:spPr>
          <a:xfrm>
            <a:off x="9370992" y="734512"/>
            <a:ext cx="2309108" cy="2473793"/>
          </a:xfrm>
          <a:prstGeom prst="wedgeRoundRectCallout">
            <a:avLst>
              <a:gd name="adj1" fmla="val -84855"/>
              <a:gd name="adj2" fmla="val -1259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hr-HR" sz="900" dirty="0">
                <a:solidFill>
                  <a:schemeClr val="tx1"/>
                </a:solidFill>
                <a:latin typeface="Verdana" charset="0"/>
                <a:ea typeface="Verdana" charset="0"/>
                <a:cs typeface="Verdana" charset="0"/>
              </a:rPr>
              <a:t>Nekonkurentnost gospodarstva nekog društva ima uporište u slaboj </a:t>
            </a:r>
            <a:r>
              <a:rPr lang="hr-HR" sz="900" b="1" dirty="0">
                <a:solidFill>
                  <a:schemeClr val="tx1"/>
                </a:solidFill>
                <a:latin typeface="Verdana" charset="0"/>
                <a:ea typeface="Verdana" charset="0"/>
                <a:cs typeface="Verdana" charset="0"/>
              </a:rPr>
              <a:t>apsorpciji</a:t>
            </a:r>
            <a:r>
              <a:rPr lang="hr-HR" sz="900" dirty="0">
                <a:solidFill>
                  <a:schemeClr val="tx1"/>
                </a:solidFill>
                <a:latin typeface="Verdana" charset="0"/>
                <a:ea typeface="Verdana" charset="0"/>
                <a:cs typeface="Verdana" charset="0"/>
              </a:rPr>
              <a:t> i </a:t>
            </a:r>
            <a:r>
              <a:rPr lang="hr-HR" sz="900" b="1" dirty="0">
                <a:solidFill>
                  <a:schemeClr val="tx1"/>
                </a:solidFill>
                <a:latin typeface="Verdana" charset="0"/>
                <a:ea typeface="Verdana" charset="0"/>
                <a:cs typeface="Verdana" charset="0"/>
              </a:rPr>
              <a:t>prodoru</a:t>
            </a:r>
            <a:r>
              <a:rPr lang="hr-HR" sz="900" dirty="0">
                <a:solidFill>
                  <a:schemeClr val="tx1"/>
                </a:solidFill>
                <a:latin typeface="Verdana" charset="0"/>
                <a:ea typeface="Verdana" charset="0"/>
                <a:cs typeface="Verdana" charset="0"/>
              </a:rPr>
              <a:t> novih tehnologija te nedovoljnom inoviranju. Kako bi se ovaj problem riješio nije dovoljno samo intervenirati u kurikulume obrazovnog sustava već neposrednije djelovati u obostranoj vezi prema poduzetnicima. U fokusu trebaju biti poduzetnici iz područja industrije, poljoprivrede, kretaivnih i kulturnih industrija te drugih grana gospodarstva. </a:t>
            </a:r>
            <a:endParaRPr lang="en-US" sz="900" dirty="0">
              <a:solidFill>
                <a:schemeClr val="tx1"/>
              </a:solidFill>
              <a:latin typeface="Verdana" charset="0"/>
              <a:ea typeface="Verdana" charset="0"/>
              <a:cs typeface="Verdana" charset="0"/>
            </a:endParaRPr>
          </a:p>
        </p:txBody>
      </p:sp>
      <p:sp>
        <p:nvSpPr>
          <p:cNvPr id="31" name="Rounded Rectangular Callout 30"/>
          <p:cNvSpPr/>
          <p:nvPr/>
        </p:nvSpPr>
        <p:spPr>
          <a:xfrm>
            <a:off x="9370992" y="3309499"/>
            <a:ext cx="2309108" cy="1359405"/>
          </a:xfrm>
          <a:prstGeom prst="wedgeRoundRectCallout">
            <a:avLst>
              <a:gd name="adj1" fmla="val -71985"/>
              <a:gd name="adj2" fmla="val -27929"/>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spcAft>
                <a:spcPts val="0"/>
              </a:spcAft>
            </a:pPr>
            <a:r>
              <a:rPr lang="hr-HR" sz="900" dirty="0">
                <a:solidFill>
                  <a:schemeClr val="tx1"/>
                </a:solidFill>
                <a:latin typeface="Verdana" charset="0"/>
                <a:ea typeface="Verdana" charset="0"/>
                <a:cs typeface="Verdana" charset="0"/>
              </a:rPr>
              <a:t>FOI ima preko 3000 studenata, odnosno predstavlja otvoreni sustav koji se svake godine obnavlja. Privlači iz cijele regije brojne mlade ljude koje zanima informacijska tehnologija. Ima vrlo visoku kvalitativnu razinu studenata koji se upisuju.</a:t>
            </a:r>
          </a:p>
        </p:txBody>
      </p:sp>
      <p:sp>
        <p:nvSpPr>
          <p:cNvPr id="35" name="Rounded Rectangular Callout 34"/>
          <p:cNvSpPr/>
          <p:nvPr/>
        </p:nvSpPr>
        <p:spPr>
          <a:xfrm>
            <a:off x="9370992" y="4767768"/>
            <a:ext cx="2309108" cy="1964502"/>
          </a:xfrm>
          <a:prstGeom prst="wedgeRoundRectCallout">
            <a:avLst>
              <a:gd name="adj1" fmla="val -92775"/>
              <a:gd name="adj2" fmla="val -27227"/>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spcAft>
                <a:spcPts val="0"/>
              </a:spcAft>
            </a:pPr>
            <a:r>
              <a:rPr lang="hr-HR" sz="900" dirty="0">
                <a:solidFill>
                  <a:schemeClr val="tx1"/>
                </a:solidFill>
                <a:latin typeface="Verdana" charset="0"/>
                <a:ea typeface="Verdana" charset="0"/>
                <a:cs typeface="Verdana" charset="0"/>
              </a:rPr>
              <a:t>FOI predstavlja centar IT-e, a u smislu ranog prepoznavanja kvalitetnih poduzetničkih ideja i pomoći u realizaciji treba pokrenuti ovaj projekt.</a:t>
            </a:r>
          </a:p>
          <a:p>
            <a:pPr lvl="0">
              <a:spcAft>
                <a:spcPts val="0"/>
              </a:spcAft>
            </a:pPr>
            <a:endParaRPr lang="hr-HR" sz="900" dirty="0">
              <a:solidFill>
                <a:schemeClr val="tx1"/>
              </a:solidFill>
              <a:latin typeface="Verdana" charset="0"/>
              <a:ea typeface="Verdana" charset="0"/>
              <a:cs typeface="Verdana" charset="0"/>
            </a:endParaRPr>
          </a:p>
          <a:p>
            <a:r>
              <a:rPr lang="hr-HR" sz="900" dirty="0">
                <a:solidFill>
                  <a:schemeClr val="tx1"/>
                </a:solidFill>
                <a:latin typeface="Verdana" charset="0"/>
                <a:ea typeface="Verdana" charset="0"/>
                <a:cs typeface="Verdana" charset="0"/>
              </a:rPr>
              <a:t>Osnovni problem je što niti jedna institucija u SZ RH ne provodi sustavno aktivnosti ranog prepoznavanja inovacije u području novih tehnologija i ne radi na njihovoj realizaciji u ovom trenutku.</a:t>
            </a:r>
            <a:endParaRPr lang="en-US" sz="900" dirty="0">
              <a:solidFill>
                <a:schemeClr val="tx1"/>
              </a:solidFill>
              <a:latin typeface="Verdana" charset="0"/>
              <a:ea typeface="Verdana" charset="0"/>
              <a:cs typeface="Verdana" charset="0"/>
            </a:endParaRPr>
          </a:p>
        </p:txBody>
      </p:sp>
      <p:sp>
        <p:nvSpPr>
          <p:cNvPr id="36" name="Rounded Rectangular Callout 35"/>
          <p:cNvSpPr/>
          <p:nvPr/>
        </p:nvSpPr>
        <p:spPr>
          <a:xfrm>
            <a:off x="542241" y="5688614"/>
            <a:ext cx="2309108" cy="1055156"/>
          </a:xfrm>
          <a:prstGeom prst="wedgeRoundRectCallout">
            <a:avLst>
              <a:gd name="adj1" fmla="val 70079"/>
              <a:gd name="adj2" fmla="val -35844"/>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hr-HR" sz="900" dirty="0">
                <a:solidFill>
                  <a:schemeClr val="tx1"/>
                </a:solidFill>
                <a:latin typeface="Verdana" charset="0"/>
                <a:ea typeface="Verdana" charset="0"/>
                <a:cs typeface="Verdana" charset="0"/>
              </a:rPr>
              <a:t>Partneri na projektu su pomno odabrani jer u njima postoji značajna količina poduzetnika, OPG-ova, obrtnika i određena poduzetnička i inovacijska tradicija.</a:t>
            </a:r>
          </a:p>
        </p:txBody>
      </p:sp>
      <p:sp>
        <p:nvSpPr>
          <p:cNvPr id="37" name="Right Arrow 36"/>
          <p:cNvSpPr/>
          <p:nvPr/>
        </p:nvSpPr>
        <p:spPr bwMode="gray">
          <a:xfrm>
            <a:off x="6667821" y="3409688"/>
            <a:ext cx="480105" cy="427837"/>
          </a:xfrm>
          <a:prstGeom prst="rightArrow">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hr-HR" sz="1200" b="1" dirty="0">
              <a:solidFill>
                <a:schemeClr val="bg1"/>
              </a:solidFill>
              <a:latin typeface="Verdana" charset="0"/>
              <a:ea typeface="Verdana" charset="0"/>
              <a:cs typeface="Verdana" charset="0"/>
            </a:endParaRPr>
          </a:p>
        </p:txBody>
      </p:sp>
      <p:sp>
        <p:nvSpPr>
          <p:cNvPr id="38" name="Right Arrow 37"/>
          <p:cNvSpPr/>
          <p:nvPr/>
        </p:nvSpPr>
        <p:spPr bwMode="gray">
          <a:xfrm rot="17824080">
            <a:off x="6207130" y="2556679"/>
            <a:ext cx="480105" cy="427837"/>
          </a:xfrm>
          <a:prstGeom prst="rightArrow">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hr-HR" sz="1200" b="1" dirty="0">
              <a:solidFill>
                <a:schemeClr val="bg1"/>
              </a:solidFill>
              <a:latin typeface="Verdana" charset="0"/>
              <a:ea typeface="Verdana" charset="0"/>
              <a:cs typeface="Verdana" charset="0"/>
            </a:endParaRPr>
          </a:p>
        </p:txBody>
      </p:sp>
      <p:sp>
        <p:nvSpPr>
          <p:cNvPr id="39" name="Right Arrow 38"/>
          <p:cNvSpPr/>
          <p:nvPr/>
        </p:nvSpPr>
        <p:spPr bwMode="gray">
          <a:xfrm rot="14389058">
            <a:off x="5342567" y="2556678"/>
            <a:ext cx="480105" cy="427837"/>
          </a:xfrm>
          <a:prstGeom prst="rightArrow">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hr-HR" sz="1200" b="1" dirty="0">
              <a:solidFill>
                <a:schemeClr val="bg1"/>
              </a:solidFill>
              <a:latin typeface="Verdana" charset="0"/>
              <a:ea typeface="Verdana" charset="0"/>
              <a:cs typeface="Verdana" charset="0"/>
            </a:endParaRPr>
          </a:p>
        </p:txBody>
      </p:sp>
      <p:sp>
        <p:nvSpPr>
          <p:cNvPr id="40" name="Right Arrow 39"/>
          <p:cNvSpPr/>
          <p:nvPr/>
        </p:nvSpPr>
        <p:spPr bwMode="gray">
          <a:xfrm rot="10800000">
            <a:off x="4863831" y="3413151"/>
            <a:ext cx="480105" cy="427837"/>
          </a:xfrm>
          <a:prstGeom prst="rightArrow">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hr-HR" sz="1200" b="1" dirty="0">
              <a:solidFill>
                <a:schemeClr val="bg1"/>
              </a:solidFill>
              <a:latin typeface="Verdana" charset="0"/>
              <a:ea typeface="Verdana" charset="0"/>
              <a:cs typeface="Verdana" charset="0"/>
            </a:endParaRPr>
          </a:p>
        </p:txBody>
      </p:sp>
      <p:sp>
        <p:nvSpPr>
          <p:cNvPr id="41" name="Right Arrow 40"/>
          <p:cNvSpPr/>
          <p:nvPr/>
        </p:nvSpPr>
        <p:spPr bwMode="gray">
          <a:xfrm rot="7915846">
            <a:off x="5183907" y="4112788"/>
            <a:ext cx="480105" cy="427837"/>
          </a:xfrm>
          <a:prstGeom prst="rightArrow">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hr-HR" sz="1200" b="1" dirty="0">
              <a:solidFill>
                <a:schemeClr val="bg1"/>
              </a:solidFill>
              <a:latin typeface="Verdana" charset="0"/>
              <a:ea typeface="Verdana" charset="0"/>
              <a:cs typeface="Verdana" charset="0"/>
            </a:endParaRPr>
          </a:p>
        </p:txBody>
      </p:sp>
      <p:sp>
        <p:nvSpPr>
          <p:cNvPr id="42" name="Right Arrow 41"/>
          <p:cNvSpPr/>
          <p:nvPr/>
        </p:nvSpPr>
        <p:spPr bwMode="gray">
          <a:xfrm rot="3924358">
            <a:off x="6236595" y="4180672"/>
            <a:ext cx="480105" cy="427837"/>
          </a:xfrm>
          <a:prstGeom prst="rightArrow">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pPr>
            <a:endParaRPr lang="hr-HR" sz="1200" b="1" dirty="0">
              <a:solidFill>
                <a:schemeClr val="bg1"/>
              </a:solidFill>
              <a:latin typeface="Verdana" charset="0"/>
              <a:ea typeface="Verdana" charset="0"/>
              <a:cs typeface="Verdana" charset="0"/>
            </a:endParaRPr>
          </a:p>
        </p:txBody>
      </p:sp>
    </p:spTree>
    <p:extLst>
      <p:ext uri="{BB962C8B-B14F-4D97-AF65-F5344CB8AC3E}">
        <p14:creationId xmlns:p14="http://schemas.microsoft.com/office/powerpoint/2010/main" val="1085583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 name="Group 3"/>
          <p:cNvGrpSpPr/>
          <p:nvPr/>
        </p:nvGrpSpPr>
        <p:grpSpPr>
          <a:xfrm>
            <a:off x="4787920" y="2996887"/>
            <a:ext cx="1520189" cy="1511228"/>
            <a:chOff x="1801057" y="2010187"/>
            <a:chExt cx="1248197" cy="1248197"/>
          </a:xfrm>
          <a:solidFill>
            <a:schemeClr val="accent4">
              <a:lumMod val="60000"/>
              <a:lumOff val="40000"/>
            </a:schemeClr>
          </a:solidFill>
        </p:grpSpPr>
        <p:sp>
          <p:nvSpPr>
            <p:cNvPr id="5" name="Oval 4"/>
            <p:cNvSpPr/>
            <p:nvPr/>
          </p:nvSpPr>
          <p:spPr>
            <a:xfrm>
              <a:off x="1801057" y="2010187"/>
              <a:ext cx="1248197" cy="1248197"/>
            </a:xfrm>
            <a:prstGeom prst="ellipse">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Oval 4"/>
            <p:cNvSpPr/>
            <p:nvPr/>
          </p:nvSpPr>
          <p:spPr>
            <a:xfrm>
              <a:off x="1983851" y="2192981"/>
              <a:ext cx="882609" cy="882609"/>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hr-HR" sz="1200" dirty="0" err="1">
                  <a:solidFill>
                    <a:schemeClr val="tx1"/>
                  </a:solidFill>
                </a:rPr>
                <a:t>preIncubation</a:t>
              </a:r>
              <a:endParaRPr lang="hr-HR" sz="1200" kern="1200" baseline="0" dirty="0">
                <a:solidFill>
                  <a:schemeClr val="tx1"/>
                </a:solidFill>
              </a:endParaRPr>
            </a:p>
          </p:txBody>
        </p:sp>
      </p:grpSp>
      <p:sp>
        <p:nvSpPr>
          <p:cNvPr id="7" name="Rounded Rectangular Callout 6">
            <a:hlinkHover r:id="" action="ppaction://noaction" highlightClick="1"/>
          </p:cNvPr>
          <p:cNvSpPr/>
          <p:nvPr/>
        </p:nvSpPr>
        <p:spPr>
          <a:xfrm>
            <a:off x="469900" y="1049664"/>
            <a:ext cx="3850640" cy="1482947"/>
          </a:xfrm>
          <a:prstGeom prst="wedgeRoundRectCallout">
            <a:avLst>
              <a:gd name="adj1" fmla="val 54875"/>
              <a:gd name="adj2" fmla="val 21472"/>
              <a:gd name="adj3" fmla="val 16667"/>
            </a:avLst>
          </a:prstGeom>
          <a:noFill/>
          <a:ln cap="sq">
            <a:bevel/>
          </a:ln>
          <a:effectLst>
            <a:innerShdw blurRad="63500" dist="50800" dir="13500000">
              <a:prstClr val="black">
                <a:alpha val="50000"/>
              </a:prstClr>
            </a:innerShdw>
          </a:effectLst>
          <a:scene3d>
            <a:camera prst="orthographicFront"/>
            <a:lightRig rig="threePt" dir="t"/>
          </a:scene3d>
          <a:sp3d extrusionH="76200" prstMaterial="plastic">
            <a:bevelT w="139700" h="139700" prst="divot"/>
            <a:extrusionClr>
              <a:schemeClr val="accent6">
                <a:lumMod val="75000"/>
              </a:schemeClr>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dirty="0">
                <a:solidFill>
                  <a:schemeClr val="tx1"/>
                </a:solidFill>
                <a:latin typeface="Verdana" charset="0"/>
                <a:ea typeface="Verdana" charset="0"/>
                <a:cs typeface="Verdana" charset="0"/>
              </a:rPr>
              <a:t>Zadnji u EU po patentima</a:t>
            </a:r>
          </a:p>
          <a:p>
            <a:pPr lvl="0"/>
            <a:endParaRPr lang="en-US" sz="900" dirty="0">
              <a:solidFill>
                <a:schemeClr val="tx1"/>
              </a:solidFill>
              <a:latin typeface="Verdana" charset="0"/>
              <a:ea typeface="Verdana" charset="0"/>
              <a:cs typeface="Verdana" charset="0"/>
            </a:endParaRPr>
          </a:p>
          <a:p>
            <a:pPr lvl="0"/>
            <a:r>
              <a:rPr lang="en-US" sz="900" dirty="0">
                <a:solidFill>
                  <a:schemeClr val="tx1"/>
                </a:solidFill>
                <a:latin typeface="Verdana" charset="0"/>
                <a:ea typeface="Verdana" charset="0"/>
                <a:cs typeface="Verdana" charset="0"/>
              </a:rPr>
              <a:t>Hrvatska je među zemljama s najnižim brojem patentnih prijava u Europskom patentom zavodu (samo 4,8 prijava na milijun stanovnika, dok je europski prosjek 106,8). Ovaj podatak je alarmantan jer je on pokazatelj konkurentnog i inovativnog gospodarstva,</a:t>
            </a:r>
          </a:p>
        </p:txBody>
      </p:sp>
      <p:sp>
        <p:nvSpPr>
          <p:cNvPr id="8" name="Rounded Rectangular Callout 7"/>
          <p:cNvSpPr/>
          <p:nvPr/>
        </p:nvSpPr>
        <p:spPr>
          <a:xfrm>
            <a:off x="492760" y="2728756"/>
            <a:ext cx="3827780" cy="2197574"/>
          </a:xfrm>
          <a:prstGeom prst="wedgeRoundRectCallout">
            <a:avLst>
              <a:gd name="adj1" fmla="val 53585"/>
              <a:gd name="adj2" fmla="val 19156"/>
              <a:gd name="adj3" fmla="val 16667"/>
            </a:avLst>
          </a:prstGeom>
          <a:noFill/>
          <a:ln cap="sq">
            <a:bevel/>
          </a:ln>
          <a:effectLst>
            <a:innerShdw blurRad="63500" dist="50800" dir="13500000">
              <a:prstClr val="black">
                <a:alpha val="50000"/>
              </a:prstClr>
            </a:innerShdw>
          </a:effectLst>
          <a:scene3d>
            <a:camera prst="orthographicFront"/>
            <a:lightRig rig="threePt" dir="t"/>
          </a:scene3d>
          <a:sp3d extrusionH="76200" prstMaterial="plastic">
            <a:bevelT w="139700" h="139700" prst="divot"/>
            <a:extrusionClr>
              <a:schemeClr val="accent6">
                <a:lumMod val="75000"/>
              </a:schemeClr>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dirty="0">
                <a:solidFill>
                  <a:schemeClr val="tx1"/>
                </a:solidFill>
                <a:latin typeface="Verdana" charset="0"/>
                <a:ea typeface="Verdana" charset="0"/>
                <a:cs typeface="Verdana" charset="0"/>
              </a:rPr>
              <a:t>Poduzetnici "BJEŽE" od ulaganja u R&amp;D</a:t>
            </a:r>
          </a:p>
          <a:p>
            <a:pPr lvl="0"/>
            <a:endParaRPr lang="en-US" sz="900" dirty="0">
              <a:solidFill>
                <a:schemeClr val="tx1"/>
              </a:solidFill>
              <a:latin typeface="Verdana" charset="0"/>
              <a:ea typeface="Verdana" charset="0"/>
              <a:cs typeface="Verdana" charset="0"/>
            </a:endParaRPr>
          </a:p>
          <a:p>
            <a:pPr lvl="0"/>
            <a:r>
              <a:rPr lang="en-US" sz="900" dirty="0">
                <a:solidFill>
                  <a:schemeClr val="tx1"/>
                </a:solidFill>
                <a:latin typeface="Verdana" charset="0"/>
                <a:ea typeface="Verdana" charset="0"/>
                <a:cs typeface="Verdana" charset="0"/>
              </a:rPr>
              <a:t>Ukupna ulaganja u istraživanje i razvoj povećala su se s 0,86 % BDP-a u 2017. na 1,11% BPD-a u 2019., ali ulaganja poslovnog sektora stagniraju na 0,49 % BDP-a. Ovaj podatak govori kako poduzetnici "bježe" od ulaganja u razvoj i istraživanje, odnosno okreću se neinventivnim poslovima,</a:t>
            </a:r>
          </a:p>
        </p:txBody>
      </p:sp>
      <p:sp>
        <p:nvSpPr>
          <p:cNvPr id="9" name="Rounded Rectangular Callout 8"/>
          <p:cNvSpPr/>
          <p:nvPr/>
        </p:nvSpPr>
        <p:spPr>
          <a:xfrm>
            <a:off x="481330" y="5122475"/>
            <a:ext cx="3839210" cy="1615051"/>
          </a:xfrm>
          <a:prstGeom prst="wedgeRoundRectCallout">
            <a:avLst>
              <a:gd name="adj1" fmla="val 54810"/>
              <a:gd name="adj2" fmla="val -23578"/>
              <a:gd name="adj3" fmla="val 16667"/>
            </a:avLst>
          </a:prstGeom>
          <a:noFill/>
          <a:ln cap="sq">
            <a:bevel/>
          </a:ln>
          <a:effectLst>
            <a:innerShdw blurRad="63500" dist="50800" dir="13500000">
              <a:prstClr val="black">
                <a:alpha val="50000"/>
              </a:prstClr>
            </a:innerShdw>
          </a:effectLst>
          <a:scene3d>
            <a:camera prst="orthographicFront"/>
            <a:lightRig rig="threePt" dir="t"/>
          </a:scene3d>
          <a:sp3d extrusionH="76200" prstMaterial="plastic">
            <a:bevelT w="139700" h="139700" prst="divot"/>
            <a:extrusionClr>
              <a:schemeClr val="accent6">
                <a:lumMod val="75000"/>
              </a:schemeClr>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Verdana" charset="0"/>
                <a:ea typeface="Verdana" charset="0"/>
                <a:cs typeface="Verdana" charset="0"/>
              </a:rPr>
              <a:t>Na dnu EU po inoviranju</a:t>
            </a:r>
          </a:p>
          <a:p>
            <a:endParaRPr lang="en-US" sz="900" dirty="0">
              <a:solidFill>
                <a:schemeClr val="tx1"/>
              </a:solidFill>
              <a:latin typeface="Verdana" charset="0"/>
              <a:ea typeface="Verdana" charset="0"/>
              <a:cs typeface="Verdana" charset="0"/>
            </a:endParaRPr>
          </a:p>
          <a:p>
            <a:r>
              <a:rPr lang="en-US" sz="900" dirty="0">
                <a:solidFill>
                  <a:schemeClr val="tx1"/>
                </a:solidFill>
                <a:latin typeface="Verdana" charset="0"/>
                <a:ea typeface="Verdana" charset="0"/>
                <a:cs typeface="Verdana" charset="0"/>
              </a:rPr>
              <a:t>RH u domeni suradnje istraživačkih institucija i poslovnog sektora /transfera znanja i  tehnologija u poslovni sektor/ zauzima treće najlošije mjesto u EU na Europskoj ljestvici uspjeha u inoviranju za 2020. godini,,</a:t>
            </a:r>
          </a:p>
        </p:txBody>
      </p:sp>
      <p:sp>
        <p:nvSpPr>
          <p:cNvPr id="10" name="Rounded Rectangular Callout 9"/>
          <p:cNvSpPr/>
          <p:nvPr/>
        </p:nvSpPr>
        <p:spPr>
          <a:xfrm>
            <a:off x="6526530" y="1167955"/>
            <a:ext cx="4949280" cy="1482947"/>
          </a:xfrm>
          <a:prstGeom prst="wedgeRoundRectCallout">
            <a:avLst>
              <a:gd name="adj1" fmla="val -53870"/>
              <a:gd name="adj2" fmla="val 21635"/>
              <a:gd name="adj3" fmla="val 16667"/>
            </a:avLst>
          </a:prstGeom>
          <a:noFill/>
          <a:ln cap="sq">
            <a:bevel/>
          </a:ln>
          <a:effectLst>
            <a:innerShdw blurRad="63500" dist="50800" dir="13500000">
              <a:prstClr val="black">
                <a:alpha val="50000"/>
              </a:prstClr>
            </a:innerShdw>
          </a:effectLst>
          <a:scene3d>
            <a:camera prst="orthographicFront"/>
            <a:lightRig rig="threePt" dir="t"/>
          </a:scene3d>
          <a:sp3d extrusionH="76200" prstMaterial="plastic">
            <a:bevelT w="139700" h="139700" prst="divot"/>
            <a:extrusionClr>
              <a:schemeClr val="accent6">
                <a:lumMod val="75000"/>
              </a:schemeClr>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dirty="0">
                <a:solidFill>
                  <a:schemeClr val="tx1"/>
                </a:solidFill>
                <a:latin typeface="Verdana" charset="0"/>
                <a:ea typeface="Verdana" charset="0"/>
                <a:cs typeface="Verdana" charset="0"/>
              </a:rPr>
              <a:t>Najlošiji u EU po necitiranim publikacijama</a:t>
            </a:r>
          </a:p>
          <a:p>
            <a:pPr lvl="0"/>
            <a:endParaRPr lang="en-US" sz="900" dirty="0">
              <a:solidFill>
                <a:schemeClr val="tx1"/>
              </a:solidFill>
              <a:latin typeface="Verdana" charset="0"/>
              <a:ea typeface="Verdana" charset="0"/>
              <a:cs typeface="Verdana" charset="0"/>
            </a:endParaRPr>
          </a:p>
          <a:p>
            <a:pPr lvl="0"/>
            <a:r>
              <a:rPr lang="en-US" sz="900" dirty="0">
                <a:solidFill>
                  <a:schemeClr val="tx1"/>
                </a:solidFill>
                <a:latin typeface="Verdana" charset="0"/>
                <a:ea typeface="Verdana" charset="0"/>
                <a:cs typeface="Verdana" charset="0"/>
              </a:rPr>
              <a:t>Broj objavljenih a necitiranih publikacija po zaposlenom u istraživanju i razvoju iznosi 0,23 necitirane publikacije, što predstavlja najlošije mjesto u Europi. Ovo znači kako se piše puno, a napisano vrijedi malo,</a:t>
            </a:r>
          </a:p>
        </p:txBody>
      </p:sp>
      <p:sp>
        <p:nvSpPr>
          <p:cNvPr id="11" name="Rounded Rectangular Callout 10"/>
          <p:cNvSpPr/>
          <p:nvPr/>
        </p:nvSpPr>
        <p:spPr>
          <a:xfrm>
            <a:off x="6526530" y="2817402"/>
            <a:ext cx="4949280" cy="1870199"/>
          </a:xfrm>
          <a:prstGeom prst="wedgeRoundRectCallout">
            <a:avLst>
              <a:gd name="adj1" fmla="val -52447"/>
              <a:gd name="adj2" fmla="val 22421"/>
              <a:gd name="adj3" fmla="val 16667"/>
            </a:avLst>
          </a:prstGeom>
          <a:noFill/>
          <a:ln cap="sq">
            <a:bevel/>
          </a:ln>
          <a:effectLst>
            <a:innerShdw blurRad="63500" dist="50800" dir="13500000">
              <a:prstClr val="black">
                <a:alpha val="50000"/>
              </a:prstClr>
            </a:innerShdw>
          </a:effectLst>
          <a:scene3d>
            <a:camera prst="orthographicFront"/>
            <a:lightRig rig="threePt" dir="t"/>
          </a:scene3d>
          <a:sp3d extrusionH="76200" prstMaterial="plastic">
            <a:bevelT w="139700" h="139700" prst="divot"/>
            <a:extrusionClr>
              <a:schemeClr val="accent6">
                <a:lumMod val="75000"/>
              </a:schemeClr>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dirty="0">
                <a:solidFill>
                  <a:schemeClr val="tx1"/>
                </a:solidFill>
                <a:latin typeface="Verdana" charset="0"/>
                <a:ea typeface="Verdana" charset="0"/>
                <a:cs typeface="Verdana" charset="0"/>
              </a:rPr>
              <a:t>NEFOKUSIRANO FINANCIJSKO TRŽIŠTE</a:t>
            </a:r>
          </a:p>
          <a:p>
            <a:pPr lvl="0"/>
            <a:endParaRPr lang="en-US" sz="900" dirty="0">
              <a:solidFill>
                <a:schemeClr val="tx1"/>
              </a:solidFill>
              <a:latin typeface="Verdana" charset="0"/>
              <a:ea typeface="Verdana" charset="0"/>
              <a:cs typeface="Verdana" charset="0"/>
            </a:endParaRPr>
          </a:p>
          <a:p>
            <a:pPr lvl="0"/>
            <a:r>
              <a:rPr lang="en-US" sz="900" dirty="0">
                <a:solidFill>
                  <a:schemeClr val="tx1"/>
                </a:solidFill>
                <a:latin typeface="Verdana" charset="0"/>
                <a:ea typeface="Verdana" charset="0"/>
                <a:cs typeface="Verdana" charset="0"/>
              </a:rPr>
              <a:t>Financijska tržišta u Hrvatskoj trenutno su koncentrirana </a:t>
            </a:r>
            <a:r>
              <a:rPr lang="en-US" sz="900" i="1" dirty="0">
                <a:solidFill>
                  <a:schemeClr val="tx1"/>
                </a:solidFill>
                <a:latin typeface="Verdana" charset="0"/>
                <a:ea typeface="Verdana" charset="0"/>
                <a:cs typeface="Verdana" charset="0"/>
              </a:rPr>
              <a:t>na financiranje duga</a:t>
            </a:r>
            <a:r>
              <a:rPr lang="en-US" sz="900" dirty="0">
                <a:solidFill>
                  <a:schemeClr val="tx1"/>
                </a:solidFill>
                <a:latin typeface="Verdana" charset="0"/>
                <a:ea typeface="Verdana" charset="0"/>
                <a:cs typeface="Verdana" charset="0"/>
              </a:rPr>
              <a:t> te im nedostaju dubina i raznolikost potrebni za učinkovitu raspodjelu sredstava i financiranje projekata s višim stupnjem rizika utemeljenih na </a:t>
            </a:r>
            <a:r>
              <a:rPr lang="en-US" sz="900" i="1" dirty="0">
                <a:solidFill>
                  <a:schemeClr val="tx1"/>
                </a:solidFill>
                <a:latin typeface="Verdana" charset="0"/>
                <a:ea typeface="Verdana" charset="0"/>
                <a:cs typeface="Verdana" charset="0"/>
              </a:rPr>
              <a:t>inovacijama, istraživanju i razvoju, ''start-up''</a:t>
            </a:r>
            <a:r>
              <a:rPr lang="en-US" sz="900" dirty="0">
                <a:solidFill>
                  <a:schemeClr val="tx1"/>
                </a:solidFill>
                <a:latin typeface="Verdana" charset="0"/>
                <a:ea typeface="Verdana" charset="0"/>
                <a:cs typeface="Verdana" charset="0"/>
              </a:rPr>
              <a:t> projektima ili općenito brzorastućim industrijama kojima se potiče produktivnost,</a:t>
            </a:r>
          </a:p>
        </p:txBody>
      </p:sp>
      <p:sp>
        <p:nvSpPr>
          <p:cNvPr id="12" name="Rounded Rectangular Callout 11"/>
          <p:cNvSpPr/>
          <p:nvPr/>
        </p:nvSpPr>
        <p:spPr>
          <a:xfrm>
            <a:off x="6526530" y="4854101"/>
            <a:ext cx="4949280" cy="1877941"/>
          </a:xfrm>
          <a:prstGeom prst="wedgeRoundRectCallout">
            <a:avLst>
              <a:gd name="adj1" fmla="val -52894"/>
              <a:gd name="adj2" fmla="val -22408"/>
              <a:gd name="adj3" fmla="val 16667"/>
            </a:avLst>
          </a:prstGeom>
          <a:noFill/>
          <a:ln cap="sq">
            <a:bevel/>
          </a:ln>
          <a:effectLst>
            <a:innerShdw blurRad="63500" dist="50800" dir="13500000">
              <a:prstClr val="black">
                <a:alpha val="50000"/>
              </a:prstClr>
            </a:innerShdw>
          </a:effectLst>
          <a:scene3d>
            <a:camera prst="orthographicFront"/>
            <a:lightRig rig="threePt" dir="t"/>
          </a:scene3d>
          <a:sp3d extrusionH="76200" prstMaterial="plastic">
            <a:bevelT w="139700" h="139700" prst="divot"/>
            <a:extrusionClr>
              <a:schemeClr val="accent6">
                <a:lumMod val="75000"/>
              </a:schemeClr>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dirty="0">
                <a:solidFill>
                  <a:schemeClr val="tx1"/>
                </a:solidFill>
                <a:latin typeface="Verdana" charset="0"/>
                <a:ea typeface="Verdana" charset="0"/>
                <a:cs typeface="Verdana" charset="0"/>
              </a:rPr>
              <a:t>FONDOVI RIZIČNOG KAPITALA gotovo da ne postoje</a:t>
            </a:r>
          </a:p>
          <a:p>
            <a:pPr lvl="0"/>
            <a:endParaRPr lang="en-US" sz="900" dirty="0">
              <a:solidFill>
                <a:schemeClr val="tx1"/>
              </a:solidFill>
              <a:latin typeface="Verdana" charset="0"/>
              <a:ea typeface="Verdana" charset="0"/>
              <a:cs typeface="Verdana" charset="0"/>
            </a:endParaRPr>
          </a:p>
          <a:p>
            <a:pPr lvl="0"/>
            <a:r>
              <a:rPr lang="en-US" sz="900" dirty="0">
                <a:solidFill>
                  <a:schemeClr val="tx1"/>
                </a:solidFill>
                <a:latin typeface="Verdana" charset="0"/>
                <a:ea typeface="Verdana" charset="0"/>
                <a:cs typeface="Verdana" charset="0"/>
              </a:rPr>
              <a:t>Neto imovina fondova poduzetničkog kapitala do kraja lipnja 2020. je neznatna i iznosi oko </a:t>
            </a:r>
            <a:r>
              <a:rPr lang="en-US" sz="900" b="1" dirty="0">
                <a:solidFill>
                  <a:schemeClr val="tx1"/>
                </a:solidFill>
                <a:latin typeface="Verdana" charset="0"/>
                <a:ea typeface="Verdana" charset="0"/>
                <a:cs typeface="Verdana" charset="0"/>
              </a:rPr>
              <a:t>21 milijun kuna</a:t>
            </a:r>
            <a:r>
              <a:rPr lang="en-US" sz="900" dirty="0">
                <a:solidFill>
                  <a:schemeClr val="tx1"/>
                </a:solidFill>
                <a:latin typeface="Verdana" charset="0"/>
                <a:ea typeface="Verdana" charset="0"/>
                <a:cs typeface="Verdana" charset="0"/>
              </a:rPr>
              <a:t>. Europska mreža poslovnih anđela (EBAN) procjenjuje da su ulaganja poslovnih anđela u Hrvatskoj u 2018. iznosila </a:t>
            </a:r>
            <a:r>
              <a:rPr lang="en-US" sz="900" b="1" dirty="0">
                <a:solidFill>
                  <a:schemeClr val="tx1"/>
                </a:solidFill>
                <a:latin typeface="Verdana" charset="0"/>
                <a:ea typeface="Verdana" charset="0"/>
                <a:cs typeface="Verdana" charset="0"/>
              </a:rPr>
              <a:t>2,35 milijuna eura</a:t>
            </a:r>
            <a:r>
              <a:rPr lang="en-US" sz="900" dirty="0">
                <a:solidFill>
                  <a:schemeClr val="tx1"/>
                </a:solidFill>
                <a:latin typeface="Verdana" charset="0"/>
                <a:ea typeface="Verdana" charset="0"/>
                <a:cs typeface="Verdana" charset="0"/>
              </a:rPr>
              <a:t> što je gotovo zanemarivo, odnosno može se konstatirati kako to tržište uopće ne postoji. </a:t>
            </a:r>
          </a:p>
        </p:txBody>
      </p:sp>
      <p:sp>
        <p:nvSpPr>
          <p:cNvPr id="14" name="Title 3"/>
          <p:cNvSpPr>
            <a:spLocks noGrp="1"/>
          </p:cNvSpPr>
          <p:nvPr/>
        </p:nvSpPr>
        <p:spPr bwMode="gray">
          <a:xfrm>
            <a:off x="469900" y="402103"/>
            <a:ext cx="11252200"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r>
              <a:rPr lang="hr-HR" dirty="0" err="1">
                <a:solidFill>
                  <a:schemeClr val="accent6">
                    <a:lumMod val="50000"/>
                  </a:schemeClr>
                </a:solidFill>
                <a:latin typeface="Verdana" charset="0"/>
                <a:ea typeface="Verdana" charset="0"/>
                <a:cs typeface="Verdana" charset="0"/>
              </a:rPr>
              <a:t>preIncubation</a:t>
            </a:r>
            <a:r>
              <a:rPr lang="hr-HR" dirty="0"/>
              <a:t> je potreban ovoj zajednici ? d/n ?</a:t>
            </a:r>
          </a:p>
        </p:txBody>
      </p:sp>
      <p:pic>
        <p:nvPicPr>
          <p:cNvPr id="15" name="Picture 14"/>
          <p:cNvPicPr>
            <a:picLocks noChangeAspect="1"/>
          </p:cNvPicPr>
          <p:nvPr/>
        </p:nvPicPr>
        <p:blipFill rotWithShape="1">
          <a:blip r:embed="rId2" cstate="print">
            <a:extLst>
              <a:ext uri="{28A0092B-C50C-407E-A947-70E740481C1C}">
                <a14:useLocalDpi xmlns:a14="http://schemas.microsoft.com/office/drawing/2010/main" val="0"/>
              </a:ext>
            </a:extLst>
          </a:blip>
          <a:srcRect l="34551" b="22206"/>
          <a:stretch/>
        </p:blipFill>
        <p:spPr>
          <a:xfrm>
            <a:off x="10760765" y="0"/>
            <a:ext cx="1431235" cy="1131115"/>
          </a:xfrm>
          <a:prstGeom prst="rect">
            <a:avLst/>
          </a:prstGeom>
        </p:spPr>
      </p:pic>
      <p:cxnSp>
        <p:nvCxnSpPr>
          <p:cNvPr id="16" name="Straight Connector 15"/>
          <p:cNvCxnSpPr/>
          <p:nvPr/>
        </p:nvCxnSpPr>
        <p:spPr>
          <a:xfrm>
            <a:off x="134520" y="809847"/>
            <a:ext cx="10826991" cy="2371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Rounded Rectangle 16"/>
          <p:cNvSpPr/>
          <p:nvPr/>
        </p:nvSpPr>
        <p:spPr bwMode="gray">
          <a:xfrm>
            <a:off x="3801190" y="976918"/>
            <a:ext cx="1122547" cy="694267"/>
          </a:xfrm>
          <a:prstGeom prst="roundRect">
            <a:avLst>
              <a:gd name="adj" fmla="val 43322"/>
            </a:avLst>
          </a:prstGeom>
          <a:solidFill>
            <a:srgbClr val="C00000"/>
          </a:solidFill>
          <a:ln>
            <a:solidFill>
              <a:schemeClr val="accent1">
                <a:shade val="50000"/>
              </a:schemeClr>
            </a:solidFill>
            <a:prstDash val="dash"/>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b="1" dirty="0">
                <a:solidFill>
                  <a:schemeClr val="bg1"/>
                </a:solidFill>
                <a:latin typeface="Verdana" charset="0"/>
                <a:ea typeface="Verdana" charset="0"/>
                <a:cs typeface="Verdana" charset="0"/>
              </a:rPr>
              <a:t>4,8 / 1 mil stanovnika</a:t>
            </a:r>
          </a:p>
        </p:txBody>
      </p:sp>
      <p:sp>
        <p:nvSpPr>
          <p:cNvPr id="18" name="Rounded Rectangle 17"/>
          <p:cNvSpPr/>
          <p:nvPr/>
        </p:nvSpPr>
        <p:spPr bwMode="gray">
          <a:xfrm>
            <a:off x="3553676" y="2640975"/>
            <a:ext cx="1129084" cy="730682"/>
          </a:xfrm>
          <a:prstGeom prst="roundRect">
            <a:avLst>
              <a:gd name="adj" fmla="val 45035"/>
            </a:avLst>
          </a:prstGeom>
          <a:solidFill>
            <a:srgbClr val="C00000"/>
          </a:solidFill>
          <a:ln>
            <a:solidFill>
              <a:schemeClr val="accent1">
                <a:shade val="50000"/>
              </a:schemeClr>
            </a:solidFill>
            <a:prstDash val="dash"/>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b="1" dirty="0">
                <a:solidFill>
                  <a:schemeClr val="bg1"/>
                </a:solidFill>
                <a:latin typeface="Verdana" charset="0"/>
                <a:ea typeface="Verdana" charset="0"/>
                <a:cs typeface="Verdana" charset="0"/>
              </a:rPr>
              <a:t>0,49 % BDPa</a:t>
            </a:r>
          </a:p>
          <a:p>
            <a:pPr algn="ctr">
              <a:lnSpc>
                <a:spcPct val="106000"/>
              </a:lnSpc>
              <a:buFont typeface="Wingdings 2" pitchFamily="18" charset="2"/>
              <a:buNone/>
            </a:pPr>
            <a:r>
              <a:rPr lang="hr-HR" sz="900" b="1" dirty="0">
                <a:solidFill>
                  <a:schemeClr val="bg1"/>
                </a:solidFill>
                <a:latin typeface="Verdana" charset="0"/>
                <a:ea typeface="Verdana" charset="0"/>
                <a:cs typeface="Verdana" charset="0"/>
              </a:rPr>
              <a:t>ulag. posl. sektora</a:t>
            </a:r>
          </a:p>
        </p:txBody>
      </p:sp>
      <p:sp>
        <p:nvSpPr>
          <p:cNvPr id="19" name="Rounded Rectangle 18"/>
          <p:cNvSpPr/>
          <p:nvPr/>
        </p:nvSpPr>
        <p:spPr bwMode="gray">
          <a:xfrm>
            <a:off x="4103370" y="5928990"/>
            <a:ext cx="1122547" cy="694267"/>
          </a:xfrm>
          <a:prstGeom prst="roundRect">
            <a:avLst>
              <a:gd name="adj" fmla="val 43322"/>
            </a:avLst>
          </a:prstGeom>
          <a:solidFill>
            <a:srgbClr val="C00000"/>
          </a:solidFill>
          <a:ln>
            <a:solidFill>
              <a:schemeClr val="accent1">
                <a:shade val="50000"/>
              </a:schemeClr>
            </a:solidFill>
            <a:prstDash val="dash"/>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b="1" dirty="0">
                <a:solidFill>
                  <a:schemeClr val="bg1"/>
                </a:solidFill>
                <a:latin typeface="Verdana" charset="0"/>
                <a:ea typeface="Verdana" charset="0"/>
                <a:cs typeface="Verdana" charset="0"/>
              </a:rPr>
              <a:t>dno u EU</a:t>
            </a:r>
          </a:p>
        </p:txBody>
      </p:sp>
      <p:sp>
        <p:nvSpPr>
          <p:cNvPr id="21" name="Rounded Rectangle 20"/>
          <p:cNvSpPr/>
          <p:nvPr/>
        </p:nvSpPr>
        <p:spPr bwMode="gray">
          <a:xfrm>
            <a:off x="10961511" y="5423756"/>
            <a:ext cx="1122547" cy="694267"/>
          </a:xfrm>
          <a:prstGeom prst="roundRect">
            <a:avLst>
              <a:gd name="adj" fmla="val 48026"/>
            </a:avLst>
          </a:prstGeom>
          <a:solidFill>
            <a:srgbClr val="C00000"/>
          </a:solidFill>
          <a:ln>
            <a:solidFill>
              <a:schemeClr val="accent1">
                <a:shade val="50000"/>
              </a:schemeClr>
            </a:solidFill>
            <a:prstDash val="dash"/>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b="1" dirty="0">
                <a:solidFill>
                  <a:schemeClr val="bg1"/>
                </a:solidFill>
                <a:latin typeface="Verdana" charset="0"/>
                <a:ea typeface="Verdana" charset="0"/>
                <a:cs typeface="Verdana" charset="0"/>
              </a:rPr>
              <a:t>VCs ne postoje</a:t>
            </a:r>
          </a:p>
        </p:txBody>
      </p:sp>
      <p:sp>
        <p:nvSpPr>
          <p:cNvPr id="22" name="Rounded Rectangle 21"/>
          <p:cNvSpPr/>
          <p:nvPr/>
        </p:nvSpPr>
        <p:spPr bwMode="gray">
          <a:xfrm>
            <a:off x="10599553" y="2930302"/>
            <a:ext cx="1122547" cy="694267"/>
          </a:xfrm>
          <a:prstGeom prst="roundRect">
            <a:avLst>
              <a:gd name="adj" fmla="val 43322"/>
            </a:avLst>
          </a:prstGeom>
          <a:solidFill>
            <a:srgbClr val="C00000"/>
          </a:solidFill>
          <a:ln>
            <a:solidFill>
              <a:schemeClr val="accent1">
                <a:shade val="50000"/>
              </a:schemeClr>
            </a:solidFill>
            <a:prstDash val="dash"/>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b="1" dirty="0">
                <a:solidFill>
                  <a:schemeClr val="bg1"/>
                </a:solidFill>
                <a:latin typeface="Verdana" charset="0"/>
                <a:ea typeface="Verdana" charset="0"/>
                <a:cs typeface="Verdana" charset="0"/>
              </a:rPr>
              <a:t>loše financijsko tržišta</a:t>
            </a:r>
          </a:p>
        </p:txBody>
      </p:sp>
      <p:sp>
        <p:nvSpPr>
          <p:cNvPr id="23" name="Rounded Rectangle 22"/>
          <p:cNvSpPr/>
          <p:nvPr/>
        </p:nvSpPr>
        <p:spPr bwMode="gray">
          <a:xfrm>
            <a:off x="10599552" y="1045864"/>
            <a:ext cx="1122547" cy="694267"/>
          </a:xfrm>
          <a:prstGeom prst="roundRect">
            <a:avLst>
              <a:gd name="adj" fmla="val 43322"/>
            </a:avLst>
          </a:prstGeom>
          <a:solidFill>
            <a:srgbClr val="C00000"/>
          </a:solidFill>
          <a:ln>
            <a:solidFill>
              <a:schemeClr val="accent1">
                <a:shade val="50000"/>
              </a:schemeClr>
            </a:solidFill>
            <a:prstDash val="dash"/>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b="1" dirty="0">
                <a:solidFill>
                  <a:schemeClr val="bg1"/>
                </a:solidFill>
                <a:latin typeface="Verdana" charset="0"/>
                <a:ea typeface="Verdana" charset="0"/>
                <a:cs typeface="Verdana" charset="0"/>
              </a:rPr>
              <a:t>dno u EU</a:t>
            </a:r>
          </a:p>
        </p:txBody>
      </p:sp>
    </p:spTree>
    <p:extLst>
      <p:ext uri="{BB962C8B-B14F-4D97-AF65-F5344CB8AC3E}">
        <p14:creationId xmlns:p14="http://schemas.microsoft.com/office/powerpoint/2010/main" val="1130027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3"/>
          <p:cNvSpPr>
            <a:spLocks noGrp="1"/>
          </p:cNvSpPr>
          <p:nvPr/>
        </p:nvSpPr>
        <p:spPr bwMode="gray">
          <a:xfrm>
            <a:off x="469900" y="402103"/>
            <a:ext cx="11252200"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r>
              <a:rPr lang="hr-HR" dirty="0"/>
              <a:t>Partnerstvo u lokalnoj zajednici :: ključ uspjeha projekta</a:t>
            </a:r>
          </a:p>
        </p:txBody>
      </p:sp>
      <p:sp>
        <p:nvSpPr>
          <p:cNvPr id="8" name="Flowchart: Extract 9"/>
          <p:cNvSpPr/>
          <p:nvPr/>
        </p:nvSpPr>
        <p:spPr bwMode="gray">
          <a:xfrm rot="5400000">
            <a:off x="5604000" y="3992252"/>
            <a:ext cx="1065092" cy="444499"/>
          </a:xfrm>
          <a:prstGeom prst="flowChartExtract">
            <a:avLst/>
          </a:prstGeom>
          <a:solidFill>
            <a:schemeClr val="accent3">
              <a:lumMod val="75000"/>
            </a:schemeClr>
          </a:solidFill>
          <a:ln>
            <a:headEnd/>
            <a:tailEnd/>
          </a:ln>
        </p:spPr>
        <p:style>
          <a:lnRef idx="2">
            <a:schemeClr val="accent3">
              <a:shade val="50000"/>
            </a:schemeClr>
          </a:lnRef>
          <a:fillRef idx="1">
            <a:schemeClr val="accent3"/>
          </a:fillRef>
          <a:effectRef idx="0">
            <a:schemeClr val="accent3"/>
          </a:effectRef>
          <a:fontRef idx="minor">
            <a:schemeClr val="lt1"/>
          </a:fontRef>
        </p:style>
        <p:txBody>
          <a:bodyPr wrap="square" lIns="88900" tIns="88900" rIns="88900" bIns="88900" rtlCol="0" anchor="ctr"/>
          <a:lstStyle>
            <a:defPPr>
              <a:defRPr lang="en-US"/>
            </a:defPPr>
            <a:lvl1pPr marL="0" algn="l" defTabSz="1219170" rtl="0" eaLnBrk="1" latinLnBrk="0" hangingPunct="1">
              <a:defRPr sz="2400" kern="1200">
                <a:solidFill>
                  <a:schemeClr val="lt1"/>
                </a:solidFill>
                <a:latin typeface="+mn-lt"/>
                <a:ea typeface="+mn-ea"/>
                <a:cs typeface="+mn-cs"/>
              </a:defRPr>
            </a:lvl1pPr>
            <a:lvl2pPr marL="609585" algn="l" defTabSz="1219170" rtl="0" eaLnBrk="1" latinLnBrk="0" hangingPunct="1">
              <a:defRPr sz="2400" kern="1200">
                <a:solidFill>
                  <a:schemeClr val="lt1"/>
                </a:solidFill>
                <a:latin typeface="+mn-lt"/>
                <a:ea typeface="+mn-ea"/>
                <a:cs typeface="+mn-cs"/>
              </a:defRPr>
            </a:lvl2pPr>
            <a:lvl3pPr marL="1219170" algn="l" defTabSz="1219170" rtl="0" eaLnBrk="1" latinLnBrk="0" hangingPunct="1">
              <a:defRPr sz="2400" kern="1200">
                <a:solidFill>
                  <a:schemeClr val="lt1"/>
                </a:solidFill>
                <a:latin typeface="+mn-lt"/>
                <a:ea typeface="+mn-ea"/>
                <a:cs typeface="+mn-cs"/>
              </a:defRPr>
            </a:lvl3pPr>
            <a:lvl4pPr marL="1828754" algn="l" defTabSz="1219170" rtl="0" eaLnBrk="1" latinLnBrk="0" hangingPunct="1">
              <a:defRPr sz="2400" kern="1200">
                <a:solidFill>
                  <a:schemeClr val="lt1"/>
                </a:solidFill>
                <a:latin typeface="+mn-lt"/>
                <a:ea typeface="+mn-ea"/>
                <a:cs typeface="+mn-cs"/>
              </a:defRPr>
            </a:lvl4pPr>
            <a:lvl5pPr marL="2438339" algn="l" defTabSz="1219170" rtl="0" eaLnBrk="1" latinLnBrk="0" hangingPunct="1">
              <a:defRPr sz="2400" kern="1200">
                <a:solidFill>
                  <a:schemeClr val="lt1"/>
                </a:solidFill>
                <a:latin typeface="+mn-lt"/>
                <a:ea typeface="+mn-ea"/>
                <a:cs typeface="+mn-cs"/>
              </a:defRPr>
            </a:lvl5pPr>
            <a:lvl6pPr marL="3047924" algn="l" defTabSz="1219170" rtl="0" eaLnBrk="1" latinLnBrk="0" hangingPunct="1">
              <a:defRPr sz="2400" kern="1200">
                <a:solidFill>
                  <a:schemeClr val="lt1"/>
                </a:solidFill>
                <a:latin typeface="+mn-lt"/>
                <a:ea typeface="+mn-ea"/>
                <a:cs typeface="+mn-cs"/>
              </a:defRPr>
            </a:lvl6pPr>
            <a:lvl7pPr marL="3657509" algn="l" defTabSz="1219170" rtl="0" eaLnBrk="1" latinLnBrk="0" hangingPunct="1">
              <a:defRPr sz="2400" kern="1200">
                <a:solidFill>
                  <a:schemeClr val="lt1"/>
                </a:solidFill>
                <a:latin typeface="+mn-lt"/>
                <a:ea typeface="+mn-ea"/>
                <a:cs typeface="+mn-cs"/>
              </a:defRPr>
            </a:lvl7pPr>
            <a:lvl8pPr marL="4267093" algn="l" defTabSz="1219170" rtl="0" eaLnBrk="1" latinLnBrk="0" hangingPunct="1">
              <a:defRPr sz="2400" kern="1200">
                <a:solidFill>
                  <a:schemeClr val="lt1"/>
                </a:solidFill>
                <a:latin typeface="+mn-lt"/>
                <a:ea typeface="+mn-ea"/>
                <a:cs typeface="+mn-cs"/>
              </a:defRPr>
            </a:lvl8pPr>
            <a:lvl9pPr marL="4876678" algn="l" defTabSz="1219170" rtl="0" eaLnBrk="1" latinLnBrk="0" hangingPunct="1">
              <a:defRPr sz="2400" kern="1200">
                <a:solidFill>
                  <a:schemeClr val="lt1"/>
                </a:solidFill>
                <a:latin typeface="+mn-lt"/>
                <a:ea typeface="+mn-ea"/>
                <a:cs typeface="+mn-cs"/>
              </a:defRPr>
            </a:lvl9pPr>
          </a:lstStyle>
          <a:p>
            <a:pPr algn="ctr">
              <a:lnSpc>
                <a:spcPct val="106000"/>
              </a:lnSpc>
              <a:buFont typeface="Wingdings 2" pitchFamily="18" charset="2"/>
              <a:buNone/>
            </a:pPr>
            <a:endParaRPr lang="en-US" sz="1600" b="1" dirty="0">
              <a:solidFill>
                <a:schemeClr val="bg1"/>
              </a:solidFill>
            </a:endParaRPr>
          </a:p>
        </p:txBody>
      </p:sp>
      <p:sp>
        <p:nvSpPr>
          <p:cNvPr id="9" name="Rectangle 8"/>
          <p:cNvSpPr/>
          <p:nvPr/>
        </p:nvSpPr>
        <p:spPr bwMode="gray">
          <a:xfrm>
            <a:off x="6481794" y="946561"/>
            <a:ext cx="5113842" cy="5368412"/>
          </a:xfrm>
          <a:prstGeom prst="rect">
            <a:avLst/>
          </a:prstGeom>
          <a:noFill/>
          <a:ln w="19050" algn="ctr">
            <a:solidFill>
              <a:schemeClr val="accent3"/>
            </a:solidFill>
            <a:prstDash val="dash"/>
            <a:miter lim="800000"/>
            <a:headEnd/>
            <a:tailEnd/>
          </a:ln>
        </p:spPr>
        <p:txBody>
          <a:bodyPr wrap="square" lIns="88900" tIns="88900" rIns="88900" bIns="8890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lnSpc>
                <a:spcPct val="106000"/>
              </a:lnSpc>
              <a:buFont typeface="Wingdings 2" pitchFamily="18" charset="2"/>
              <a:buNone/>
            </a:pPr>
            <a:endParaRPr lang="en-US" sz="1600" b="1" dirty="0">
              <a:solidFill>
                <a:schemeClr val="bg1"/>
              </a:solidFill>
            </a:endParaRPr>
          </a:p>
        </p:txBody>
      </p:sp>
      <p:sp>
        <p:nvSpPr>
          <p:cNvPr id="10" name="Rectangle 9"/>
          <p:cNvSpPr/>
          <p:nvPr/>
        </p:nvSpPr>
        <p:spPr bwMode="gray">
          <a:xfrm>
            <a:off x="134520" y="2440404"/>
            <a:ext cx="5668872" cy="3874568"/>
          </a:xfrm>
          <a:prstGeom prst="rect">
            <a:avLst/>
          </a:prstGeom>
          <a:noFill/>
          <a:ln w="19050" algn="ctr">
            <a:solidFill>
              <a:schemeClr val="accent3"/>
            </a:solidFill>
            <a:prstDash val="dash"/>
            <a:miter lim="800000"/>
            <a:headEnd/>
            <a:tailEnd/>
          </a:ln>
        </p:spPr>
        <p:txBody>
          <a:bodyPr wrap="square" lIns="88900" tIns="88900" rIns="88900" bIns="8890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lnSpc>
                <a:spcPct val="106000"/>
              </a:lnSpc>
              <a:buFont typeface="Wingdings 2" pitchFamily="18" charset="2"/>
              <a:buNone/>
            </a:pPr>
            <a:endParaRPr lang="en-US" sz="1600" b="1" dirty="0">
              <a:solidFill>
                <a:schemeClr val="bg1"/>
              </a:solidFill>
            </a:endParaRPr>
          </a:p>
        </p:txBody>
      </p:sp>
      <p:grpSp>
        <p:nvGrpSpPr>
          <p:cNvPr id="11" name="Group 10"/>
          <p:cNvGrpSpPr/>
          <p:nvPr/>
        </p:nvGrpSpPr>
        <p:grpSpPr>
          <a:xfrm>
            <a:off x="2449709" y="4564253"/>
            <a:ext cx="1248197" cy="1248197"/>
            <a:chOff x="1801057" y="2010187"/>
            <a:chExt cx="1248197" cy="1248197"/>
          </a:xfrm>
          <a:solidFill>
            <a:schemeClr val="accent4">
              <a:lumMod val="60000"/>
              <a:lumOff val="40000"/>
            </a:schemeClr>
          </a:solidFill>
        </p:grpSpPr>
        <p:sp>
          <p:nvSpPr>
            <p:cNvPr id="32" name="Oval 31"/>
            <p:cNvSpPr/>
            <p:nvPr/>
          </p:nvSpPr>
          <p:spPr>
            <a:xfrm>
              <a:off x="1801057" y="2010187"/>
              <a:ext cx="1248197" cy="1248197"/>
            </a:xfrm>
            <a:prstGeom prst="ellipse">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33" name="Oval 4"/>
            <p:cNvSpPr/>
            <p:nvPr/>
          </p:nvSpPr>
          <p:spPr>
            <a:xfrm>
              <a:off x="1922352" y="2192982"/>
              <a:ext cx="999744" cy="882609"/>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hr-HR" sz="1200">
                  <a:solidFill>
                    <a:schemeClr val="tx1"/>
                  </a:solidFill>
                </a:rPr>
                <a:t>preIncubation</a:t>
              </a:r>
              <a:endParaRPr lang="hr-HR" sz="1200" kern="1200" baseline="0" dirty="0">
                <a:solidFill>
                  <a:schemeClr val="tx1"/>
                </a:solidFill>
              </a:endParaRPr>
            </a:p>
          </p:txBody>
        </p:sp>
      </p:grpSp>
      <p:sp>
        <p:nvSpPr>
          <p:cNvPr id="12" name="Left Arrow 11"/>
          <p:cNvSpPr/>
          <p:nvPr/>
        </p:nvSpPr>
        <p:spPr>
          <a:xfrm rot="9662631">
            <a:off x="1330557" y="5479716"/>
            <a:ext cx="1141363" cy="355736"/>
          </a:xfrm>
          <a:prstGeom prst="leftArrow">
            <a:avLst>
              <a:gd name="adj1" fmla="val 60000"/>
              <a:gd name="adj2" fmla="val 50000"/>
            </a:avLst>
          </a:prstGeom>
          <a:solidFill>
            <a:schemeClr val="bg2"/>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grpSp>
        <p:nvGrpSpPr>
          <p:cNvPr id="13" name="Group 12"/>
          <p:cNvGrpSpPr/>
          <p:nvPr/>
        </p:nvGrpSpPr>
        <p:grpSpPr>
          <a:xfrm>
            <a:off x="575540" y="5164258"/>
            <a:ext cx="1460599" cy="948630"/>
            <a:chOff x="371" y="2159971"/>
            <a:chExt cx="1185787" cy="948630"/>
          </a:xfrm>
        </p:grpSpPr>
        <p:sp>
          <p:nvSpPr>
            <p:cNvPr id="30" name="Rounded Rectangle 29"/>
            <p:cNvSpPr/>
            <p:nvPr/>
          </p:nvSpPr>
          <p:spPr>
            <a:xfrm>
              <a:off x="371" y="2159971"/>
              <a:ext cx="1185787"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31" name="Rounded Rectangle 7"/>
            <p:cNvSpPr/>
            <p:nvPr/>
          </p:nvSpPr>
          <p:spPr>
            <a:xfrm>
              <a:off x="28155" y="2187755"/>
              <a:ext cx="1130219"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lvl="0" algn="ctr" defTabSz="444500">
                <a:lnSpc>
                  <a:spcPct val="90000"/>
                </a:lnSpc>
                <a:spcBef>
                  <a:spcPct val="0"/>
                </a:spcBef>
                <a:spcAft>
                  <a:spcPct val="35000"/>
                </a:spcAft>
              </a:pPr>
              <a:r>
                <a:rPr lang="hr-HR" sz="1000" kern="1200" dirty="0">
                  <a:solidFill>
                    <a:schemeClr val="tx1"/>
                  </a:solidFill>
                </a:rPr>
                <a:t>Ludbreg</a:t>
              </a:r>
              <a:endParaRPr lang="en-US" sz="1000" kern="1200" dirty="0">
                <a:solidFill>
                  <a:schemeClr val="tx1"/>
                </a:solidFill>
              </a:endParaRPr>
            </a:p>
          </p:txBody>
        </p:sp>
      </p:grpSp>
      <p:sp>
        <p:nvSpPr>
          <p:cNvPr id="14" name="Left Arrow 13"/>
          <p:cNvSpPr/>
          <p:nvPr/>
        </p:nvSpPr>
        <p:spPr>
          <a:xfrm rot="16200000">
            <a:off x="2444478" y="3680975"/>
            <a:ext cx="1290756" cy="355736"/>
          </a:xfrm>
          <a:prstGeom prst="leftArrow">
            <a:avLst>
              <a:gd name="adj1" fmla="val 60000"/>
              <a:gd name="adj2" fmla="val 50000"/>
            </a:avLst>
          </a:prstGeom>
          <a:solidFill>
            <a:schemeClr val="bg2"/>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grpSp>
        <p:nvGrpSpPr>
          <p:cNvPr id="15" name="Group 14"/>
          <p:cNvGrpSpPr/>
          <p:nvPr/>
        </p:nvGrpSpPr>
        <p:grpSpPr>
          <a:xfrm>
            <a:off x="2346724" y="2608702"/>
            <a:ext cx="1471692" cy="948630"/>
            <a:chOff x="393967" y="864628"/>
            <a:chExt cx="1471692" cy="948630"/>
          </a:xfrm>
        </p:grpSpPr>
        <p:sp>
          <p:nvSpPr>
            <p:cNvPr id="28" name="Rounded Rectangle 27"/>
            <p:cNvSpPr/>
            <p:nvPr/>
          </p:nvSpPr>
          <p:spPr>
            <a:xfrm>
              <a:off x="393967" y="864628"/>
              <a:ext cx="1471692"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9" name="Rounded Rectangle 10"/>
            <p:cNvSpPr/>
            <p:nvPr/>
          </p:nvSpPr>
          <p:spPr>
            <a:xfrm>
              <a:off x="421751" y="892412"/>
              <a:ext cx="1416124"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kern="1200" dirty="0">
                  <a:solidFill>
                    <a:schemeClr val="tx1"/>
                  </a:solidFill>
                </a:rPr>
                <a:t>Sveti Ilija</a:t>
              </a:r>
              <a:endParaRPr lang="en-US" sz="1000" kern="1200" dirty="0">
                <a:solidFill>
                  <a:schemeClr val="tx1"/>
                </a:solidFill>
              </a:endParaRPr>
            </a:p>
          </p:txBody>
        </p:sp>
      </p:grpSp>
      <p:sp>
        <p:nvSpPr>
          <p:cNvPr id="16" name="Left Arrow 15"/>
          <p:cNvSpPr/>
          <p:nvPr/>
        </p:nvSpPr>
        <p:spPr>
          <a:xfrm rot="18422530">
            <a:off x="3119958" y="3845224"/>
            <a:ext cx="1439471" cy="355736"/>
          </a:xfrm>
          <a:prstGeom prst="leftArrow">
            <a:avLst>
              <a:gd name="adj1" fmla="val 60000"/>
              <a:gd name="adj2" fmla="val 50000"/>
            </a:avLst>
          </a:prstGeom>
          <a:solidFill>
            <a:schemeClr val="bg2"/>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grpSp>
        <p:nvGrpSpPr>
          <p:cNvPr id="17" name="Group 16"/>
          <p:cNvGrpSpPr/>
          <p:nvPr/>
        </p:nvGrpSpPr>
        <p:grpSpPr>
          <a:xfrm>
            <a:off x="4125567" y="2600539"/>
            <a:ext cx="1496665" cy="948630"/>
            <a:chOff x="1993813" y="294106"/>
            <a:chExt cx="1496665" cy="948630"/>
          </a:xfrm>
        </p:grpSpPr>
        <p:sp>
          <p:nvSpPr>
            <p:cNvPr id="26" name="Rounded Rectangle 25"/>
            <p:cNvSpPr/>
            <p:nvPr/>
          </p:nvSpPr>
          <p:spPr>
            <a:xfrm>
              <a:off x="1993813" y="294106"/>
              <a:ext cx="1496665"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7" name="Rounded Rectangle 13"/>
            <p:cNvSpPr/>
            <p:nvPr/>
          </p:nvSpPr>
          <p:spPr>
            <a:xfrm>
              <a:off x="2021597" y="321890"/>
              <a:ext cx="1441097"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lvl="0" algn="ctr" defTabSz="444500">
                <a:lnSpc>
                  <a:spcPct val="90000"/>
                </a:lnSpc>
                <a:spcBef>
                  <a:spcPct val="0"/>
                </a:spcBef>
                <a:spcAft>
                  <a:spcPct val="35000"/>
                </a:spcAft>
              </a:pPr>
              <a:r>
                <a:rPr lang="hr-HR" sz="1000" kern="1200" dirty="0">
                  <a:solidFill>
                    <a:schemeClr val="tx1"/>
                  </a:solidFill>
                </a:rPr>
                <a:t>Kneginec</a:t>
              </a:r>
              <a:endParaRPr lang="en-US" sz="1000" kern="1200" dirty="0">
                <a:solidFill>
                  <a:schemeClr val="tx1"/>
                </a:solidFill>
              </a:endParaRPr>
            </a:p>
          </p:txBody>
        </p:sp>
      </p:grpSp>
      <p:sp>
        <p:nvSpPr>
          <p:cNvPr id="18" name="Left Arrow 17"/>
          <p:cNvSpPr/>
          <p:nvPr/>
        </p:nvSpPr>
        <p:spPr>
          <a:xfrm rot="19945270">
            <a:off x="3637393" y="4454409"/>
            <a:ext cx="1358880" cy="355736"/>
          </a:xfrm>
          <a:prstGeom prst="leftArrow">
            <a:avLst>
              <a:gd name="adj1" fmla="val 60000"/>
              <a:gd name="adj2" fmla="val 50000"/>
            </a:avLst>
          </a:prstGeom>
          <a:solidFill>
            <a:schemeClr val="bg2"/>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grpSp>
        <p:nvGrpSpPr>
          <p:cNvPr id="19" name="Group 18"/>
          <p:cNvGrpSpPr/>
          <p:nvPr/>
        </p:nvGrpSpPr>
        <p:grpSpPr>
          <a:xfrm>
            <a:off x="4155070" y="3774014"/>
            <a:ext cx="1370976" cy="948630"/>
            <a:chOff x="3546413" y="1013755"/>
            <a:chExt cx="1185787" cy="948630"/>
          </a:xfrm>
        </p:grpSpPr>
        <p:sp>
          <p:nvSpPr>
            <p:cNvPr id="24" name="Rounded Rectangle 23"/>
            <p:cNvSpPr/>
            <p:nvPr/>
          </p:nvSpPr>
          <p:spPr>
            <a:xfrm>
              <a:off x="3546413" y="1013755"/>
              <a:ext cx="1185787"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5" name="Rounded Rectangle 16"/>
            <p:cNvSpPr/>
            <p:nvPr/>
          </p:nvSpPr>
          <p:spPr>
            <a:xfrm>
              <a:off x="3574197" y="1041539"/>
              <a:ext cx="1130219"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lvl="0" algn="ctr" defTabSz="444500">
                <a:lnSpc>
                  <a:spcPct val="90000"/>
                </a:lnSpc>
                <a:spcBef>
                  <a:spcPct val="0"/>
                </a:spcBef>
                <a:spcAft>
                  <a:spcPct val="35000"/>
                </a:spcAft>
              </a:pPr>
              <a:r>
                <a:rPr lang="hr-HR" sz="1000" dirty="0">
                  <a:solidFill>
                    <a:schemeClr val="tx1"/>
                  </a:solidFill>
                </a:rPr>
                <a:t>Vidovec</a:t>
              </a:r>
              <a:endParaRPr lang="en-US" sz="1000" kern="1200" dirty="0">
                <a:solidFill>
                  <a:schemeClr val="tx1"/>
                </a:solidFill>
              </a:endParaRPr>
            </a:p>
          </p:txBody>
        </p:sp>
      </p:grpSp>
      <p:sp>
        <p:nvSpPr>
          <p:cNvPr id="20" name="Left Arrow 19"/>
          <p:cNvSpPr/>
          <p:nvPr/>
        </p:nvSpPr>
        <p:spPr>
          <a:xfrm rot="1353236">
            <a:off x="3656824" y="5566603"/>
            <a:ext cx="1141363" cy="355736"/>
          </a:xfrm>
          <a:prstGeom prst="lef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grpSp>
        <p:nvGrpSpPr>
          <p:cNvPr id="21" name="Group 20"/>
          <p:cNvGrpSpPr/>
          <p:nvPr/>
        </p:nvGrpSpPr>
        <p:grpSpPr>
          <a:xfrm>
            <a:off x="4173550" y="5213139"/>
            <a:ext cx="1413438" cy="948630"/>
            <a:chOff x="3664153" y="2159971"/>
            <a:chExt cx="1185787" cy="948630"/>
          </a:xfrm>
        </p:grpSpPr>
        <p:sp>
          <p:nvSpPr>
            <p:cNvPr id="22" name="Rounded Rectangle 21"/>
            <p:cNvSpPr/>
            <p:nvPr/>
          </p:nvSpPr>
          <p:spPr>
            <a:xfrm>
              <a:off x="3664153" y="2159971"/>
              <a:ext cx="1185787" cy="948630"/>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3" name="Rounded Rectangle 19"/>
            <p:cNvSpPr/>
            <p:nvPr/>
          </p:nvSpPr>
          <p:spPr>
            <a:xfrm>
              <a:off x="3691937" y="2187755"/>
              <a:ext cx="1130219"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6195" tIns="36195" rIns="36195" bIns="36195" numCol="1" spcCol="1270" anchor="ctr" anchorCtr="0">
              <a:noAutofit/>
            </a:bodyPr>
            <a:lstStyle/>
            <a:p>
              <a:pPr lvl="0" algn="ctr" defTabSz="844550">
                <a:lnSpc>
                  <a:spcPct val="90000"/>
                </a:lnSpc>
                <a:spcBef>
                  <a:spcPct val="0"/>
                </a:spcBef>
                <a:spcAft>
                  <a:spcPct val="35000"/>
                </a:spcAft>
              </a:pPr>
              <a:r>
                <a:rPr lang="en-US" sz="1900" kern="1200" dirty="0"/>
                <a:t>Varaždin</a:t>
              </a:r>
            </a:p>
          </p:txBody>
        </p:sp>
      </p:grpSp>
      <p:grpSp>
        <p:nvGrpSpPr>
          <p:cNvPr id="34" name="Group 33"/>
          <p:cNvGrpSpPr/>
          <p:nvPr/>
        </p:nvGrpSpPr>
        <p:grpSpPr>
          <a:xfrm>
            <a:off x="549492" y="3805237"/>
            <a:ext cx="1471692" cy="948630"/>
            <a:chOff x="393967" y="864628"/>
            <a:chExt cx="1471692" cy="948630"/>
          </a:xfrm>
        </p:grpSpPr>
        <p:sp>
          <p:nvSpPr>
            <p:cNvPr id="35" name="Rounded Rectangle 34"/>
            <p:cNvSpPr/>
            <p:nvPr/>
          </p:nvSpPr>
          <p:spPr>
            <a:xfrm>
              <a:off x="393967" y="864628"/>
              <a:ext cx="1471692"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36" name="Rounded Rectangle 10"/>
            <p:cNvSpPr/>
            <p:nvPr/>
          </p:nvSpPr>
          <p:spPr>
            <a:xfrm>
              <a:off x="421751" y="892412"/>
              <a:ext cx="1416124"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Sračinec</a:t>
              </a:r>
              <a:endParaRPr lang="en-US" sz="1000" kern="1200" dirty="0">
                <a:solidFill>
                  <a:schemeClr val="tx1"/>
                </a:solidFill>
              </a:endParaRPr>
            </a:p>
          </p:txBody>
        </p:sp>
      </p:grpSp>
      <p:sp>
        <p:nvSpPr>
          <p:cNvPr id="37" name="Left Arrow 36"/>
          <p:cNvSpPr/>
          <p:nvPr/>
        </p:nvSpPr>
        <p:spPr>
          <a:xfrm rot="12766643">
            <a:off x="1751106" y="4505170"/>
            <a:ext cx="754645" cy="355736"/>
          </a:xfrm>
          <a:prstGeom prst="leftArrow">
            <a:avLst>
              <a:gd name="adj1" fmla="val 60000"/>
              <a:gd name="adj2" fmla="val 50000"/>
            </a:avLst>
          </a:prstGeom>
          <a:solidFill>
            <a:schemeClr val="bg2"/>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pic>
        <p:nvPicPr>
          <p:cNvPr id="38" name="Picture 37"/>
          <p:cNvPicPr>
            <a:picLocks noChangeAspect="1"/>
          </p:cNvPicPr>
          <p:nvPr/>
        </p:nvPicPr>
        <p:blipFill rotWithShape="1">
          <a:blip r:embed="rId2" cstate="print">
            <a:extLst>
              <a:ext uri="{28A0092B-C50C-407E-A947-70E740481C1C}">
                <a14:useLocalDpi xmlns:a14="http://schemas.microsoft.com/office/drawing/2010/main" val="0"/>
              </a:ext>
            </a:extLst>
          </a:blip>
          <a:srcRect l="34551" b="22206"/>
          <a:stretch/>
        </p:blipFill>
        <p:spPr>
          <a:xfrm>
            <a:off x="10760765" y="0"/>
            <a:ext cx="1431235" cy="1131115"/>
          </a:xfrm>
          <a:prstGeom prst="rect">
            <a:avLst/>
          </a:prstGeom>
        </p:spPr>
      </p:pic>
      <p:cxnSp>
        <p:nvCxnSpPr>
          <p:cNvPr id="39" name="Straight Connector 38"/>
          <p:cNvCxnSpPr/>
          <p:nvPr/>
        </p:nvCxnSpPr>
        <p:spPr>
          <a:xfrm>
            <a:off x="134520" y="809847"/>
            <a:ext cx="10826991" cy="2371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40" name="Group 39"/>
          <p:cNvGrpSpPr/>
          <p:nvPr/>
        </p:nvGrpSpPr>
        <p:grpSpPr>
          <a:xfrm>
            <a:off x="567881" y="2614070"/>
            <a:ext cx="1471692" cy="948630"/>
            <a:chOff x="393967" y="864628"/>
            <a:chExt cx="1471692" cy="948630"/>
          </a:xfrm>
        </p:grpSpPr>
        <p:sp>
          <p:nvSpPr>
            <p:cNvPr id="41" name="Rounded Rectangle 40"/>
            <p:cNvSpPr/>
            <p:nvPr/>
          </p:nvSpPr>
          <p:spPr>
            <a:xfrm>
              <a:off x="393967" y="864628"/>
              <a:ext cx="1471692"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42" name="Rounded Rectangle 10"/>
            <p:cNvSpPr/>
            <p:nvPr/>
          </p:nvSpPr>
          <p:spPr>
            <a:xfrm>
              <a:off x="421751" y="892412"/>
              <a:ext cx="1416124"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kern="1200" dirty="0">
                  <a:solidFill>
                    <a:schemeClr val="tx1"/>
                  </a:solidFill>
                </a:rPr>
                <a:t>Novi Marof</a:t>
              </a:r>
              <a:endParaRPr lang="en-US" sz="1000" kern="1200" dirty="0">
                <a:solidFill>
                  <a:schemeClr val="tx1"/>
                </a:solidFill>
              </a:endParaRPr>
            </a:p>
          </p:txBody>
        </p:sp>
      </p:grpSp>
      <p:sp>
        <p:nvSpPr>
          <p:cNvPr id="43" name="Left Arrow 42"/>
          <p:cNvSpPr/>
          <p:nvPr/>
        </p:nvSpPr>
        <p:spPr>
          <a:xfrm rot="14124861">
            <a:off x="1630042" y="3828220"/>
            <a:ext cx="1439471" cy="355736"/>
          </a:xfrm>
          <a:prstGeom prst="leftArrow">
            <a:avLst>
              <a:gd name="adj1" fmla="val 60000"/>
              <a:gd name="adj2" fmla="val 50000"/>
            </a:avLst>
          </a:prstGeom>
          <a:solidFill>
            <a:schemeClr val="bg2"/>
          </a:solidFill>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sp>
        <p:nvSpPr>
          <p:cNvPr id="44" name="Rounded Rectangular Callout 43">
            <a:hlinkHover r:id="" action="ppaction://noaction" highlightClick="1"/>
          </p:cNvPr>
          <p:cNvSpPr/>
          <p:nvPr/>
        </p:nvSpPr>
        <p:spPr>
          <a:xfrm>
            <a:off x="134520" y="919000"/>
            <a:ext cx="5668872" cy="1432878"/>
          </a:xfrm>
          <a:prstGeom prst="wedgeRoundRectCallout">
            <a:avLst>
              <a:gd name="adj1" fmla="val 49772"/>
              <a:gd name="adj2" fmla="val 21472"/>
              <a:gd name="adj3" fmla="val 16667"/>
            </a:avLst>
          </a:prstGeom>
          <a:noFill/>
          <a:ln cap="sq">
            <a:bevel/>
          </a:ln>
          <a:effectLst>
            <a:innerShdw blurRad="63500" dist="50800" dir="13500000">
              <a:prstClr val="black">
                <a:alpha val="50000"/>
              </a:prstClr>
            </a:innerShdw>
          </a:effectLst>
          <a:scene3d>
            <a:camera prst="orthographicFront"/>
            <a:lightRig rig="threePt" dir="t"/>
          </a:scene3d>
          <a:sp3d extrusionH="76200" prstMaterial="plastic">
            <a:bevelT w="139700" h="139700" prst="divot"/>
            <a:extrusionClr>
              <a:schemeClr val="accent6">
                <a:lumMod val="75000"/>
              </a:schemeClr>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dirty="0">
                <a:solidFill>
                  <a:schemeClr val="tx1"/>
                </a:solidFill>
                <a:latin typeface="Verdana" charset="0"/>
                <a:ea typeface="Verdana" charset="0"/>
                <a:cs typeface="Verdana" charset="0"/>
              </a:rPr>
              <a:t>Društvene inovacije</a:t>
            </a:r>
            <a:endParaRPr lang="en-US" sz="900" dirty="0">
              <a:solidFill>
                <a:schemeClr val="tx1"/>
              </a:solidFill>
              <a:latin typeface="Verdana" charset="0"/>
              <a:ea typeface="Verdana" charset="0"/>
              <a:cs typeface="Verdana" charset="0"/>
            </a:endParaRPr>
          </a:p>
          <a:p>
            <a:pPr lvl="0"/>
            <a:endParaRPr lang="en-US" sz="900" dirty="0">
              <a:solidFill>
                <a:schemeClr val="tx1"/>
              </a:solidFill>
              <a:latin typeface="Verdana" charset="0"/>
              <a:ea typeface="Verdana" charset="0"/>
              <a:cs typeface="Verdana" charset="0"/>
            </a:endParaRPr>
          </a:p>
          <a:p>
            <a:pPr lvl="0"/>
            <a:r>
              <a:rPr lang="en-US" sz="900" dirty="0">
                <a:solidFill>
                  <a:schemeClr val="tx1"/>
                </a:solidFill>
                <a:latin typeface="Verdana" charset="0"/>
                <a:ea typeface="Verdana" charset="0"/>
                <a:cs typeface="Verdana" charset="0"/>
              </a:rPr>
              <a:t>Društvene inovacije su nova rješenja, modeli ili jednostavno "prepisani" primjeri dobre prakse prilagođeni nekom području. Tehnološke inovacije nisu samo u fokusu ovog projekta. Ljudska inovativnost seže dublje i šire, te stoga zaslužuje punu pažnju projektnih aktivnosti i timova koji provode ovaj projekt. </a:t>
            </a:r>
          </a:p>
          <a:p>
            <a:pPr lvl="0"/>
            <a:r>
              <a:rPr lang="en-US" sz="900" dirty="0">
                <a:solidFill>
                  <a:schemeClr val="tx1"/>
                </a:solidFill>
                <a:latin typeface="Verdana" charset="0"/>
                <a:ea typeface="Verdana" charset="0"/>
                <a:cs typeface="Verdana" charset="0"/>
              </a:rPr>
              <a:t>Poduzetnici, obrtnici, OPG-ovi, fizičke osobe i pojedinci vrijednost su u čijim redovima valja tražiti nove konstrukte i rješenja </a:t>
            </a:r>
            <a:r>
              <a:rPr lang="en-US" sz="900" dirty="0" err="1">
                <a:solidFill>
                  <a:schemeClr val="tx1"/>
                </a:solidFill>
                <a:latin typeface="Verdana" charset="0"/>
                <a:ea typeface="Verdana" charset="0"/>
                <a:cs typeface="Verdana" charset="0"/>
              </a:rPr>
              <a:t>društvenih</a:t>
            </a:r>
            <a:r>
              <a:rPr lang="en-US" sz="900" dirty="0">
                <a:solidFill>
                  <a:schemeClr val="tx1"/>
                </a:solidFill>
                <a:latin typeface="Verdana" charset="0"/>
                <a:ea typeface="Verdana" charset="0"/>
                <a:cs typeface="Verdana" charset="0"/>
              </a:rPr>
              <a:t> </a:t>
            </a:r>
            <a:r>
              <a:rPr lang="en-US" sz="900" dirty="0" err="1">
                <a:solidFill>
                  <a:schemeClr val="tx1"/>
                </a:solidFill>
                <a:latin typeface="Verdana" charset="0"/>
                <a:ea typeface="Verdana" charset="0"/>
                <a:cs typeface="Verdana" charset="0"/>
              </a:rPr>
              <a:t>izazova</a:t>
            </a:r>
            <a:r>
              <a:rPr lang="en-US" sz="900" dirty="0">
                <a:solidFill>
                  <a:schemeClr val="tx1"/>
                </a:solidFill>
                <a:latin typeface="Verdana" charset="0"/>
                <a:ea typeface="Verdana" charset="0"/>
                <a:cs typeface="Verdana" charset="0"/>
              </a:rPr>
              <a:t>.</a:t>
            </a:r>
          </a:p>
        </p:txBody>
      </p:sp>
      <p:graphicFrame>
        <p:nvGraphicFramePr>
          <p:cNvPr id="2" name="Table 1"/>
          <p:cNvGraphicFramePr>
            <a:graphicFrameLocks noGrp="1"/>
          </p:cNvGraphicFramePr>
          <p:nvPr/>
        </p:nvGraphicFramePr>
        <p:xfrm>
          <a:off x="6727370" y="1332455"/>
          <a:ext cx="4669972" cy="2349500"/>
        </p:xfrm>
        <a:graphic>
          <a:graphicData uri="http://schemas.openxmlformats.org/drawingml/2006/table">
            <a:tbl>
              <a:tblPr/>
              <a:tblGrid>
                <a:gridCol w="1529819">
                  <a:extLst>
                    <a:ext uri="{9D8B030D-6E8A-4147-A177-3AD203B41FA5}">
                      <a16:colId xmlns:a16="http://schemas.microsoft.com/office/drawing/2014/main" val="20000"/>
                    </a:ext>
                  </a:extLst>
                </a:gridCol>
                <a:gridCol w="603876">
                  <a:extLst>
                    <a:ext uri="{9D8B030D-6E8A-4147-A177-3AD203B41FA5}">
                      <a16:colId xmlns:a16="http://schemas.microsoft.com/office/drawing/2014/main" val="20001"/>
                    </a:ext>
                  </a:extLst>
                </a:gridCol>
                <a:gridCol w="523360">
                  <a:extLst>
                    <a:ext uri="{9D8B030D-6E8A-4147-A177-3AD203B41FA5}">
                      <a16:colId xmlns:a16="http://schemas.microsoft.com/office/drawing/2014/main" val="20002"/>
                    </a:ext>
                  </a:extLst>
                </a:gridCol>
                <a:gridCol w="483100">
                  <a:extLst>
                    <a:ext uri="{9D8B030D-6E8A-4147-A177-3AD203B41FA5}">
                      <a16:colId xmlns:a16="http://schemas.microsoft.com/office/drawing/2014/main" val="20003"/>
                    </a:ext>
                  </a:extLst>
                </a:gridCol>
                <a:gridCol w="513294">
                  <a:extLst>
                    <a:ext uri="{9D8B030D-6E8A-4147-A177-3AD203B41FA5}">
                      <a16:colId xmlns:a16="http://schemas.microsoft.com/office/drawing/2014/main" val="20004"/>
                    </a:ext>
                  </a:extLst>
                </a:gridCol>
                <a:gridCol w="483100">
                  <a:extLst>
                    <a:ext uri="{9D8B030D-6E8A-4147-A177-3AD203B41FA5}">
                      <a16:colId xmlns:a16="http://schemas.microsoft.com/office/drawing/2014/main" val="20005"/>
                    </a:ext>
                  </a:extLst>
                </a:gridCol>
                <a:gridCol w="533423">
                  <a:extLst>
                    <a:ext uri="{9D8B030D-6E8A-4147-A177-3AD203B41FA5}">
                      <a16:colId xmlns:a16="http://schemas.microsoft.com/office/drawing/2014/main" val="20006"/>
                    </a:ext>
                  </a:extLst>
                </a:gridCol>
              </a:tblGrid>
              <a:tr h="215900">
                <a:tc>
                  <a:txBody>
                    <a:bodyPr/>
                    <a:lstStyle/>
                    <a:p>
                      <a:pPr algn="l" fontAlgn="b"/>
                      <a:endParaRPr lang="en-US" sz="1200" b="0" i="0" u="none" strike="noStrike">
                        <a:solidFill>
                          <a:srgbClr val="000000"/>
                        </a:solidFill>
                        <a:effectLst/>
                        <a:latin typeface="Calibri" charset="0"/>
                      </a:endParaRPr>
                    </a:p>
                  </a:txBody>
                  <a:tcPr marL="12700" marR="12700" marT="12700"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gridSpan="3">
                  <a:txBody>
                    <a:bodyPr/>
                    <a:lstStyle/>
                    <a:p>
                      <a:pPr algn="ctr" fontAlgn="b"/>
                      <a:r>
                        <a:rPr lang="en-US" sz="1200" b="0" i="0" u="none" strike="noStrike">
                          <a:solidFill>
                            <a:srgbClr val="000000"/>
                          </a:solidFill>
                          <a:effectLst/>
                          <a:latin typeface="Calibri" charset="0"/>
                        </a:rPr>
                        <a:t>OPG</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hMerge="1">
                  <a:txBody>
                    <a:bodyPr/>
                    <a:lstStyle/>
                    <a:p>
                      <a:endParaRPr lang="hr-HR"/>
                    </a:p>
                  </a:txBody>
                  <a:tcPr/>
                </a:tc>
                <a:tc hMerge="1">
                  <a:txBody>
                    <a:bodyPr/>
                    <a:lstStyle/>
                    <a:p>
                      <a:endParaRPr lang="hr-HR"/>
                    </a:p>
                  </a:txBody>
                  <a:tcPr/>
                </a:tc>
                <a:tc gridSpan="3">
                  <a:txBody>
                    <a:bodyPr/>
                    <a:lstStyle/>
                    <a:p>
                      <a:pPr algn="ctr" fontAlgn="b"/>
                      <a:r>
                        <a:rPr lang="en-US" sz="1200" b="0" i="0" u="none" strike="noStrike">
                          <a:solidFill>
                            <a:srgbClr val="000000"/>
                          </a:solidFill>
                          <a:effectLst/>
                          <a:latin typeface="Calibri" charset="0"/>
                        </a:rPr>
                        <a:t>PODUZEĆA + OBRTI</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hMerge="1">
                  <a:txBody>
                    <a:bodyPr/>
                    <a:lstStyle/>
                    <a:p>
                      <a:endParaRPr lang="hr-HR"/>
                    </a:p>
                  </a:txBody>
                  <a:tcPr/>
                </a:tc>
                <a:tc hMerge="1">
                  <a:txBody>
                    <a:bodyPr/>
                    <a:lstStyle/>
                    <a:p>
                      <a:endParaRPr lang="hr-HR"/>
                    </a:p>
                  </a:txBody>
                  <a:tcPr/>
                </a:tc>
                <a:extLst>
                  <a:ext uri="{0D108BD9-81ED-4DB2-BD59-A6C34878D82A}">
                    <a16:rowId xmlns:a16="http://schemas.microsoft.com/office/drawing/2014/main" val="10000"/>
                  </a:ext>
                </a:extLst>
              </a:tr>
              <a:tr h="215900">
                <a:tc>
                  <a:txBody>
                    <a:bodyPr/>
                    <a:lstStyle/>
                    <a:p>
                      <a:pPr algn="l" fontAlgn="b"/>
                      <a:r>
                        <a:rPr lang="en-US" sz="1200" b="0" i="0" u="none" strike="noStrike">
                          <a:solidFill>
                            <a:srgbClr val="FFFFFF"/>
                          </a:solidFill>
                          <a:effectLst/>
                          <a:latin typeface="Calibri" charset="0"/>
                        </a:rPr>
                        <a:t>Broj OPG-ova</a:t>
                      </a: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r" fontAlgn="b"/>
                      <a:r>
                        <a:rPr lang="en-US" sz="1200" b="0" i="0" u="none" strike="noStrike">
                          <a:solidFill>
                            <a:srgbClr val="FFFFFF"/>
                          </a:solidFill>
                          <a:effectLst/>
                          <a:latin typeface="Calibri" charset="0"/>
                        </a:rPr>
                        <a:t>2017</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r" fontAlgn="b"/>
                      <a:r>
                        <a:rPr lang="en-US" sz="1200" b="0" i="0" u="none" strike="noStrike">
                          <a:solidFill>
                            <a:srgbClr val="FFFFFF"/>
                          </a:solidFill>
                          <a:effectLst/>
                          <a:latin typeface="Calibri" charset="0"/>
                        </a:rPr>
                        <a:t>2021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r" fontAlgn="b"/>
                      <a:r>
                        <a:rPr lang="en-US" sz="1200" b="0" i="0" u="none" strike="noStrike">
                          <a:solidFill>
                            <a:srgbClr val="FFFFFF"/>
                          </a:solidFill>
                          <a:effectLst/>
                          <a:latin typeface="Calibri" charset="0"/>
                        </a:rPr>
                        <a:t>Index</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r" fontAlgn="b"/>
                      <a:r>
                        <a:rPr lang="en-US" sz="1200" b="0" i="0" u="none" strike="noStrike">
                          <a:solidFill>
                            <a:srgbClr val="FFFFFF"/>
                          </a:solidFill>
                          <a:effectLst/>
                          <a:latin typeface="Calibri" charset="0"/>
                        </a:rPr>
                        <a:t>2017</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r" fontAlgn="b"/>
                      <a:r>
                        <a:rPr lang="en-US" sz="1200" b="0" i="0" u="none" strike="noStrike">
                          <a:solidFill>
                            <a:srgbClr val="FFFFFF"/>
                          </a:solidFill>
                          <a:effectLst/>
                          <a:latin typeface="Calibri" charset="0"/>
                        </a:rPr>
                        <a:t>2021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r" fontAlgn="b"/>
                      <a:r>
                        <a:rPr lang="en-US" sz="1200" b="0" i="0" u="none" strike="noStrike">
                          <a:solidFill>
                            <a:srgbClr val="FFFFFF"/>
                          </a:solidFill>
                          <a:effectLst/>
                          <a:latin typeface="Calibri" charset="0"/>
                        </a:rPr>
                        <a:t>Index</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0001"/>
                  </a:ext>
                </a:extLst>
              </a:tr>
              <a:tr h="215900">
                <a:tc>
                  <a:txBody>
                    <a:bodyPr/>
                    <a:lstStyle/>
                    <a:p>
                      <a:pPr algn="l" fontAlgn="b"/>
                      <a:r>
                        <a:rPr lang="en-US" sz="1200" b="0" i="0" u="none" strike="noStrike">
                          <a:solidFill>
                            <a:srgbClr val="000000"/>
                          </a:solidFill>
                          <a:effectLst/>
                          <a:latin typeface="Calibri" charset="0"/>
                        </a:rPr>
                        <a:t>Varaždin</a:t>
                      </a: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554</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596</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108</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1902</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2265</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119</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0002"/>
                  </a:ext>
                </a:extLst>
              </a:tr>
              <a:tr h="215900">
                <a:tc>
                  <a:txBody>
                    <a:bodyPr/>
                    <a:lstStyle/>
                    <a:p>
                      <a:pPr algn="l" fontAlgn="b"/>
                      <a:r>
                        <a:rPr lang="en-US" sz="1200" b="0" i="0" u="none" strike="noStrike">
                          <a:solidFill>
                            <a:srgbClr val="000000"/>
                          </a:solidFill>
                          <a:effectLst/>
                          <a:latin typeface="Calibri" charset="0"/>
                        </a:rPr>
                        <a:t>G Kneginec</a:t>
                      </a: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89</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95</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107</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l" fontAlgn="b"/>
                      <a:r>
                        <a:rPr lang="en-US" sz="1200" b="0" i="0" u="none" strike="noStrike">
                          <a:solidFill>
                            <a:srgbClr val="000000"/>
                          </a:solidFill>
                          <a:effectLst/>
                          <a:latin typeface="Calibri"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US" sz="1200" b="0" i="0" u="none" strike="noStrike">
                          <a:solidFill>
                            <a:srgbClr val="000000"/>
                          </a:solidFill>
                          <a:effectLst/>
                          <a:latin typeface="Calibri"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US" sz="1200" b="0" i="0" u="none" strike="noStrike">
                          <a:solidFill>
                            <a:srgbClr val="000000"/>
                          </a:solidFill>
                          <a:effectLst/>
                          <a:latin typeface="Calibri"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0003"/>
                  </a:ext>
                </a:extLst>
              </a:tr>
              <a:tr h="215900">
                <a:tc>
                  <a:txBody>
                    <a:bodyPr/>
                    <a:lstStyle/>
                    <a:p>
                      <a:pPr algn="l" fontAlgn="b"/>
                      <a:r>
                        <a:rPr lang="en-US" sz="1200" b="0" i="0" u="none" strike="noStrike">
                          <a:solidFill>
                            <a:srgbClr val="000000"/>
                          </a:solidFill>
                          <a:effectLst/>
                          <a:latin typeface="Calibri" charset="0"/>
                        </a:rPr>
                        <a:t>Ludbreg</a:t>
                      </a: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621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664</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107</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190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223</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117</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0004"/>
                  </a:ext>
                </a:extLst>
              </a:tr>
              <a:tr h="215900">
                <a:tc>
                  <a:txBody>
                    <a:bodyPr/>
                    <a:lstStyle/>
                    <a:p>
                      <a:pPr algn="l" fontAlgn="b"/>
                      <a:r>
                        <a:rPr lang="en-US" sz="1200" b="0" i="0" u="none" strike="noStrike">
                          <a:solidFill>
                            <a:srgbClr val="000000"/>
                          </a:solidFill>
                          <a:effectLst/>
                          <a:latin typeface="Calibri" charset="0"/>
                        </a:rPr>
                        <a:t>N Marof</a:t>
                      </a: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361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359</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99</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175</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221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126</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0005"/>
                  </a:ext>
                </a:extLst>
              </a:tr>
              <a:tr h="215900">
                <a:tc>
                  <a:txBody>
                    <a:bodyPr/>
                    <a:lstStyle/>
                    <a:p>
                      <a:pPr algn="l" fontAlgn="b"/>
                      <a:r>
                        <a:rPr lang="en-US" sz="1200" b="0" i="0" u="none" strike="noStrike">
                          <a:solidFill>
                            <a:srgbClr val="000000"/>
                          </a:solidFill>
                          <a:effectLst/>
                          <a:latin typeface="Calibri" charset="0"/>
                        </a:rPr>
                        <a:t>Sračinec</a:t>
                      </a: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136</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129</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95</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l" fontAlgn="b"/>
                      <a:r>
                        <a:rPr lang="en-US" sz="1200" b="0" i="0" u="none" strike="noStrike">
                          <a:solidFill>
                            <a:srgbClr val="000000"/>
                          </a:solidFill>
                          <a:effectLst/>
                          <a:latin typeface="Calibri"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US" sz="1200" b="0" i="0" u="none" strike="noStrike">
                          <a:solidFill>
                            <a:srgbClr val="000000"/>
                          </a:solidFill>
                          <a:effectLst/>
                          <a:latin typeface="Calibri"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US" sz="1200" b="0" i="0" u="none" strike="noStrike">
                          <a:solidFill>
                            <a:srgbClr val="000000"/>
                          </a:solidFill>
                          <a:effectLst/>
                          <a:latin typeface="Calibri"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0006"/>
                  </a:ext>
                </a:extLst>
              </a:tr>
              <a:tr h="215900">
                <a:tc>
                  <a:txBody>
                    <a:bodyPr/>
                    <a:lstStyle/>
                    <a:p>
                      <a:pPr algn="l" fontAlgn="b"/>
                      <a:r>
                        <a:rPr lang="en-US" sz="1200" b="0" i="0" u="none" strike="noStrike">
                          <a:solidFill>
                            <a:srgbClr val="000000"/>
                          </a:solidFill>
                          <a:effectLst/>
                          <a:latin typeface="Calibri" charset="0"/>
                        </a:rPr>
                        <a:t>Sv Ilija</a:t>
                      </a: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115</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113</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98</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l" fontAlgn="b"/>
                      <a:r>
                        <a:rPr lang="en-US" sz="1200" b="0" i="0" u="none" strike="noStrike">
                          <a:solidFill>
                            <a:srgbClr val="000000"/>
                          </a:solidFill>
                          <a:effectLst/>
                          <a:latin typeface="Calibri"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l" fontAlgn="b"/>
                      <a:r>
                        <a:rPr lang="en-US" sz="1200" b="0" i="0" u="none" strike="noStrike">
                          <a:solidFill>
                            <a:srgbClr val="000000"/>
                          </a:solidFill>
                          <a:effectLst/>
                          <a:latin typeface="Calibri"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l" fontAlgn="b"/>
                      <a:r>
                        <a:rPr lang="en-US" sz="1200" b="0" i="0" u="none" strike="noStrike">
                          <a:solidFill>
                            <a:srgbClr val="000000"/>
                          </a:solidFill>
                          <a:effectLst/>
                          <a:latin typeface="Calibri"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0007"/>
                  </a:ext>
                </a:extLst>
              </a:tr>
              <a:tr h="215900">
                <a:tc>
                  <a:txBody>
                    <a:bodyPr/>
                    <a:lstStyle/>
                    <a:p>
                      <a:pPr algn="l" fontAlgn="b"/>
                      <a:r>
                        <a:rPr lang="en-US" sz="1200" b="0" i="0" u="none" strike="noStrike">
                          <a:solidFill>
                            <a:srgbClr val="000000"/>
                          </a:solidFill>
                          <a:effectLst/>
                          <a:latin typeface="Calibri" charset="0"/>
                        </a:rPr>
                        <a:t>Trnovec Bartolovečki</a:t>
                      </a: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charset="0"/>
                        </a:rPr>
                        <a:t>256</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charset="0"/>
                        </a:rPr>
                        <a:t>299</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charset="0"/>
                        </a:rPr>
                        <a:t>117</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charset="0"/>
                        </a:rPr>
                        <a:t>121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charset="0"/>
                        </a:rPr>
                        <a:t>149</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200" b="0" i="0" u="none" strike="noStrike">
                          <a:solidFill>
                            <a:srgbClr val="000000"/>
                          </a:solidFill>
                          <a:effectLst/>
                          <a:latin typeface="Calibri" charset="0"/>
                        </a:rPr>
                        <a:t>123</a:t>
                      </a:r>
                    </a:p>
                  </a:txBody>
                  <a:tcPr marL="12700" marR="12700" marT="1270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03200">
                <a:tc>
                  <a:txBody>
                    <a:bodyPr/>
                    <a:lstStyle/>
                    <a:p>
                      <a:pPr algn="l" fontAlgn="b"/>
                      <a:r>
                        <a:rPr lang="en-US" sz="1200" b="0" i="0" u="none" strike="noStrike">
                          <a:solidFill>
                            <a:srgbClr val="000000"/>
                          </a:solidFill>
                          <a:effectLst/>
                          <a:latin typeface="Calibri" charset="0"/>
                        </a:rPr>
                        <a:t>Vidovec</a:t>
                      </a:r>
                    </a:p>
                  </a:txBody>
                  <a:tcPr marL="12700" marR="12700" marT="127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574</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544</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95</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US" sz="1200" b="0" i="0" u="none" strike="noStrike">
                          <a:solidFill>
                            <a:srgbClr val="000000"/>
                          </a:solidFill>
                          <a:effectLst/>
                          <a:latin typeface="Calibri"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US" sz="1200" b="0" i="0" u="none" strike="noStrike">
                          <a:solidFill>
                            <a:srgbClr val="000000"/>
                          </a:solidFill>
                          <a:effectLst/>
                          <a:latin typeface="Calibri"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US" sz="1200" b="0" i="0" u="none" strike="noStrike">
                          <a:solidFill>
                            <a:srgbClr val="000000"/>
                          </a:solidFill>
                          <a:effectLst/>
                          <a:latin typeface="Calibri"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0009"/>
                  </a:ext>
                </a:extLst>
              </a:tr>
              <a:tr h="203200">
                <a:tc>
                  <a:txBody>
                    <a:bodyPr/>
                    <a:lstStyle/>
                    <a:p>
                      <a:pPr algn="l" fontAlgn="b"/>
                      <a:r>
                        <a:rPr lang="en-US" sz="1200" b="0" i="0" u="none" strike="noStrike">
                          <a:solidFill>
                            <a:srgbClr val="000000"/>
                          </a:solidFill>
                          <a:effectLst/>
                          <a:latin typeface="Calibri" charset="0"/>
                        </a:rPr>
                        <a:t>Županija</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r" fontAlgn="b"/>
                      <a:r>
                        <a:rPr lang="en-US" sz="1200" b="0" i="0" u="none" strike="noStrike">
                          <a:solidFill>
                            <a:srgbClr val="000000"/>
                          </a:solidFill>
                          <a:effectLst/>
                          <a:latin typeface="Calibri" charset="0"/>
                        </a:rPr>
                        <a:t>8216</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r" fontAlgn="b"/>
                      <a:r>
                        <a:rPr lang="en-US" sz="1200" b="0" i="0" u="none" strike="noStrike">
                          <a:solidFill>
                            <a:srgbClr val="000000"/>
                          </a:solidFill>
                          <a:effectLst/>
                          <a:latin typeface="Calibri" charset="0"/>
                        </a:rPr>
                        <a:t>8160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r" fontAlgn="b"/>
                      <a:r>
                        <a:rPr lang="en-US" sz="1200" b="0" i="0" u="none" strike="noStrike">
                          <a:solidFill>
                            <a:srgbClr val="000000"/>
                          </a:solidFill>
                          <a:effectLst/>
                          <a:latin typeface="Calibri" charset="0"/>
                        </a:rPr>
                        <a:t>99</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en-US" sz="1200" b="0" i="0" u="none" strike="noStrike">
                          <a:solidFill>
                            <a:srgbClr val="000000"/>
                          </a:solidFill>
                          <a:effectLst/>
                          <a:latin typeface="Calibri"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en-US" sz="1200" b="0" i="0" u="none" strike="noStrike">
                          <a:solidFill>
                            <a:srgbClr val="000000"/>
                          </a:solidFill>
                          <a:effectLst/>
                          <a:latin typeface="Calibri"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en-US" sz="1200" b="0" i="0" u="none" strike="noStrike" dirty="0">
                          <a:solidFill>
                            <a:srgbClr val="000000"/>
                          </a:solidFill>
                          <a:effectLst/>
                          <a:latin typeface="Calibri"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0010"/>
                  </a:ext>
                </a:extLst>
              </a:tr>
            </a:tbl>
          </a:graphicData>
        </a:graphic>
      </p:graphicFrame>
      <p:sp>
        <p:nvSpPr>
          <p:cNvPr id="45" name="Text Placeholder 11"/>
          <p:cNvSpPr>
            <a:spLocks noGrp="1"/>
          </p:cNvSpPr>
          <p:nvPr/>
        </p:nvSpPr>
        <p:spPr>
          <a:xfrm>
            <a:off x="6727370" y="3770983"/>
            <a:ext cx="4669972" cy="866331"/>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lgn="just"/>
            <a:r>
              <a:rPr lang="hr-HR" sz="900" dirty="0">
                <a:latin typeface="Verdana" charset="0"/>
                <a:ea typeface="Verdana" charset="0"/>
                <a:cs typeface="Verdana" charset="0"/>
              </a:rPr>
              <a:t>U lokalnoj zajednici u zadnjih 5 godina vidi se određeni napredak u domeni broja poduzetnika i obrtnika, broja novih OPG-ova i općenito određena dinamika gospodarstva. Za izdvojiti je Općina Trnovec </a:t>
            </a:r>
            <a:r>
              <a:rPr lang="hr-HR" sz="900" dirty="0" err="1">
                <a:latin typeface="Verdana" charset="0"/>
                <a:ea typeface="Verdana" charset="0"/>
                <a:cs typeface="Verdana" charset="0"/>
              </a:rPr>
              <a:t>Bartolovečki</a:t>
            </a:r>
            <a:r>
              <a:rPr lang="hr-HR" sz="900" dirty="0">
                <a:latin typeface="Verdana" charset="0"/>
                <a:ea typeface="Verdana" charset="0"/>
                <a:cs typeface="Verdana" charset="0"/>
              </a:rPr>
              <a:t>, koja ne spada u fokus ovog projekta, ali su navedeni podaci vrlo interesantni za ovaj projekt. Osnovni razlog povećane dinamike u Trnovcu </a:t>
            </a:r>
            <a:r>
              <a:rPr lang="hr-HR" sz="900" dirty="0" err="1">
                <a:latin typeface="Verdana" charset="0"/>
                <a:ea typeface="Verdana" charset="0"/>
                <a:cs typeface="Verdana" charset="0"/>
              </a:rPr>
              <a:t>Bartolovečkom</a:t>
            </a:r>
            <a:r>
              <a:rPr lang="hr-HR" sz="900" dirty="0">
                <a:latin typeface="Verdana" charset="0"/>
                <a:ea typeface="Verdana" charset="0"/>
                <a:cs typeface="Verdana" charset="0"/>
              </a:rPr>
              <a:t> jest Slobodna zona </a:t>
            </a:r>
            <a:r>
              <a:rPr lang="hr-HR" sz="900" dirty="0" err="1">
                <a:latin typeface="Verdana" charset="0"/>
                <a:ea typeface="Verdana" charset="0"/>
                <a:cs typeface="Verdana" charset="0"/>
              </a:rPr>
              <a:t>doo</a:t>
            </a:r>
            <a:r>
              <a:rPr lang="hr-HR" sz="900" dirty="0">
                <a:latin typeface="Verdana" charset="0"/>
                <a:ea typeface="Verdana" charset="0"/>
                <a:cs typeface="Verdana" charset="0"/>
              </a:rPr>
              <a:t>, odnosno danas Zona Sjever.</a:t>
            </a:r>
          </a:p>
        </p:txBody>
      </p:sp>
      <p:sp>
        <p:nvSpPr>
          <p:cNvPr id="46" name="Text Placeholder 11"/>
          <p:cNvSpPr>
            <a:spLocks noGrp="1"/>
          </p:cNvSpPr>
          <p:nvPr/>
        </p:nvSpPr>
        <p:spPr>
          <a:xfrm>
            <a:off x="6727370" y="1111733"/>
            <a:ext cx="4531490" cy="215444"/>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hr-HR" sz="900" b="1" dirty="0">
                <a:latin typeface="Verdana" charset="0"/>
                <a:ea typeface="Verdana" charset="0"/>
                <a:cs typeface="Verdana" charset="0"/>
              </a:rPr>
              <a:t>Izdvojene pravne i fizičke osobe </a:t>
            </a:r>
            <a:r>
              <a:rPr lang="hr-HR" sz="900" b="1">
                <a:latin typeface="Verdana" charset="0"/>
                <a:ea typeface="Verdana" charset="0"/>
                <a:cs typeface="Verdana" charset="0"/>
              </a:rPr>
              <a:t>u 2017. </a:t>
            </a:r>
            <a:r>
              <a:rPr lang="hr-HR" sz="900" b="1" dirty="0">
                <a:latin typeface="Verdana" charset="0"/>
                <a:ea typeface="Verdana" charset="0"/>
                <a:cs typeface="Verdana" charset="0"/>
              </a:rPr>
              <a:t>i 2021. godini</a:t>
            </a:r>
          </a:p>
        </p:txBody>
      </p:sp>
      <p:graphicFrame>
        <p:nvGraphicFramePr>
          <p:cNvPr id="3" name="Table 2"/>
          <p:cNvGraphicFramePr>
            <a:graphicFrameLocks noGrp="1"/>
          </p:cNvGraphicFramePr>
          <p:nvPr/>
        </p:nvGraphicFramePr>
        <p:xfrm>
          <a:off x="8614017" y="4683038"/>
          <a:ext cx="2832100" cy="1511300"/>
        </p:xfrm>
        <a:graphic>
          <a:graphicData uri="http://schemas.openxmlformats.org/drawingml/2006/table">
            <a:tbl>
              <a:tblPr/>
              <a:tblGrid>
                <a:gridCol w="1317061">
                  <a:extLst>
                    <a:ext uri="{9D8B030D-6E8A-4147-A177-3AD203B41FA5}">
                      <a16:colId xmlns:a16="http://schemas.microsoft.com/office/drawing/2014/main" val="20000"/>
                    </a:ext>
                  </a:extLst>
                </a:gridCol>
                <a:gridCol w="688218">
                  <a:extLst>
                    <a:ext uri="{9D8B030D-6E8A-4147-A177-3AD203B41FA5}">
                      <a16:colId xmlns:a16="http://schemas.microsoft.com/office/drawing/2014/main" val="20001"/>
                    </a:ext>
                  </a:extLst>
                </a:gridCol>
                <a:gridCol w="826821">
                  <a:extLst>
                    <a:ext uri="{9D8B030D-6E8A-4147-A177-3AD203B41FA5}">
                      <a16:colId xmlns:a16="http://schemas.microsoft.com/office/drawing/2014/main" val="20002"/>
                    </a:ext>
                  </a:extLst>
                </a:gridCol>
              </a:tblGrid>
              <a:tr h="215900">
                <a:tc>
                  <a:txBody>
                    <a:bodyPr/>
                    <a:lstStyle/>
                    <a:p>
                      <a:pPr algn="l" fontAlgn="b"/>
                      <a:r>
                        <a:rPr lang="en-US" sz="1200" b="0" i="0" u="none" strike="noStrike" dirty="0">
                          <a:solidFill>
                            <a:srgbClr val="000000"/>
                          </a:solidFill>
                          <a:effectLst/>
                          <a:latin typeface="Calibri" charset="0"/>
                        </a:rPr>
                        <a:t> </a:t>
                      </a:r>
                      <a:r>
                        <a:rPr lang="en-US" sz="1200" b="0" i="0" u="none" strike="noStrike" dirty="0" err="1">
                          <a:solidFill>
                            <a:srgbClr val="000000"/>
                          </a:solidFill>
                          <a:effectLst/>
                          <a:latin typeface="Calibri" charset="0"/>
                        </a:rPr>
                        <a:t>Varaždinska</a:t>
                      </a:r>
                      <a:r>
                        <a:rPr lang="en-US" sz="1200" b="0" i="0" u="none" strike="noStrike" dirty="0">
                          <a:solidFill>
                            <a:srgbClr val="000000"/>
                          </a:solidFill>
                          <a:effectLst/>
                          <a:latin typeface="Calibri" charset="0"/>
                        </a:rPr>
                        <a:t> </a:t>
                      </a:r>
                      <a:r>
                        <a:rPr lang="en-US" sz="1200" b="0" i="0" u="none" strike="noStrike" dirty="0" err="1">
                          <a:solidFill>
                            <a:srgbClr val="000000"/>
                          </a:solidFill>
                          <a:effectLst/>
                          <a:latin typeface="Calibri" charset="0"/>
                        </a:rPr>
                        <a:t>žup</a:t>
                      </a:r>
                      <a:r>
                        <a:rPr lang="en-US" sz="1200" b="0" i="0" u="none" strike="noStrike" dirty="0">
                          <a:solidFill>
                            <a:srgbClr val="000000"/>
                          </a:solidFill>
                          <a:effectLst/>
                          <a:latin typeface="Calibri" charset="0"/>
                        </a:rPr>
                        <a:t>.</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r" fontAlgn="b"/>
                      <a:r>
                        <a:rPr lang="en-US" sz="1200" b="0" i="0" u="none" strike="noStrike">
                          <a:solidFill>
                            <a:srgbClr val="000000"/>
                          </a:solidFill>
                          <a:effectLst/>
                          <a:latin typeface="Calibri" charset="0"/>
                        </a:rPr>
                        <a:t>2021</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r" fontAlgn="b"/>
                      <a:r>
                        <a:rPr lang="en-US" sz="1200" b="0" i="0" u="none" strike="noStrike">
                          <a:solidFill>
                            <a:srgbClr val="000000"/>
                          </a:solidFill>
                          <a:effectLst/>
                          <a:latin typeface="Calibri" charset="0"/>
                        </a:rPr>
                        <a:t>Rang u RH</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10000"/>
                  </a:ext>
                </a:extLst>
              </a:tr>
              <a:tr h="215900">
                <a:tc>
                  <a:txBody>
                    <a:bodyPr/>
                    <a:lstStyle/>
                    <a:p>
                      <a:pPr algn="l" fontAlgn="b"/>
                      <a:r>
                        <a:rPr lang="en-US" sz="1200" b="0" i="0" u="none" strike="noStrike">
                          <a:solidFill>
                            <a:srgbClr val="000000"/>
                          </a:solidFill>
                          <a:effectLst/>
                          <a:latin typeface="Calibri" charset="0"/>
                        </a:rPr>
                        <a:t>Broj poduzetnika</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4506</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8</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0001"/>
                  </a:ext>
                </a:extLst>
              </a:tr>
              <a:tr h="215900">
                <a:tc>
                  <a:txBody>
                    <a:bodyPr/>
                    <a:lstStyle/>
                    <a:p>
                      <a:pPr algn="l" fontAlgn="b"/>
                      <a:r>
                        <a:rPr lang="en-US" sz="1200" b="0" i="0" u="none" strike="noStrike">
                          <a:solidFill>
                            <a:srgbClr val="000000"/>
                          </a:solidFill>
                          <a:effectLst/>
                          <a:latin typeface="Calibri" charset="0"/>
                        </a:rPr>
                        <a:t>Broj zaposlenih</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44.687</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6</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0002"/>
                  </a:ext>
                </a:extLst>
              </a:tr>
              <a:tr h="215900">
                <a:tc>
                  <a:txBody>
                    <a:bodyPr/>
                    <a:lstStyle/>
                    <a:p>
                      <a:pPr algn="l" fontAlgn="b"/>
                      <a:r>
                        <a:rPr lang="en-US" sz="1200" b="0" i="0" u="none" strike="noStrike">
                          <a:solidFill>
                            <a:srgbClr val="000000"/>
                          </a:solidFill>
                          <a:effectLst/>
                          <a:latin typeface="Calibri" charset="0"/>
                        </a:rPr>
                        <a:t>Prosječna plaća</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5.646,00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13</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0003"/>
                  </a:ext>
                </a:extLst>
              </a:tr>
              <a:tr h="215900">
                <a:tc>
                  <a:txBody>
                    <a:bodyPr/>
                    <a:lstStyle/>
                    <a:p>
                      <a:pPr algn="l" fontAlgn="b"/>
                      <a:r>
                        <a:rPr lang="en-US" sz="1200" b="0" i="0" u="none" strike="noStrike">
                          <a:solidFill>
                            <a:srgbClr val="000000"/>
                          </a:solidFill>
                          <a:effectLst/>
                          <a:latin typeface="Calibri" charset="0"/>
                        </a:rPr>
                        <a:t>Izvoz</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cs-CZ" sz="1200" b="0" i="0" u="none" strike="noStrike">
                          <a:solidFill>
                            <a:srgbClr val="000000"/>
                          </a:solidFill>
                          <a:effectLst/>
                          <a:latin typeface="Calibri" charset="0"/>
                        </a:rPr>
                        <a:t>11 mlrd</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4</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0004"/>
                  </a:ext>
                </a:extLst>
              </a:tr>
              <a:tr h="215900">
                <a:tc>
                  <a:txBody>
                    <a:bodyPr/>
                    <a:lstStyle/>
                    <a:p>
                      <a:pPr algn="l" fontAlgn="b"/>
                      <a:r>
                        <a:rPr lang="en-US" sz="1200" b="0" i="0" u="none" strike="noStrike">
                          <a:solidFill>
                            <a:srgbClr val="000000"/>
                          </a:solidFill>
                          <a:effectLst/>
                          <a:latin typeface="Calibri" charset="0"/>
                        </a:rPr>
                        <a:t>Dobit</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cs-CZ" sz="1200" b="0" i="0" u="none" strike="noStrike">
                          <a:solidFill>
                            <a:srgbClr val="000000"/>
                          </a:solidFill>
                          <a:effectLst/>
                          <a:latin typeface="Calibri" charset="0"/>
                        </a:rPr>
                        <a:t>1.5 mlrd</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b"/>
                      <a:r>
                        <a:rPr lang="en-US" sz="1200" b="0" i="0" u="none" strike="noStrike">
                          <a:solidFill>
                            <a:srgbClr val="000000"/>
                          </a:solidFill>
                          <a:effectLst/>
                          <a:latin typeface="Calibri" charset="0"/>
                        </a:rPr>
                        <a:t>7</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0005"/>
                  </a:ext>
                </a:extLst>
              </a:tr>
              <a:tr h="215900">
                <a:tc>
                  <a:txBody>
                    <a:bodyPr/>
                    <a:lstStyle/>
                    <a:p>
                      <a:pPr algn="l" fontAlgn="b"/>
                      <a:r>
                        <a:rPr lang="tr-TR" sz="1200" b="0" i="0" u="none" strike="noStrike">
                          <a:solidFill>
                            <a:srgbClr val="000000"/>
                          </a:solidFill>
                          <a:effectLst/>
                          <a:latin typeface="Calibri" charset="0"/>
                        </a:rPr>
                        <a:t>Indeks 21/20</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r" fontAlgn="b"/>
                      <a:r>
                        <a:rPr lang="en-US" sz="1200" b="0" i="0" u="none" strike="noStrike">
                          <a:solidFill>
                            <a:srgbClr val="000000"/>
                          </a:solidFill>
                          <a:effectLst/>
                          <a:latin typeface="Calibri" charset="0"/>
                        </a:rPr>
                        <a:t>17%</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fontAlgn="b"/>
                      <a:r>
                        <a:rPr lang="en-US" sz="1200" b="0" i="0" u="none" strike="noStrike" dirty="0">
                          <a:solidFill>
                            <a:srgbClr val="000000"/>
                          </a:solidFill>
                          <a:effectLst/>
                          <a:latin typeface="Calibri" charset="0"/>
                        </a:rPr>
                        <a:t> </a:t>
                      </a:r>
                    </a:p>
                  </a:txBody>
                  <a:tcPr marL="12700" marR="12700" marT="127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10006"/>
                  </a:ext>
                </a:extLst>
              </a:tr>
            </a:tbl>
          </a:graphicData>
        </a:graphic>
      </p:graphicFrame>
      <p:sp>
        <p:nvSpPr>
          <p:cNvPr id="47" name="Text Placeholder 11"/>
          <p:cNvSpPr>
            <a:spLocks noGrp="1"/>
          </p:cNvSpPr>
          <p:nvPr/>
        </p:nvSpPr>
        <p:spPr>
          <a:xfrm>
            <a:off x="6776146" y="4728905"/>
            <a:ext cx="1714874" cy="1405080"/>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hr-HR" sz="900" dirty="0">
                <a:latin typeface="Verdana" charset="0"/>
                <a:ea typeface="Verdana" charset="0"/>
                <a:cs typeface="Verdana" charset="0"/>
              </a:rPr>
              <a:t>Ovo je primjer gdje je općina, zajedno s Varaždinom pokrenula ozbiljan gospodarski projekt i danas značajno se izdvajaju od ostalih. </a:t>
            </a:r>
          </a:p>
          <a:p>
            <a:r>
              <a:rPr lang="hr-HR" sz="900" dirty="0">
                <a:latin typeface="Verdana" charset="0"/>
                <a:ea typeface="Verdana" charset="0"/>
                <a:cs typeface="Verdana" charset="0"/>
              </a:rPr>
              <a:t>Ovo može biti motivacija za sudjelovanjem u ovom projektu.</a:t>
            </a:r>
          </a:p>
        </p:txBody>
      </p:sp>
    </p:spTree>
    <p:extLst>
      <p:ext uri="{BB962C8B-B14F-4D97-AF65-F5344CB8AC3E}">
        <p14:creationId xmlns:p14="http://schemas.microsoft.com/office/powerpoint/2010/main" val="579971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9344" y="878790"/>
            <a:ext cx="4735285" cy="784830"/>
          </a:xfrm>
          <a:prstGeom prst="rect">
            <a:avLst/>
          </a:prstGeom>
        </p:spPr>
        <p:txBody>
          <a:bodyPr wrap="square">
            <a:spAutoFit/>
          </a:bodyPr>
          <a:lstStyle/>
          <a:p>
            <a:pPr algn="just"/>
            <a:r>
              <a:rPr lang="hr-HR" sz="900" dirty="0">
                <a:effectLst/>
                <a:latin typeface="Verdana" charset="0"/>
                <a:ea typeface="Verdana" charset="0"/>
                <a:cs typeface="Verdana" charset="0"/>
              </a:rPr>
              <a:t>U životnom ciklusu nekog proizvoda najteža je početna faza. Prihvaćanje tehnološke inovacije na tržištu je složenije od drugih proizvoda. Na tom putu poduzetnici se susreću s brojnim problemima. Kako bi uspješnih poduzetnika bilo više pomoć poduzetnicima nude javne i privatne institucije koje su specijalizirane za pojedini segment. </a:t>
            </a:r>
            <a:endParaRPr lang="hr-HR" sz="900" dirty="0">
              <a:latin typeface="Verdana" charset="0"/>
              <a:ea typeface="Verdana" charset="0"/>
              <a:cs typeface="Verdana" charset="0"/>
            </a:endParaRPr>
          </a:p>
        </p:txBody>
      </p:sp>
      <p:cxnSp>
        <p:nvCxnSpPr>
          <p:cNvPr id="7" name="Straight Connector 6"/>
          <p:cNvCxnSpPr/>
          <p:nvPr/>
        </p:nvCxnSpPr>
        <p:spPr>
          <a:xfrm>
            <a:off x="5840695" y="2025946"/>
            <a:ext cx="3209" cy="466281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324849" y="2025948"/>
            <a:ext cx="4957532" cy="4847481"/>
          </a:xfrm>
          <a:prstGeom prst="rect">
            <a:avLst/>
          </a:prstGeom>
          <a:ln>
            <a:solidFill>
              <a:schemeClr val="accent1">
                <a:shade val="50000"/>
              </a:schemeClr>
            </a:solidFill>
            <a:prstDash val="dash"/>
          </a:ln>
        </p:spPr>
        <p:txBody>
          <a:bodyPr wrap="square">
            <a:spAutoFit/>
          </a:bodyPr>
          <a:lstStyle/>
          <a:p>
            <a:pPr>
              <a:spcAft>
                <a:spcPts val="0"/>
              </a:spcAft>
            </a:pPr>
            <a:r>
              <a:rPr lang="hr-HR" sz="900" b="1" dirty="0">
                <a:effectLst/>
                <a:latin typeface="Verdana" charset="0"/>
                <a:ea typeface="Verdana" charset="0"/>
                <a:cs typeface="Verdana" charset="0"/>
              </a:rPr>
              <a:t>PREDINKUBACIJA</a:t>
            </a:r>
            <a:endParaRPr lang="hr-HR" sz="1000" dirty="0">
              <a:latin typeface="Verdana" charset="0"/>
              <a:ea typeface="Verdana" charset="0"/>
              <a:cs typeface="Verdana" charset="0"/>
            </a:endParaRPr>
          </a:p>
          <a:p>
            <a:pPr algn="just">
              <a:spcAft>
                <a:spcPts val="0"/>
              </a:spcAft>
            </a:pPr>
            <a:r>
              <a:rPr lang="hr-HR" sz="1000" dirty="0">
                <a:effectLst/>
                <a:latin typeface="Verdana" charset="0"/>
                <a:ea typeface="Verdana" charset="0"/>
                <a:cs typeface="Verdana" charset="0"/>
              </a:rPr>
              <a:t>Predinkubacija je proces koji </a:t>
            </a:r>
            <a:r>
              <a:rPr lang="hr-HR" sz="1000" b="1" dirty="0">
                <a:effectLst/>
                <a:latin typeface="Verdana" charset="0"/>
                <a:ea typeface="Verdana" charset="0"/>
                <a:cs typeface="Verdana" charset="0"/>
              </a:rPr>
              <a:t>razmatra poslovnu ideju ili projekt u ranim fazama nastanka.</a:t>
            </a:r>
            <a:r>
              <a:rPr lang="hr-HR" sz="1000" dirty="0">
                <a:effectLst/>
                <a:latin typeface="Verdana" charset="0"/>
                <a:ea typeface="Verdana" charset="0"/>
                <a:cs typeface="Verdana" charset="0"/>
              </a:rPr>
              <a:t> Danas prevladavaju tehnološke teme, ali nije isključivo. Obično su to startup tvrtke /poduzetnici početnici/ koji su započeli raditi sami ili s timom, ali nisu uključeni u realizaciju te ideje. </a:t>
            </a:r>
          </a:p>
          <a:p>
            <a:pPr algn="just">
              <a:spcAft>
                <a:spcPts val="0"/>
              </a:spcAft>
            </a:pPr>
            <a:endParaRPr lang="hr-HR" sz="1000" dirty="0">
              <a:latin typeface="Verdana" charset="0"/>
              <a:ea typeface="Verdana" charset="0"/>
              <a:cs typeface="Verdana" charset="0"/>
            </a:endParaRPr>
          </a:p>
          <a:p>
            <a:pPr algn="just">
              <a:spcAft>
                <a:spcPts val="0"/>
              </a:spcAft>
            </a:pPr>
            <a:r>
              <a:rPr lang="hr-HR" sz="1000" dirty="0">
                <a:effectLst/>
                <a:latin typeface="Verdana" charset="0"/>
                <a:ea typeface="Verdana" charset="0"/>
                <a:cs typeface="Verdana" charset="0"/>
              </a:rPr>
              <a:t>Poduzetnicima </a:t>
            </a:r>
            <a:r>
              <a:rPr lang="hr-HR" sz="1000" b="1" dirty="0">
                <a:effectLst/>
                <a:latin typeface="Verdana" charset="0"/>
                <a:ea typeface="Verdana" charset="0"/>
                <a:cs typeface="Verdana" charset="0"/>
              </a:rPr>
              <a:t>u procesu predinkubacije potrebna je posebna obuka, mentorstvo i konzultantske usluge kako bi shvatili jesu li njihove ideje održive, komercijalizbilne, skalabilne </a:t>
            </a:r>
            <a:r>
              <a:rPr lang="hr-HR" sz="1000" dirty="0">
                <a:effectLst/>
                <a:latin typeface="Verdana" charset="0"/>
                <a:ea typeface="Verdana" charset="0"/>
                <a:cs typeface="Verdana" charset="0"/>
              </a:rPr>
              <a:t>itd. Predinkubacijski centri pružaju ove mogućnosti poduzetnicima u ranoj fazi u prosjeku od šest mjeseci do godinu dana . Osim ovih, </a:t>
            </a:r>
            <a:r>
              <a:rPr lang="hr-HR" sz="1000" b="1" dirty="0">
                <a:effectLst/>
                <a:latin typeface="Verdana" charset="0"/>
                <a:ea typeface="Verdana" charset="0"/>
                <a:cs typeface="Verdana" charset="0"/>
              </a:rPr>
              <a:t>fizičke sadržaje potrebne poduzetnicima, kao što su otvoreni uredi i zajednički radni prostori, poduzetnicima osiguravaju predinkubacijski centri</a:t>
            </a:r>
            <a:r>
              <a:rPr lang="hr-HR" sz="1000" dirty="0">
                <a:effectLst/>
                <a:latin typeface="Verdana" charset="0"/>
                <a:ea typeface="Verdana" charset="0"/>
                <a:cs typeface="Verdana" charset="0"/>
              </a:rPr>
              <a:t>. </a:t>
            </a:r>
          </a:p>
          <a:p>
            <a:pPr algn="just">
              <a:spcAft>
                <a:spcPts val="0"/>
              </a:spcAft>
            </a:pPr>
            <a:endParaRPr lang="hr-HR" sz="1000" dirty="0">
              <a:latin typeface="Verdana" charset="0"/>
              <a:ea typeface="Verdana" charset="0"/>
              <a:cs typeface="Verdana" charset="0"/>
            </a:endParaRPr>
          </a:p>
          <a:p>
            <a:pPr algn="just">
              <a:spcAft>
                <a:spcPts val="0"/>
              </a:spcAft>
            </a:pPr>
            <a:r>
              <a:rPr lang="hr-HR" sz="1000" dirty="0">
                <a:effectLst/>
                <a:latin typeface="Verdana" charset="0"/>
                <a:ea typeface="Verdana" charset="0"/>
                <a:cs typeface="Verdana" charset="0"/>
              </a:rPr>
              <a:t>Trajanje ovih prilika koje se pružaju poduzetnicima također varira ovisno o sektoru u kojem će poduzetnici djelovati. Iako se očekuje da će startupovi usmjereni na softver </a:t>
            </a:r>
            <a:r>
              <a:rPr lang="hr-HR" sz="1000" b="1" dirty="0">
                <a:effectLst/>
                <a:latin typeface="Verdana" charset="0"/>
                <a:ea typeface="Verdana" charset="0"/>
                <a:cs typeface="Verdana" charset="0"/>
              </a:rPr>
              <a:t>završiti ovu fazu u prosjeku za šest mjese</a:t>
            </a:r>
            <a:r>
              <a:rPr lang="hr-HR" sz="1000" dirty="0">
                <a:effectLst/>
                <a:latin typeface="Verdana" charset="0"/>
                <a:ea typeface="Verdana" charset="0"/>
                <a:cs typeface="Verdana" charset="0"/>
              </a:rPr>
              <a:t>ci, ovo razdoblje može biti dulje za startupove koji rade u zdravstvenoj vertikali .</a:t>
            </a:r>
          </a:p>
          <a:p>
            <a:pPr algn="just">
              <a:spcAft>
                <a:spcPts val="0"/>
              </a:spcAft>
            </a:pPr>
            <a:endParaRPr lang="en-US" sz="1000" dirty="0">
              <a:effectLst/>
              <a:latin typeface="Verdana" charset="0"/>
              <a:ea typeface="Verdana" charset="0"/>
              <a:cs typeface="Verdana" charset="0"/>
            </a:endParaRPr>
          </a:p>
          <a:p>
            <a:pPr algn="just">
              <a:spcAft>
                <a:spcPts val="0"/>
              </a:spcAft>
            </a:pPr>
            <a:r>
              <a:rPr lang="hr-HR" sz="1000" dirty="0">
                <a:effectLst/>
                <a:latin typeface="Verdana" charset="0"/>
                <a:ea typeface="Verdana" charset="0"/>
                <a:cs typeface="Verdana" charset="0"/>
              </a:rPr>
              <a:t>S predlagateljima ideja </a:t>
            </a:r>
            <a:r>
              <a:rPr lang="hr-HR" sz="1000" b="1" dirty="0">
                <a:effectLst/>
                <a:latin typeface="Verdana" charset="0"/>
                <a:ea typeface="Verdana" charset="0"/>
                <a:cs typeface="Verdana" charset="0"/>
              </a:rPr>
              <a:t>razrađuje se poslovni plan</a:t>
            </a:r>
            <a:r>
              <a:rPr lang="hr-HR" sz="1000" dirty="0">
                <a:effectLst/>
                <a:latin typeface="Verdana" charset="0"/>
                <a:ea typeface="Verdana" charset="0"/>
                <a:cs typeface="Verdana" charset="0"/>
              </a:rPr>
              <a:t> iznoseći ideje uz podršku koju dobivaju u predinkubacijskim centrima. U ovoj fazi često se </a:t>
            </a:r>
            <a:r>
              <a:rPr lang="hr-HR" sz="1000" b="1" dirty="0">
                <a:effectLst/>
                <a:latin typeface="Verdana" charset="0"/>
                <a:ea typeface="Verdana" charset="0"/>
                <a:cs typeface="Verdana" charset="0"/>
              </a:rPr>
              <a:t>poslovna ideja mijenja, preoblikuje</a:t>
            </a:r>
            <a:r>
              <a:rPr lang="hr-HR" sz="1000" dirty="0">
                <a:effectLst/>
                <a:latin typeface="Verdana" charset="0"/>
                <a:ea typeface="Verdana" charset="0"/>
                <a:cs typeface="Verdana" charset="0"/>
              </a:rPr>
              <a:t> i često se završi na nečemu što u početku uopće nije bilo u fokusu. Na ove procese utječe i brzi razvoj tehnologije</a:t>
            </a:r>
            <a:r>
              <a:rPr lang="hr-HR" sz="1000" dirty="0">
                <a:latin typeface="Verdana" charset="0"/>
                <a:ea typeface="Verdana" charset="0"/>
                <a:cs typeface="Verdana" charset="0"/>
              </a:rPr>
              <a:t>. </a:t>
            </a:r>
            <a:r>
              <a:rPr lang="hr-HR" sz="1000" dirty="0">
                <a:effectLst/>
                <a:latin typeface="Verdana" charset="0"/>
                <a:ea typeface="Verdana" charset="0"/>
                <a:cs typeface="Verdana" charset="0"/>
              </a:rPr>
              <a:t>Predlagatelji mijenjaju svoju ideju koristeći znanje i iskustvo mentora i konzultanata. </a:t>
            </a:r>
          </a:p>
          <a:p>
            <a:pPr algn="just">
              <a:spcAft>
                <a:spcPts val="0"/>
              </a:spcAft>
            </a:pPr>
            <a:endParaRPr lang="hr-HR" sz="1000" dirty="0">
              <a:latin typeface="Verdana" charset="0"/>
              <a:ea typeface="Verdana" charset="0"/>
              <a:cs typeface="Verdana" charset="0"/>
            </a:endParaRPr>
          </a:p>
          <a:p>
            <a:r>
              <a:rPr lang="hr-HR" sz="1000" dirty="0">
                <a:effectLst/>
                <a:latin typeface="Verdana" charset="0"/>
                <a:ea typeface="Verdana" charset="0"/>
                <a:cs typeface="Verdana" charset="0"/>
              </a:rPr>
              <a:t>Fondovi rizičnog kapitala i poslovni anđeli rijetko ulažu u predinkubacijskoj fazi zbog vrlo velike rizičnosti, ali kad je ideja spremna za inkubaciju i ima kvalitetan poslovni plan, onda je od presudne važnosti spajanje s ulagačima ili fondovima rizičnog kapitala. </a:t>
            </a:r>
            <a:endParaRPr lang="hr-HR" sz="1000" dirty="0">
              <a:latin typeface="Verdana" charset="0"/>
              <a:ea typeface="Verdana" charset="0"/>
              <a:cs typeface="Verdana" charset="0"/>
            </a:endParaRPr>
          </a:p>
        </p:txBody>
      </p:sp>
      <p:sp>
        <p:nvSpPr>
          <p:cNvPr id="12" name="Title 6"/>
          <p:cNvSpPr txBox="1">
            <a:spLocks/>
          </p:cNvSpPr>
          <p:nvPr/>
        </p:nvSpPr>
        <p:spPr>
          <a:xfrm>
            <a:off x="305435" y="307821"/>
            <a:ext cx="11252200" cy="33410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hr-HR" sz="2000" dirty="0" err="1">
                <a:solidFill>
                  <a:schemeClr val="accent6">
                    <a:lumMod val="50000"/>
                  </a:schemeClr>
                </a:solidFill>
                <a:latin typeface="Verdana" charset="0"/>
                <a:ea typeface="Verdana" charset="0"/>
                <a:cs typeface="Verdana" charset="0"/>
              </a:rPr>
              <a:t>preIncubation</a:t>
            </a:r>
            <a:r>
              <a:rPr lang="hr-HR" sz="2000" dirty="0">
                <a:latin typeface="Verdana" charset="0"/>
                <a:ea typeface="Verdana" charset="0"/>
                <a:cs typeface="Verdana" charset="0"/>
              </a:rPr>
              <a:t> :: Predinkubacija vs Inkubacija</a:t>
            </a:r>
            <a:endParaRPr lang="en-US" sz="2000" dirty="0">
              <a:latin typeface="Verdana" charset="0"/>
              <a:ea typeface="Verdana" charset="0"/>
              <a:cs typeface="Verdana" charset="0"/>
            </a:endParaRPr>
          </a:p>
        </p:txBody>
      </p:sp>
      <p:cxnSp>
        <p:nvCxnSpPr>
          <p:cNvPr id="13" name="Straight Connector 12"/>
          <p:cNvCxnSpPr/>
          <p:nvPr/>
        </p:nvCxnSpPr>
        <p:spPr>
          <a:xfrm>
            <a:off x="228462" y="852616"/>
            <a:ext cx="11493638" cy="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Pentagon 15"/>
          <p:cNvSpPr/>
          <p:nvPr/>
        </p:nvSpPr>
        <p:spPr>
          <a:xfrm>
            <a:off x="239348" y="968829"/>
            <a:ext cx="489996" cy="838200"/>
          </a:xfrm>
          <a:prstGeom prst="homePlat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dirty="0"/>
          </a:p>
        </p:txBody>
      </p:sp>
      <p:cxnSp>
        <p:nvCxnSpPr>
          <p:cNvPr id="17" name="Straight Connector 16"/>
          <p:cNvCxnSpPr/>
          <p:nvPr/>
        </p:nvCxnSpPr>
        <p:spPr>
          <a:xfrm>
            <a:off x="228462" y="1935302"/>
            <a:ext cx="11493638" cy="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6062192" y="852616"/>
            <a:ext cx="5725221" cy="1338828"/>
          </a:xfrm>
          <a:prstGeom prst="rect">
            <a:avLst/>
          </a:prstGeom>
        </p:spPr>
        <p:txBody>
          <a:bodyPr wrap="square">
            <a:spAutoFit/>
          </a:bodyPr>
          <a:lstStyle/>
          <a:p>
            <a:pPr algn="just"/>
            <a:r>
              <a:rPr lang="hr-HR" sz="900" dirty="0">
                <a:latin typeface="Verdana" charset="0"/>
                <a:ea typeface="Verdana" charset="0"/>
                <a:cs typeface="Verdana" charset="0"/>
              </a:rPr>
              <a:t>Proces inkubacije u Varaždinu provodi Tehnološki </a:t>
            </a:r>
            <a:r>
              <a:rPr lang="hr-HR" sz="900" dirty="0">
                <a:effectLst/>
                <a:latin typeface="Verdana" charset="0"/>
                <a:ea typeface="Verdana" charset="0"/>
                <a:cs typeface="Verdana" charset="0"/>
              </a:rPr>
              <a:t>park Varaždin. Kako bi bilo dovoljno kandidata/startup tvrtki za inkubaciju potrebno je sustavno provoditi predinkubaciju, odnosno </a:t>
            </a:r>
            <a:r>
              <a:rPr lang="hr-HR" sz="900" b="1" dirty="0">
                <a:effectLst/>
                <a:latin typeface="Verdana" charset="0"/>
                <a:ea typeface="Verdana" charset="0"/>
                <a:cs typeface="Verdana" charset="0"/>
              </a:rPr>
              <a:t>rano prepoznavanje i razvoj tehnološki inovativne i komercijalno isplative poduzetničke ideje</a:t>
            </a:r>
            <a:r>
              <a:rPr lang="hr-HR" sz="900" dirty="0">
                <a:effectLst/>
                <a:latin typeface="Verdana" charset="0"/>
                <a:ea typeface="Verdana" charset="0"/>
                <a:cs typeface="Verdana" charset="0"/>
              </a:rPr>
              <a:t>.</a:t>
            </a:r>
            <a:r>
              <a:rPr lang="en-US" sz="900" dirty="0">
                <a:effectLst/>
                <a:latin typeface="Verdana" charset="0"/>
                <a:ea typeface="Verdana" charset="0"/>
                <a:cs typeface="Verdana" charset="0"/>
              </a:rPr>
              <a:t> </a:t>
            </a:r>
            <a:r>
              <a:rPr lang="hr-HR" sz="900" dirty="0"/>
              <a:t>Prepoznajući ovaj važan gospodarski i društveni doprinos, javne i privatne organizacije počele su rješavati probleme poduzetnika u različitim procesima te na više načina poduprijeti poduzetnike osnivanjem predinkubacijskih centara, inkubacijskih centara i programa akceleracije. Glavna značajka koja razlikuje predinkubacijske centre, inkubacijske centre i programe akceleracije je ta da su prikladni za poduzetnike u različitim fazama.</a:t>
            </a:r>
            <a:endParaRPr lang="en-US" sz="900" dirty="0"/>
          </a:p>
          <a:p>
            <a:endParaRPr lang="hr-HR" sz="900" dirty="0">
              <a:latin typeface="Verdana" charset="0"/>
              <a:ea typeface="Verdana" charset="0"/>
              <a:cs typeface="Verdana" charset="0"/>
            </a:endParaRPr>
          </a:p>
        </p:txBody>
      </p:sp>
      <p:sp>
        <p:nvSpPr>
          <p:cNvPr id="21" name="Pentagon 20"/>
          <p:cNvSpPr/>
          <p:nvPr/>
        </p:nvSpPr>
        <p:spPr>
          <a:xfrm>
            <a:off x="5584234" y="947057"/>
            <a:ext cx="489996" cy="838200"/>
          </a:xfrm>
          <a:prstGeom prst="homePlat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dirty="0"/>
          </a:p>
        </p:txBody>
      </p:sp>
      <p:sp>
        <p:nvSpPr>
          <p:cNvPr id="22" name="Rectangle 21"/>
          <p:cNvSpPr/>
          <p:nvPr/>
        </p:nvSpPr>
        <p:spPr>
          <a:xfrm>
            <a:off x="6446036" y="2025948"/>
            <a:ext cx="4957532" cy="4662815"/>
          </a:xfrm>
          <a:prstGeom prst="rect">
            <a:avLst/>
          </a:prstGeom>
          <a:ln>
            <a:solidFill>
              <a:schemeClr val="accent1">
                <a:shade val="50000"/>
              </a:schemeClr>
            </a:solidFill>
            <a:prstDash val="dash"/>
          </a:ln>
        </p:spPr>
        <p:txBody>
          <a:bodyPr wrap="square">
            <a:spAutoFit/>
          </a:bodyPr>
          <a:lstStyle/>
          <a:p>
            <a:pPr>
              <a:spcAft>
                <a:spcPts val="0"/>
              </a:spcAft>
            </a:pPr>
            <a:r>
              <a:rPr lang="hr-HR" sz="900" b="1" dirty="0">
                <a:effectLst/>
                <a:latin typeface="Verdana" charset="0"/>
                <a:ea typeface="Verdana" charset="0"/>
                <a:cs typeface="Verdana" charset="0"/>
              </a:rPr>
              <a:t>INKUBACIJA</a:t>
            </a:r>
            <a:endParaRPr lang="en-US" sz="900" dirty="0">
              <a:effectLst/>
              <a:latin typeface="Verdana" charset="0"/>
              <a:ea typeface="Verdana" charset="0"/>
              <a:cs typeface="Verdana" charset="0"/>
            </a:endParaRPr>
          </a:p>
          <a:p>
            <a:pPr algn="just">
              <a:spcAft>
                <a:spcPts val="0"/>
              </a:spcAft>
            </a:pPr>
            <a:r>
              <a:rPr lang="hr-HR" sz="900" dirty="0">
                <a:effectLst/>
                <a:latin typeface="Verdana" charset="0"/>
                <a:ea typeface="Verdana" charset="0"/>
                <a:cs typeface="Verdana" charset="0"/>
              </a:rPr>
              <a:t>	</a:t>
            </a: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a:p>
            <a:pPr algn="just">
              <a:spcAft>
                <a:spcPts val="0"/>
              </a:spcAft>
            </a:pPr>
            <a:endParaRPr lang="hr-HR" sz="900" dirty="0">
              <a:latin typeface="Verdana" charset="0"/>
              <a:ea typeface="Verdana" charset="0"/>
              <a:cs typeface="Verdana" charset="0"/>
            </a:endParaRPr>
          </a:p>
        </p:txBody>
      </p:sp>
      <p:grpSp>
        <p:nvGrpSpPr>
          <p:cNvPr id="23" name="Group 22"/>
          <p:cNvGrpSpPr/>
          <p:nvPr/>
        </p:nvGrpSpPr>
        <p:grpSpPr>
          <a:xfrm>
            <a:off x="6574972" y="2370209"/>
            <a:ext cx="4637314" cy="307677"/>
            <a:chOff x="393967" y="864628"/>
            <a:chExt cx="1471692" cy="948630"/>
          </a:xfrm>
        </p:grpSpPr>
        <p:sp>
          <p:nvSpPr>
            <p:cNvPr id="24" name="Rounded Rectangle 23"/>
            <p:cNvSpPr/>
            <p:nvPr/>
          </p:nvSpPr>
          <p:spPr>
            <a:xfrm>
              <a:off x="393967" y="864628"/>
              <a:ext cx="1471692"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5" name="Rounded Rectangle 10"/>
            <p:cNvSpPr/>
            <p:nvPr/>
          </p:nvSpPr>
          <p:spPr>
            <a:xfrm>
              <a:off x="421751" y="892412"/>
              <a:ext cx="1416124"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Razmatranje projekta u cjelini</a:t>
              </a:r>
              <a:r>
                <a:rPr lang="en-US" sz="1000" dirty="0">
                  <a:solidFill>
                    <a:schemeClr val="tx1"/>
                  </a:solidFill>
                </a:rPr>
                <a:t> i određivanje potrebnih resursa</a:t>
              </a:r>
              <a:endParaRPr lang="hr-HR" sz="1000" dirty="0">
                <a:solidFill>
                  <a:schemeClr val="tx1"/>
                </a:solidFill>
              </a:endParaRPr>
            </a:p>
          </p:txBody>
        </p:sp>
      </p:grpSp>
      <p:sp>
        <p:nvSpPr>
          <p:cNvPr id="26" name="Rounded Rectangle 10"/>
          <p:cNvSpPr/>
          <p:nvPr/>
        </p:nvSpPr>
        <p:spPr>
          <a:xfrm>
            <a:off x="6663231" y="3019297"/>
            <a:ext cx="2210371" cy="289654"/>
          </a:xfrm>
          <a:prstGeom prst="rect">
            <a:avLst/>
          </a:prstGeom>
          <a:solidFill>
            <a:schemeClr val="bg2"/>
          </a:solidFill>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Razvoj tvrtke</a:t>
            </a:r>
          </a:p>
        </p:txBody>
      </p:sp>
      <p:sp>
        <p:nvSpPr>
          <p:cNvPr id="27" name="Rounded Rectangle 10"/>
          <p:cNvSpPr/>
          <p:nvPr/>
        </p:nvSpPr>
        <p:spPr>
          <a:xfrm>
            <a:off x="8985201" y="3019297"/>
            <a:ext cx="2210371" cy="289654"/>
          </a:xfrm>
          <a:prstGeom prst="rect">
            <a:avLst/>
          </a:prstGeom>
          <a:solidFill>
            <a:schemeClr val="bg2"/>
          </a:solidFill>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Razvoj proizvoda</a:t>
            </a:r>
          </a:p>
        </p:txBody>
      </p:sp>
      <p:sp>
        <p:nvSpPr>
          <p:cNvPr id="28" name="Rounded Rectangle 10"/>
          <p:cNvSpPr/>
          <p:nvPr/>
        </p:nvSpPr>
        <p:spPr>
          <a:xfrm>
            <a:off x="6663231" y="4476136"/>
            <a:ext cx="2210371" cy="289654"/>
          </a:xfrm>
          <a:prstGeom prst="rect">
            <a:avLst/>
          </a:prstGeom>
          <a:solidFill>
            <a:schemeClr val="bg2"/>
          </a:solidFill>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HR</a:t>
            </a:r>
          </a:p>
        </p:txBody>
      </p:sp>
      <p:sp>
        <p:nvSpPr>
          <p:cNvPr id="29" name="Rounded Rectangle 10"/>
          <p:cNvSpPr/>
          <p:nvPr/>
        </p:nvSpPr>
        <p:spPr>
          <a:xfrm>
            <a:off x="6663231" y="3992913"/>
            <a:ext cx="2210371" cy="289654"/>
          </a:xfrm>
          <a:prstGeom prst="rect">
            <a:avLst/>
          </a:prstGeom>
          <a:solidFill>
            <a:schemeClr val="bg2"/>
          </a:solidFill>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Održivo financiranje poslovanja</a:t>
            </a:r>
          </a:p>
        </p:txBody>
      </p:sp>
      <p:sp>
        <p:nvSpPr>
          <p:cNvPr id="30" name="Rounded Rectangle 10"/>
          <p:cNvSpPr/>
          <p:nvPr/>
        </p:nvSpPr>
        <p:spPr>
          <a:xfrm>
            <a:off x="6663231" y="4959359"/>
            <a:ext cx="2210371" cy="289654"/>
          </a:xfrm>
          <a:prstGeom prst="rect">
            <a:avLst/>
          </a:prstGeom>
          <a:solidFill>
            <a:schemeClr val="bg2"/>
          </a:solidFill>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Porezi, financije, računovodstvo</a:t>
            </a:r>
          </a:p>
        </p:txBody>
      </p:sp>
      <p:sp>
        <p:nvSpPr>
          <p:cNvPr id="31" name="Rounded Rectangle 10"/>
          <p:cNvSpPr/>
          <p:nvPr/>
        </p:nvSpPr>
        <p:spPr>
          <a:xfrm>
            <a:off x="6663231" y="3509690"/>
            <a:ext cx="2210371" cy="289654"/>
          </a:xfrm>
          <a:prstGeom prst="rect">
            <a:avLst/>
          </a:prstGeom>
          <a:solidFill>
            <a:schemeClr val="bg2"/>
          </a:solidFill>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Poslovna infrastruktura</a:t>
            </a:r>
          </a:p>
        </p:txBody>
      </p:sp>
      <p:sp>
        <p:nvSpPr>
          <p:cNvPr id="32" name="Rounded Rectangle 10"/>
          <p:cNvSpPr/>
          <p:nvPr/>
        </p:nvSpPr>
        <p:spPr>
          <a:xfrm>
            <a:off x="6663231" y="5442584"/>
            <a:ext cx="2210371" cy="289654"/>
          </a:xfrm>
          <a:prstGeom prst="rect">
            <a:avLst/>
          </a:prstGeom>
          <a:solidFill>
            <a:schemeClr val="bg2"/>
          </a:solidFill>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Marketing</a:t>
            </a:r>
          </a:p>
        </p:txBody>
      </p:sp>
      <p:sp>
        <p:nvSpPr>
          <p:cNvPr id="33" name="Rounded Rectangle 10"/>
          <p:cNvSpPr/>
          <p:nvPr/>
        </p:nvSpPr>
        <p:spPr>
          <a:xfrm>
            <a:off x="8985201" y="3509690"/>
            <a:ext cx="2210371" cy="289654"/>
          </a:xfrm>
          <a:prstGeom prst="rect">
            <a:avLst/>
          </a:prstGeom>
          <a:solidFill>
            <a:schemeClr val="bg2"/>
          </a:solidFill>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Potrebna oprema, laboratoriji</a:t>
            </a:r>
          </a:p>
        </p:txBody>
      </p:sp>
      <p:sp>
        <p:nvSpPr>
          <p:cNvPr id="34" name="Rounded Rectangle 10"/>
          <p:cNvSpPr/>
          <p:nvPr/>
        </p:nvSpPr>
        <p:spPr>
          <a:xfrm>
            <a:off x="8985201" y="3992913"/>
            <a:ext cx="2210371" cy="289654"/>
          </a:xfrm>
          <a:prstGeom prst="rect">
            <a:avLst/>
          </a:prstGeom>
          <a:solidFill>
            <a:schemeClr val="bg2"/>
          </a:solidFill>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IP, licence</a:t>
            </a:r>
          </a:p>
        </p:txBody>
      </p:sp>
      <p:sp>
        <p:nvSpPr>
          <p:cNvPr id="35" name="Rounded Rectangle 10"/>
          <p:cNvSpPr/>
          <p:nvPr/>
        </p:nvSpPr>
        <p:spPr>
          <a:xfrm>
            <a:off x="8985201" y="4476136"/>
            <a:ext cx="2210371" cy="289654"/>
          </a:xfrm>
          <a:prstGeom prst="rect">
            <a:avLst/>
          </a:prstGeom>
          <a:solidFill>
            <a:schemeClr val="bg2"/>
          </a:solidFill>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Stručno mentorstvo</a:t>
            </a:r>
          </a:p>
        </p:txBody>
      </p:sp>
      <p:sp>
        <p:nvSpPr>
          <p:cNvPr id="36" name="Rounded Rectangle 10"/>
          <p:cNvSpPr/>
          <p:nvPr/>
        </p:nvSpPr>
        <p:spPr>
          <a:xfrm>
            <a:off x="8985201" y="4959359"/>
            <a:ext cx="2210371" cy="289654"/>
          </a:xfrm>
          <a:prstGeom prst="rect">
            <a:avLst/>
          </a:prstGeom>
          <a:solidFill>
            <a:schemeClr val="bg2"/>
          </a:solidFill>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R&amp;D&amp;I financiranje</a:t>
            </a:r>
          </a:p>
        </p:txBody>
      </p:sp>
      <p:sp>
        <p:nvSpPr>
          <p:cNvPr id="37" name="Rounded Rectangle 10"/>
          <p:cNvSpPr/>
          <p:nvPr/>
        </p:nvSpPr>
        <p:spPr>
          <a:xfrm>
            <a:off x="8985201" y="5442584"/>
            <a:ext cx="2210371" cy="289654"/>
          </a:xfrm>
          <a:prstGeom prst="rect">
            <a:avLst/>
          </a:prstGeom>
          <a:solidFill>
            <a:schemeClr val="bg2"/>
          </a:solidFill>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Industrijski design</a:t>
            </a:r>
          </a:p>
        </p:txBody>
      </p:sp>
      <p:grpSp>
        <p:nvGrpSpPr>
          <p:cNvPr id="38" name="Group 37"/>
          <p:cNvGrpSpPr/>
          <p:nvPr/>
        </p:nvGrpSpPr>
        <p:grpSpPr>
          <a:xfrm>
            <a:off x="6655921" y="6221802"/>
            <a:ext cx="4471939" cy="307677"/>
            <a:chOff x="393967" y="864628"/>
            <a:chExt cx="1471692" cy="948630"/>
          </a:xfrm>
        </p:grpSpPr>
        <p:sp>
          <p:nvSpPr>
            <p:cNvPr id="39" name="Rounded Rectangle 38"/>
            <p:cNvSpPr/>
            <p:nvPr/>
          </p:nvSpPr>
          <p:spPr>
            <a:xfrm>
              <a:off x="393967" y="864628"/>
              <a:ext cx="1471692"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40" name="Rounded Rectangle 10"/>
            <p:cNvSpPr/>
            <p:nvPr/>
          </p:nvSpPr>
          <p:spPr>
            <a:xfrm>
              <a:off x="421751" y="892412"/>
              <a:ext cx="1416124"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Tvrtka i njezin proizvod spremni na samostalno poslovanje</a:t>
              </a:r>
            </a:p>
          </p:txBody>
        </p:sp>
      </p:grpSp>
      <p:sp>
        <p:nvSpPr>
          <p:cNvPr id="41" name="Pentagon 40"/>
          <p:cNvSpPr/>
          <p:nvPr/>
        </p:nvSpPr>
        <p:spPr>
          <a:xfrm rot="5400000">
            <a:off x="7678858" y="2544398"/>
            <a:ext cx="179115" cy="634436"/>
          </a:xfrm>
          <a:prstGeom prst="homePlat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dirty="0"/>
          </a:p>
        </p:txBody>
      </p:sp>
      <p:sp>
        <p:nvSpPr>
          <p:cNvPr id="42" name="Pentagon 41"/>
          <p:cNvSpPr/>
          <p:nvPr/>
        </p:nvSpPr>
        <p:spPr>
          <a:xfrm rot="5400000">
            <a:off x="10000828" y="2544398"/>
            <a:ext cx="179115" cy="634436"/>
          </a:xfrm>
          <a:prstGeom prst="homePlat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dirty="0"/>
          </a:p>
        </p:txBody>
      </p:sp>
      <p:sp>
        <p:nvSpPr>
          <p:cNvPr id="43" name="Pentagon 42"/>
          <p:cNvSpPr/>
          <p:nvPr/>
        </p:nvSpPr>
        <p:spPr>
          <a:xfrm rot="5400000">
            <a:off x="7705760" y="5663597"/>
            <a:ext cx="179115" cy="634436"/>
          </a:xfrm>
          <a:prstGeom prst="homePlat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dirty="0"/>
          </a:p>
        </p:txBody>
      </p:sp>
      <p:sp>
        <p:nvSpPr>
          <p:cNvPr id="44" name="Pentagon 43"/>
          <p:cNvSpPr/>
          <p:nvPr/>
        </p:nvSpPr>
        <p:spPr>
          <a:xfrm rot="5400000">
            <a:off x="10027730" y="5663597"/>
            <a:ext cx="179115" cy="634436"/>
          </a:xfrm>
          <a:prstGeom prst="homePlat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dirty="0"/>
          </a:p>
        </p:txBody>
      </p:sp>
      <p:grpSp>
        <p:nvGrpSpPr>
          <p:cNvPr id="3" name="Group 2">
            <a:extLst>
              <a:ext uri="{FF2B5EF4-FFF2-40B4-BE49-F238E27FC236}">
                <a16:creationId xmlns:a16="http://schemas.microsoft.com/office/drawing/2014/main" id="{F568174A-00F2-7020-5295-74F6EBEE6C37}"/>
              </a:ext>
            </a:extLst>
          </p:cNvPr>
          <p:cNvGrpSpPr/>
          <p:nvPr/>
        </p:nvGrpSpPr>
        <p:grpSpPr>
          <a:xfrm>
            <a:off x="5323780" y="5379836"/>
            <a:ext cx="1308265" cy="1198747"/>
            <a:chOff x="5095981" y="1642534"/>
            <a:chExt cx="3732333" cy="3714750"/>
          </a:xfrm>
        </p:grpSpPr>
        <p:sp>
          <p:nvSpPr>
            <p:cNvPr id="5" name="Freeform 21">
              <a:extLst>
                <a:ext uri="{FF2B5EF4-FFF2-40B4-BE49-F238E27FC236}">
                  <a16:creationId xmlns:a16="http://schemas.microsoft.com/office/drawing/2014/main" id="{6ECC4599-614E-AAE5-4AC3-6383D966A1DD}"/>
                </a:ext>
              </a:extLst>
            </p:cNvPr>
            <p:cNvSpPr>
              <a:spLocks noEditPoints="1"/>
            </p:cNvSpPr>
            <p:nvPr/>
          </p:nvSpPr>
          <p:spPr bwMode="auto">
            <a:xfrm>
              <a:off x="5224162" y="2565250"/>
              <a:ext cx="596608" cy="596608"/>
            </a:xfrm>
            <a:custGeom>
              <a:avLst/>
              <a:gdLst>
                <a:gd name="T0" fmla="*/ 175 w 349"/>
                <a:gd name="T1" fmla="*/ 0 h 349"/>
                <a:gd name="T2" fmla="*/ 0 w 349"/>
                <a:gd name="T3" fmla="*/ 174 h 349"/>
                <a:gd name="T4" fmla="*/ 175 w 349"/>
                <a:gd name="T5" fmla="*/ 349 h 349"/>
                <a:gd name="T6" fmla="*/ 349 w 349"/>
                <a:gd name="T7" fmla="*/ 174 h 349"/>
                <a:gd name="T8" fmla="*/ 175 w 349"/>
                <a:gd name="T9" fmla="*/ 0 h 349"/>
                <a:gd name="T10" fmla="*/ 178 w 349"/>
                <a:gd name="T11" fmla="*/ 289 h 349"/>
                <a:gd name="T12" fmla="*/ 178 w 349"/>
                <a:gd name="T13" fmla="*/ 289 h 349"/>
                <a:gd name="T14" fmla="*/ 178 w 349"/>
                <a:gd name="T15" fmla="*/ 289 h 349"/>
                <a:gd name="T16" fmla="*/ 178 w 349"/>
                <a:gd name="T17" fmla="*/ 289 h 349"/>
                <a:gd name="T18" fmla="*/ 178 w 349"/>
                <a:gd name="T19" fmla="*/ 289 h 349"/>
                <a:gd name="T20" fmla="*/ 72 w 349"/>
                <a:gd name="T21" fmla="*/ 165 h 349"/>
                <a:gd name="T22" fmla="*/ 173 w 349"/>
                <a:gd name="T23" fmla="*/ 151 h 349"/>
                <a:gd name="T24" fmla="*/ 176 w 349"/>
                <a:gd name="T25" fmla="*/ 161 h 349"/>
                <a:gd name="T26" fmla="*/ 178 w 349"/>
                <a:gd name="T27" fmla="*/ 151 h 349"/>
                <a:gd name="T28" fmla="*/ 280 w 349"/>
                <a:gd name="T29" fmla="*/ 162 h 349"/>
                <a:gd name="T30" fmla="*/ 178 w 349"/>
                <a:gd name="T31" fmla="*/ 289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9" h="349">
                  <a:moveTo>
                    <a:pt x="175" y="0"/>
                  </a:moveTo>
                  <a:cubicBezTo>
                    <a:pt x="78" y="0"/>
                    <a:pt x="0" y="78"/>
                    <a:pt x="0" y="174"/>
                  </a:cubicBezTo>
                  <a:cubicBezTo>
                    <a:pt x="0" y="271"/>
                    <a:pt x="78" y="349"/>
                    <a:pt x="175" y="349"/>
                  </a:cubicBezTo>
                  <a:cubicBezTo>
                    <a:pt x="271" y="349"/>
                    <a:pt x="349" y="271"/>
                    <a:pt x="349" y="174"/>
                  </a:cubicBezTo>
                  <a:cubicBezTo>
                    <a:pt x="349" y="78"/>
                    <a:pt x="271" y="0"/>
                    <a:pt x="175" y="0"/>
                  </a:cubicBezTo>
                  <a:close/>
                  <a:moveTo>
                    <a:pt x="178" y="289"/>
                  </a:moveTo>
                  <a:cubicBezTo>
                    <a:pt x="178" y="289"/>
                    <a:pt x="178" y="289"/>
                    <a:pt x="178" y="289"/>
                  </a:cubicBezTo>
                  <a:cubicBezTo>
                    <a:pt x="178" y="289"/>
                    <a:pt x="178" y="289"/>
                    <a:pt x="178" y="289"/>
                  </a:cubicBezTo>
                  <a:cubicBezTo>
                    <a:pt x="178" y="289"/>
                    <a:pt x="178" y="289"/>
                    <a:pt x="178" y="289"/>
                  </a:cubicBezTo>
                  <a:cubicBezTo>
                    <a:pt x="178" y="289"/>
                    <a:pt x="178" y="289"/>
                    <a:pt x="178" y="289"/>
                  </a:cubicBezTo>
                  <a:cubicBezTo>
                    <a:pt x="142" y="257"/>
                    <a:pt x="73" y="220"/>
                    <a:pt x="72" y="165"/>
                  </a:cubicBezTo>
                  <a:cubicBezTo>
                    <a:pt x="72" y="96"/>
                    <a:pt x="157" y="86"/>
                    <a:pt x="173" y="151"/>
                  </a:cubicBezTo>
                  <a:cubicBezTo>
                    <a:pt x="176" y="161"/>
                    <a:pt x="176" y="161"/>
                    <a:pt x="176" y="161"/>
                  </a:cubicBezTo>
                  <a:cubicBezTo>
                    <a:pt x="178" y="151"/>
                    <a:pt x="178" y="151"/>
                    <a:pt x="178" y="151"/>
                  </a:cubicBezTo>
                  <a:cubicBezTo>
                    <a:pt x="193" y="86"/>
                    <a:pt x="279" y="93"/>
                    <a:pt x="280" y="162"/>
                  </a:cubicBezTo>
                  <a:cubicBezTo>
                    <a:pt x="280" y="218"/>
                    <a:pt x="212" y="256"/>
                    <a:pt x="178" y="289"/>
                  </a:cubicBezTo>
                  <a:close/>
                </a:path>
              </a:pathLst>
            </a:cu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6" name="Freeform 22">
              <a:extLst>
                <a:ext uri="{FF2B5EF4-FFF2-40B4-BE49-F238E27FC236}">
                  <a16:creationId xmlns:a16="http://schemas.microsoft.com/office/drawing/2014/main" id="{B42F0676-C1F3-686F-BC7A-536EC3558FF1}"/>
                </a:ext>
              </a:extLst>
            </p:cNvPr>
            <p:cNvSpPr>
              <a:spLocks noEditPoints="1"/>
            </p:cNvSpPr>
            <p:nvPr/>
          </p:nvSpPr>
          <p:spPr bwMode="auto">
            <a:xfrm>
              <a:off x="5574774" y="1958273"/>
              <a:ext cx="601321" cy="601321"/>
            </a:xfrm>
            <a:custGeom>
              <a:avLst/>
              <a:gdLst>
                <a:gd name="T0" fmla="*/ 176 w 352"/>
                <a:gd name="T1" fmla="*/ 0 h 352"/>
                <a:gd name="T2" fmla="*/ 0 w 352"/>
                <a:gd name="T3" fmla="*/ 176 h 352"/>
                <a:gd name="T4" fmla="*/ 176 w 352"/>
                <a:gd name="T5" fmla="*/ 352 h 352"/>
                <a:gd name="T6" fmla="*/ 352 w 352"/>
                <a:gd name="T7" fmla="*/ 176 h 352"/>
                <a:gd name="T8" fmla="*/ 176 w 352"/>
                <a:gd name="T9" fmla="*/ 0 h 352"/>
                <a:gd name="T10" fmla="*/ 89 w 352"/>
                <a:gd name="T11" fmla="*/ 90 h 352"/>
                <a:gd name="T12" fmla="*/ 263 w 352"/>
                <a:gd name="T13" fmla="*/ 90 h 352"/>
                <a:gd name="T14" fmla="*/ 276 w 352"/>
                <a:gd name="T15" fmla="*/ 93 h 352"/>
                <a:gd name="T16" fmla="*/ 176 w 352"/>
                <a:gd name="T17" fmla="*/ 182 h 352"/>
                <a:gd name="T18" fmla="*/ 75 w 352"/>
                <a:gd name="T19" fmla="*/ 93 h 352"/>
                <a:gd name="T20" fmla="*/ 89 w 352"/>
                <a:gd name="T21" fmla="*/ 90 h 352"/>
                <a:gd name="T22" fmla="*/ 60 w 352"/>
                <a:gd name="T23" fmla="*/ 235 h 352"/>
                <a:gd name="T24" fmla="*/ 60 w 352"/>
                <a:gd name="T25" fmla="*/ 119 h 352"/>
                <a:gd name="T26" fmla="*/ 65 w 352"/>
                <a:gd name="T27" fmla="*/ 103 h 352"/>
                <a:gd name="T28" fmla="*/ 137 w 352"/>
                <a:gd name="T29" fmla="*/ 167 h 352"/>
                <a:gd name="T30" fmla="*/ 64 w 352"/>
                <a:gd name="T31" fmla="*/ 248 h 352"/>
                <a:gd name="T32" fmla="*/ 60 w 352"/>
                <a:gd name="T33" fmla="*/ 235 h 352"/>
                <a:gd name="T34" fmla="*/ 263 w 352"/>
                <a:gd name="T35" fmla="*/ 263 h 352"/>
                <a:gd name="T36" fmla="*/ 89 w 352"/>
                <a:gd name="T37" fmla="*/ 263 h 352"/>
                <a:gd name="T38" fmla="*/ 74 w 352"/>
                <a:gd name="T39" fmla="*/ 259 h 352"/>
                <a:gd name="T40" fmla="*/ 148 w 352"/>
                <a:gd name="T41" fmla="*/ 176 h 352"/>
                <a:gd name="T42" fmla="*/ 171 w 352"/>
                <a:gd name="T43" fmla="*/ 197 h 352"/>
                <a:gd name="T44" fmla="*/ 176 w 352"/>
                <a:gd name="T45" fmla="*/ 198 h 352"/>
                <a:gd name="T46" fmla="*/ 181 w 352"/>
                <a:gd name="T47" fmla="*/ 197 h 352"/>
                <a:gd name="T48" fmla="*/ 204 w 352"/>
                <a:gd name="T49" fmla="*/ 176 h 352"/>
                <a:gd name="T50" fmla="*/ 278 w 352"/>
                <a:gd name="T51" fmla="*/ 259 h 352"/>
                <a:gd name="T52" fmla="*/ 263 w 352"/>
                <a:gd name="T53" fmla="*/ 263 h 352"/>
                <a:gd name="T54" fmla="*/ 286 w 352"/>
                <a:gd name="T55" fmla="*/ 233 h 352"/>
                <a:gd name="T56" fmla="*/ 283 w 352"/>
                <a:gd name="T57" fmla="*/ 247 h 352"/>
                <a:gd name="T58" fmla="*/ 211 w 352"/>
                <a:gd name="T59" fmla="*/ 167 h 352"/>
                <a:gd name="T60" fmla="*/ 282 w 352"/>
                <a:gd name="T61" fmla="*/ 105 h 352"/>
                <a:gd name="T62" fmla="*/ 286 w 352"/>
                <a:gd name="T63" fmla="*/ 120 h 352"/>
                <a:gd name="T64" fmla="*/ 286 w 352"/>
                <a:gd name="T65" fmla="*/ 233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2" h="352">
                  <a:moveTo>
                    <a:pt x="176" y="0"/>
                  </a:moveTo>
                  <a:cubicBezTo>
                    <a:pt x="79" y="0"/>
                    <a:pt x="0" y="79"/>
                    <a:pt x="0" y="176"/>
                  </a:cubicBezTo>
                  <a:cubicBezTo>
                    <a:pt x="0" y="273"/>
                    <a:pt x="79" y="352"/>
                    <a:pt x="176" y="352"/>
                  </a:cubicBezTo>
                  <a:cubicBezTo>
                    <a:pt x="273" y="352"/>
                    <a:pt x="352" y="273"/>
                    <a:pt x="352" y="176"/>
                  </a:cubicBezTo>
                  <a:cubicBezTo>
                    <a:pt x="352" y="79"/>
                    <a:pt x="273" y="0"/>
                    <a:pt x="176" y="0"/>
                  </a:cubicBezTo>
                  <a:close/>
                  <a:moveTo>
                    <a:pt x="89" y="90"/>
                  </a:moveTo>
                  <a:cubicBezTo>
                    <a:pt x="263" y="90"/>
                    <a:pt x="263" y="90"/>
                    <a:pt x="263" y="90"/>
                  </a:cubicBezTo>
                  <a:cubicBezTo>
                    <a:pt x="268" y="90"/>
                    <a:pt x="272" y="91"/>
                    <a:pt x="276" y="93"/>
                  </a:cubicBezTo>
                  <a:cubicBezTo>
                    <a:pt x="176" y="182"/>
                    <a:pt x="176" y="182"/>
                    <a:pt x="176" y="182"/>
                  </a:cubicBezTo>
                  <a:cubicBezTo>
                    <a:pt x="75" y="93"/>
                    <a:pt x="75" y="93"/>
                    <a:pt x="75" y="93"/>
                  </a:cubicBezTo>
                  <a:cubicBezTo>
                    <a:pt x="79" y="91"/>
                    <a:pt x="84" y="90"/>
                    <a:pt x="89" y="90"/>
                  </a:cubicBezTo>
                  <a:close/>
                  <a:moveTo>
                    <a:pt x="60" y="235"/>
                  </a:moveTo>
                  <a:cubicBezTo>
                    <a:pt x="60" y="119"/>
                    <a:pt x="60" y="119"/>
                    <a:pt x="60" y="119"/>
                  </a:cubicBezTo>
                  <a:cubicBezTo>
                    <a:pt x="60" y="113"/>
                    <a:pt x="62" y="108"/>
                    <a:pt x="65" y="103"/>
                  </a:cubicBezTo>
                  <a:cubicBezTo>
                    <a:pt x="137" y="167"/>
                    <a:pt x="137" y="167"/>
                    <a:pt x="137" y="167"/>
                  </a:cubicBezTo>
                  <a:cubicBezTo>
                    <a:pt x="64" y="248"/>
                    <a:pt x="64" y="248"/>
                    <a:pt x="64" y="248"/>
                  </a:cubicBezTo>
                  <a:cubicBezTo>
                    <a:pt x="62" y="244"/>
                    <a:pt x="60" y="240"/>
                    <a:pt x="60" y="235"/>
                  </a:cubicBezTo>
                  <a:close/>
                  <a:moveTo>
                    <a:pt x="263" y="263"/>
                  </a:moveTo>
                  <a:cubicBezTo>
                    <a:pt x="89" y="263"/>
                    <a:pt x="89" y="263"/>
                    <a:pt x="89" y="263"/>
                  </a:cubicBezTo>
                  <a:cubicBezTo>
                    <a:pt x="83" y="263"/>
                    <a:pt x="78" y="262"/>
                    <a:pt x="74" y="259"/>
                  </a:cubicBezTo>
                  <a:cubicBezTo>
                    <a:pt x="148" y="176"/>
                    <a:pt x="148" y="176"/>
                    <a:pt x="148" y="176"/>
                  </a:cubicBezTo>
                  <a:cubicBezTo>
                    <a:pt x="171" y="197"/>
                    <a:pt x="171" y="197"/>
                    <a:pt x="171" y="197"/>
                  </a:cubicBezTo>
                  <a:cubicBezTo>
                    <a:pt x="172" y="198"/>
                    <a:pt x="174" y="198"/>
                    <a:pt x="176" y="198"/>
                  </a:cubicBezTo>
                  <a:cubicBezTo>
                    <a:pt x="178" y="198"/>
                    <a:pt x="179" y="198"/>
                    <a:pt x="181" y="197"/>
                  </a:cubicBezTo>
                  <a:cubicBezTo>
                    <a:pt x="204" y="176"/>
                    <a:pt x="204" y="176"/>
                    <a:pt x="204" y="176"/>
                  </a:cubicBezTo>
                  <a:cubicBezTo>
                    <a:pt x="278" y="259"/>
                    <a:pt x="278" y="259"/>
                    <a:pt x="278" y="259"/>
                  </a:cubicBezTo>
                  <a:cubicBezTo>
                    <a:pt x="274" y="262"/>
                    <a:pt x="268" y="263"/>
                    <a:pt x="263" y="263"/>
                  </a:cubicBezTo>
                  <a:close/>
                  <a:moveTo>
                    <a:pt x="286" y="233"/>
                  </a:moveTo>
                  <a:cubicBezTo>
                    <a:pt x="286" y="238"/>
                    <a:pt x="285" y="243"/>
                    <a:pt x="283" y="247"/>
                  </a:cubicBezTo>
                  <a:cubicBezTo>
                    <a:pt x="211" y="167"/>
                    <a:pt x="211" y="167"/>
                    <a:pt x="211" y="167"/>
                  </a:cubicBezTo>
                  <a:cubicBezTo>
                    <a:pt x="282" y="105"/>
                    <a:pt x="282" y="105"/>
                    <a:pt x="282" y="105"/>
                  </a:cubicBezTo>
                  <a:cubicBezTo>
                    <a:pt x="285" y="109"/>
                    <a:pt x="286" y="115"/>
                    <a:pt x="286" y="120"/>
                  </a:cubicBezTo>
                  <a:lnTo>
                    <a:pt x="286" y="233"/>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nvGrpSpPr>
            <p:cNvPr id="8" name="Group 7">
              <a:extLst>
                <a:ext uri="{FF2B5EF4-FFF2-40B4-BE49-F238E27FC236}">
                  <a16:creationId xmlns:a16="http://schemas.microsoft.com/office/drawing/2014/main" id="{AD3B3902-459E-E225-0A3B-82EB0F53CA52}"/>
                </a:ext>
              </a:extLst>
            </p:cNvPr>
            <p:cNvGrpSpPr/>
            <p:nvPr/>
          </p:nvGrpSpPr>
          <p:grpSpPr>
            <a:xfrm>
              <a:off x="5823597" y="3168455"/>
              <a:ext cx="489162" cy="490105"/>
              <a:chOff x="4427538" y="3192463"/>
              <a:chExt cx="823913" cy="825500"/>
            </a:xfrm>
            <a:solidFill>
              <a:srgbClr val="F8B323"/>
            </a:solidFill>
          </p:grpSpPr>
          <p:sp>
            <p:nvSpPr>
              <p:cNvPr id="174" name="Oval 23">
                <a:extLst>
                  <a:ext uri="{FF2B5EF4-FFF2-40B4-BE49-F238E27FC236}">
                    <a16:creationId xmlns:a16="http://schemas.microsoft.com/office/drawing/2014/main" id="{B6998E1F-73A5-7964-9A20-6FE110D642F3}"/>
                  </a:ext>
                </a:extLst>
              </p:cNvPr>
              <p:cNvSpPr>
                <a:spLocks noChangeArrowheads="1"/>
              </p:cNvSpPr>
              <p:nvPr/>
            </p:nvSpPr>
            <p:spPr bwMode="auto">
              <a:xfrm>
                <a:off x="4813301" y="3825875"/>
                <a:ext cx="57150" cy="571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75" name="Rectangle 24">
                <a:extLst>
                  <a:ext uri="{FF2B5EF4-FFF2-40B4-BE49-F238E27FC236}">
                    <a16:creationId xmlns:a16="http://schemas.microsoft.com/office/drawing/2014/main" id="{7EC446AE-4ABB-E872-9DDA-96DBD9943328}"/>
                  </a:ext>
                </a:extLst>
              </p:cNvPr>
              <p:cNvSpPr>
                <a:spLocks noChangeArrowheads="1"/>
              </p:cNvSpPr>
              <p:nvPr/>
            </p:nvSpPr>
            <p:spPr bwMode="auto">
              <a:xfrm>
                <a:off x="4784726" y="3352800"/>
                <a:ext cx="115888" cy="158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76" name="Freeform 25">
                <a:extLst>
                  <a:ext uri="{FF2B5EF4-FFF2-40B4-BE49-F238E27FC236}">
                    <a16:creationId xmlns:a16="http://schemas.microsoft.com/office/drawing/2014/main" id="{1DEF4B91-0C1D-9779-431E-B99F4B604D39}"/>
                  </a:ext>
                </a:extLst>
              </p:cNvPr>
              <p:cNvSpPr>
                <a:spLocks noEditPoints="1"/>
              </p:cNvSpPr>
              <p:nvPr/>
            </p:nvSpPr>
            <p:spPr bwMode="auto">
              <a:xfrm>
                <a:off x="4427538" y="3192463"/>
                <a:ext cx="823913" cy="825500"/>
              </a:xfrm>
              <a:custGeom>
                <a:avLst/>
                <a:gdLst>
                  <a:gd name="T0" fmla="*/ 143 w 286"/>
                  <a:gd name="T1" fmla="*/ 0 h 287"/>
                  <a:gd name="T2" fmla="*/ 0 w 286"/>
                  <a:gd name="T3" fmla="*/ 143 h 287"/>
                  <a:gd name="T4" fmla="*/ 143 w 286"/>
                  <a:gd name="T5" fmla="*/ 287 h 287"/>
                  <a:gd name="T6" fmla="*/ 286 w 286"/>
                  <a:gd name="T7" fmla="*/ 143 h 287"/>
                  <a:gd name="T8" fmla="*/ 143 w 286"/>
                  <a:gd name="T9" fmla="*/ 0 h 287"/>
                  <a:gd name="T10" fmla="*/ 201 w 286"/>
                  <a:gd name="T11" fmla="*/ 234 h 287"/>
                  <a:gd name="T12" fmla="*/ 187 w 286"/>
                  <a:gd name="T13" fmla="*/ 248 h 287"/>
                  <a:gd name="T14" fmla="*/ 101 w 286"/>
                  <a:gd name="T15" fmla="*/ 248 h 287"/>
                  <a:gd name="T16" fmla="*/ 87 w 286"/>
                  <a:gd name="T17" fmla="*/ 234 h 287"/>
                  <a:gd name="T18" fmla="*/ 87 w 286"/>
                  <a:gd name="T19" fmla="*/ 60 h 287"/>
                  <a:gd name="T20" fmla="*/ 101 w 286"/>
                  <a:gd name="T21" fmla="*/ 46 h 287"/>
                  <a:gd name="T22" fmla="*/ 187 w 286"/>
                  <a:gd name="T23" fmla="*/ 46 h 287"/>
                  <a:gd name="T24" fmla="*/ 201 w 286"/>
                  <a:gd name="T25" fmla="*/ 60 h 287"/>
                  <a:gd name="T26" fmla="*/ 201 w 286"/>
                  <a:gd name="T27" fmla="*/ 23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6" h="287">
                    <a:moveTo>
                      <a:pt x="143" y="0"/>
                    </a:moveTo>
                    <a:cubicBezTo>
                      <a:pt x="64" y="0"/>
                      <a:pt x="0" y="64"/>
                      <a:pt x="0" y="143"/>
                    </a:cubicBezTo>
                    <a:cubicBezTo>
                      <a:pt x="0" y="222"/>
                      <a:pt x="64" y="287"/>
                      <a:pt x="143" y="287"/>
                    </a:cubicBezTo>
                    <a:cubicBezTo>
                      <a:pt x="222" y="287"/>
                      <a:pt x="286" y="222"/>
                      <a:pt x="286" y="143"/>
                    </a:cubicBezTo>
                    <a:cubicBezTo>
                      <a:pt x="286" y="64"/>
                      <a:pt x="222" y="0"/>
                      <a:pt x="143" y="0"/>
                    </a:cubicBezTo>
                    <a:close/>
                    <a:moveTo>
                      <a:pt x="201" y="234"/>
                    </a:moveTo>
                    <a:cubicBezTo>
                      <a:pt x="201" y="242"/>
                      <a:pt x="195" y="248"/>
                      <a:pt x="187" y="248"/>
                    </a:cubicBezTo>
                    <a:cubicBezTo>
                      <a:pt x="101" y="248"/>
                      <a:pt x="101" y="248"/>
                      <a:pt x="101" y="248"/>
                    </a:cubicBezTo>
                    <a:cubicBezTo>
                      <a:pt x="93" y="248"/>
                      <a:pt x="87" y="242"/>
                      <a:pt x="87" y="234"/>
                    </a:cubicBezTo>
                    <a:cubicBezTo>
                      <a:pt x="87" y="60"/>
                      <a:pt x="87" y="60"/>
                      <a:pt x="87" y="60"/>
                    </a:cubicBezTo>
                    <a:cubicBezTo>
                      <a:pt x="87" y="52"/>
                      <a:pt x="93" y="46"/>
                      <a:pt x="101" y="46"/>
                    </a:cubicBezTo>
                    <a:cubicBezTo>
                      <a:pt x="187" y="46"/>
                      <a:pt x="187" y="46"/>
                      <a:pt x="187" y="46"/>
                    </a:cubicBezTo>
                    <a:cubicBezTo>
                      <a:pt x="195" y="46"/>
                      <a:pt x="201" y="52"/>
                      <a:pt x="201" y="60"/>
                    </a:cubicBezTo>
                    <a:lnTo>
                      <a:pt x="201" y="2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77" name="Oval 26">
                <a:extLst>
                  <a:ext uri="{FF2B5EF4-FFF2-40B4-BE49-F238E27FC236}">
                    <a16:creationId xmlns:a16="http://schemas.microsoft.com/office/drawing/2014/main" id="{1595CD3A-7A28-CEF9-276B-B5A2AF5FB891}"/>
                  </a:ext>
                </a:extLst>
              </p:cNvPr>
              <p:cNvSpPr>
                <a:spLocks noChangeArrowheads="1"/>
              </p:cNvSpPr>
              <p:nvPr/>
            </p:nvSpPr>
            <p:spPr bwMode="auto">
              <a:xfrm>
                <a:off x="4926013" y="3351213"/>
                <a:ext cx="22225"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78" name="Rectangle 27">
                <a:extLst>
                  <a:ext uri="{FF2B5EF4-FFF2-40B4-BE49-F238E27FC236}">
                    <a16:creationId xmlns:a16="http://schemas.microsoft.com/office/drawing/2014/main" id="{F5CD8071-C9AF-152F-474A-A7B49EBB1E23}"/>
                  </a:ext>
                </a:extLst>
              </p:cNvPr>
              <p:cNvSpPr>
                <a:spLocks noChangeArrowheads="1"/>
              </p:cNvSpPr>
              <p:nvPr/>
            </p:nvSpPr>
            <p:spPr bwMode="auto">
              <a:xfrm>
                <a:off x="4710113" y="3397250"/>
                <a:ext cx="265113" cy="4000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sp>
          <p:nvSpPr>
            <p:cNvPr id="9" name="Freeform 28">
              <a:extLst>
                <a:ext uri="{FF2B5EF4-FFF2-40B4-BE49-F238E27FC236}">
                  <a16:creationId xmlns:a16="http://schemas.microsoft.com/office/drawing/2014/main" id="{7C922045-B00A-143E-9077-3D36140522CD}"/>
                </a:ext>
              </a:extLst>
            </p:cNvPr>
            <p:cNvSpPr>
              <a:spLocks noEditPoints="1"/>
            </p:cNvSpPr>
            <p:nvPr/>
          </p:nvSpPr>
          <p:spPr bwMode="auto">
            <a:xfrm>
              <a:off x="5095981" y="3243856"/>
              <a:ext cx="607918" cy="606033"/>
            </a:xfrm>
            <a:custGeom>
              <a:avLst/>
              <a:gdLst>
                <a:gd name="T0" fmla="*/ 178 w 356"/>
                <a:gd name="T1" fmla="*/ 0 h 355"/>
                <a:gd name="T2" fmla="*/ 0 w 356"/>
                <a:gd name="T3" fmla="*/ 177 h 355"/>
                <a:gd name="T4" fmla="*/ 178 w 356"/>
                <a:gd name="T5" fmla="*/ 355 h 355"/>
                <a:gd name="T6" fmla="*/ 356 w 356"/>
                <a:gd name="T7" fmla="*/ 177 h 355"/>
                <a:gd name="T8" fmla="*/ 178 w 356"/>
                <a:gd name="T9" fmla="*/ 0 h 355"/>
                <a:gd name="T10" fmla="*/ 186 w 356"/>
                <a:gd name="T11" fmla="*/ 124 h 355"/>
                <a:gd name="T12" fmla="*/ 186 w 356"/>
                <a:gd name="T13" fmla="*/ 246 h 355"/>
                <a:gd name="T14" fmla="*/ 140 w 356"/>
                <a:gd name="T15" fmla="*/ 276 h 355"/>
                <a:gd name="T16" fmla="*/ 94 w 356"/>
                <a:gd name="T17" fmla="*/ 246 h 355"/>
                <a:gd name="T18" fmla="*/ 140 w 356"/>
                <a:gd name="T19" fmla="*/ 215 h 355"/>
                <a:gd name="T20" fmla="*/ 170 w 356"/>
                <a:gd name="T21" fmla="*/ 223 h 355"/>
                <a:gd name="T22" fmla="*/ 170 w 356"/>
                <a:gd name="T23" fmla="*/ 78 h 355"/>
                <a:gd name="T24" fmla="*/ 186 w 356"/>
                <a:gd name="T25" fmla="*/ 78 h 355"/>
                <a:gd name="T26" fmla="*/ 262 w 356"/>
                <a:gd name="T27" fmla="*/ 185 h 355"/>
                <a:gd name="T28" fmla="*/ 186 w 356"/>
                <a:gd name="T29" fmla="*/ 124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6" h="355">
                  <a:moveTo>
                    <a:pt x="178" y="0"/>
                  </a:moveTo>
                  <a:cubicBezTo>
                    <a:pt x="80" y="0"/>
                    <a:pt x="0" y="79"/>
                    <a:pt x="0" y="177"/>
                  </a:cubicBezTo>
                  <a:cubicBezTo>
                    <a:pt x="0" y="275"/>
                    <a:pt x="80" y="355"/>
                    <a:pt x="178" y="355"/>
                  </a:cubicBezTo>
                  <a:cubicBezTo>
                    <a:pt x="276" y="355"/>
                    <a:pt x="356" y="275"/>
                    <a:pt x="356" y="177"/>
                  </a:cubicBezTo>
                  <a:cubicBezTo>
                    <a:pt x="356" y="79"/>
                    <a:pt x="276" y="0"/>
                    <a:pt x="178" y="0"/>
                  </a:cubicBezTo>
                  <a:close/>
                  <a:moveTo>
                    <a:pt x="186" y="124"/>
                  </a:moveTo>
                  <a:cubicBezTo>
                    <a:pt x="186" y="246"/>
                    <a:pt x="186" y="246"/>
                    <a:pt x="186" y="246"/>
                  </a:cubicBezTo>
                  <a:cubicBezTo>
                    <a:pt x="186" y="262"/>
                    <a:pt x="165" y="276"/>
                    <a:pt x="140" y="276"/>
                  </a:cubicBezTo>
                  <a:cubicBezTo>
                    <a:pt x="115" y="276"/>
                    <a:pt x="94" y="262"/>
                    <a:pt x="94" y="246"/>
                  </a:cubicBezTo>
                  <a:cubicBezTo>
                    <a:pt x="94" y="229"/>
                    <a:pt x="115" y="215"/>
                    <a:pt x="140" y="215"/>
                  </a:cubicBezTo>
                  <a:cubicBezTo>
                    <a:pt x="152" y="215"/>
                    <a:pt x="162" y="218"/>
                    <a:pt x="170" y="223"/>
                  </a:cubicBezTo>
                  <a:cubicBezTo>
                    <a:pt x="170" y="78"/>
                    <a:pt x="170" y="78"/>
                    <a:pt x="170" y="78"/>
                  </a:cubicBezTo>
                  <a:cubicBezTo>
                    <a:pt x="186" y="78"/>
                    <a:pt x="186" y="78"/>
                    <a:pt x="186" y="78"/>
                  </a:cubicBezTo>
                  <a:cubicBezTo>
                    <a:pt x="186" y="78"/>
                    <a:pt x="252" y="78"/>
                    <a:pt x="262" y="185"/>
                  </a:cubicBezTo>
                  <a:cubicBezTo>
                    <a:pt x="246" y="162"/>
                    <a:pt x="224" y="118"/>
                    <a:pt x="186" y="1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nvGrpSpPr>
            <p:cNvPr id="10" name="Group 9">
              <a:extLst>
                <a:ext uri="{FF2B5EF4-FFF2-40B4-BE49-F238E27FC236}">
                  <a16:creationId xmlns:a16="http://schemas.microsoft.com/office/drawing/2014/main" id="{135C801A-B1A1-7CD3-EBA3-8F550BB14C73}"/>
                </a:ext>
              </a:extLst>
            </p:cNvPr>
            <p:cNvGrpSpPr/>
            <p:nvPr/>
          </p:nvGrpSpPr>
          <p:grpSpPr>
            <a:xfrm>
              <a:off x="5784955" y="4424818"/>
              <a:ext cx="607918" cy="609804"/>
              <a:chOff x="4362451" y="5308600"/>
              <a:chExt cx="1023938" cy="1027113"/>
            </a:xfrm>
            <a:solidFill>
              <a:srgbClr val="F8B323"/>
            </a:solidFill>
          </p:grpSpPr>
          <p:sp>
            <p:nvSpPr>
              <p:cNvPr id="172" name="Freeform 29">
                <a:extLst>
                  <a:ext uri="{FF2B5EF4-FFF2-40B4-BE49-F238E27FC236}">
                    <a16:creationId xmlns:a16="http://schemas.microsoft.com/office/drawing/2014/main" id="{490A9F93-D97F-C840-C833-2DF8B60C2F94}"/>
                  </a:ext>
                </a:extLst>
              </p:cNvPr>
              <p:cNvSpPr>
                <a:spLocks noEditPoints="1"/>
              </p:cNvSpPr>
              <p:nvPr/>
            </p:nvSpPr>
            <p:spPr bwMode="auto">
              <a:xfrm>
                <a:off x="4362451" y="5308600"/>
                <a:ext cx="1023938" cy="1027113"/>
              </a:xfrm>
              <a:custGeom>
                <a:avLst/>
                <a:gdLst>
                  <a:gd name="T0" fmla="*/ 178 w 356"/>
                  <a:gd name="T1" fmla="*/ 0 h 357"/>
                  <a:gd name="T2" fmla="*/ 0 w 356"/>
                  <a:gd name="T3" fmla="*/ 179 h 357"/>
                  <a:gd name="T4" fmla="*/ 178 w 356"/>
                  <a:gd name="T5" fmla="*/ 357 h 357"/>
                  <a:gd name="T6" fmla="*/ 356 w 356"/>
                  <a:gd name="T7" fmla="*/ 179 h 357"/>
                  <a:gd name="T8" fmla="*/ 178 w 356"/>
                  <a:gd name="T9" fmla="*/ 0 h 357"/>
                  <a:gd name="T10" fmla="*/ 276 w 356"/>
                  <a:gd name="T11" fmla="*/ 268 h 357"/>
                  <a:gd name="T12" fmla="*/ 80 w 356"/>
                  <a:gd name="T13" fmla="*/ 268 h 357"/>
                  <a:gd name="T14" fmla="*/ 80 w 356"/>
                  <a:gd name="T15" fmla="*/ 190 h 357"/>
                  <a:gd name="T16" fmla="*/ 148 w 356"/>
                  <a:gd name="T17" fmla="*/ 190 h 357"/>
                  <a:gd name="T18" fmla="*/ 148 w 356"/>
                  <a:gd name="T19" fmla="*/ 210 h 357"/>
                  <a:gd name="T20" fmla="*/ 148 w 356"/>
                  <a:gd name="T21" fmla="*/ 224 h 357"/>
                  <a:gd name="T22" fmla="*/ 208 w 356"/>
                  <a:gd name="T23" fmla="*/ 224 h 357"/>
                  <a:gd name="T24" fmla="*/ 208 w 356"/>
                  <a:gd name="T25" fmla="*/ 224 h 357"/>
                  <a:gd name="T26" fmla="*/ 208 w 356"/>
                  <a:gd name="T27" fmla="*/ 210 h 357"/>
                  <a:gd name="T28" fmla="*/ 208 w 356"/>
                  <a:gd name="T29" fmla="*/ 190 h 357"/>
                  <a:gd name="T30" fmla="*/ 276 w 356"/>
                  <a:gd name="T31" fmla="*/ 190 h 357"/>
                  <a:gd name="T32" fmla="*/ 276 w 356"/>
                  <a:gd name="T33" fmla="*/ 268 h 357"/>
                  <a:gd name="T34" fmla="*/ 276 w 356"/>
                  <a:gd name="T35" fmla="*/ 176 h 357"/>
                  <a:gd name="T36" fmla="*/ 194 w 356"/>
                  <a:gd name="T37" fmla="*/ 176 h 357"/>
                  <a:gd name="T38" fmla="*/ 194 w 356"/>
                  <a:gd name="T39" fmla="*/ 176 h 357"/>
                  <a:gd name="T40" fmla="*/ 194 w 356"/>
                  <a:gd name="T41" fmla="*/ 176 h 357"/>
                  <a:gd name="T42" fmla="*/ 194 w 356"/>
                  <a:gd name="T43" fmla="*/ 210 h 357"/>
                  <a:gd name="T44" fmla="*/ 162 w 356"/>
                  <a:gd name="T45" fmla="*/ 210 h 357"/>
                  <a:gd name="T46" fmla="*/ 162 w 356"/>
                  <a:gd name="T47" fmla="*/ 176 h 357"/>
                  <a:gd name="T48" fmla="*/ 162 w 356"/>
                  <a:gd name="T49" fmla="*/ 176 h 357"/>
                  <a:gd name="T50" fmla="*/ 80 w 356"/>
                  <a:gd name="T51" fmla="*/ 176 h 357"/>
                  <a:gd name="T52" fmla="*/ 80 w 356"/>
                  <a:gd name="T53" fmla="*/ 121 h 357"/>
                  <a:gd name="T54" fmla="*/ 139 w 356"/>
                  <a:gd name="T55" fmla="*/ 121 h 357"/>
                  <a:gd name="T56" fmla="*/ 139 w 356"/>
                  <a:gd name="T57" fmla="*/ 121 h 357"/>
                  <a:gd name="T58" fmla="*/ 139 w 356"/>
                  <a:gd name="T59" fmla="*/ 83 h 357"/>
                  <a:gd name="T60" fmla="*/ 217 w 356"/>
                  <a:gd name="T61" fmla="*/ 83 h 357"/>
                  <a:gd name="T62" fmla="*/ 217 w 356"/>
                  <a:gd name="T63" fmla="*/ 121 h 357"/>
                  <a:gd name="T64" fmla="*/ 217 w 356"/>
                  <a:gd name="T65" fmla="*/ 121 h 357"/>
                  <a:gd name="T66" fmla="*/ 276 w 356"/>
                  <a:gd name="T67" fmla="*/ 121 h 357"/>
                  <a:gd name="T68" fmla="*/ 276 w 356"/>
                  <a:gd name="T69" fmla="*/ 176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6" h="357">
                    <a:moveTo>
                      <a:pt x="178" y="0"/>
                    </a:moveTo>
                    <a:cubicBezTo>
                      <a:pt x="79" y="0"/>
                      <a:pt x="0" y="80"/>
                      <a:pt x="0" y="179"/>
                    </a:cubicBezTo>
                    <a:cubicBezTo>
                      <a:pt x="0" y="277"/>
                      <a:pt x="79" y="357"/>
                      <a:pt x="178" y="357"/>
                    </a:cubicBezTo>
                    <a:cubicBezTo>
                      <a:pt x="277" y="357"/>
                      <a:pt x="356" y="277"/>
                      <a:pt x="356" y="179"/>
                    </a:cubicBezTo>
                    <a:cubicBezTo>
                      <a:pt x="356" y="80"/>
                      <a:pt x="277" y="0"/>
                      <a:pt x="178" y="0"/>
                    </a:cubicBezTo>
                    <a:close/>
                    <a:moveTo>
                      <a:pt x="276" y="268"/>
                    </a:moveTo>
                    <a:cubicBezTo>
                      <a:pt x="80" y="268"/>
                      <a:pt x="80" y="268"/>
                      <a:pt x="80" y="268"/>
                    </a:cubicBezTo>
                    <a:cubicBezTo>
                      <a:pt x="80" y="190"/>
                      <a:pt x="80" y="190"/>
                      <a:pt x="80" y="190"/>
                    </a:cubicBezTo>
                    <a:cubicBezTo>
                      <a:pt x="148" y="190"/>
                      <a:pt x="148" y="190"/>
                      <a:pt x="148" y="190"/>
                    </a:cubicBezTo>
                    <a:cubicBezTo>
                      <a:pt x="148" y="210"/>
                      <a:pt x="148" y="210"/>
                      <a:pt x="148" y="210"/>
                    </a:cubicBezTo>
                    <a:cubicBezTo>
                      <a:pt x="148" y="224"/>
                      <a:pt x="148" y="224"/>
                      <a:pt x="148" y="224"/>
                    </a:cubicBezTo>
                    <a:cubicBezTo>
                      <a:pt x="208" y="224"/>
                      <a:pt x="208" y="224"/>
                      <a:pt x="208" y="224"/>
                    </a:cubicBezTo>
                    <a:cubicBezTo>
                      <a:pt x="208" y="224"/>
                      <a:pt x="208" y="224"/>
                      <a:pt x="208" y="224"/>
                    </a:cubicBezTo>
                    <a:cubicBezTo>
                      <a:pt x="208" y="210"/>
                      <a:pt x="208" y="210"/>
                      <a:pt x="208" y="210"/>
                    </a:cubicBezTo>
                    <a:cubicBezTo>
                      <a:pt x="208" y="190"/>
                      <a:pt x="208" y="190"/>
                      <a:pt x="208" y="190"/>
                    </a:cubicBezTo>
                    <a:cubicBezTo>
                      <a:pt x="276" y="190"/>
                      <a:pt x="276" y="190"/>
                      <a:pt x="276" y="190"/>
                    </a:cubicBezTo>
                    <a:lnTo>
                      <a:pt x="276" y="268"/>
                    </a:lnTo>
                    <a:close/>
                    <a:moveTo>
                      <a:pt x="276" y="176"/>
                    </a:moveTo>
                    <a:cubicBezTo>
                      <a:pt x="194" y="176"/>
                      <a:pt x="194" y="176"/>
                      <a:pt x="194" y="176"/>
                    </a:cubicBezTo>
                    <a:cubicBezTo>
                      <a:pt x="194" y="176"/>
                      <a:pt x="194" y="176"/>
                      <a:pt x="194" y="176"/>
                    </a:cubicBezTo>
                    <a:cubicBezTo>
                      <a:pt x="194" y="176"/>
                      <a:pt x="194" y="176"/>
                      <a:pt x="194" y="176"/>
                    </a:cubicBezTo>
                    <a:cubicBezTo>
                      <a:pt x="194" y="210"/>
                      <a:pt x="194" y="210"/>
                      <a:pt x="194" y="210"/>
                    </a:cubicBezTo>
                    <a:cubicBezTo>
                      <a:pt x="162" y="210"/>
                      <a:pt x="162" y="210"/>
                      <a:pt x="162" y="210"/>
                    </a:cubicBezTo>
                    <a:cubicBezTo>
                      <a:pt x="162" y="176"/>
                      <a:pt x="162" y="176"/>
                      <a:pt x="162" y="176"/>
                    </a:cubicBezTo>
                    <a:cubicBezTo>
                      <a:pt x="162" y="176"/>
                      <a:pt x="162" y="176"/>
                      <a:pt x="162" y="176"/>
                    </a:cubicBezTo>
                    <a:cubicBezTo>
                      <a:pt x="80" y="176"/>
                      <a:pt x="80" y="176"/>
                      <a:pt x="80" y="176"/>
                    </a:cubicBezTo>
                    <a:cubicBezTo>
                      <a:pt x="80" y="121"/>
                      <a:pt x="80" y="121"/>
                      <a:pt x="80" y="121"/>
                    </a:cubicBezTo>
                    <a:cubicBezTo>
                      <a:pt x="139" y="121"/>
                      <a:pt x="139" y="121"/>
                      <a:pt x="139" y="121"/>
                    </a:cubicBezTo>
                    <a:cubicBezTo>
                      <a:pt x="139" y="121"/>
                      <a:pt x="139" y="121"/>
                      <a:pt x="139" y="121"/>
                    </a:cubicBezTo>
                    <a:cubicBezTo>
                      <a:pt x="139" y="83"/>
                      <a:pt x="139" y="83"/>
                      <a:pt x="139" y="83"/>
                    </a:cubicBezTo>
                    <a:cubicBezTo>
                      <a:pt x="217" y="83"/>
                      <a:pt x="217" y="83"/>
                      <a:pt x="217" y="83"/>
                    </a:cubicBezTo>
                    <a:cubicBezTo>
                      <a:pt x="217" y="121"/>
                      <a:pt x="217" y="121"/>
                      <a:pt x="217" y="121"/>
                    </a:cubicBezTo>
                    <a:cubicBezTo>
                      <a:pt x="217" y="121"/>
                      <a:pt x="217" y="121"/>
                      <a:pt x="217" y="121"/>
                    </a:cubicBezTo>
                    <a:cubicBezTo>
                      <a:pt x="276" y="121"/>
                      <a:pt x="276" y="121"/>
                      <a:pt x="276" y="121"/>
                    </a:cubicBezTo>
                    <a:lnTo>
                      <a:pt x="276" y="1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73" name="Freeform 30">
                <a:extLst>
                  <a:ext uri="{FF2B5EF4-FFF2-40B4-BE49-F238E27FC236}">
                    <a16:creationId xmlns:a16="http://schemas.microsoft.com/office/drawing/2014/main" id="{9CBB3A02-0FEF-9A8D-8303-12C4279E4DE8}"/>
                  </a:ext>
                </a:extLst>
              </p:cNvPr>
              <p:cNvSpPr>
                <a:spLocks/>
              </p:cNvSpPr>
              <p:nvPr/>
            </p:nvSpPr>
            <p:spPr bwMode="auto">
              <a:xfrm>
                <a:off x="4822826" y="5618163"/>
                <a:ext cx="103188" cy="38100"/>
              </a:xfrm>
              <a:custGeom>
                <a:avLst/>
                <a:gdLst>
                  <a:gd name="T0" fmla="*/ 0 w 65"/>
                  <a:gd name="T1" fmla="*/ 0 h 24"/>
                  <a:gd name="T2" fmla="*/ 0 w 65"/>
                  <a:gd name="T3" fmla="*/ 24 h 24"/>
                  <a:gd name="T4" fmla="*/ 0 w 65"/>
                  <a:gd name="T5" fmla="*/ 24 h 24"/>
                  <a:gd name="T6" fmla="*/ 65 w 65"/>
                  <a:gd name="T7" fmla="*/ 24 h 24"/>
                  <a:gd name="T8" fmla="*/ 65 w 65"/>
                  <a:gd name="T9" fmla="*/ 24 h 24"/>
                  <a:gd name="T10" fmla="*/ 65 w 65"/>
                  <a:gd name="T11" fmla="*/ 0 h 24"/>
                  <a:gd name="T12" fmla="*/ 0 w 65"/>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65" h="24">
                    <a:moveTo>
                      <a:pt x="0" y="0"/>
                    </a:moveTo>
                    <a:lnTo>
                      <a:pt x="0" y="24"/>
                    </a:lnTo>
                    <a:lnTo>
                      <a:pt x="0" y="24"/>
                    </a:lnTo>
                    <a:lnTo>
                      <a:pt x="65" y="24"/>
                    </a:lnTo>
                    <a:lnTo>
                      <a:pt x="65" y="24"/>
                    </a:lnTo>
                    <a:lnTo>
                      <a:pt x="65"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sp>
          <p:nvSpPr>
            <p:cNvPr id="11" name="Freeform 31">
              <a:extLst>
                <a:ext uri="{FF2B5EF4-FFF2-40B4-BE49-F238E27FC236}">
                  <a16:creationId xmlns:a16="http://schemas.microsoft.com/office/drawing/2014/main" id="{1F281C11-B7FC-3974-8DE6-B59E81FAE74A}"/>
                </a:ext>
              </a:extLst>
            </p:cNvPr>
            <p:cNvSpPr>
              <a:spLocks noEditPoints="1"/>
            </p:cNvSpPr>
            <p:nvPr/>
          </p:nvSpPr>
          <p:spPr bwMode="auto">
            <a:xfrm>
              <a:off x="6718037" y="2840462"/>
              <a:ext cx="477852" cy="478794"/>
            </a:xfrm>
            <a:custGeom>
              <a:avLst/>
              <a:gdLst>
                <a:gd name="T0" fmla="*/ 140 w 280"/>
                <a:gd name="T1" fmla="*/ 0 h 280"/>
                <a:gd name="T2" fmla="*/ 0 w 280"/>
                <a:gd name="T3" fmla="*/ 140 h 280"/>
                <a:gd name="T4" fmla="*/ 140 w 280"/>
                <a:gd name="T5" fmla="*/ 280 h 280"/>
                <a:gd name="T6" fmla="*/ 280 w 280"/>
                <a:gd name="T7" fmla="*/ 140 h 280"/>
                <a:gd name="T8" fmla="*/ 140 w 280"/>
                <a:gd name="T9" fmla="*/ 0 h 280"/>
                <a:gd name="T10" fmla="*/ 185 w 280"/>
                <a:gd name="T11" fmla="*/ 69 h 280"/>
                <a:gd name="T12" fmla="*/ 211 w 280"/>
                <a:gd name="T13" fmla="*/ 95 h 280"/>
                <a:gd name="T14" fmla="*/ 185 w 280"/>
                <a:gd name="T15" fmla="*/ 122 h 280"/>
                <a:gd name="T16" fmla="*/ 174 w 280"/>
                <a:gd name="T17" fmla="*/ 119 h 280"/>
                <a:gd name="T18" fmla="*/ 158 w 280"/>
                <a:gd name="T19" fmla="*/ 95 h 280"/>
                <a:gd name="T20" fmla="*/ 185 w 280"/>
                <a:gd name="T21" fmla="*/ 69 h 280"/>
                <a:gd name="T22" fmla="*/ 141 w 280"/>
                <a:gd name="T23" fmla="*/ 96 h 280"/>
                <a:gd name="T24" fmla="*/ 167 w 280"/>
                <a:gd name="T25" fmla="*/ 123 h 280"/>
                <a:gd name="T26" fmla="*/ 141 w 280"/>
                <a:gd name="T27" fmla="*/ 149 h 280"/>
                <a:gd name="T28" fmla="*/ 115 w 280"/>
                <a:gd name="T29" fmla="*/ 123 h 280"/>
                <a:gd name="T30" fmla="*/ 141 w 280"/>
                <a:gd name="T31" fmla="*/ 96 h 280"/>
                <a:gd name="T32" fmla="*/ 95 w 280"/>
                <a:gd name="T33" fmla="*/ 69 h 280"/>
                <a:gd name="T34" fmla="*/ 121 w 280"/>
                <a:gd name="T35" fmla="*/ 95 h 280"/>
                <a:gd name="T36" fmla="*/ 121 w 280"/>
                <a:gd name="T37" fmla="*/ 97 h 280"/>
                <a:gd name="T38" fmla="*/ 109 w 280"/>
                <a:gd name="T39" fmla="*/ 118 h 280"/>
                <a:gd name="T40" fmla="*/ 95 w 280"/>
                <a:gd name="T41" fmla="*/ 122 h 280"/>
                <a:gd name="T42" fmla="*/ 68 w 280"/>
                <a:gd name="T43" fmla="*/ 95 h 280"/>
                <a:gd name="T44" fmla="*/ 95 w 280"/>
                <a:gd name="T45" fmla="*/ 69 h 280"/>
                <a:gd name="T46" fmla="*/ 90 w 280"/>
                <a:gd name="T47" fmla="*/ 193 h 280"/>
                <a:gd name="T48" fmla="*/ 52 w 280"/>
                <a:gd name="T49" fmla="*/ 186 h 280"/>
                <a:gd name="T50" fmla="*/ 50 w 280"/>
                <a:gd name="T51" fmla="*/ 185 h 280"/>
                <a:gd name="T52" fmla="*/ 50 w 280"/>
                <a:gd name="T53" fmla="*/ 185 h 280"/>
                <a:gd name="T54" fmla="*/ 50 w 280"/>
                <a:gd name="T55" fmla="*/ 157 h 280"/>
                <a:gd name="T56" fmla="*/ 84 w 280"/>
                <a:gd name="T57" fmla="*/ 124 h 280"/>
                <a:gd name="T58" fmla="*/ 106 w 280"/>
                <a:gd name="T59" fmla="*/ 124 h 280"/>
                <a:gd name="T60" fmla="*/ 108 w 280"/>
                <a:gd name="T61" fmla="*/ 124 h 280"/>
                <a:gd name="T62" fmla="*/ 118 w 280"/>
                <a:gd name="T63" fmla="*/ 146 h 280"/>
                <a:gd name="T64" fmla="*/ 90 w 280"/>
                <a:gd name="T65" fmla="*/ 185 h 280"/>
                <a:gd name="T66" fmla="*/ 90 w 280"/>
                <a:gd name="T67" fmla="*/ 193 h 280"/>
                <a:gd name="T68" fmla="*/ 186 w 280"/>
                <a:gd name="T69" fmla="*/ 212 h 280"/>
                <a:gd name="T70" fmla="*/ 186 w 280"/>
                <a:gd name="T71" fmla="*/ 212 h 280"/>
                <a:gd name="T72" fmla="*/ 184 w 280"/>
                <a:gd name="T73" fmla="*/ 213 h 280"/>
                <a:gd name="T74" fmla="*/ 144 w 280"/>
                <a:gd name="T75" fmla="*/ 220 h 280"/>
                <a:gd name="T76" fmla="*/ 98 w 280"/>
                <a:gd name="T77" fmla="*/ 213 h 280"/>
                <a:gd name="T78" fmla="*/ 96 w 280"/>
                <a:gd name="T79" fmla="*/ 212 h 280"/>
                <a:gd name="T80" fmla="*/ 96 w 280"/>
                <a:gd name="T81" fmla="*/ 212 h 280"/>
                <a:gd name="T82" fmla="*/ 96 w 280"/>
                <a:gd name="T83" fmla="*/ 185 h 280"/>
                <a:gd name="T84" fmla="*/ 130 w 280"/>
                <a:gd name="T85" fmla="*/ 151 h 280"/>
                <a:gd name="T86" fmla="*/ 152 w 280"/>
                <a:gd name="T87" fmla="*/ 151 h 280"/>
                <a:gd name="T88" fmla="*/ 186 w 280"/>
                <a:gd name="T89" fmla="*/ 185 h 280"/>
                <a:gd name="T90" fmla="*/ 186 w 280"/>
                <a:gd name="T91" fmla="*/ 212 h 280"/>
                <a:gd name="T92" fmla="*/ 230 w 280"/>
                <a:gd name="T93" fmla="*/ 185 h 280"/>
                <a:gd name="T94" fmla="*/ 230 w 280"/>
                <a:gd name="T95" fmla="*/ 185 h 280"/>
                <a:gd name="T96" fmla="*/ 228 w 280"/>
                <a:gd name="T97" fmla="*/ 186 h 280"/>
                <a:gd name="T98" fmla="*/ 192 w 280"/>
                <a:gd name="T99" fmla="*/ 193 h 280"/>
                <a:gd name="T100" fmla="*/ 192 w 280"/>
                <a:gd name="T101" fmla="*/ 185 h 280"/>
                <a:gd name="T102" fmla="*/ 164 w 280"/>
                <a:gd name="T103" fmla="*/ 146 h 280"/>
                <a:gd name="T104" fmla="*/ 174 w 280"/>
                <a:gd name="T105" fmla="*/ 124 h 280"/>
                <a:gd name="T106" fmla="*/ 196 w 280"/>
                <a:gd name="T107" fmla="*/ 124 h 280"/>
                <a:gd name="T108" fmla="*/ 230 w 280"/>
                <a:gd name="T109" fmla="*/ 157 h 280"/>
                <a:gd name="T110" fmla="*/ 230 w 280"/>
                <a:gd name="T111" fmla="*/ 185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0" h="280">
                  <a:moveTo>
                    <a:pt x="140" y="0"/>
                  </a:moveTo>
                  <a:cubicBezTo>
                    <a:pt x="62" y="0"/>
                    <a:pt x="0" y="62"/>
                    <a:pt x="0" y="140"/>
                  </a:cubicBezTo>
                  <a:cubicBezTo>
                    <a:pt x="0" y="217"/>
                    <a:pt x="62" y="280"/>
                    <a:pt x="140" y="280"/>
                  </a:cubicBezTo>
                  <a:cubicBezTo>
                    <a:pt x="217" y="280"/>
                    <a:pt x="280" y="217"/>
                    <a:pt x="280" y="140"/>
                  </a:cubicBezTo>
                  <a:cubicBezTo>
                    <a:pt x="280" y="62"/>
                    <a:pt x="217" y="0"/>
                    <a:pt x="140" y="0"/>
                  </a:cubicBezTo>
                  <a:close/>
                  <a:moveTo>
                    <a:pt x="185" y="69"/>
                  </a:moveTo>
                  <a:cubicBezTo>
                    <a:pt x="199" y="69"/>
                    <a:pt x="211" y="81"/>
                    <a:pt x="211" y="95"/>
                  </a:cubicBezTo>
                  <a:cubicBezTo>
                    <a:pt x="211" y="110"/>
                    <a:pt x="199" y="122"/>
                    <a:pt x="185" y="122"/>
                  </a:cubicBezTo>
                  <a:cubicBezTo>
                    <a:pt x="181" y="122"/>
                    <a:pt x="177" y="121"/>
                    <a:pt x="174" y="119"/>
                  </a:cubicBezTo>
                  <a:cubicBezTo>
                    <a:pt x="173" y="109"/>
                    <a:pt x="167" y="100"/>
                    <a:pt x="158" y="95"/>
                  </a:cubicBezTo>
                  <a:cubicBezTo>
                    <a:pt x="159" y="81"/>
                    <a:pt x="170" y="69"/>
                    <a:pt x="185" y="69"/>
                  </a:cubicBezTo>
                  <a:close/>
                  <a:moveTo>
                    <a:pt x="141" y="96"/>
                  </a:moveTo>
                  <a:cubicBezTo>
                    <a:pt x="156" y="96"/>
                    <a:pt x="167" y="108"/>
                    <a:pt x="167" y="123"/>
                  </a:cubicBezTo>
                  <a:cubicBezTo>
                    <a:pt x="167" y="137"/>
                    <a:pt x="156" y="149"/>
                    <a:pt x="141" y="149"/>
                  </a:cubicBezTo>
                  <a:cubicBezTo>
                    <a:pt x="127" y="149"/>
                    <a:pt x="115" y="137"/>
                    <a:pt x="115" y="123"/>
                  </a:cubicBezTo>
                  <a:cubicBezTo>
                    <a:pt x="115" y="108"/>
                    <a:pt x="127" y="96"/>
                    <a:pt x="141" y="96"/>
                  </a:cubicBezTo>
                  <a:close/>
                  <a:moveTo>
                    <a:pt x="95" y="69"/>
                  </a:moveTo>
                  <a:cubicBezTo>
                    <a:pt x="109" y="69"/>
                    <a:pt x="121" y="81"/>
                    <a:pt x="121" y="95"/>
                  </a:cubicBezTo>
                  <a:cubicBezTo>
                    <a:pt x="121" y="96"/>
                    <a:pt x="121" y="96"/>
                    <a:pt x="121" y="97"/>
                  </a:cubicBezTo>
                  <a:cubicBezTo>
                    <a:pt x="115" y="102"/>
                    <a:pt x="110" y="109"/>
                    <a:pt x="109" y="118"/>
                  </a:cubicBezTo>
                  <a:cubicBezTo>
                    <a:pt x="105" y="120"/>
                    <a:pt x="100" y="122"/>
                    <a:pt x="95" y="122"/>
                  </a:cubicBezTo>
                  <a:cubicBezTo>
                    <a:pt x="80" y="122"/>
                    <a:pt x="68" y="110"/>
                    <a:pt x="68" y="95"/>
                  </a:cubicBezTo>
                  <a:cubicBezTo>
                    <a:pt x="68" y="81"/>
                    <a:pt x="80" y="69"/>
                    <a:pt x="95" y="69"/>
                  </a:cubicBezTo>
                  <a:close/>
                  <a:moveTo>
                    <a:pt x="90" y="193"/>
                  </a:moveTo>
                  <a:cubicBezTo>
                    <a:pt x="79" y="192"/>
                    <a:pt x="66" y="190"/>
                    <a:pt x="52" y="186"/>
                  </a:cubicBezTo>
                  <a:cubicBezTo>
                    <a:pt x="50" y="185"/>
                    <a:pt x="50" y="185"/>
                    <a:pt x="50" y="185"/>
                  </a:cubicBezTo>
                  <a:cubicBezTo>
                    <a:pt x="50" y="185"/>
                    <a:pt x="50" y="185"/>
                    <a:pt x="50" y="185"/>
                  </a:cubicBezTo>
                  <a:cubicBezTo>
                    <a:pt x="50" y="157"/>
                    <a:pt x="50" y="157"/>
                    <a:pt x="50" y="157"/>
                  </a:cubicBezTo>
                  <a:cubicBezTo>
                    <a:pt x="50" y="139"/>
                    <a:pt x="65" y="124"/>
                    <a:pt x="84" y="124"/>
                  </a:cubicBezTo>
                  <a:cubicBezTo>
                    <a:pt x="106" y="124"/>
                    <a:pt x="106" y="124"/>
                    <a:pt x="106" y="124"/>
                  </a:cubicBezTo>
                  <a:cubicBezTo>
                    <a:pt x="107" y="124"/>
                    <a:pt x="108" y="124"/>
                    <a:pt x="108" y="124"/>
                  </a:cubicBezTo>
                  <a:cubicBezTo>
                    <a:pt x="109" y="132"/>
                    <a:pt x="113" y="140"/>
                    <a:pt x="118" y="146"/>
                  </a:cubicBezTo>
                  <a:cubicBezTo>
                    <a:pt x="102" y="151"/>
                    <a:pt x="90" y="166"/>
                    <a:pt x="90" y="185"/>
                  </a:cubicBezTo>
                  <a:lnTo>
                    <a:pt x="90" y="193"/>
                  </a:lnTo>
                  <a:close/>
                  <a:moveTo>
                    <a:pt x="186" y="212"/>
                  </a:moveTo>
                  <a:cubicBezTo>
                    <a:pt x="186" y="212"/>
                    <a:pt x="186" y="212"/>
                    <a:pt x="186" y="212"/>
                  </a:cubicBezTo>
                  <a:cubicBezTo>
                    <a:pt x="184" y="213"/>
                    <a:pt x="184" y="213"/>
                    <a:pt x="184" y="213"/>
                  </a:cubicBezTo>
                  <a:cubicBezTo>
                    <a:pt x="183" y="213"/>
                    <a:pt x="169" y="220"/>
                    <a:pt x="144" y="220"/>
                  </a:cubicBezTo>
                  <a:cubicBezTo>
                    <a:pt x="131" y="220"/>
                    <a:pt x="116" y="218"/>
                    <a:pt x="98" y="213"/>
                  </a:cubicBezTo>
                  <a:cubicBezTo>
                    <a:pt x="96" y="212"/>
                    <a:pt x="96" y="212"/>
                    <a:pt x="96" y="212"/>
                  </a:cubicBezTo>
                  <a:cubicBezTo>
                    <a:pt x="96" y="212"/>
                    <a:pt x="96" y="212"/>
                    <a:pt x="96" y="212"/>
                  </a:cubicBezTo>
                  <a:cubicBezTo>
                    <a:pt x="96" y="185"/>
                    <a:pt x="96" y="185"/>
                    <a:pt x="96" y="185"/>
                  </a:cubicBezTo>
                  <a:cubicBezTo>
                    <a:pt x="96" y="166"/>
                    <a:pt x="111" y="151"/>
                    <a:pt x="130" y="151"/>
                  </a:cubicBezTo>
                  <a:cubicBezTo>
                    <a:pt x="152" y="151"/>
                    <a:pt x="152" y="151"/>
                    <a:pt x="152" y="151"/>
                  </a:cubicBezTo>
                  <a:cubicBezTo>
                    <a:pt x="171" y="151"/>
                    <a:pt x="186" y="166"/>
                    <a:pt x="186" y="185"/>
                  </a:cubicBezTo>
                  <a:lnTo>
                    <a:pt x="186" y="212"/>
                  </a:lnTo>
                  <a:close/>
                  <a:moveTo>
                    <a:pt x="230" y="185"/>
                  </a:moveTo>
                  <a:cubicBezTo>
                    <a:pt x="230" y="185"/>
                    <a:pt x="230" y="185"/>
                    <a:pt x="230" y="185"/>
                  </a:cubicBezTo>
                  <a:cubicBezTo>
                    <a:pt x="228" y="186"/>
                    <a:pt x="228" y="186"/>
                    <a:pt x="228" y="186"/>
                  </a:cubicBezTo>
                  <a:cubicBezTo>
                    <a:pt x="227" y="186"/>
                    <a:pt x="214" y="192"/>
                    <a:pt x="192" y="193"/>
                  </a:cubicBezTo>
                  <a:cubicBezTo>
                    <a:pt x="192" y="185"/>
                    <a:pt x="192" y="185"/>
                    <a:pt x="192" y="185"/>
                  </a:cubicBezTo>
                  <a:cubicBezTo>
                    <a:pt x="192" y="166"/>
                    <a:pt x="180" y="151"/>
                    <a:pt x="164" y="146"/>
                  </a:cubicBezTo>
                  <a:cubicBezTo>
                    <a:pt x="170" y="140"/>
                    <a:pt x="173" y="132"/>
                    <a:pt x="174" y="124"/>
                  </a:cubicBezTo>
                  <a:cubicBezTo>
                    <a:pt x="196" y="124"/>
                    <a:pt x="196" y="124"/>
                    <a:pt x="196" y="124"/>
                  </a:cubicBezTo>
                  <a:cubicBezTo>
                    <a:pt x="215" y="124"/>
                    <a:pt x="230" y="139"/>
                    <a:pt x="230" y="157"/>
                  </a:cubicBezTo>
                  <a:lnTo>
                    <a:pt x="230" y="185"/>
                  </a:lnTo>
                  <a:close/>
                </a:path>
              </a:pathLst>
            </a:custGeom>
            <a:solidFill>
              <a:srgbClr val="F8B323"/>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nvGrpSpPr>
            <p:cNvPr id="14" name="Group 13">
              <a:extLst>
                <a:ext uri="{FF2B5EF4-FFF2-40B4-BE49-F238E27FC236}">
                  <a16:creationId xmlns:a16="http://schemas.microsoft.com/office/drawing/2014/main" id="{86785359-721E-FAEC-8677-63F7906D93DE}"/>
                </a:ext>
              </a:extLst>
            </p:cNvPr>
            <p:cNvGrpSpPr/>
            <p:nvPr/>
          </p:nvGrpSpPr>
          <p:grpSpPr>
            <a:xfrm>
              <a:off x="7081846" y="1642534"/>
              <a:ext cx="592838" cy="592838"/>
              <a:chOff x="6546851" y="622300"/>
              <a:chExt cx="998538" cy="998538"/>
            </a:xfrm>
            <a:solidFill>
              <a:schemeClr val="bg1">
                <a:lumMod val="65000"/>
              </a:schemeClr>
            </a:solidFill>
          </p:grpSpPr>
          <p:sp>
            <p:nvSpPr>
              <p:cNvPr id="170" name="Freeform 32">
                <a:extLst>
                  <a:ext uri="{FF2B5EF4-FFF2-40B4-BE49-F238E27FC236}">
                    <a16:creationId xmlns:a16="http://schemas.microsoft.com/office/drawing/2014/main" id="{9702D2C5-7457-0807-9060-DBABE04F1B4C}"/>
                  </a:ext>
                </a:extLst>
              </p:cNvPr>
              <p:cNvSpPr>
                <a:spLocks noEditPoints="1"/>
              </p:cNvSpPr>
              <p:nvPr/>
            </p:nvSpPr>
            <p:spPr bwMode="auto">
              <a:xfrm>
                <a:off x="6773863" y="849313"/>
                <a:ext cx="541338" cy="541338"/>
              </a:xfrm>
              <a:custGeom>
                <a:avLst/>
                <a:gdLst>
                  <a:gd name="T0" fmla="*/ 94 w 188"/>
                  <a:gd name="T1" fmla="*/ 0 h 188"/>
                  <a:gd name="T2" fmla="*/ 0 w 188"/>
                  <a:gd name="T3" fmla="*/ 94 h 188"/>
                  <a:gd name="T4" fmla="*/ 94 w 188"/>
                  <a:gd name="T5" fmla="*/ 188 h 188"/>
                  <a:gd name="T6" fmla="*/ 188 w 188"/>
                  <a:gd name="T7" fmla="*/ 94 h 188"/>
                  <a:gd name="T8" fmla="*/ 94 w 188"/>
                  <a:gd name="T9" fmla="*/ 0 h 188"/>
                  <a:gd name="T10" fmla="*/ 138 w 188"/>
                  <a:gd name="T11" fmla="*/ 36 h 188"/>
                  <a:gd name="T12" fmla="*/ 152 w 188"/>
                  <a:gd name="T13" fmla="*/ 58 h 188"/>
                  <a:gd name="T14" fmla="*/ 138 w 188"/>
                  <a:gd name="T15" fmla="*/ 80 h 188"/>
                  <a:gd name="T16" fmla="*/ 123 w 188"/>
                  <a:gd name="T17" fmla="*/ 58 h 188"/>
                  <a:gd name="T18" fmla="*/ 138 w 188"/>
                  <a:gd name="T19" fmla="*/ 36 h 188"/>
                  <a:gd name="T20" fmla="*/ 51 w 188"/>
                  <a:gd name="T21" fmla="*/ 36 h 188"/>
                  <a:gd name="T22" fmla="*/ 65 w 188"/>
                  <a:gd name="T23" fmla="*/ 58 h 188"/>
                  <a:gd name="T24" fmla="*/ 51 w 188"/>
                  <a:gd name="T25" fmla="*/ 80 h 188"/>
                  <a:gd name="T26" fmla="*/ 36 w 188"/>
                  <a:gd name="T27" fmla="*/ 58 h 188"/>
                  <a:gd name="T28" fmla="*/ 51 w 188"/>
                  <a:gd name="T29" fmla="*/ 36 h 188"/>
                  <a:gd name="T30" fmla="*/ 94 w 188"/>
                  <a:gd name="T31" fmla="*/ 167 h 188"/>
                  <a:gd name="T32" fmla="*/ 22 w 188"/>
                  <a:gd name="T33" fmla="*/ 95 h 188"/>
                  <a:gd name="T34" fmla="*/ 94 w 188"/>
                  <a:gd name="T35" fmla="*/ 114 h 188"/>
                  <a:gd name="T36" fmla="*/ 167 w 188"/>
                  <a:gd name="T37" fmla="*/ 95 h 188"/>
                  <a:gd name="T38" fmla="*/ 94 w 188"/>
                  <a:gd name="T39" fmla="*/ 167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8" h="188">
                    <a:moveTo>
                      <a:pt x="94" y="0"/>
                    </a:moveTo>
                    <a:cubicBezTo>
                      <a:pt x="42" y="0"/>
                      <a:pt x="0" y="42"/>
                      <a:pt x="0" y="94"/>
                    </a:cubicBezTo>
                    <a:cubicBezTo>
                      <a:pt x="0" y="146"/>
                      <a:pt x="42" y="188"/>
                      <a:pt x="94" y="188"/>
                    </a:cubicBezTo>
                    <a:cubicBezTo>
                      <a:pt x="146" y="188"/>
                      <a:pt x="188" y="146"/>
                      <a:pt x="188" y="94"/>
                    </a:cubicBezTo>
                    <a:cubicBezTo>
                      <a:pt x="188" y="42"/>
                      <a:pt x="146" y="0"/>
                      <a:pt x="94" y="0"/>
                    </a:cubicBezTo>
                    <a:close/>
                    <a:moveTo>
                      <a:pt x="138" y="36"/>
                    </a:moveTo>
                    <a:cubicBezTo>
                      <a:pt x="146" y="36"/>
                      <a:pt x="152" y="46"/>
                      <a:pt x="152" y="58"/>
                    </a:cubicBezTo>
                    <a:cubicBezTo>
                      <a:pt x="152" y="70"/>
                      <a:pt x="146" y="80"/>
                      <a:pt x="138" y="80"/>
                    </a:cubicBezTo>
                    <a:cubicBezTo>
                      <a:pt x="130" y="80"/>
                      <a:pt x="123" y="70"/>
                      <a:pt x="123" y="58"/>
                    </a:cubicBezTo>
                    <a:cubicBezTo>
                      <a:pt x="123" y="46"/>
                      <a:pt x="130" y="36"/>
                      <a:pt x="138" y="36"/>
                    </a:cubicBezTo>
                    <a:close/>
                    <a:moveTo>
                      <a:pt x="51" y="36"/>
                    </a:moveTo>
                    <a:cubicBezTo>
                      <a:pt x="59" y="36"/>
                      <a:pt x="65" y="46"/>
                      <a:pt x="65" y="58"/>
                    </a:cubicBezTo>
                    <a:cubicBezTo>
                      <a:pt x="65" y="70"/>
                      <a:pt x="59" y="80"/>
                      <a:pt x="51" y="80"/>
                    </a:cubicBezTo>
                    <a:cubicBezTo>
                      <a:pt x="43" y="80"/>
                      <a:pt x="36" y="70"/>
                      <a:pt x="36" y="58"/>
                    </a:cubicBezTo>
                    <a:cubicBezTo>
                      <a:pt x="36" y="46"/>
                      <a:pt x="43" y="36"/>
                      <a:pt x="51" y="36"/>
                    </a:cubicBezTo>
                    <a:close/>
                    <a:moveTo>
                      <a:pt x="94" y="167"/>
                    </a:moveTo>
                    <a:cubicBezTo>
                      <a:pt x="56" y="167"/>
                      <a:pt x="25" y="135"/>
                      <a:pt x="22" y="95"/>
                    </a:cubicBezTo>
                    <a:cubicBezTo>
                      <a:pt x="43" y="107"/>
                      <a:pt x="68" y="114"/>
                      <a:pt x="94" y="114"/>
                    </a:cubicBezTo>
                    <a:cubicBezTo>
                      <a:pt x="120" y="114"/>
                      <a:pt x="145" y="107"/>
                      <a:pt x="167" y="95"/>
                    </a:cubicBezTo>
                    <a:cubicBezTo>
                      <a:pt x="163" y="135"/>
                      <a:pt x="132" y="167"/>
                      <a:pt x="94" y="1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71" name="Freeform 33">
                <a:extLst>
                  <a:ext uri="{FF2B5EF4-FFF2-40B4-BE49-F238E27FC236}">
                    <a16:creationId xmlns:a16="http://schemas.microsoft.com/office/drawing/2014/main" id="{46C8244E-3A6F-41B0-8252-39AA4772509B}"/>
                  </a:ext>
                </a:extLst>
              </p:cNvPr>
              <p:cNvSpPr>
                <a:spLocks noEditPoints="1"/>
              </p:cNvSpPr>
              <p:nvPr/>
            </p:nvSpPr>
            <p:spPr bwMode="auto">
              <a:xfrm>
                <a:off x="6546851" y="622300"/>
                <a:ext cx="998538" cy="998538"/>
              </a:xfrm>
              <a:custGeom>
                <a:avLst/>
                <a:gdLst>
                  <a:gd name="T0" fmla="*/ 173 w 347"/>
                  <a:gd name="T1" fmla="*/ 0 h 347"/>
                  <a:gd name="T2" fmla="*/ 0 w 347"/>
                  <a:gd name="T3" fmla="*/ 173 h 347"/>
                  <a:gd name="T4" fmla="*/ 173 w 347"/>
                  <a:gd name="T5" fmla="*/ 347 h 347"/>
                  <a:gd name="T6" fmla="*/ 347 w 347"/>
                  <a:gd name="T7" fmla="*/ 173 h 347"/>
                  <a:gd name="T8" fmla="*/ 173 w 347"/>
                  <a:gd name="T9" fmla="*/ 0 h 347"/>
                  <a:gd name="T10" fmla="*/ 173 w 347"/>
                  <a:gd name="T11" fmla="*/ 289 h 347"/>
                  <a:gd name="T12" fmla="*/ 57 w 347"/>
                  <a:gd name="T13" fmla="*/ 173 h 347"/>
                  <a:gd name="T14" fmla="*/ 173 w 347"/>
                  <a:gd name="T15" fmla="*/ 57 h 347"/>
                  <a:gd name="T16" fmla="*/ 289 w 347"/>
                  <a:gd name="T17" fmla="*/ 173 h 347"/>
                  <a:gd name="T18" fmla="*/ 173 w 347"/>
                  <a:gd name="T19" fmla="*/ 289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3" y="0"/>
                    </a:moveTo>
                    <a:cubicBezTo>
                      <a:pt x="77" y="0"/>
                      <a:pt x="0" y="77"/>
                      <a:pt x="0" y="173"/>
                    </a:cubicBezTo>
                    <a:cubicBezTo>
                      <a:pt x="0" y="269"/>
                      <a:pt x="77" y="347"/>
                      <a:pt x="173" y="347"/>
                    </a:cubicBezTo>
                    <a:cubicBezTo>
                      <a:pt x="269" y="347"/>
                      <a:pt x="347" y="269"/>
                      <a:pt x="347" y="173"/>
                    </a:cubicBezTo>
                    <a:cubicBezTo>
                      <a:pt x="347" y="77"/>
                      <a:pt x="269" y="0"/>
                      <a:pt x="173" y="0"/>
                    </a:cubicBezTo>
                    <a:close/>
                    <a:moveTo>
                      <a:pt x="173" y="289"/>
                    </a:moveTo>
                    <a:cubicBezTo>
                      <a:pt x="109" y="289"/>
                      <a:pt x="57" y="237"/>
                      <a:pt x="57" y="173"/>
                    </a:cubicBezTo>
                    <a:cubicBezTo>
                      <a:pt x="57" y="109"/>
                      <a:pt x="109" y="57"/>
                      <a:pt x="173" y="57"/>
                    </a:cubicBezTo>
                    <a:cubicBezTo>
                      <a:pt x="237" y="57"/>
                      <a:pt x="289" y="109"/>
                      <a:pt x="289" y="173"/>
                    </a:cubicBezTo>
                    <a:cubicBezTo>
                      <a:pt x="289" y="237"/>
                      <a:pt x="237" y="289"/>
                      <a:pt x="173" y="2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15" name="Group 14">
              <a:extLst>
                <a:ext uri="{FF2B5EF4-FFF2-40B4-BE49-F238E27FC236}">
                  <a16:creationId xmlns:a16="http://schemas.microsoft.com/office/drawing/2014/main" id="{6F0C8FAA-BEFD-A4C6-5E3A-3DAE439D6DFC}"/>
                </a:ext>
              </a:extLst>
            </p:cNvPr>
            <p:cNvGrpSpPr/>
            <p:nvPr/>
          </p:nvGrpSpPr>
          <p:grpSpPr>
            <a:xfrm>
              <a:off x="7514457" y="4421047"/>
              <a:ext cx="601321" cy="601321"/>
              <a:chOff x="7275513" y="5302250"/>
              <a:chExt cx="1012825" cy="1012825"/>
            </a:xfrm>
            <a:solidFill>
              <a:srgbClr val="F8B323"/>
            </a:solidFill>
          </p:grpSpPr>
          <p:sp>
            <p:nvSpPr>
              <p:cNvPr id="168" name="Freeform 34">
                <a:extLst>
                  <a:ext uri="{FF2B5EF4-FFF2-40B4-BE49-F238E27FC236}">
                    <a16:creationId xmlns:a16="http://schemas.microsoft.com/office/drawing/2014/main" id="{56467CE5-33B3-3354-7424-0B1C68C73E62}"/>
                  </a:ext>
                </a:extLst>
              </p:cNvPr>
              <p:cNvSpPr>
                <a:spLocks/>
              </p:cNvSpPr>
              <p:nvPr/>
            </p:nvSpPr>
            <p:spPr bwMode="auto">
              <a:xfrm>
                <a:off x="7467601" y="5521325"/>
                <a:ext cx="608013" cy="606425"/>
              </a:xfrm>
              <a:custGeom>
                <a:avLst/>
                <a:gdLst>
                  <a:gd name="T0" fmla="*/ 189 w 211"/>
                  <a:gd name="T1" fmla="*/ 85 h 211"/>
                  <a:gd name="T2" fmla="*/ 187 w 211"/>
                  <a:gd name="T3" fmla="*/ 64 h 211"/>
                  <a:gd name="T4" fmla="*/ 192 w 211"/>
                  <a:gd name="T5" fmla="*/ 41 h 211"/>
                  <a:gd name="T6" fmla="*/ 179 w 211"/>
                  <a:gd name="T7" fmla="*/ 31 h 211"/>
                  <a:gd name="T8" fmla="*/ 170 w 211"/>
                  <a:gd name="T9" fmla="*/ 36 h 211"/>
                  <a:gd name="T10" fmla="*/ 164 w 211"/>
                  <a:gd name="T11" fmla="*/ 34 h 211"/>
                  <a:gd name="T12" fmla="*/ 155 w 211"/>
                  <a:gd name="T13" fmla="*/ 26 h 211"/>
                  <a:gd name="T14" fmla="*/ 148 w 211"/>
                  <a:gd name="T15" fmla="*/ 20 h 211"/>
                  <a:gd name="T16" fmla="*/ 149 w 211"/>
                  <a:gd name="T17" fmla="*/ 11 h 211"/>
                  <a:gd name="T18" fmla="*/ 125 w 211"/>
                  <a:gd name="T19" fmla="*/ 5 h 211"/>
                  <a:gd name="T20" fmla="*/ 106 w 211"/>
                  <a:gd name="T21" fmla="*/ 1 h 211"/>
                  <a:gd name="T22" fmla="*/ 89 w 211"/>
                  <a:gd name="T23" fmla="*/ 2 h 211"/>
                  <a:gd name="T24" fmla="*/ 88 w 211"/>
                  <a:gd name="T25" fmla="*/ 7 h 211"/>
                  <a:gd name="T26" fmla="*/ 99 w 211"/>
                  <a:gd name="T27" fmla="*/ 3 h 211"/>
                  <a:gd name="T28" fmla="*/ 101 w 211"/>
                  <a:gd name="T29" fmla="*/ 13 h 211"/>
                  <a:gd name="T30" fmla="*/ 83 w 211"/>
                  <a:gd name="T31" fmla="*/ 23 h 211"/>
                  <a:gd name="T32" fmla="*/ 87 w 211"/>
                  <a:gd name="T33" fmla="*/ 31 h 211"/>
                  <a:gd name="T34" fmla="*/ 96 w 211"/>
                  <a:gd name="T35" fmla="*/ 25 h 211"/>
                  <a:gd name="T36" fmla="*/ 108 w 211"/>
                  <a:gd name="T37" fmla="*/ 30 h 211"/>
                  <a:gd name="T38" fmla="*/ 118 w 211"/>
                  <a:gd name="T39" fmla="*/ 29 h 211"/>
                  <a:gd name="T40" fmla="*/ 130 w 211"/>
                  <a:gd name="T41" fmla="*/ 32 h 211"/>
                  <a:gd name="T42" fmla="*/ 128 w 211"/>
                  <a:gd name="T43" fmla="*/ 37 h 211"/>
                  <a:gd name="T44" fmla="*/ 116 w 211"/>
                  <a:gd name="T45" fmla="*/ 43 h 211"/>
                  <a:gd name="T46" fmla="*/ 117 w 211"/>
                  <a:gd name="T47" fmla="*/ 50 h 211"/>
                  <a:gd name="T48" fmla="*/ 113 w 211"/>
                  <a:gd name="T49" fmla="*/ 58 h 211"/>
                  <a:gd name="T50" fmla="*/ 110 w 211"/>
                  <a:gd name="T51" fmla="*/ 91 h 211"/>
                  <a:gd name="T52" fmla="*/ 104 w 211"/>
                  <a:gd name="T53" fmla="*/ 97 h 211"/>
                  <a:gd name="T54" fmla="*/ 88 w 211"/>
                  <a:gd name="T55" fmla="*/ 77 h 211"/>
                  <a:gd name="T56" fmla="*/ 57 w 211"/>
                  <a:gd name="T57" fmla="*/ 83 h 211"/>
                  <a:gd name="T58" fmla="*/ 73 w 211"/>
                  <a:gd name="T59" fmla="*/ 89 h 211"/>
                  <a:gd name="T60" fmla="*/ 75 w 211"/>
                  <a:gd name="T61" fmla="*/ 94 h 211"/>
                  <a:gd name="T62" fmla="*/ 63 w 211"/>
                  <a:gd name="T63" fmla="*/ 97 h 211"/>
                  <a:gd name="T64" fmla="*/ 62 w 211"/>
                  <a:gd name="T65" fmla="*/ 105 h 211"/>
                  <a:gd name="T66" fmla="*/ 70 w 211"/>
                  <a:gd name="T67" fmla="*/ 110 h 211"/>
                  <a:gd name="T68" fmla="*/ 84 w 211"/>
                  <a:gd name="T69" fmla="*/ 107 h 211"/>
                  <a:gd name="T70" fmla="*/ 99 w 211"/>
                  <a:gd name="T71" fmla="*/ 114 h 211"/>
                  <a:gd name="T72" fmla="*/ 116 w 211"/>
                  <a:gd name="T73" fmla="*/ 109 h 211"/>
                  <a:gd name="T74" fmla="*/ 118 w 211"/>
                  <a:gd name="T75" fmla="*/ 131 h 211"/>
                  <a:gd name="T76" fmla="*/ 109 w 211"/>
                  <a:gd name="T77" fmla="*/ 159 h 211"/>
                  <a:gd name="T78" fmla="*/ 90 w 211"/>
                  <a:gd name="T79" fmla="*/ 189 h 211"/>
                  <a:gd name="T80" fmla="*/ 82 w 211"/>
                  <a:gd name="T81" fmla="*/ 197 h 211"/>
                  <a:gd name="T82" fmla="*/ 79 w 211"/>
                  <a:gd name="T83" fmla="*/ 181 h 211"/>
                  <a:gd name="T84" fmla="*/ 78 w 211"/>
                  <a:gd name="T85" fmla="*/ 159 h 211"/>
                  <a:gd name="T86" fmla="*/ 63 w 211"/>
                  <a:gd name="T87" fmla="*/ 132 h 211"/>
                  <a:gd name="T88" fmla="*/ 72 w 211"/>
                  <a:gd name="T89" fmla="*/ 125 h 211"/>
                  <a:gd name="T90" fmla="*/ 60 w 211"/>
                  <a:gd name="T91" fmla="*/ 115 h 211"/>
                  <a:gd name="T92" fmla="*/ 55 w 211"/>
                  <a:gd name="T93" fmla="*/ 102 h 211"/>
                  <a:gd name="T94" fmla="*/ 50 w 211"/>
                  <a:gd name="T95" fmla="*/ 89 h 211"/>
                  <a:gd name="T96" fmla="*/ 38 w 211"/>
                  <a:gd name="T97" fmla="*/ 78 h 211"/>
                  <a:gd name="T98" fmla="*/ 37 w 211"/>
                  <a:gd name="T99" fmla="*/ 91 h 211"/>
                  <a:gd name="T100" fmla="*/ 30 w 211"/>
                  <a:gd name="T101" fmla="*/ 91 h 211"/>
                  <a:gd name="T102" fmla="*/ 32 w 211"/>
                  <a:gd name="T103" fmla="*/ 52 h 211"/>
                  <a:gd name="T104" fmla="*/ 20 w 211"/>
                  <a:gd name="T105" fmla="*/ 148 h 211"/>
                  <a:gd name="T106" fmla="*/ 167 w 211"/>
                  <a:gd name="T107" fmla="*/ 185 h 211"/>
                  <a:gd name="T108" fmla="*/ 160 w 211"/>
                  <a:gd name="T109" fmla="*/ 127 h 211"/>
                  <a:gd name="T110" fmla="*/ 184 w 211"/>
                  <a:gd name="T111" fmla="*/ 133 h 211"/>
                  <a:gd name="T112" fmla="*/ 201 w 211"/>
                  <a:gd name="T113" fmla="*/ 146 h 211"/>
                  <a:gd name="T114" fmla="*/ 206 w 211"/>
                  <a:gd name="T115" fmla="*/ 10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1" h="211">
                    <a:moveTo>
                      <a:pt x="196" y="93"/>
                    </a:moveTo>
                    <a:cubicBezTo>
                      <a:pt x="195" y="88"/>
                      <a:pt x="194" y="87"/>
                      <a:pt x="189" y="85"/>
                    </a:cubicBezTo>
                    <a:cubicBezTo>
                      <a:pt x="183" y="84"/>
                      <a:pt x="181" y="81"/>
                      <a:pt x="183" y="76"/>
                    </a:cubicBezTo>
                    <a:cubicBezTo>
                      <a:pt x="184" y="72"/>
                      <a:pt x="186" y="68"/>
                      <a:pt x="187" y="64"/>
                    </a:cubicBezTo>
                    <a:cubicBezTo>
                      <a:pt x="189" y="61"/>
                      <a:pt x="190" y="57"/>
                      <a:pt x="189" y="52"/>
                    </a:cubicBezTo>
                    <a:cubicBezTo>
                      <a:pt x="188" y="48"/>
                      <a:pt x="189" y="44"/>
                      <a:pt x="192" y="41"/>
                    </a:cubicBezTo>
                    <a:cubicBezTo>
                      <a:pt x="189" y="37"/>
                      <a:pt x="186" y="34"/>
                      <a:pt x="182" y="30"/>
                    </a:cubicBezTo>
                    <a:cubicBezTo>
                      <a:pt x="181" y="28"/>
                      <a:pt x="180" y="29"/>
                      <a:pt x="179" y="31"/>
                    </a:cubicBezTo>
                    <a:cubicBezTo>
                      <a:pt x="179" y="32"/>
                      <a:pt x="179" y="33"/>
                      <a:pt x="179" y="33"/>
                    </a:cubicBezTo>
                    <a:cubicBezTo>
                      <a:pt x="178" y="38"/>
                      <a:pt x="174" y="39"/>
                      <a:pt x="170" y="36"/>
                    </a:cubicBezTo>
                    <a:cubicBezTo>
                      <a:pt x="170" y="36"/>
                      <a:pt x="169" y="35"/>
                      <a:pt x="168" y="35"/>
                    </a:cubicBezTo>
                    <a:cubicBezTo>
                      <a:pt x="167" y="34"/>
                      <a:pt x="165" y="34"/>
                      <a:pt x="164" y="34"/>
                    </a:cubicBezTo>
                    <a:cubicBezTo>
                      <a:pt x="160" y="35"/>
                      <a:pt x="159" y="34"/>
                      <a:pt x="159" y="30"/>
                    </a:cubicBezTo>
                    <a:cubicBezTo>
                      <a:pt x="160" y="27"/>
                      <a:pt x="159" y="25"/>
                      <a:pt x="155" y="26"/>
                    </a:cubicBezTo>
                    <a:cubicBezTo>
                      <a:pt x="154" y="26"/>
                      <a:pt x="153" y="26"/>
                      <a:pt x="152" y="26"/>
                    </a:cubicBezTo>
                    <a:cubicBezTo>
                      <a:pt x="149" y="26"/>
                      <a:pt x="147" y="23"/>
                      <a:pt x="148" y="20"/>
                    </a:cubicBezTo>
                    <a:cubicBezTo>
                      <a:pt x="148" y="18"/>
                      <a:pt x="149" y="17"/>
                      <a:pt x="149" y="15"/>
                    </a:cubicBezTo>
                    <a:cubicBezTo>
                      <a:pt x="150" y="14"/>
                      <a:pt x="150" y="12"/>
                      <a:pt x="149" y="11"/>
                    </a:cubicBezTo>
                    <a:cubicBezTo>
                      <a:pt x="147" y="9"/>
                      <a:pt x="144" y="7"/>
                      <a:pt x="141" y="5"/>
                    </a:cubicBezTo>
                    <a:cubicBezTo>
                      <a:pt x="136" y="1"/>
                      <a:pt x="130" y="4"/>
                      <a:pt x="125" y="5"/>
                    </a:cubicBezTo>
                    <a:cubicBezTo>
                      <a:pt x="124" y="9"/>
                      <a:pt x="124" y="10"/>
                      <a:pt x="119" y="9"/>
                    </a:cubicBezTo>
                    <a:cubicBezTo>
                      <a:pt x="114" y="7"/>
                      <a:pt x="110" y="5"/>
                      <a:pt x="106" y="1"/>
                    </a:cubicBezTo>
                    <a:cubicBezTo>
                      <a:pt x="106" y="0"/>
                      <a:pt x="105" y="0"/>
                      <a:pt x="104" y="0"/>
                    </a:cubicBezTo>
                    <a:cubicBezTo>
                      <a:pt x="99" y="1"/>
                      <a:pt x="94" y="1"/>
                      <a:pt x="89" y="2"/>
                    </a:cubicBezTo>
                    <a:cubicBezTo>
                      <a:pt x="88" y="2"/>
                      <a:pt x="87" y="3"/>
                      <a:pt x="87" y="4"/>
                    </a:cubicBezTo>
                    <a:cubicBezTo>
                      <a:pt x="87" y="5"/>
                      <a:pt x="87" y="6"/>
                      <a:pt x="88" y="7"/>
                    </a:cubicBezTo>
                    <a:cubicBezTo>
                      <a:pt x="90" y="7"/>
                      <a:pt x="92" y="7"/>
                      <a:pt x="93" y="6"/>
                    </a:cubicBezTo>
                    <a:cubicBezTo>
                      <a:pt x="95" y="5"/>
                      <a:pt x="97" y="4"/>
                      <a:pt x="99" y="3"/>
                    </a:cubicBezTo>
                    <a:cubicBezTo>
                      <a:pt x="102" y="2"/>
                      <a:pt x="103" y="2"/>
                      <a:pt x="104" y="5"/>
                    </a:cubicBezTo>
                    <a:cubicBezTo>
                      <a:pt x="105" y="8"/>
                      <a:pt x="104" y="11"/>
                      <a:pt x="101" y="13"/>
                    </a:cubicBezTo>
                    <a:cubicBezTo>
                      <a:pt x="98" y="15"/>
                      <a:pt x="94" y="17"/>
                      <a:pt x="90" y="19"/>
                    </a:cubicBezTo>
                    <a:cubicBezTo>
                      <a:pt x="88" y="20"/>
                      <a:pt x="85" y="22"/>
                      <a:pt x="83" y="23"/>
                    </a:cubicBezTo>
                    <a:cubicBezTo>
                      <a:pt x="81" y="25"/>
                      <a:pt x="79" y="27"/>
                      <a:pt x="81" y="30"/>
                    </a:cubicBezTo>
                    <a:cubicBezTo>
                      <a:pt x="82" y="32"/>
                      <a:pt x="85" y="31"/>
                      <a:pt x="87" y="31"/>
                    </a:cubicBezTo>
                    <a:cubicBezTo>
                      <a:pt x="89" y="30"/>
                      <a:pt x="91" y="29"/>
                      <a:pt x="93" y="28"/>
                    </a:cubicBezTo>
                    <a:cubicBezTo>
                      <a:pt x="94" y="27"/>
                      <a:pt x="95" y="26"/>
                      <a:pt x="96" y="25"/>
                    </a:cubicBezTo>
                    <a:cubicBezTo>
                      <a:pt x="98" y="24"/>
                      <a:pt x="99" y="24"/>
                      <a:pt x="100" y="27"/>
                    </a:cubicBezTo>
                    <a:cubicBezTo>
                      <a:pt x="102" y="31"/>
                      <a:pt x="105" y="32"/>
                      <a:pt x="108" y="30"/>
                    </a:cubicBezTo>
                    <a:cubicBezTo>
                      <a:pt x="110" y="29"/>
                      <a:pt x="111" y="27"/>
                      <a:pt x="113" y="26"/>
                    </a:cubicBezTo>
                    <a:cubicBezTo>
                      <a:pt x="116" y="25"/>
                      <a:pt x="118" y="26"/>
                      <a:pt x="118" y="29"/>
                    </a:cubicBezTo>
                    <a:cubicBezTo>
                      <a:pt x="119" y="33"/>
                      <a:pt x="120" y="34"/>
                      <a:pt x="124" y="33"/>
                    </a:cubicBezTo>
                    <a:cubicBezTo>
                      <a:pt x="126" y="33"/>
                      <a:pt x="128" y="33"/>
                      <a:pt x="130" y="32"/>
                    </a:cubicBezTo>
                    <a:cubicBezTo>
                      <a:pt x="130" y="33"/>
                      <a:pt x="131" y="33"/>
                      <a:pt x="131" y="33"/>
                    </a:cubicBezTo>
                    <a:cubicBezTo>
                      <a:pt x="130" y="34"/>
                      <a:pt x="130" y="36"/>
                      <a:pt x="128" y="37"/>
                    </a:cubicBezTo>
                    <a:cubicBezTo>
                      <a:pt x="127" y="39"/>
                      <a:pt x="124" y="40"/>
                      <a:pt x="122" y="41"/>
                    </a:cubicBezTo>
                    <a:cubicBezTo>
                      <a:pt x="119" y="42"/>
                      <a:pt x="116" y="43"/>
                      <a:pt x="116" y="43"/>
                    </a:cubicBezTo>
                    <a:cubicBezTo>
                      <a:pt x="116" y="43"/>
                      <a:pt x="120" y="45"/>
                      <a:pt x="118" y="46"/>
                    </a:cubicBezTo>
                    <a:cubicBezTo>
                      <a:pt x="114" y="47"/>
                      <a:pt x="108" y="53"/>
                      <a:pt x="117" y="50"/>
                    </a:cubicBezTo>
                    <a:cubicBezTo>
                      <a:pt x="118" y="50"/>
                      <a:pt x="120" y="50"/>
                      <a:pt x="122" y="49"/>
                    </a:cubicBezTo>
                    <a:cubicBezTo>
                      <a:pt x="120" y="54"/>
                      <a:pt x="116" y="56"/>
                      <a:pt x="113" y="58"/>
                    </a:cubicBezTo>
                    <a:cubicBezTo>
                      <a:pt x="102" y="64"/>
                      <a:pt x="101" y="79"/>
                      <a:pt x="107" y="86"/>
                    </a:cubicBezTo>
                    <a:cubicBezTo>
                      <a:pt x="108" y="88"/>
                      <a:pt x="109" y="89"/>
                      <a:pt x="110" y="91"/>
                    </a:cubicBezTo>
                    <a:cubicBezTo>
                      <a:pt x="111" y="93"/>
                      <a:pt x="111" y="96"/>
                      <a:pt x="109" y="97"/>
                    </a:cubicBezTo>
                    <a:cubicBezTo>
                      <a:pt x="108" y="98"/>
                      <a:pt x="105" y="97"/>
                      <a:pt x="104" y="97"/>
                    </a:cubicBezTo>
                    <a:cubicBezTo>
                      <a:pt x="101" y="94"/>
                      <a:pt x="98" y="92"/>
                      <a:pt x="96" y="89"/>
                    </a:cubicBezTo>
                    <a:cubicBezTo>
                      <a:pt x="93" y="85"/>
                      <a:pt x="91" y="81"/>
                      <a:pt x="88" y="77"/>
                    </a:cubicBezTo>
                    <a:cubicBezTo>
                      <a:pt x="78" y="66"/>
                      <a:pt x="66" y="68"/>
                      <a:pt x="57" y="77"/>
                    </a:cubicBezTo>
                    <a:cubicBezTo>
                      <a:pt x="54" y="79"/>
                      <a:pt x="55" y="81"/>
                      <a:pt x="57" y="83"/>
                    </a:cubicBezTo>
                    <a:cubicBezTo>
                      <a:pt x="58" y="83"/>
                      <a:pt x="59" y="84"/>
                      <a:pt x="60" y="84"/>
                    </a:cubicBezTo>
                    <a:cubicBezTo>
                      <a:pt x="65" y="86"/>
                      <a:pt x="69" y="88"/>
                      <a:pt x="73" y="89"/>
                    </a:cubicBezTo>
                    <a:cubicBezTo>
                      <a:pt x="74" y="90"/>
                      <a:pt x="75" y="90"/>
                      <a:pt x="76" y="91"/>
                    </a:cubicBezTo>
                    <a:cubicBezTo>
                      <a:pt x="77" y="92"/>
                      <a:pt x="77" y="93"/>
                      <a:pt x="75" y="94"/>
                    </a:cubicBezTo>
                    <a:cubicBezTo>
                      <a:pt x="74" y="95"/>
                      <a:pt x="72" y="95"/>
                      <a:pt x="71" y="95"/>
                    </a:cubicBezTo>
                    <a:cubicBezTo>
                      <a:pt x="68" y="96"/>
                      <a:pt x="65" y="96"/>
                      <a:pt x="63" y="97"/>
                    </a:cubicBezTo>
                    <a:cubicBezTo>
                      <a:pt x="61" y="98"/>
                      <a:pt x="59" y="100"/>
                      <a:pt x="59" y="101"/>
                    </a:cubicBezTo>
                    <a:cubicBezTo>
                      <a:pt x="59" y="102"/>
                      <a:pt x="61" y="104"/>
                      <a:pt x="62" y="105"/>
                    </a:cubicBezTo>
                    <a:cubicBezTo>
                      <a:pt x="63" y="106"/>
                      <a:pt x="64" y="106"/>
                      <a:pt x="65" y="107"/>
                    </a:cubicBezTo>
                    <a:cubicBezTo>
                      <a:pt x="67" y="108"/>
                      <a:pt x="69" y="109"/>
                      <a:pt x="70" y="110"/>
                    </a:cubicBezTo>
                    <a:cubicBezTo>
                      <a:pt x="72" y="113"/>
                      <a:pt x="74" y="113"/>
                      <a:pt x="76" y="112"/>
                    </a:cubicBezTo>
                    <a:cubicBezTo>
                      <a:pt x="79" y="110"/>
                      <a:pt x="81" y="109"/>
                      <a:pt x="84" y="107"/>
                    </a:cubicBezTo>
                    <a:cubicBezTo>
                      <a:pt x="87" y="105"/>
                      <a:pt x="87" y="105"/>
                      <a:pt x="89" y="108"/>
                    </a:cubicBezTo>
                    <a:cubicBezTo>
                      <a:pt x="91" y="112"/>
                      <a:pt x="94" y="115"/>
                      <a:pt x="99" y="114"/>
                    </a:cubicBezTo>
                    <a:cubicBezTo>
                      <a:pt x="102" y="114"/>
                      <a:pt x="106" y="112"/>
                      <a:pt x="109" y="111"/>
                    </a:cubicBezTo>
                    <a:cubicBezTo>
                      <a:pt x="111" y="110"/>
                      <a:pt x="113" y="109"/>
                      <a:pt x="116" y="109"/>
                    </a:cubicBezTo>
                    <a:cubicBezTo>
                      <a:pt x="121" y="108"/>
                      <a:pt x="124" y="112"/>
                      <a:pt x="124" y="118"/>
                    </a:cubicBezTo>
                    <a:cubicBezTo>
                      <a:pt x="125" y="124"/>
                      <a:pt x="122" y="128"/>
                      <a:pt x="118" y="131"/>
                    </a:cubicBezTo>
                    <a:cubicBezTo>
                      <a:pt x="114" y="135"/>
                      <a:pt x="112" y="139"/>
                      <a:pt x="114" y="145"/>
                    </a:cubicBezTo>
                    <a:cubicBezTo>
                      <a:pt x="116" y="150"/>
                      <a:pt x="114" y="155"/>
                      <a:pt x="109" y="159"/>
                    </a:cubicBezTo>
                    <a:cubicBezTo>
                      <a:pt x="106" y="162"/>
                      <a:pt x="103" y="164"/>
                      <a:pt x="99" y="167"/>
                    </a:cubicBezTo>
                    <a:cubicBezTo>
                      <a:pt x="95" y="169"/>
                      <a:pt x="89" y="184"/>
                      <a:pt x="90" y="189"/>
                    </a:cubicBezTo>
                    <a:cubicBezTo>
                      <a:pt x="90" y="190"/>
                      <a:pt x="91" y="191"/>
                      <a:pt x="90" y="192"/>
                    </a:cubicBezTo>
                    <a:cubicBezTo>
                      <a:pt x="90" y="197"/>
                      <a:pt x="87" y="196"/>
                      <a:pt x="82" y="197"/>
                    </a:cubicBezTo>
                    <a:cubicBezTo>
                      <a:pt x="79" y="198"/>
                      <a:pt x="80" y="192"/>
                      <a:pt x="79" y="189"/>
                    </a:cubicBezTo>
                    <a:cubicBezTo>
                      <a:pt x="78" y="186"/>
                      <a:pt x="78" y="183"/>
                      <a:pt x="79" y="181"/>
                    </a:cubicBezTo>
                    <a:cubicBezTo>
                      <a:pt x="79" y="178"/>
                      <a:pt x="81" y="176"/>
                      <a:pt x="81" y="173"/>
                    </a:cubicBezTo>
                    <a:cubicBezTo>
                      <a:pt x="83" y="168"/>
                      <a:pt x="82" y="163"/>
                      <a:pt x="78" y="159"/>
                    </a:cubicBezTo>
                    <a:cubicBezTo>
                      <a:pt x="76" y="158"/>
                      <a:pt x="74" y="156"/>
                      <a:pt x="73" y="154"/>
                    </a:cubicBezTo>
                    <a:cubicBezTo>
                      <a:pt x="66" y="148"/>
                      <a:pt x="63" y="141"/>
                      <a:pt x="63" y="132"/>
                    </a:cubicBezTo>
                    <a:cubicBezTo>
                      <a:pt x="63" y="128"/>
                      <a:pt x="65" y="126"/>
                      <a:pt x="69" y="126"/>
                    </a:cubicBezTo>
                    <a:cubicBezTo>
                      <a:pt x="70" y="126"/>
                      <a:pt x="71" y="125"/>
                      <a:pt x="72" y="125"/>
                    </a:cubicBezTo>
                    <a:cubicBezTo>
                      <a:pt x="71" y="122"/>
                      <a:pt x="70" y="120"/>
                      <a:pt x="66" y="120"/>
                    </a:cubicBezTo>
                    <a:cubicBezTo>
                      <a:pt x="63" y="120"/>
                      <a:pt x="61" y="118"/>
                      <a:pt x="60" y="115"/>
                    </a:cubicBezTo>
                    <a:cubicBezTo>
                      <a:pt x="59" y="114"/>
                      <a:pt x="59" y="112"/>
                      <a:pt x="59" y="111"/>
                    </a:cubicBezTo>
                    <a:cubicBezTo>
                      <a:pt x="57" y="108"/>
                      <a:pt x="57" y="104"/>
                      <a:pt x="55" y="102"/>
                    </a:cubicBezTo>
                    <a:cubicBezTo>
                      <a:pt x="53" y="99"/>
                      <a:pt x="52" y="97"/>
                      <a:pt x="52" y="94"/>
                    </a:cubicBezTo>
                    <a:cubicBezTo>
                      <a:pt x="52" y="92"/>
                      <a:pt x="51" y="91"/>
                      <a:pt x="50" y="89"/>
                    </a:cubicBezTo>
                    <a:cubicBezTo>
                      <a:pt x="47" y="87"/>
                      <a:pt x="45" y="84"/>
                      <a:pt x="42" y="82"/>
                    </a:cubicBezTo>
                    <a:cubicBezTo>
                      <a:pt x="41" y="81"/>
                      <a:pt x="40" y="80"/>
                      <a:pt x="38" y="78"/>
                    </a:cubicBezTo>
                    <a:cubicBezTo>
                      <a:pt x="38" y="81"/>
                      <a:pt x="38" y="83"/>
                      <a:pt x="38" y="84"/>
                    </a:cubicBezTo>
                    <a:cubicBezTo>
                      <a:pt x="38" y="86"/>
                      <a:pt x="38" y="89"/>
                      <a:pt x="37" y="91"/>
                    </a:cubicBezTo>
                    <a:cubicBezTo>
                      <a:pt x="37" y="92"/>
                      <a:pt x="35" y="94"/>
                      <a:pt x="34" y="94"/>
                    </a:cubicBezTo>
                    <a:cubicBezTo>
                      <a:pt x="33" y="94"/>
                      <a:pt x="31" y="92"/>
                      <a:pt x="30" y="91"/>
                    </a:cubicBezTo>
                    <a:cubicBezTo>
                      <a:pt x="30" y="89"/>
                      <a:pt x="30" y="86"/>
                      <a:pt x="30" y="84"/>
                    </a:cubicBezTo>
                    <a:cubicBezTo>
                      <a:pt x="32" y="73"/>
                      <a:pt x="33" y="62"/>
                      <a:pt x="32" y="52"/>
                    </a:cubicBezTo>
                    <a:cubicBezTo>
                      <a:pt x="32" y="48"/>
                      <a:pt x="31" y="44"/>
                      <a:pt x="30" y="39"/>
                    </a:cubicBezTo>
                    <a:cubicBezTo>
                      <a:pt x="10" y="64"/>
                      <a:pt x="0" y="108"/>
                      <a:pt x="20" y="148"/>
                    </a:cubicBezTo>
                    <a:cubicBezTo>
                      <a:pt x="42" y="190"/>
                      <a:pt x="89" y="211"/>
                      <a:pt x="135" y="199"/>
                    </a:cubicBezTo>
                    <a:cubicBezTo>
                      <a:pt x="147" y="196"/>
                      <a:pt x="158" y="191"/>
                      <a:pt x="167" y="185"/>
                    </a:cubicBezTo>
                    <a:cubicBezTo>
                      <a:pt x="162" y="183"/>
                      <a:pt x="155" y="180"/>
                      <a:pt x="154" y="161"/>
                    </a:cubicBezTo>
                    <a:cubicBezTo>
                      <a:pt x="153" y="133"/>
                      <a:pt x="157" y="127"/>
                      <a:pt x="160" y="127"/>
                    </a:cubicBezTo>
                    <a:cubicBezTo>
                      <a:pt x="162" y="127"/>
                      <a:pt x="164" y="126"/>
                      <a:pt x="172" y="134"/>
                    </a:cubicBezTo>
                    <a:cubicBezTo>
                      <a:pt x="179" y="143"/>
                      <a:pt x="183" y="139"/>
                      <a:pt x="184" y="133"/>
                    </a:cubicBezTo>
                    <a:cubicBezTo>
                      <a:pt x="184" y="127"/>
                      <a:pt x="190" y="118"/>
                      <a:pt x="193" y="127"/>
                    </a:cubicBezTo>
                    <a:cubicBezTo>
                      <a:pt x="194" y="133"/>
                      <a:pt x="198" y="141"/>
                      <a:pt x="201" y="146"/>
                    </a:cubicBezTo>
                    <a:cubicBezTo>
                      <a:pt x="207" y="135"/>
                      <a:pt x="210" y="123"/>
                      <a:pt x="211" y="111"/>
                    </a:cubicBezTo>
                    <a:cubicBezTo>
                      <a:pt x="209" y="110"/>
                      <a:pt x="208" y="110"/>
                      <a:pt x="206" y="109"/>
                    </a:cubicBezTo>
                    <a:cubicBezTo>
                      <a:pt x="200" y="106"/>
                      <a:pt x="196" y="101"/>
                      <a:pt x="196"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9" name="Freeform 35">
                <a:extLst>
                  <a:ext uri="{FF2B5EF4-FFF2-40B4-BE49-F238E27FC236}">
                    <a16:creationId xmlns:a16="http://schemas.microsoft.com/office/drawing/2014/main" id="{FA2CE37D-5EA5-47AC-9D75-08B8F991CB7D}"/>
                  </a:ext>
                </a:extLst>
              </p:cNvPr>
              <p:cNvSpPr>
                <a:spLocks noEditPoints="1"/>
              </p:cNvSpPr>
              <p:nvPr/>
            </p:nvSpPr>
            <p:spPr bwMode="auto">
              <a:xfrm>
                <a:off x="7275513" y="5302250"/>
                <a:ext cx="1012825" cy="1012825"/>
              </a:xfrm>
              <a:custGeom>
                <a:avLst/>
                <a:gdLst>
                  <a:gd name="T0" fmla="*/ 176 w 352"/>
                  <a:gd name="T1" fmla="*/ 0 h 352"/>
                  <a:gd name="T2" fmla="*/ 0 w 352"/>
                  <a:gd name="T3" fmla="*/ 176 h 352"/>
                  <a:gd name="T4" fmla="*/ 176 w 352"/>
                  <a:gd name="T5" fmla="*/ 352 h 352"/>
                  <a:gd name="T6" fmla="*/ 352 w 352"/>
                  <a:gd name="T7" fmla="*/ 176 h 352"/>
                  <a:gd name="T8" fmla="*/ 176 w 352"/>
                  <a:gd name="T9" fmla="*/ 0 h 352"/>
                  <a:gd name="T10" fmla="*/ 258 w 352"/>
                  <a:gd name="T11" fmla="*/ 261 h 352"/>
                  <a:gd name="T12" fmla="*/ 188 w 352"/>
                  <a:gd name="T13" fmla="*/ 294 h 352"/>
                  <a:gd name="T14" fmla="*/ 96 w 352"/>
                  <a:gd name="T15" fmla="*/ 263 h 352"/>
                  <a:gd name="T16" fmla="*/ 59 w 352"/>
                  <a:gd name="T17" fmla="*/ 189 h 352"/>
                  <a:gd name="T18" fmla="*/ 157 w 352"/>
                  <a:gd name="T19" fmla="*/ 60 h 352"/>
                  <a:gd name="T20" fmla="*/ 175 w 352"/>
                  <a:gd name="T21" fmla="*/ 58 h 352"/>
                  <a:gd name="T22" fmla="*/ 176 w 352"/>
                  <a:gd name="T23" fmla="*/ 58 h 352"/>
                  <a:gd name="T24" fmla="*/ 196 w 352"/>
                  <a:gd name="T25" fmla="*/ 60 h 352"/>
                  <a:gd name="T26" fmla="*/ 272 w 352"/>
                  <a:gd name="T27" fmla="*/ 108 h 352"/>
                  <a:gd name="T28" fmla="*/ 293 w 352"/>
                  <a:gd name="T29" fmla="*/ 162 h 352"/>
                  <a:gd name="T30" fmla="*/ 258 w 352"/>
                  <a:gd name="T31" fmla="*/ 261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2" h="352">
                    <a:moveTo>
                      <a:pt x="176" y="0"/>
                    </a:moveTo>
                    <a:cubicBezTo>
                      <a:pt x="79" y="0"/>
                      <a:pt x="0" y="79"/>
                      <a:pt x="0" y="176"/>
                    </a:cubicBezTo>
                    <a:cubicBezTo>
                      <a:pt x="0" y="273"/>
                      <a:pt x="79" y="352"/>
                      <a:pt x="176" y="352"/>
                    </a:cubicBezTo>
                    <a:cubicBezTo>
                      <a:pt x="273" y="352"/>
                      <a:pt x="352" y="273"/>
                      <a:pt x="352" y="176"/>
                    </a:cubicBezTo>
                    <a:cubicBezTo>
                      <a:pt x="352" y="79"/>
                      <a:pt x="273" y="0"/>
                      <a:pt x="176" y="0"/>
                    </a:cubicBezTo>
                    <a:close/>
                    <a:moveTo>
                      <a:pt x="258" y="261"/>
                    </a:moveTo>
                    <a:cubicBezTo>
                      <a:pt x="238" y="280"/>
                      <a:pt x="215" y="291"/>
                      <a:pt x="188" y="294"/>
                    </a:cubicBezTo>
                    <a:cubicBezTo>
                      <a:pt x="153" y="297"/>
                      <a:pt x="122" y="287"/>
                      <a:pt x="96" y="263"/>
                    </a:cubicBezTo>
                    <a:cubicBezTo>
                      <a:pt x="75" y="243"/>
                      <a:pt x="62" y="218"/>
                      <a:pt x="59" y="189"/>
                    </a:cubicBezTo>
                    <a:cubicBezTo>
                      <a:pt x="52" y="127"/>
                      <a:pt x="96" y="69"/>
                      <a:pt x="157" y="60"/>
                    </a:cubicBezTo>
                    <a:cubicBezTo>
                      <a:pt x="163" y="59"/>
                      <a:pt x="169" y="59"/>
                      <a:pt x="175" y="58"/>
                    </a:cubicBezTo>
                    <a:cubicBezTo>
                      <a:pt x="176" y="58"/>
                      <a:pt x="176" y="58"/>
                      <a:pt x="176" y="58"/>
                    </a:cubicBezTo>
                    <a:cubicBezTo>
                      <a:pt x="183" y="59"/>
                      <a:pt x="189" y="59"/>
                      <a:pt x="196" y="60"/>
                    </a:cubicBezTo>
                    <a:cubicBezTo>
                      <a:pt x="227" y="66"/>
                      <a:pt x="253" y="82"/>
                      <a:pt x="272" y="108"/>
                    </a:cubicBezTo>
                    <a:cubicBezTo>
                      <a:pt x="283" y="124"/>
                      <a:pt x="291" y="142"/>
                      <a:pt x="293" y="162"/>
                    </a:cubicBezTo>
                    <a:cubicBezTo>
                      <a:pt x="297" y="200"/>
                      <a:pt x="286" y="234"/>
                      <a:pt x="258" y="2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sp>
          <p:nvSpPr>
            <p:cNvPr id="18" name="Freeform 36">
              <a:extLst>
                <a:ext uri="{FF2B5EF4-FFF2-40B4-BE49-F238E27FC236}">
                  <a16:creationId xmlns:a16="http://schemas.microsoft.com/office/drawing/2014/main" id="{F4277146-6E3B-AE9F-A2AB-1D5F1255C4DB}"/>
                </a:ext>
              </a:extLst>
            </p:cNvPr>
            <p:cNvSpPr>
              <a:spLocks noEditPoints="1"/>
            </p:cNvSpPr>
            <p:nvPr/>
          </p:nvSpPr>
          <p:spPr bwMode="auto">
            <a:xfrm>
              <a:off x="8130857" y="2529434"/>
              <a:ext cx="609804" cy="607918"/>
            </a:xfrm>
            <a:custGeom>
              <a:avLst/>
              <a:gdLst>
                <a:gd name="T0" fmla="*/ 178 w 357"/>
                <a:gd name="T1" fmla="*/ 0 h 356"/>
                <a:gd name="T2" fmla="*/ 0 w 357"/>
                <a:gd name="T3" fmla="*/ 178 h 356"/>
                <a:gd name="T4" fmla="*/ 178 w 357"/>
                <a:gd name="T5" fmla="*/ 356 h 356"/>
                <a:gd name="T6" fmla="*/ 357 w 357"/>
                <a:gd name="T7" fmla="*/ 178 h 356"/>
                <a:gd name="T8" fmla="*/ 178 w 357"/>
                <a:gd name="T9" fmla="*/ 0 h 356"/>
                <a:gd name="T10" fmla="*/ 220 w 357"/>
                <a:gd name="T11" fmla="*/ 77 h 356"/>
                <a:gd name="T12" fmla="*/ 258 w 357"/>
                <a:gd name="T13" fmla="*/ 77 h 356"/>
                <a:gd name="T14" fmla="*/ 258 w 357"/>
                <a:gd name="T15" fmla="*/ 125 h 356"/>
                <a:gd name="T16" fmla="*/ 220 w 357"/>
                <a:gd name="T17" fmla="*/ 94 h 356"/>
                <a:gd name="T18" fmla="*/ 220 w 357"/>
                <a:gd name="T19" fmla="*/ 77 h 356"/>
                <a:gd name="T20" fmla="*/ 258 w 357"/>
                <a:gd name="T21" fmla="*/ 200 h 356"/>
                <a:gd name="T22" fmla="*/ 258 w 357"/>
                <a:gd name="T23" fmla="*/ 272 h 356"/>
                <a:gd name="T24" fmla="*/ 208 w 357"/>
                <a:gd name="T25" fmla="*/ 272 h 356"/>
                <a:gd name="T26" fmla="*/ 208 w 357"/>
                <a:gd name="T27" fmla="*/ 185 h 356"/>
                <a:gd name="T28" fmla="*/ 149 w 357"/>
                <a:gd name="T29" fmla="*/ 185 h 356"/>
                <a:gd name="T30" fmla="*/ 149 w 357"/>
                <a:gd name="T31" fmla="*/ 272 h 356"/>
                <a:gd name="T32" fmla="*/ 98 w 357"/>
                <a:gd name="T33" fmla="*/ 272 h 356"/>
                <a:gd name="T34" fmla="*/ 98 w 357"/>
                <a:gd name="T35" fmla="*/ 184 h 356"/>
                <a:gd name="T36" fmla="*/ 178 w 357"/>
                <a:gd name="T37" fmla="*/ 118 h 356"/>
                <a:gd name="T38" fmla="*/ 220 w 357"/>
                <a:gd name="T39" fmla="*/ 152 h 356"/>
                <a:gd name="T40" fmla="*/ 258 w 357"/>
                <a:gd name="T41" fmla="*/ 184 h 356"/>
                <a:gd name="T42" fmla="*/ 258 w 357"/>
                <a:gd name="T43" fmla="*/ 200 h 356"/>
                <a:gd name="T44" fmla="*/ 276 w 357"/>
                <a:gd name="T45" fmla="*/ 190 h 356"/>
                <a:gd name="T46" fmla="*/ 258 w 357"/>
                <a:gd name="T47" fmla="*/ 175 h 356"/>
                <a:gd name="T48" fmla="*/ 220 w 357"/>
                <a:gd name="T49" fmla="*/ 144 h 356"/>
                <a:gd name="T50" fmla="*/ 178 w 357"/>
                <a:gd name="T51" fmla="*/ 110 h 356"/>
                <a:gd name="T52" fmla="*/ 98 w 357"/>
                <a:gd name="T53" fmla="*/ 175 h 356"/>
                <a:gd name="T54" fmla="*/ 81 w 357"/>
                <a:gd name="T55" fmla="*/ 190 h 356"/>
                <a:gd name="T56" fmla="*/ 60 w 357"/>
                <a:gd name="T57" fmla="*/ 165 h 356"/>
                <a:gd name="T58" fmla="*/ 178 w 357"/>
                <a:gd name="T59" fmla="*/ 69 h 356"/>
                <a:gd name="T60" fmla="*/ 220 w 357"/>
                <a:gd name="T61" fmla="*/ 102 h 356"/>
                <a:gd name="T62" fmla="*/ 258 w 357"/>
                <a:gd name="T63" fmla="*/ 134 h 356"/>
                <a:gd name="T64" fmla="*/ 296 w 357"/>
                <a:gd name="T65" fmla="*/ 165 h 356"/>
                <a:gd name="T66" fmla="*/ 276 w 357"/>
                <a:gd name="T67" fmla="*/ 19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7" h="356">
                  <a:moveTo>
                    <a:pt x="178" y="0"/>
                  </a:moveTo>
                  <a:cubicBezTo>
                    <a:pt x="80" y="0"/>
                    <a:pt x="0" y="80"/>
                    <a:pt x="0" y="178"/>
                  </a:cubicBezTo>
                  <a:cubicBezTo>
                    <a:pt x="0" y="277"/>
                    <a:pt x="80" y="356"/>
                    <a:pt x="178" y="356"/>
                  </a:cubicBezTo>
                  <a:cubicBezTo>
                    <a:pt x="277" y="356"/>
                    <a:pt x="357" y="277"/>
                    <a:pt x="357" y="178"/>
                  </a:cubicBezTo>
                  <a:cubicBezTo>
                    <a:pt x="357" y="80"/>
                    <a:pt x="277" y="0"/>
                    <a:pt x="178" y="0"/>
                  </a:cubicBezTo>
                  <a:close/>
                  <a:moveTo>
                    <a:pt x="220" y="77"/>
                  </a:moveTo>
                  <a:cubicBezTo>
                    <a:pt x="258" y="77"/>
                    <a:pt x="258" y="77"/>
                    <a:pt x="258" y="77"/>
                  </a:cubicBezTo>
                  <a:cubicBezTo>
                    <a:pt x="258" y="125"/>
                    <a:pt x="258" y="125"/>
                    <a:pt x="258" y="125"/>
                  </a:cubicBezTo>
                  <a:cubicBezTo>
                    <a:pt x="220" y="94"/>
                    <a:pt x="220" y="94"/>
                    <a:pt x="220" y="94"/>
                  </a:cubicBezTo>
                  <a:lnTo>
                    <a:pt x="220" y="77"/>
                  </a:lnTo>
                  <a:close/>
                  <a:moveTo>
                    <a:pt x="258" y="200"/>
                  </a:moveTo>
                  <a:cubicBezTo>
                    <a:pt x="258" y="272"/>
                    <a:pt x="258" y="272"/>
                    <a:pt x="258" y="272"/>
                  </a:cubicBezTo>
                  <a:cubicBezTo>
                    <a:pt x="208" y="272"/>
                    <a:pt x="208" y="272"/>
                    <a:pt x="208" y="272"/>
                  </a:cubicBezTo>
                  <a:cubicBezTo>
                    <a:pt x="208" y="185"/>
                    <a:pt x="208" y="185"/>
                    <a:pt x="208" y="185"/>
                  </a:cubicBezTo>
                  <a:cubicBezTo>
                    <a:pt x="149" y="185"/>
                    <a:pt x="149" y="185"/>
                    <a:pt x="149" y="185"/>
                  </a:cubicBezTo>
                  <a:cubicBezTo>
                    <a:pt x="149" y="272"/>
                    <a:pt x="149" y="272"/>
                    <a:pt x="149" y="272"/>
                  </a:cubicBezTo>
                  <a:cubicBezTo>
                    <a:pt x="98" y="272"/>
                    <a:pt x="98" y="272"/>
                    <a:pt x="98" y="272"/>
                  </a:cubicBezTo>
                  <a:cubicBezTo>
                    <a:pt x="98" y="184"/>
                    <a:pt x="98" y="184"/>
                    <a:pt x="98" y="184"/>
                  </a:cubicBezTo>
                  <a:cubicBezTo>
                    <a:pt x="178" y="118"/>
                    <a:pt x="178" y="118"/>
                    <a:pt x="178" y="118"/>
                  </a:cubicBezTo>
                  <a:cubicBezTo>
                    <a:pt x="220" y="152"/>
                    <a:pt x="220" y="152"/>
                    <a:pt x="220" y="152"/>
                  </a:cubicBezTo>
                  <a:cubicBezTo>
                    <a:pt x="258" y="184"/>
                    <a:pt x="258" y="184"/>
                    <a:pt x="258" y="184"/>
                  </a:cubicBezTo>
                  <a:lnTo>
                    <a:pt x="258" y="200"/>
                  </a:lnTo>
                  <a:close/>
                  <a:moveTo>
                    <a:pt x="276" y="190"/>
                  </a:moveTo>
                  <a:cubicBezTo>
                    <a:pt x="258" y="175"/>
                    <a:pt x="258" y="175"/>
                    <a:pt x="258" y="175"/>
                  </a:cubicBezTo>
                  <a:cubicBezTo>
                    <a:pt x="220" y="144"/>
                    <a:pt x="220" y="144"/>
                    <a:pt x="220" y="144"/>
                  </a:cubicBezTo>
                  <a:cubicBezTo>
                    <a:pt x="178" y="110"/>
                    <a:pt x="178" y="110"/>
                    <a:pt x="178" y="110"/>
                  </a:cubicBezTo>
                  <a:cubicBezTo>
                    <a:pt x="98" y="175"/>
                    <a:pt x="98" y="175"/>
                    <a:pt x="98" y="175"/>
                  </a:cubicBezTo>
                  <a:cubicBezTo>
                    <a:pt x="81" y="190"/>
                    <a:pt x="81" y="190"/>
                    <a:pt x="81" y="190"/>
                  </a:cubicBezTo>
                  <a:cubicBezTo>
                    <a:pt x="60" y="165"/>
                    <a:pt x="60" y="165"/>
                    <a:pt x="60" y="165"/>
                  </a:cubicBezTo>
                  <a:cubicBezTo>
                    <a:pt x="178" y="69"/>
                    <a:pt x="178" y="69"/>
                    <a:pt x="178" y="69"/>
                  </a:cubicBezTo>
                  <a:cubicBezTo>
                    <a:pt x="220" y="102"/>
                    <a:pt x="220" y="102"/>
                    <a:pt x="220" y="102"/>
                  </a:cubicBezTo>
                  <a:cubicBezTo>
                    <a:pt x="258" y="134"/>
                    <a:pt x="258" y="134"/>
                    <a:pt x="258" y="134"/>
                  </a:cubicBezTo>
                  <a:cubicBezTo>
                    <a:pt x="296" y="165"/>
                    <a:pt x="296" y="165"/>
                    <a:pt x="296" y="165"/>
                  </a:cubicBezTo>
                  <a:lnTo>
                    <a:pt x="276" y="190"/>
                  </a:lnTo>
                  <a:close/>
                </a:path>
              </a:pathLst>
            </a:cu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nvGrpSpPr>
            <p:cNvPr id="19" name="Group 18">
              <a:extLst>
                <a:ext uri="{FF2B5EF4-FFF2-40B4-BE49-F238E27FC236}">
                  <a16:creationId xmlns:a16="http://schemas.microsoft.com/office/drawing/2014/main" id="{6C638C00-9E77-C04D-0DDE-B7DFF75EE2FD}"/>
                </a:ext>
              </a:extLst>
            </p:cNvPr>
            <p:cNvGrpSpPr/>
            <p:nvPr/>
          </p:nvGrpSpPr>
          <p:grpSpPr>
            <a:xfrm>
              <a:off x="5273172" y="3925289"/>
              <a:ext cx="602263" cy="601321"/>
              <a:chOff x="3500438" y="4467225"/>
              <a:chExt cx="1014413" cy="1012825"/>
            </a:xfrm>
            <a:solidFill>
              <a:schemeClr val="bg1">
                <a:lumMod val="50000"/>
              </a:schemeClr>
            </a:solidFill>
          </p:grpSpPr>
          <p:sp>
            <p:nvSpPr>
              <p:cNvPr id="163" name="Oval 37">
                <a:extLst>
                  <a:ext uri="{FF2B5EF4-FFF2-40B4-BE49-F238E27FC236}">
                    <a16:creationId xmlns:a16="http://schemas.microsoft.com/office/drawing/2014/main" id="{4B834B6C-B56C-E517-01FA-4F5B32524643}"/>
                  </a:ext>
                </a:extLst>
              </p:cNvPr>
              <p:cNvSpPr>
                <a:spLocks noChangeArrowheads="1"/>
              </p:cNvSpPr>
              <p:nvPr/>
            </p:nvSpPr>
            <p:spPr bwMode="auto">
              <a:xfrm>
                <a:off x="4008438" y="4845050"/>
                <a:ext cx="79375" cy="825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4" name="Freeform 38">
                <a:extLst>
                  <a:ext uri="{FF2B5EF4-FFF2-40B4-BE49-F238E27FC236}">
                    <a16:creationId xmlns:a16="http://schemas.microsoft.com/office/drawing/2014/main" id="{92190484-3D73-296A-7172-F84DCB70114B}"/>
                  </a:ext>
                </a:extLst>
              </p:cNvPr>
              <p:cNvSpPr>
                <a:spLocks/>
              </p:cNvSpPr>
              <p:nvPr/>
            </p:nvSpPr>
            <p:spPr bwMode="auto">
              <a:xfrm>
                <a:off x="4119563" y="4845050"/>
                <a:ext cx="84138" cy="82550"/>
              </a:xfrm>
              <a:custGeom>
                <a:avLst/>
                <a:gdLst>
                  <a:gd name="T0" fmla="*/ 14 w 29"/>
                  <a:gd name="T1" fmla="*/ 29 h 29"/>
                  <a:gd name="T2" fmla="*/ 15 w 29"/>
                  <a:gd name="T3" fmla="*/ 29 h 29"/>
                  <a:gd name="T4" fmla="*/ 29 w 29"/>
                  <a:gd name="T5" fmla="*/ 14 h 29"/>
                  <a:gd name="T6" fmla="*/ 15 w 29"/>
                  <a:gd name="T7" fmla="*/ 0 h 29"/>
                  <a:gd name="T8" fmla="*/ 14 w 29"/>
                  <a:gd name="T9" fmla="*/ 0 h 29"/>
                  <a:gd name="T10" fmla="*/ 0 w 29"/>
                  <a:gd name="T11" fmla="*/ 14 h 29"/>
                  <a:gd name="T12" fmla="*/ 14 w 29"/>
                  <a:gd name="T13" fmla="*/ 29 h 29"/>
                </a:gdLst>
                <a:ahLst/>
                <a:cxnLst>
                  <a:cxn ang="0">
                    <a:pos x="T0" y="T1"/>
                  </a:cxn>
                  <a:cxn ang="0">
                    <a:pos x="T2" y="T3"/>
                  </a:cxn>
                  <a:cxn ang="0">
                    <a:pos x="T4" y="T5"/>
                  </a:cxn>
                  <a:cxn ang="0">
                    <a:pos x="T6" y="T7"/>
                  </a:cxn>
                  <a:cxn ang="0">
                    <a:pos x="T8" y="T9"/>
                  </a:cxn>
                  <a:cxn ang="0">
                    <a:pos x="T10" y="T11"/>
                  </a:cxn>
                  <a:cxn ang="0">
                    <a:pos x="T12" y="T13"/>
                  </a:cxn>
                </a:cxnLst>
                <a:rect l="0" t="0" r="r" b="b"/>
                <a:pathLst>
                  <a:path w="29" h="29">
                    <a:moveTo>
                      <a:pt x="14" y="29"/>
                    </a:moveTo>
                    <a:cubicBezTo>
                      <a:pt x="15" y="29"/>
                      <a:pt x="15" y="29"/>
                      <a:pt x="15" y="29"/>
                    </a:cubicBezTo>
                    <a:cubicBezTo>
                      <a:pt x="23" y="28"/>
                      <a:pt x="29" y="22"/>
                      <a:pt x="29" y="14"/>
                    </a:cubicBezTo>
                    <a:cubicBezTo>
                      <a:pt x="29" y="7"/>
                      <a:pt x="23" y="1"/>
                      <a:pt x="15" y="0"/>
                    </a:cubicBezTo>
                    <a:cubicBezTo>
                      <a:pt x="15" y="0"/>
                      <a:pt x="15" y="0"/>
                      <a:pt x="14" y="0"/>
                    </a:cubicBezTo>
                    <a:cubicBezTo>
                      <a:pt x="7" y="0"/>
                      <a:pt x="0" y="7"/>
                      <a:pt x="0" y="14"/>
                    </a:cubicBezTo>
                    <a:cubicBezTo>
                      <a:pt x="0" y="22"/>
                      <a:pt x="7" y="29"/>
                      <a:pt x="14"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5" name="Oval 39">
                <a:extLst>
                  <a:ext uri="{FF2B5EF4-FFF2-40B4-BE49-F238E27FC236}">
                    <a16:creationId xmlns:a16="http://schemas.microsoft.com/office/drawing/2014/main" id="{77097C00-A967-B741-7636-C88AE31BD283}"/>
                  </a:ext>
                </a:extLst>
              </p:cNvPr>
              <p:cNvSpPr>
                <a:spLocks noChangeArrowheads="1"/>
              </p:cNvSpPr>
              <p:nvPr/>
            </p:nvSpPr>
            <p:spPr bwMode="auto">
              <a:xfrm>
                <a:off x="4235451" y="4845050"/>
                <a:ext cx="80963" cy="825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6" name="Oval 40">
                <a:extLst>
                  <a:ext uri="{FF2B5EF4-FFF2-40B4-BE49-F238E27FC236}">
                    <a16:creationId xmlns:a16="http://schemas.microsoft.com/office/drawing/2014/main" id="{0E3007A4-87E0-10D5-7C02-B7F3D5CA1035}"/>
                  </a:ext>
                </a:extLst>
              </p:cNvPr>
              <p:cNvSpPr>
                <a:spLocks noChangeArrowheads="1"/>
              </p:cNvSpPr>
              <p:nvPr/>
            </p:nvSpPr>
            <p:spPr bwMode="auto">
              <a:xfrm>
                <a:off x="3895726" y="4845050"/>
                <a:ext cx="80963" cy="825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7" name="Freeform 41">
                <a:extLst>
                  <a:ext uri="{FF2B5EF4-FFF2-40B4-BE49-F238E27FC236}">
                    <a16:creationId xmlns:a16="http://schemas.microsoft.com/office/drawing/2014/main" id="{CD362965-7B76-BB88-FC51-364BF3FA546E}"/>
                  </a:ext>
                </a:extLst>
              </p:cNvPr>
              <p:cNvSpPr>
                <a:spLocks noEditPoints="1"/>
              </p:cNvSpPr>
              <p:nvPr/>
            </p:nvSpPr>
            <p:spPr bwMode="auto">
              <a:xfrm>
                <a:off x="3500438" y="4467225"/>
                <a:ext cx="1014413" cy="1012825"/>
              </a:xfrm>
              <a:custGeom>
                <a:avLst/>
                <a:gdLst>
                  <a:gd name="T0" fmla="*/ 176 w 352"/>
                  <a:gd name="T1" fmla="*/ 0 h 352"/>
                  <a:gd name="T2" fmla="*/ 0 w 352"/>
                  <a:gd name="T3" fmla="*/ 176 h 352"/>
                  <a:gd name="T4" fmla="*/ 176 w 352"/>
                  <a:gd name="T5" fmla="*/ 352 h 352"/>
                  <a:gd name="T6" fmla="*/ 352 w 352"/>
                  <a:gd name="T7" fmla="*/ 176 h 352"/>
                  <a:gd name="T8" fmla="*/ 176 w 352"/>
                  <a:gd name="T9" fmla="*/ 0 h 352"/>
                  <a:gd name="T10" fmla="*/ 230 w 352"/>
                  <a:gd name="T11" fmla="*/ 249 h 352"/>
                  <a:gd name="T12" fmla="*/ 102 w 352"/>
                  <a:gd name="T13" fmla="*/ 249 h 352"/>
                  <a:gd name="T14" fmla="*/ 71 w 352"/>
                  <a:gd name="T15" fmla="*/ 282 h 352"/>
                  <a:gd name="T16" fmla="*/ 71 w 352"/>
                  <a:gd name="T17" fmla="*/ 249 h 352"/>
                  <a:gd name="T18" fmla="*/ 52 w 352"/>
                  <a:gd name="T19" fmla="*/ 249 h 352"/>
                  <a:gd name="T20" fmla="*/ 52 w 352"/>
                  <a:gd name="T21" fmla="*/ 129 h 352"/>
                  <a:gd name="T22" fmla="*/ 108 w 352"/>
                  <a:gd name="T23" fmla="*/ 129 h 352"/>
                  <a:gd name="T24" fmla="*/ 108 w 352"/>
                  <a:gd name="T25" fmla="*/ 206 h 352"/>
                  <a:gd name="T26" fmla="*/ 108 w 352"/>
                  <a:gd name="T27" fmla="*/ 213 h 352"/>
                  <a:gd name="T28" fmla="*/ 114 w 352"/>
                  <a:gd name="T29" fmla="*/ 213 h 352"/>
                  <a:gd name="T30" fmla="*/ 230 w 352"/>
                  <a:gd name="T31" fmla="*/ 213 h 352"/>
                  <a:gd name="T32" fmla="*/ 230 w 352"/>
                  <a:gd name="T33" fmla="*/ 249 h 352"/>
                  <a:gd name="T34" fmla="*/ 299 w 352"/>
                  <a:gd name="T35" fmla="*/ 206 h 352"/>
                  <a:gd name="T36" fmla="*/ 279 w 352"/>
                  <a:gd name="T37" fmla="*/ 206 h 352"/>
                  <a:gd name="T38" fmla="*/ 279 w 352"/>
                  <a:gd name="T39" fmla="*/ 242 h 352"/>
                  <a:gd name="T40" fmla="*/ 247 w 352"/>
                  <a:gd name="T41" fmla="*/ 206 h 352"/>
                  <a:gd name="T42" fmla="*/ 230 w 352"/>
                  <a:gd name="T43" fmla="*/ 206 h 352"/>
                  <a:gd name="T44" fmla="*/ 115 w 352"/>
                  <a:gd name="T45" fmla="*/ 206 h 352"/>
                  <a:gd name="T46" fmla="*/ 115 w 352"/>
                  <a:gd name="T47" fmla="*/ 129 h 352"/>
                  <a:gd name="T48" fmla="*/ 115 w 352"/>
                  <a:gd name="T49" fmla="*/ 82 h 352"/>
                  <a:gd name="T50" fmla="*/ 299 w 352"/>
                  <a:gd name="T51" fmla="*/ 82 h 352"/>
                  <a:gd name="T52" fmla="*/ 299 w 352"/>
                  <a:gd name="T53" fmla="*/ 206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52" h="352">
                    <a:moveTo>
                      <a:pt x="176" y="0"/>
                    </a:moveTo>
                    <a:cubicBezTo>
                      <a:pt x="78" y="0"/>
                      <a:pt x="0" y="79"/>
                      <a:pt x="0" y="176"/>
                    </a:cubicBezTo>
                    <a:cubicBezTo>
                      <a:pt x="0" y="273"/>
                      <a:pt x="78" y="352"/>
                      <a:pt x="176" y="352"/>
                    </a:cubicBezTo>
                    <a:cubicBezTo>
                      <a:pt x="273" y="352"/>
                      <a:pt x="352" y="273"/>
                      <a:pt x="352" y="176"/>
                    </a:cubicBezTo>
                    <a:cubicBezTo>
                      <a:pt x="352" y="79"/>
                      <a:pt x="273" y="0"/>
                      <a:pt x="176" y="0"/>
                    </a:cubicBezTo>
                    <a:close/>
                    <a:moveTo>
                      <a:pt x="230" y="249"/>
                    </a:moveTo>
                    <a:cubicBezTo>
                      <a:pt x="102" y="249"/>
                      <a:pt x="102" y="249"/>
                      <a:pt x="102" y="249"/>
                    </a:cubicBezTo>
                    <a:cubicBezTo>
                      <a:pt x="71" y="282"/>
                      <a:pt x="71" y="282"/>
                      <a:pt x="71" y="282"/>
                    </a:cubicBezTo>
                    <a:cubicBezTo>
                      <a:pt x="71" y="249"/>
                      <a:pt x="71" y="249"/>
                      <a:pt x="71" y="249"/>
                    </a:cubicBezTo>
                    <a:cubicBezTo>
                      <a:pt x="52" y="249"/>
                      <a:pt x="52" y="249"/>
                      <a:pt x="52" y="249"/>
                    </a:cubicBezTo>
                    <a:cubicBezTo>
                      <a:pt x="52" y="129"/>
                      <a:pt x="52" y="129"/>
                      <a:pt x="52" y="129"/>
                    </a:cubicBezTo>
                    <a:cubicBezTo>
                      <a:pt x="108" y="129"/>
                      <a:pt x="108" y="129"/>
                      <a:pt x="108" y="129"/>
                    </a:cubicBezTo>
                    <a:cubicBezTo>
                      <a:pt x="108" y="206"/>
                      <a:pt x="108" y="206"/>
                      <a:pt x="108" y="206"/>
                    </a:cubicBezTo>
                    <a:cubicBezTo>
                      <a:pt x="108" y="213"/>
                      <a:pt x="108" y="213"/>
                      <a:pt x="108" y="213"/>
                    </a:cubicBezTo>
                    <a:cubicBezTo>
                      <a:pt x="114" y="213"/>
                      <a:pt x="114" y="213"/>
                      <a:pt x="114" y="213"/>
                    </a:cubicBezTo>
                    <a:cubicBezTo>
                      <a:pt x="230" y="213"/>
                      <a:pt x="230" y="213"/>
                      <a:pt x="230" y="213"/>
                    </a:cubicBezTo>
                    <a:lnTo>
                      <a:pt x="230" y="249"/>
                    </a:lnTo>
                    <a:close/>
                    <a:moveTo>
                      <a:pt x="299" y="206"/>
                    </a:moveTo>
                    <a:cubicBezTo>
                      <a:pt x="279" y="206"/>
                      <a:pt x="279" y="206"/>
                      <a:pt x="279" y="206"/>
                    </a:cubicBezTo>
                    <a:cubicBezTo>
                      <a:pt x="279" y="242"/>
                      <a:pt x="279" y="242"/>
                      <a:pt x="279" y="242"/>
                    </a:cubicBezTo>
                    <a:cubicBezTo>
                      <a:pt x="247" y="206"/>
                      <a:pt x="247" y="206"/>
                      <a:pt x="247" y="206"/>
                    </a:cubicBezTo>
                    <a:cubicBezTo>
                      <a:pt x="230" y="206"/>
                      <a:pt x="230" y="206"/>
                      <a:pt x="230" y="206"/>
                    </a:cubicBezTo>
                    <a:cubicBezTo>
                      <a:pt x="115" y="206"/>
                      <a:pt x="115" y="206"/>
                      <a:pt x="115" y="206"/>
                    </a:cubicBezTo>
                    <a:cubicBezTo>
                      <a:pt x="115" y="129"/>
                      <a:pt x="115" y="129"/>
                      <a:pt x="115" y="129"/>
                    </a:cubicBezTo>
                    <a:cubicBezTo>
                      <a:pt x="115" y="82"/>
                      <a:pt x="115" y="82"/>
                      <a:pt x="115" y="82"/>
                    </a:cubicBezTo>
                    <a:cubicBezTo>
                      <a:pt x="299" y="82"/>
                      <a:pt x="299" y="82"/>
                      <a:pt x="299" y="82"/>
                    </a:cubicBezTo>
                    <a:lnTo>
                      <a:pt x="299" y="2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45" name="Group 44">
              <a:extLst>
                <a:ext uri="{FF2B5EF4-FFF2-40B4-BE49-F238E27FC236}">
                  <a16:creationId xmlns:a16="http://schemas.microsoft.com/office/drawing/2014/main" id="{6341D04E-1A77-B5A0-7666-06C5AA05CA2D}"/>
                </a:ext>
              </a:extLst>
            </p:cNvPr>
            <p:cNvGrpSpPr/>
            <p:nvPr/>
          </p:nvGrpSpPr>
          <p:grpSpPr>
            <a:xfrm>
              <a:off x="6768933" y="3404082"/>
              <a:ext cx="406222" cy="409049"/>
              <a:chOff x="6019801" y="3589338"/>
              <a:chExt cx="684213" cy="688975"/>
            </a:xfrm>
            <a:solidFill>
              <a:schemeClr val="bg1">
                <a:lumMod val="50000"/>
              </a:schemeClr>
            </a:solidFill>
          </p:grpSpPr>
          <p:sp>
            <p:nvSpPr>
              <p:cNvPr id="160" name="Freeform 42">
                <a:extLst>
                  <a:ext uri="{FF2B5EF4-FFF2-40B4-BE49-F238E27FC236}">
                    <a16:creationId xmlns:a16="http://schemas.microsoft.com/office/drawing/2014/main" id="{657B3E48-A914-D61D-8ED5-B086BA56683F}"/>
                  </a:ext>
                </a:extLst>
              </p:cNvPr>
              <p:cNvSpPr>
                <a:spLocks noEditPoints="1"/>
              </p:cNvSpPr>
              <p:nvPr/>
            </p:nvSpPr>
            <p:spPr bwMode="auto">
              <a:xfrm>
                <a:off x="6169026" y="3857625"/>
                <a:ext cx="236538" cy="234950"/>
              </a:xfrm>
              <a:custGeom>
                <a:avLst/>
                <a:gdLst>
                  <a:gd name="T0" fmla="*/ 5 w 82"/>
                  <a:gd name="T1" fmla="*/ 60 h 82"/>
                  <a:gd name="T2" fmla="*/ 7 w 82"/>
                  <a:gd name="T3" fmla="*/ 64 h 82"/>
                  <a:gd name="T4" fmla="*/ 9 w 82"/>
                  <a:gd name="T5" fmla="*/ 66 h 82"/>
                  <a:gd name="T6" fmla="*/ 10 w 82"/>
                  <a:gd name="T7" fmla="*/ 68 h 82"/>
                  <a:gd name="T8" fmla="*/ 12 w 82"/>
                  <a:gd name="T9" fmla="*/ 70 h 82"/>
                  <a:gd name="T10" fmla="*/ 15 w 82"/>
                  <a:gd name="T11" fmla="*/ 72 h 82"/>
                  <a:gd name="T12" fmla="*/ 17 w 82"/>
                  <a:gd name="T13" fmla="*/ 74 h 82"/>
                  <a:gd name="T14" fmla="*/ 20 w 82"/>
                  <a:gd name="T15" fmla="*/ 76 h 82"/>
                  <a:gd name="T16" fmla="*/ 29 w 82"/>
                  <a:gd name="T17" fmla="*/ 80 h 82"/>
                  <a:gd name="T18" fmla="*/ 41 w 82"/>
                  <a:gd name="T19" fmla="*/ 82 h 82"/>
                  <a:gd name="T20" fmla="*/ 71 w 82"/>
                  <a:gd name="T21" fmla="*/ 68 h 82"/>
                  <a:gd name="T22" fmla="*/ 75 w 82"/>
                  <a:gd name="T23" fmla="*/ 64 h 82"/>
                  <a:gd name="T24" fmla="*/ 79 w 82"/>
                  <a:gd name="T25" fmla="*/ 55 h 82"/>
                  <a:gd name="T26" fmla="*/ 82 w 82"/>
                  <a:gd name="T27" fmla="*/ 41 h 82"/>
                  <a:gd name="T28" fmla="*/ 82 w 82"/>
                  <a:gd name="T29" fmla="*/ 37 h 82"/>
                  <a:gd name="T30" fmla="*/ 81 w 82"/>
                  <a:gd name="T31" fmla="*/ 33 h 82"/>
                  <a:gd name="T32" fmla="*/ 79 w 82"/>
                  <a:gd name="T33" fmla="*/ 25 h 82"/>
                  <a:gd name="T34" fmla="*/ 77 w 82"/>
                  <a:gd name="T35" fmla="*/ 22 h 82"/>
                  <a:gd name="T36" fmla="*/ 75 w 82"/>
                  <a:gd name="T37" fmla="*/ 18 h 82"/>
                  <a:gd name="T38" fmla="*/ 71 w 82"/>
                  <a:gd name="T39" fmla="*/ 14 h 82"/>
                  <a:gd name="T40" fmla="*/ 41 w 82"/>
                  <a:gd name="T41" fmla="*/ 0 h 82"/>
                  <a:gd name="T42" fmla="*/ 12 w 82"/>
                  <a:gd name="T43" fmla="*/ 13 h 82"/>
                  <a:gd name="T44" fmla="*/ 10 w 82"/>
                  <a:gd name="T45" fmla="*/ 15 h 82"/>
                  <a:gd name="T46" fmla="*/ 7 w 82"/>
                  <a:gd name="T47" fmla="*/ 18 h 82"/>
                  <a:gd name="T48" fmla="*/ 5 w 82"/>
                  <a:gd name="T49" fmla="*/ 22 h 82"/>
                  <a:gd name="T50" fmla="*/ 4 w 82"/>
                  <a:gd name="T51" fmla="*/ 25 h 82"/>
                  <a:gd name="T52" fmla="*/ 1 w 82"/>
                  <a:gd name="T53" fmla="*/ 33 h 82"/>
                  <a:gd name="T54" fmla="*/ 1 w 82"/>
                  <a:gd name="T55" fmla="*/ 37 h 82"/>
                  <a:gd name="T56" fmla="*/ 0 w 82"/>
                  <a:gd name="T57" fmla="*/ 41 h 82"/>
                  <a:gd name="T58" fmla="*/ 3 w 82"/>
                  <a:gd name="T59" fmla="*/ 55 h 82"/>
                  <a:gd name="T60" fmla="*/ 5 w 82"/>
                  <a:gd name="T61" fmla="*/ 60 h 82"/>
                  <a:gd name="T62" fmla="*/ 41 w 82"/>
                  <a:gd name="T63" fmla="*/ 12 h 82"/>
                  <a:gd name="T64" fmla="*/ 70 w 82"/>
                  <a:gd name="T65" fmla="*/ 41 h 82"/>
                  <a:gd name="T66" fmla="*/ 41 w 82"/>
                  <a:gd name="T67" fmla="*/ 70 h 82"/>
                  <a:gd name="T68" fmla="*/ 12 w 82"/>
                  <a:gd name="T69" fmla="*/ 41 h 82"/>
                  <a:gd name="T70" fmla="*/ 41 w 82"/>
                  <a:gd name="T71" fmla="*/ 12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2" h="82">
                    <a:moveTo>
                      <a:pt x="5" y="60"/>
                    </a:moveTo>
                    <a:cubicBezTo>
                      <a:pt x="6" y="62"/>
                      <a:pt x="7" y="63"/>
                      <a:pt x="7" y="64"/>
                    </a:cubicBezTo>
                    <a:cubicBezTo>
                      <a:pt x="8" y="64"/>
                      <a:pt x="8" y="65"/>
                      <a:pt x="9" y="66"/>
                    </a:cubicBezTo>
                    <a:cubicBezTo>
                      <a:pt x="9" y="66"/>
                      <a:pt x="10" y="67"/>
                      <a:pt x="10" y="68"/>
                    </a:cubicBezTo>
                    <a:cubicBezTo>
                      <a:pt x="11" y="68"/>
                      <a:pt x="12" y="69"/>
                      <a:pt x="12" y="70"/>
                    </a:cubicBezTo>
                    <a:cubicBezTo>
                      <a:pt x="13" y="71"/>
                      <a:pt x="14" y="72"/>
                      <a:pt x="15" y="72"/>
                    </a:cubicBezTo>
                    <a:cubicBezTo>
                      <a:pt x="16" y="73"/>
                      <a:pt x="16" y="73"/>
                      <a:pt x="17" y="74"/>
                    </a:cubicBezTo>
                    <a:cubicBezTo>
                      <a:pt x="18" y="74"/>
                      <a:pt x="19" y="75"/>
                      <a:pt x="20" y="76"/>
                    </a:cubicBezTo>
                    <a:cubicBezTo>
                      <a:pt x="23" y="78"/>
                      <a:pt x="26" y="79"/>
                      <a:pt x="29" y="80"/>
                    </a:cubicBezTo>
                    <a:cubicBezTo>
                      <a:pt x="33" y="81"/>
                      <a:pt x="37" y="82"/>
                      <a:pt x="41" y="82"/>
                    </a:cubicBezTo>
                    <a:cubicBezTo>
                      <a:pt x="53" y="82"/>
                      <a:pt x="64" y="77"/>
                      <a:pt x="71" y="68"/>
                    </a:cubicBezTo>
                    <a:cubicBezTo>
                      <a:pt x="73" y="67"/>
                      <a:pt x="74" y="65"/>
                      <a:pt x="75" y="64"/>
                    </a:cubicBezTo>
                    <a:cubicBezTo>
                      <a:pt x="77" y="61"/>
                      <a:pt x="78" y="58"/>
                      <a:pt x="79" y="55"/>
                    </a:cubicBezTo>
                    <a:cubicBezTo>
                      <a:pt x="81" y="51"/>
                      <a:pt x="82" y="46"/>
                      <a:pt x="82" y="41"/>
                    </a:cubicBezTo>
                    <a:cubicBezTo>
                      <a:pt x="82" y="40"/>
                      <a:pt x="82" y="38"/>
                      <a:pt x="82" y="37"/>
                    </a:cubicBezTo>
                    <a:cubicBezTo>
                      <a:pt x="81" y="36"/>
                      <a:pt x="81" y="34"/>
                      <a:pt x="81" y="33"/>
                    </a:cubicBezTo>
                    <a:cubicBezTo>
                      <a:pt x="80" y="30"/>
                      <a:pt x="80" y="28"/>
                      <a:pt x="79" y="25"/>
                    </a:cubicBezTo>
                    <a:cubicBezTo>
                      <a:pt x="78" y="24"/>
                      <a:pt x="78" y="23"/>
                      <a:pt x="77" y="22"/>
                    </a:cubicBezTo>
                    <a:cubicBezTo>
                      <a:pt x="76" y="20"/>
                      <a:pt x="76" y="19"/>
                      <a:pt x="75" y="18"/>
                    </a:cubicBezTo>
                    <a:cubicBezTo>
                      <a:pt x="74" y="17"/>
                      <a:pt x="73" y="15"/>
                      <a:pt x="71" y="14"/>
                    </a:cubicBezTo>
                    <a:cubicBezTo>
                      <a:pt x="64" y="5"/>
                      <a:pt x="53" y="0"/>
                      <a:pt x="41" y="0"/>
                    </a:cubicBezTo>
                    <a:cubicBezTo>
                      <a:pt x="30" y="0"/>
                      <a:pt x="19" y="5"/>
                      <a:pt x="12" y="13"/>
                    </a:cubicBezTo>
                    <a:cubicBezTo>
                      <a:pt x="11" y="14"/>
                      <a:pt x="10" y="14"/>
                      <a:pt x="10" y="15"/>
                    </a:cubicBezTo>
                    <a:cubicBezTo>
                      <a:pt x="9" y="16"/>
                      <a:pt x="8" y="17"/>
                      <a:pt x="7" y="18"/>
                    </a:cubicBezTo>
                    <a:cubicBezTo>
                      <a:pt x="7" y="19"/>
                      <a:pt x="6" y="20"/>
                      <a:pt x="5" y="22"/>
                    </a:cubicBezTo>
                    <a:cubicBezTo>
                      <a:pt x="5" y="23"/>
                      <a:pt x="4" y="24"/>
                      <a:pt x="4" y="25"/>
                    </a:cubicBezTo>
                    <a:cubicBezTo>
                      <a:pt x="3" y="28"/>
                      <a:pt x="2" y="30"/>
                      <a:pt x="1" y="33"/>
                    </a:cubicBezTo>
                    <a:cubicBezTo>
                      <a:pt x="1" y="34"/>
                      <a:pt x="1" y="36"/>
                      <a:pt x="1" y="37"/>
                    </a:cubicBezTo>
                    <a:cubicBezTo>
                      <a:pt x="0" y="38"/>
                      <a:pt x="0" y="40"/>
                      <a:pt x="0" y="41"/>
                    </a:cubicBezTo>
                    <a:cubicBezTo>
                      <a:pt x="0" y="46"/>
                      <a:pt x="1" y="51"/>
                      <a:pt x="3" y="55"/>
                    </a:cubicBezTo>
                    <a:cubicBezTo>
                      <a:pt x="4" y="57"/>
                      <a:pt x="4" y="59"/>
                      <a:pt x="5" y="60"/>
                    </a:cubicBezTo>
                    <a:close/>
                    <a:moveTo>
                      <a:pt x="41" y="12"/>
                    </a:moveTo>
                    <a:cubicBezTo>
                      <a:pt x="57" y="12"/>
                      <a:pt x="70" y="25"/>
                      <a:pt x="70" y="41"/>
                    </a:cubicBezTo>
                    <a:cubicBezTo>
                      <a:pt x="70" y="57"/>
                      <a:pt x="57" y="70"/>
                      <a:pt x="41" y="70"/>
                    </a:cubicBezTo>
                    <a:cubicBezTo>
                      <a:pt x="25" y="70"/>
                      <a:pt x="12" y="57"/>
                      <a:pt x="12" y="41"/>
                    </a:cubicBezTo>
                    <a:cubicBezTo>
                      <a:pt x="12" y="25"/>
                      <a:pt x="25" y="12"/>
                      <a:pt x="4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1" name="Freeform 43">
                <a:extLst>
                  <a:ext uri="{FF2B5EF4-FFF2-40B4-BE49-F238E27FC236}">
                    <a16:creationId xmlns:a16="http://schemas.microsoft.com/office/drawing/2014/main" id="{830F2A93-552E-FC42-F4B9-05702BD82583}"/>
                  </a:ext>
                </a:extLst>
              </p:cNvPr>
              <p:cNvSpPr>
                <a:spLocks noEditPoints="1"/>
              </p:cNvSpPr>
              <p:nvPr/>
            </p:nvSpPr>
            <p:spPr bwMode="auto">
              <a:xfrm>
                <a:off x="6019801" y="3589338"/>
                <a:ext cx="684213" cy="688975"/>
              </a:xfrm>
              <a:custGeom>
                <a:avLst/>
                <a:gdLst>
                  <a:gd name="T0" fmla="*/ 119 w 238"/>
                  <a:gd name="T1" fmla="*/ 0 h 239"/>
                  <a:gd name="T2" fmla="*/ 0 w 238"/>
                  <a:gd name="T3" fmla="*/ 119 h 239"/>
                  <a:gd name="T4" fmla="*/ 119 w 238"/>
                  <a:gd name="T5" fmla="*/ 239 h 239"/>
                  <a:gd name="T6" fmla="*/ 238 w 238"/>
                  <a:gd name="T7" fmla="*/ 119 h 239"/>
                  <a:gd name="T8" fmla="*/ 119 w 238"/>
                  <a:gd name="T9" fmla="*/ 0 h 239"/>
                  <a:gd name="T10" fmla="*/ 139 w 238"/>
                  <a:gd name="T11" fmla="*/ 66 h 239"/>
                  <a:gd name="T12" fmla="*/ 166 w 238"/>
                  <a:gd name="T13" fmla="*/ 66 h 239"/>
                  <a:gd name="T14" fmla="*/ 166 w 238"/>
                  <a:gd name="T15" fmla="*/ 78 h 239"/>
                  <a:gd name="T16" fmla="*/ 139 w 238"/>
                  <a:gd name="T17" fmla="*/ 78 h 239"/>
                  <a:gd name="T18" fmla="*/ 139 w 238"/>
                  <a:gd name="T19" fmla="*/ 66 h 239"/>
                  <a:gd name="T20" fmla="*/ 182 w 238"/>
                  <a:gd name="T21" fmla="*/ 186 h 239"/>
                  <a:gd name="T22" fmla="*/ 40 w 238"/>
                  <a:gd name="T23" fmla="*/ 186 h 239"/>
                  <a:gd name="T24" fmla="*/ 40 w 238"/>
                  <a:gd name="T25" fmla="*/ 82 h 239"/>
                  <a:gd name="T26" fmla="*/ 182 w 238"/>
                  <a:gd name="T27" fmla="*/ 82 h 239"/>
                  <a:gd name="T28" fmla="*/ 182 w 238"/>
                  <a:gd name="T29" fmla="*/ 186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8" h="239">
                    <a:moveTo>
                      <a:pt x="119" y="0"/>
                    </a:moveTo>
                    <a:cubicBezTo>
                      <a:pt x="53" y="0"/>
                      <a:pt x="0" y="54"/>
                      <a:pt x="0" y="119"/>
                    </a:cubicBezTo>
                    <a:cubicBezTo>
                      <a:pt x="0" y="185"/>
                      <a:pt x="53" y="239"/>
                      <a:pt x="119" y="239"/>
                    </a:cubicBezTo>
                    <a:cubicBezTo>
                      <a:pt x="185" y="239"/>
                      <a:pt x="238" y="185"/>
                      <a:pt x="238" y="119"/>
                    </a:cubicBezTo>
                    <a:cubicBezTo>
                      <a:pt x="238" y="54"/>
                      <a:pt x="185" y="0"/>
                      <a:pt x="119" y="0"/>
                    </a:cubicBezTo>
                    <a:close/>
                    <a:moveTo>
                      <a:pt x="139" y="66"/>
                    </a:moveTo>
                    <a:cubicBezTo>
                      <a:pt x="166" y="66"/>
                      <a:pt x="166" y="66"/>
                      <a:pt x="166" y="66"/>
                    </a:cubicBezTo>
                    <a:cubicBezTo>
                      <a:pt x="166" y="78"/>
                      <a:pt x="166" y="78"/>
                      <a:pt x="166" y="78"/>
                    </a:cubicBezTo>
                    <a:cubicBezTo>
                      <a:pt x="139" y="78"/>
                      <a:pt x="139" y="78"/>
                      <a:pt x="139" y="78"/>
                    </a:cubicBezTo>
                    <a:lnTo>
                      <a:pt x="139" y="66"/>
                    </a:lnTo>
                    <a:close/>
                    <a:moveTo>
                      <a:pt x="182" y="186"/>
                    </a:moveTo>
                    <a:cubicBezTo>
                      <a:pt x="40" y="186"/>
                      <a:pt x="40" y="186"/>
                      <a:pt x="40" y="186"/>
                    </a:cubicBezTo>
                    <a:cubicBezTo>
                      <a:pt x="40" y="82"/>
                      <a:pt x="40" y="82"/>
                      <a:pt x="40" y="82"/>
                    </a:cubicBezTo>
                    <a:cubicBezTo>
                      <a:pt x="182" y="82"/>
                      <a:pt x="182" y="82"/>
                      <a:pt x="182" y="82"/>
                    </a:cubicBezTo>
                    <a:lnTo>
                      <a:pt x="182" y="1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2" name="Rectangle 44">
                <a:extLst>
                  <a:ext uri="{FF2B5EF4-FFF2-40B4-BE49-F238E27FC236}">
                    <a16:creationId xmlns:a16="http://schemas.microsoft.com/office/drawing/2014/main" id="{801FCB43-B698-B890-478A-C495A82732C9}"/>
                  </a:ext>
                </a:extLst>
              </p:cNvPr>
              <p:cNvSpPr>
                <a:spLocks noChangeArrowheads="1"/>
              </p:cNvSpPr>
              <p:nvPr/>
            </p:nvSpPr>
            <p:spPr bwMode="auto">
              <a:xfrm>
                <a:off x="6416676" y="3860800"/>
                <a:ext cx="841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sp>
          <p:nvSpPr>
            <p:cNvPr id="46" name="Freeform 45">
              <a:extLst>
                <a:ext uri="{FF2B5EF4-FFF2-40B4-BE49-F238E27FC236}">
                  <a16:creationId xmlns:a16="http://schemas.microsoft.com/office/drawing/2014/main" id="{93612DB4-73F2-2711-D4A5-7A714C756E03}"/>
                </a:ext>
              </a:extLst>
            </p:cNvPr>
            <p:cNvSpPr>
              <a:spLocks noEditPoints="1"/>
            </p:cNvSpPr>
            <p:nvPr/>
          </p:nvSpPr>
          <p:spPr bwMode="auto">
            <a:xfrm>
              <a:off x="6273174" y="1645362"/>
              <a:ext cx="584355" cy="585298"/>
            </a:xfrm>
            <a:custGeom>
              <a:avLst/>
              <a:gdLst>
                <a:gd name="T0" fmla="*/ 0 w 342"/>
                <a:gd name="T1" fmla="*/ 171 h 342"/>
                <a:gd name="T2" fmla="*/ 342 w 342"/>
                <a:gd name="T3" fmla="*/ 171 h 342"/>
                <a:gd name="T4" fmla="*/ 48 w 342"/>
                <a:gd name="T5" fmla="*/ 140 h 342"/>
                <a:gd name="T6" fmla="*/ 108 w 342"/>
                <a:gd name="T7" fmla="*/ 164 h 342"/>
                <a:gd name="T8" fmla="*/ 48 w 342"/>
                <a:gd name="T9" fmla="*/ 140 h 342"/>
                <a:gd name="T10" fmla="*/ 109 w 342"/>
                <a:gd name="T11" fmla="*/ 171 h 342"/>
                <a:gd name="T12" fmla="*/ 66 w 342"/>
                <a:gd name="T13" fmla="*/ 209 h 342"/>
                <a:gd name="T14" fmla="*/ 95 w 342"/>
                <a:gd name="T15" fmla="*/ 283 h 342"/>
                <a:gd name="T16" fmla="*/ 95 w 342"/>
                <a:gd name="T17" fmla="*/ 245 h 342"/>
                <a:gd name="T18" fmla="*/ 95 w 342"/>
                <a:gd name="T19" fmla="*/ 283 h 342"/>
                <a:gd name="T20" fmla="*/ 67 w 342"/>
                <a:gd name="T21" fmla="*/ 216 h 342"/>
                <a:gd name="T22" fmla="*/ 114 w 342"/>
                <a:gd name="T23" fmla="*/ 239 h 342"/>
                <a:gd name="T24" fmla="*/ 169 w 342"/>
                <a:gd name="T25" fmla="*/ 239 h 342"/>
                <a:gd name="T26" fmla="*/ 120 w 342"/>
                <a:gd name="T27" fmla="*/ 216 h 342"/>
                <a:gd name="T28" fmla="*/ 169 w 342"/>
                <a:gd name="T29" fmla="*/ 239 h 342"/>
                <a:gd name="T30" fmla="*/ 119 w 342"/>
                <a:gd name="T31" fmla="*/ 209 h 342"/>
                <a:gd name="T32" fmla="*/ 175 w 342"/>
                <a:gd name="T33" fmla="*/ 171 h 342"/>
                <a:gd name="T34" fmla="*/ 116 w 342"/>
                <a:gd name="T35" fmla="*/ 164 h 342"/>
                <a:gd name="T36" fmla="*/ 177 w 342"/>
                <a:gd name="T37" fmla="*/ 140 h 342"/>
                <a:gd name="T38" fmla="*/ 116 w 342"/>
                <a:gd name="T39" fmla="*/ 164 h 342"/>
                <a:gd name="T40" fmla="*/ 177 w 342"/>
                <a:gd name="T41" fmla="*/ 264 h 342"/>
                <a:gd name="T42" fmla="*/ 215 w 342"/>
                <a:gd name="T43" fmla="*/ 264 h 342"/>
                <a:gd name="T44" fmla="*/ 217 w 342"/>
                <a:gd name="T45" fmla="*/ 239 h 342"/>
                <a:gd name="T46" fmla="*/ 178 w 342"/>
                <a:gd name="T47" fmla="*/ 216 h 342"/>
                <a:gd name="T48" fmla="*/ 217 w 342"/>
                <a:gd name="T49" fmla="*/ 239 h 342"/>
                <a:gd name="T50" fmla="*/ 179 w 342"/>
                <a:gd name="T51" fmla="*/ 209 h 342"/>
                <a:gd name="T52" fmla="*/ 235 w 342"/>
                <a:gd name="T53" fmla="*/ 171 h 342"/>
                <a:gd name="T54" fmla="*/ 283 w 342"/>
                <a:gd name="T55" fmla="*/ 126 h 342"/>
                <a:gd name="T56" fmla="*/ 241 w 342"/>
                <a:gd name="T57" fmla="*/ 149 h 342"/>
                <a:gd name="T58" fmla="*/ 182 w 342"/>
                <a:gd name="T59" fmla="*/ 164 h 342"/>
                <a:gd name="T60" fmla="*/ 220 w 342"/>
                <a:gd name="T61" fmla="*/ 140 h 342"/>
                <a:gd name="T62" fmla="*/ 252 w 342"/>
                <a:gd name="T63" fmla="*/ 107 h 342"/>
                <a:gd name="T64" fmla="*/ 260 w 342"/>
                <a:gd name="T65" fmla="*/ 103 h 342"/>
                <a:gd name="T66" fmla="*/ 283 w 342"/>
                <a:gd name="T67" fmla="*/ 126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2" h="342">
                  <a:moveTo>
                    <a:pt x="171" y="0"/>
                  </a:moveTo>
                  <a:cubicBezTo>
                    <a:pt x="76" y="0"/>
                    <a:pt x="0" y="77"/>
                    <a:pt x="0" y="171"/>
                  </a:cubicBezTo>
                  <a:cubicBezTo>
                    <a:pt x="0" y="266"/>
                    <a:pt x="76" y="342"/>
                    <a:pt x="171" y="342"/>
                  </a:cubicBezTo>
                  <a:cubicBezTo>
                    <a:pt x="265" y="342"/>
                    <a:pt x="342" y="266"/>
                    <a:pt x="342" y="171"/>
                  </a:cubicBezTo>
                  <a:cubicBezTo>
                    <a:pt x="342" y="77"/>
                    <a:pt x="265" y="0"/>
                    <a:pt x="171" y="0"/>
                  </a:cubicBezTo>
                  <a:close/>
                  <a:moveTo>
                    <a:pt x="48" y="140"/>
                  </a:moveTo>
                  <a:cubicBezTo>
                    <a:pt x="106" y="140"/>
                    <a:pt x="106" y="140"/>
                    <a:pt x="106" y="140"/>
                  </a:cubicBezTo>
                  <a:cubicBezTo>
                    <a:pt x="108" y="164"/>
                    <a:pt x="108" y="164"/>
                    <a:pt x="108" y="164"/>
                  </a:cubicBezTo>
                  <a:cubicBezTo>
                    <a:pt x="54" y="164"/>
                    <a:pt x="54" y="164"/>
                    <a:pt x="54" y="164"/>
                  </a:cubicBezTo>
                  <a:lnTo>
                    <a:pt x="48" y="140"/>
                  </a:lnTo>
                  <a:close/>
                  <a:moveTo>
                    <a:pt x="56" y="171"/>
                  </a:moveTo>
                  <a:cubicBezTo>
                    <a:pt x="109" y="171"/>
                    <a:pt x="109" y="171"/>
                    <a:pt x="109" y="171"/>
                  </a:cubicBezTo>
                  <a:cubicBezTo>
                    <a:pt x="112" y="209"/>
                    <a:pt x="112" y="209"/>
                    <a:pt x="112" y="209"/>
                  </a:cubicBezTo>
                  <a:cubicBezTo>
                    <a:pt x="66" y="209"/>
                    <a:pt x="66" y="209"/>
                    <a:pt x="66" y="209"/>
                  </a:cubicBezTo>
                  <a:lnTo>
                    <a:pt x="56" y="171"/>
                  </a:lnTo>
                  <a:close/>
                  <a:moveTo>
                    <a:pt x="95" y="283"/>
                  </a:moveTo>
                  <a:cubicBezTo>
                    <a:pt x="85" y="283"/>
                    <a:pt x="76" y="275"/>
                    <a:pt x="76" y="264"/>
                  </a:cubicBezTo>
                  <a:cubicBezTo>
                    <a:pt x="76" y="254"/>
                    <a:pt x="85" y="245"/>
                    <a:pt x="95" y="245"/>
                  </a:cubicBezTo>
                  <a:cubicBezTo>
                    <a:pt x="106" y="245"/>
                    <a:pt x="114" y="254"/>
                    <a:pt x="114" y="264"/>
                  </a:cubicBezTo>
                  <a:cubicBezTo>
                    <a:pt x="114" y="275"/>
                    <a:pt x="106" y="283"/>
                    <a:pt x="95" y="283"/>
                  </a:cubicBezTo>
                  <a:close/>
                  <a:moveTo>
                    <a:pt x="73" y="239"/>
                  </a:moveTo>
                  <a:cubicBezTo>
                    <a:pt x="67" y="216"/>
                    <a:pt x="67" y="216"/>
                    <a:pt x="67" y="216"/>
                  </a:cubicBezTo>
                  <a:cubicBezTo>
                    <a:pt x="113" y="216"/>
                    <a:pt x="113" y="216"/>
                    <a:pt x="113" y="216"/>
                  </a:cubicBezTo>
                  <a:cubicBezTo>
                    <a:pt x="114" y="239"/>
                    <a:pt x="114" y="239"/>
                    <a:pt x="114" y="239"/>
                  </a:cubicBezTo>
                  <a:lnTo>
                    <a:pt x="73" y="239"/>
                  </a:lnTo>
                  <a:close/>
                  <a:moveTo>
                    <a:pt x="169" y="239"/>
                  </a:moveTo>
                  <a:cubicBezTo>
                    <a:pt x="122" y="239"/>
                    <a:pt x="122" y="239"/>
                    <a:pt x="122" y="239"/>
                  </a:cubicBezTo>
                  <a:cubicBezTo>
                    <a:pt x="120" y="216"/>
                    <a:pt x="120" y="216"/>
                    <a:pt x="120" y="216"/>
                  </a:cubicBezTo>
                  <a:cubicBezTo>
                    <a:pt x="171" y="216"/>
                    <a:pt x="171" y="216"/>
                    <a:pt x="171" y="216"/>
                  </a:cubicBezTo>
                  <a:lnTo>
                    <a:pt x="169" y="239"/>
                  </a:lnTo>
                  <a:close/>
                  <a:moveTo>
                    <a:pt x="171" y="209"/>
                  </a:moveTo>
                  <a:cubicBezTo>
                    <a:pt x="119" y="209"/>
                    <a:pt x="119" y="209"/>
                    <a:pt x="119" y="209"/>
                  </a:cubicBezTo>
                  <a:cubicBezTo>
                    <a:pt x="116" y="171"/>
                    <a:pt x="116" y="171"/>
                    <a:pt x="116" y="171"/>
                  </a:cubicBezTo>
                  <a:cubicBezTo>
                    <a:pt x="175" y="171"/>
                    <a:pt x="175" y="171"/>
                    <a:pt x="175" y="171"/>
                  </a:cubicBezTo>
                  <a:lnTo>
                    <a:pt x="171" y="209"/>
                  </a:lnTo>
                  <a:close/>
                  <a:moveTo>
                    <a:pt x="116" y="164"/>
                  </a:moveTo>
                  <a:cubicBezTo>
                    <a:pt x="114" y="140"/>
                    <a:pt x="114" y="140"/>
                    <a:pt x="114" y="140"/>
                  </a:cubicBezTo>
                  <a:cubicBezTo>
                    <a:pt x="177" y="140"/>
                    <a:pt x="177" y="140"/>
                    <a:pt x="177" y="140"/>
                  </a:cubicBezTo>
                  <a:cubicBezTo>
                    <a:pt x="175" y="164"/>
                    <a:pt x="175" y="164"/>
                    <a:pt x="175" y="164"/>
                  </a:cubicBezTo>
                  <a:lnTo>
                    <a:pt x="116" y="164"/>
                  </a:lnTo>
                  <a:close/>
                  <a:moveTo>
                    <a:pt x="196" y="283"/>
                  </a:moveTo>
                  <a:cubicBezTo>
                    <a:pt x="185" y="283"/>
                    <a:pt x="177" y="275"/>
                    <a:pt x="177" y="264"/>
                  </a:cubicBezTo>
                  <a:cubicBezTo>
                    <a:pt x="177" y="254"/>
                    <a:pt x="185" y="245"/>
                    <a:pt x="196" y="245"/>
                  </a:cubicBezTo>
                  <a:cubicBezTo>
                    <a:pt x="206" y="245"/>
                    <a:pt x="215" y="254"/>
                    <a:pt x="215" y="264"/>
                  </a:cubicBezTo>
                  <a:cubicBezTo>
                    <a:pt x="215" y="275"/>
                    <a:pt x="206" y="283"/>
                    <a:pt x="196" y="283"/>
                  </a:cubicBezTo>
                  <a:close/>
                  <a:moveTo>
                    <a:pt x="217" y="239"/>
                  </a:moveTo>
                  <a:cubicBezTo>
                    <a:pt x="176" y="239"/>
                    <a:pt x="176" y="239"/>
                    <a:pt x="176" y="239"/>
                  </a:cubicBezTo>
                  <a:cubicBezTo>
                    <a:pt x="178" y="216"/>
                    <a:pt x="178" y="216"/>
                    <a:pt x="178" y="216"/>
                  </a:cubicBezTo>
                  <a:cubicBezTo>
                    <a:pt x="223" y="216"/>
                    <a:pt x="223" y="216"/>
                    <a:pt x="223" y="216"/>
                  </a:cubicBezTo>
                  <a:lnTo>
                    <a:pt x="217" y="239"/>
                  </a:lnTo>
                  <a:close/>
                  <a:moveTo>
                    <a:pt x="225" y="209"/>
                  </a:moveTo>
                  <a:cubicBezTo>
                    <a:pt x="179" y="209"/>
                    <a:pt x="179" y="209"/>
                    <a:pt x="179" y="209"/>
                  </a:cubicBezTo>
                  <a:cubicBezTo>
                    <a:pt x="182" y="171"/>
                    <a:pt x="182" y="171"/>
                    <a:pt x="182" y="171"/>
                  </a:cubicBezTo>
                  <a:cubicBezTo>
                    <a:pt x="235" y="171"/>
                    <a:pt x="235" y="171"/>
                    <a:pt x="235" y="171"/>
                  </a:cubicBezTo>
                  <a:lnTo>
                    <a:pt x="225" y="209"/>
                  </a:lnTo>
                  <a:close/>
                  <a:moveTo>
                    <a:pt x="283" y="126"/>
                  </a:moveTo>
                  <a:cubicBezTo>
                    <a:pt x="264" y="126"/>
                    <a:pt x="264" y="126"/>
                    <a:pt x="264" y="126"/>
                  </a:cubicBezTo>
                  <a:cubicBezTo>
                    <a:pt x="256" y="133"/>
                    <a:pt x="249" y="141"/>
                    <a:pt x="241" y="149"/>
                  </a:cubicBezTo>
                  <a:cubicBezTo>
                    <a:pt x="237" y="164"/>
                    <a:pt x="237" y="164"/>
                    <a:pt x="237" y="164"/>
                  </a:cubicBezTo>
                  <a:cubicBezTo>
                    <a:pt x="182" y="164"/>
                    <a:pt x="182" y="164"/>
                    <a:pt x="182" y="164"/>
                  </a:cubicBezTo>
                  <a:cubicBezTo>
                    <a:pt x="184" y="140"/>
                    <a:pt x="184" y="140"/>
                    <a:pt x="184" y="140"/>
                  </a:cubicBezTo>
                  <a:cubicBezTo>
                    <a:pt x="220" y="140"/>
                    <a:pt x="220" y="140"/>
                    <a:pt x="220" y="140"/>
                  </a:cubicBezTo>
                  <a:cubicBezTo>
                    <a:pt x="221" y="139"/>
                    <a:pt x="221" y="138"/>
                    <a:pt x="222" y="137"/>
                  </a:cubicBezTo>
                  <a:cubicBezTo>
                    <a:pt x="232" y="127"/>
                    <a:pt x="242" y="117"/>
                    <a:pt x="252" y="107"/>
                  </a:cubicBezTo>
                  <a:cubicBezTo>
                    <a:pt x="252" y="107"/>
                    <a:pt x="253" y="106"/>
                    <a:pt x="254" y="105"/>
                  </a:cubicBezTo>
                  <a:cubicBezTo>
                    <a:pt x="256" y="104"/>
                    <a:pt x="258" y="103"/>
                    <a:pt x="260" y="103"/>
                  </a:cubicBezTo>
                  <a:cubicBezTo>
                    <a:pt x="283" y="103"/>
                    <a:pt x="283" y="103"/>
                    <a:pt x="283" y="103"/>
                  </a:cubicBezTo>
                  <a:cubicBezTo>
                    <a:pt x="297" y="103"/>
                    <a:pt x="297" y="126"/>
                    <a:pt x="283" y="126"/>
                  </a:cubicBezTo>
                  <a:close/>
                </a:path>
              </a:pathLst>
            </a:custGeom>
            <a:solidFill>
              <a:srgbClr val="F8B323"/>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nvGrpSpPr>
            <p:cNvPr id="47" name="Group 46">
              <a:extLst>
                <a:ext uri="{FF2B5EF4-FFF2-40B4-BE49-F238E27FC236}">
                  <a16:creationId xmlns:a16="http://schemas.microsoft.com/office/drawing/2014/main" id="{6DDDFA05-4C3E-1D47-242F-2EE28936CC28}"/>
                </a:ext>
              </a:extLst>
            </p:cNvPr>
            <p:cNvGrpSpPr/>
            <p:nvPr/>
          </p:nvGrpSpPr>
          <p:grpSpPr>
            <a:xfrm>
              <a:off x="7997964" y="3910208"/>
              <a:ext cx="603206" cy="603206"/>
              <a:chOff x="8089901" y="4441825"/>
              <a:chExt cx="1016000" cy="1016000"/>
            </a:xfrm>
            <a:solidFill>
              <a:schemeClr val="bg1">
                <a:lumMod val="50000"/>
              </a:schemeClr>
            </a:solidFill>
          </p:grpSpPr>
          <p:sp>
            <p:nvSpPr>
              <p:cNvPr id="158" name="Rectangle 46">
                <a:extLst>
                  <a:ext uri="{FF2B5EF4-FFF2-40B4-BE49-F238E27FC236}">
                    <a16:creationId xmlns:a16="http://schemas.microsoft.com/office/drawing/2014/main" id="{BDAB1C06-B270-239A-AF16-D462A393B978}"/>
                  </a:ext>
                </a:extLst>
              </p:cNvPr>
              <p:cNvSpPr>
                <a:spLocks noChangeArrowheads="1"/>
              </p:cNvSpPr>
              <p:nvPr/>
            </p:nvSpPr>
            <p:spPr bwMode="auto">
              <a:xfrm>
                <a:off x="8507413" y="4703763"/>
                <a:ext cx="255588" cy="1349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9" name="Freeform 47">
                <a:extLst>
                  <a:ext uri="{FF2B5EF4-FFF2-40B4-BE49-F238E27FC236}">
                    <a16:creationId xmlns:a16="http://schemas.microsoft.com/office/drawing/2014/main" id="{C04BF2CC-3C4C-278D-25D7-2C86179A9811}"/>
                  </a:ext>
                </a:extLst>
              </p:cNvPr>
              <p:cNvSpPr>
                <a:spLocks noEditPoints="1"/>
              </p:cNvSpPr>
              <p:nvPr/>
            </p:nvSpPr>
            <p:spPr bwMode="auto">
              <a:xfrm>
                <a:off x="8089901" y="4441825"/>
                <a:ext cx="1016000" cy="1016000"/>
              </a:xfrm>
              <a:custGeom>
                <a:avLst/>
                <a:gdLst>
                  <a:gd name="T0" fmla="*/ 176 w 353"/>
                  <a:gd name="T1" fmla="*/ 0 h 353"/>
                  <a:gd name="T2" fmla="*/ 0 w 353"/>
                  <a:gd name="T3" fmla="*/ 176 h 353"/>
                  <a:gd name="T4" fmla="*/ 176 w 353"/>
                  <a:gd name="T5" fmla="*/ 353 h 353"/>
                  <a:gd name="T6" fmla="*/ 353 w 353"/>
                  <a:gd name="T7" fmla="*/ 176 h 353"/>
                  <a:gd name="T8" fmla="*/ 176 w 353"/>
                  <a:gd name="T9" fmla="*/ 0 h 353"/>
                  <a:gd name="T10" fmla="*/ 271 w 353"/>
                  <a:gd name="T11" fmla="*/ 280 h 353"/>
                  <a:gd name="T12" fmla="*/ 107 w 353"/>
                  <a:gd name="T13" fmla="*/ 280 h 353"/>
                  <a:gd name="T14" fmla="*/ 107 w 353"/>
                  <a:gd name="T15" fmla="*/ 257 h 353"/>
                  <a:gd name="T16" fmla="*/ 98 w 353"/>
                  <a:gd name="T17" fmla="*/ 259 h 353"/>
                  <a:gd name="T18" fmla="*/ 93 w 353"/>
                  <a:gd name="T19" fmla="*/ 278 h 353"/>
                  <a:gd name="T20" fmla="*/ 82 w 353"/>
                  <a:gd name="T21" fmla="*/ 278 h 353"/>
                  <a:gd name="T22" fmla="*/ 89 w 353"/>
                  <a:gd name="T23" fmla="*/ 251 h 353"/>
                  <a:gd name="T24" fmla="*/ 107 w 353"/>
                  <a:gd name="T25" fmla="*/ 245 h 353"/>
                  <a:gd name="T26" fmla="*/ 107 w 353"/>
                  <a:gd name="T27" fmla="*/ 213 h 353"/>
                  <a:gd name="T28" fmla="*/ 98 w 353"/>
                  <a:gd name="T29" fmla="*/ 215 h 353"/>
                  <a:gd name="T30" fmla="*/ 93 w 353"/>
                  <a:gd name="T31" fmla="*/ 234 h 353"/>
                  <a:gd name="T32" fmla="*/ 82 w 353"/>
                  <a:gd name="T33" fmla="*/ 234 h 353"/>
                  <a:gd name="T34" fmla="*/ 89 w 353"/>
                  <a:gd name="T35" fmla="*/ 207 h 353"/>
                  <a:gd name="T36" fmla="*/ 107 w 353"/>
                  <a:gd name="T37" fmla="*/ 201 h 353"/>
                  <a:gd name="T38" fmla="*/ 107 w 353"/>
                  <a:gd name="T39" fmla="*/ 169 h 353"/>
                  <a:gd name="T40" fmla="*/ 98 w 353"/>
                  <a:gd name="T41" fmla="*/ 171 h 353"/>
                  <a:gd name="T42" fmla="*/ 93 w 353"/>
                  <a:gd name="T43" fmla="*/ 190 h 353"/>
                  <a:gd name="T44" fmla="*/ 82 w 353"/>
                  <a:gd name="T45" fmla="*/ 190 h 353"/>
                  <a:gd name="T46" fmla="*/ 89 w 353"/>
                  <a:gd name="T47" fmla="*/ 163 h 353"/>
                  <a:gd name="T48" fmla="*/ 107 w 353"/>
                  <a:gd name="T49" fmla="*/ 157 h 353"/>
                  <a:gd name="T50" fmla="*/ 107 w 353"/>
                  <a:gd name="T51" fmla="*/ 125 h 353"/>
                  <a:gd name="T52" fmla="*/ 98 w 353"/>
                  <a:gd name="T53" fmla="*/ 127 h 353"/>
                  <a:gd name="T54" fmla="*/ 93 w 353"/>
                  <a:gd name="T55" fmla="*/ 146 h 353"/>
                  <a:gd name="T56" fmla="*/ 82 w 353"/>
                  <a:gd name="T57" fmla="*/ 146 h 353"/>
                  <a:gd name="T58" fmla="*/ 89 w 353"/>
                  <a:gd name="T59" fmla="*/ 119 h 353"/>
                  <a:gd name="T60" fmla="*/ 107 w 353"/>
                  <a:gd name="T61" fmla="*/ 113 h 353"/>
                  <a:gd name="T62" fmla="*/ 107 w 353"/>
                  <a:gd name="T63" fmla="*/ 81 h 353"/>
                  <a:gd name="T64" fmla="*/ 98 w 353"/>
                  <a:gd name="T65" fmla="*/ 83 h 353"/>
                  <a:gd name="T66" fmla="*/ 93 w 353"/>
                  <a:gd name="T67" fmla="*/ 102 h 353"/>
                  <a:gd name="T68" fmla="*/ 82 w 353"/>
                  <a:gd name="T69" fmla="*/ 102 h 353"/>
                  <a:gd name="T70" fmla="*/ 89 w 353"/>
                  <a:gd name="T71" fmla="*/ 75 h 353"/>
                  <a:gd name="T72" fmla="*/ 107 w 353"/>
                  <a:gd name="T73" fmla="*/ 69 h 353"/>
                  <a:gd name="T74" fmla="*/ 107 w 353"/>
                  <a:gd name="T75" fmla="*/ 69 h 353"/>
                  <a:gd name="T76" fmla="*/ 271 w 353"/>
                  <a:gd name="T77" fmla="*/ 69 h 353"/>
                  <a:gd name="T78" fmla="*/ 271 w 353"/>
                  <a:gd name="T79" fmla="*/ 28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53" h="353">
                    <a:moveTo>
                      <a:pt x="176" y="0"/>
                    </a:moveTo>
                    <a:cubicBezTo>
                      <a:pt x="79" y="0"/>
                      <a:pt x="0" y="79"/>
                      <a:pt x="0" y="176"/>
                    </a:cubicBezTo>
                    <a:cubicBezTo>
                      <a:pt x="0" y="274"/>
                      <a:pt x="79" y="353"/>
                      <a:pt x="176" y="353"/>
                    </a:cubicBezTo>
                    <a:cubicBezTo>
                      <a:pt x="274" y="353"/>
                      <a:pt x="353" y="274"/>
                      <a:pt x="353" y="176"/>
                    </a:cubicBezTo>
                    <a:cubicBezTo>
                      <a:pt x="353" y="79"/>
                      <a:pt x="274" y="0"/>
                      <a:pt x="176" y="0"/>
                    </a:cubicBezTo>
                    <a:close/>
                    <a:moveTo>
                      <a:pt x="271" y="280"/>
                    </a:moveTo>
                    <a:cubicBezTo>
                      <a:pt x="107" y="280"/>
                      <a:pt x="107" y="280"/>
                      <a:pt x="107" y="280"/>
                    </a:cubicBezTo>
                    <a:cubicBezTo>
                      <a:pt x="107" y="257"/>
                      <a:pt x="107" y="257"/>
                      <a:pt x="107" y="257"/>
                    </a:cubicBezTo>
                    <a:cubicBezTo>
                      <a:pt x="104" y="257"/>
                      <a:pt x="100" y="257"/>
                      <a:pt x="98" y="259"/>
                    </a:cubicBezTo>
                    <a:cubicBezTo>
                      <a:pt x="92" y="263"/>
                      <a:pt x="93" y="272"/>
                      <a:pt x="93" y="278"/>
                    </a:cubicBezTo>
                    <a:cubicBezTo>
                      <a:pt x="94" y="285"/>
                      <a:pt x="82" y="285"/>
                      <a:pt x="82" y="278"/>
                    </a:cubicBezTo>
                    <a:cubicBezTo>
                      <a:pt x="81" y="268"/>
                      <a:pt x="82" y="258"/>
                      <a:pt x="89" y="251"/>
                    </a:cubicBezTo>
                    <a:cubicBezTo>
                      <a:pt x="94" y="247"/>
                      <a:pt x="101" y="245"/>
                      <a:pt x="107" y="245"/>
                    </a:cubicBezTo>
                    <a:cubicBezTo>
                      <a:pt x="107" y="213"/>
                      <a:pt x="107" y="213"/>
                      <a:pt x="107" y="213"/>
                    </a:cubicBezTo>
                    <a:cubicBezTo>
                      <a:pt x="104" y="213"/>
                      <a:pt x="100" y="213"/>
                      <a:pt x="98" y="215"/>
                    </a:cubicBezTo>
                    <a:cubicBezTo>
                      <a:pt x="92" y="219"/>
                      <a:pt x="93" y="228"/>
                      <a:pt x="93" y="234"/>
                    </a:cubicBezTo>
                    <a:cubicBezTo>
                      <a:pt x="94" y="241"/>
                      <a:pt x="82" y="241"/>
                      <a:pt x="82" y="234"/>
                    </a:cubicBezTo>
                    <a:cubicBezTo>
                      <a:pt x="81" y="224"/>
                      <a:pt x="82" y="214"/>
                      <a:pt x="89" y="207"/>
                    </a:cubicBezTo>
                    <a:cubicBezTo>
                      <a:pt x="94" y="202"/>
                      <a:pt x="101" y="201"/>
                      <a:pt x="107" y="201"/>
                    </a:cubicBezTo>
                    <a:cubicBezTo>
                      <a:pt x="107" y="169"/>
                      <a:pt x="107" y="169"/>
                      <a:pt x="107" y="169"/>
                    </a:cubicBezTo>
                    <a:cubicBezTo>
                      <a:pt x="104" y="169"/>
                      <a:pt x="100" y="169"/>
                      <a:pt x="98" y="171"/>
                    </a:cubicBezTo>
                    <a:cubicBezTo>
                      <a:pt x="92" y="175"/>
                      <a:pt x="93" y="184"/>
                      <a:pt x="93" y="190"/>
                    </a:cubicBezTo>
                    <a:cubicBezTo>
                      <a:pt x="94" y="197"/>
                      <a:pt x="82" y="197"/>
                      <a:pt x="82" y="190"/>
                    </a:cubicBezTo>
                    <a:cubicBezTo>
                      <a:pt x="81" y="180"/>
                      <a:pt x="82" y="170"/>
                      <a:pt x="89" y="163"/>
                    </a:cubicBezTo>
                    <a:cubicBezTo>
                      <a:pt x="94" y="158"/>
                      <a:pt x="101" y="157"/>
                      <a:pt x="107" y="157"/>
                    </a:cubicBezTo>
                    <a:cubicBezTo>
                      <a:pt x="107" y="125"/>
                      <a:pt x="107" y="125"/>
                      <a:pt x="107" y="125"/>
                    </a:cubicBezTo>
                    <a:cubicBezTo>
                      <a:pt x="104" y="125"/>
                      <a:pt x="100" y="125"/>
                      <a:pt x="98" y="127"/>
                    </a:cubicBezTo>
                    <a:cubicBezTo>
                      <a:pt x="92" y="131"/>
                      <a:pt x="93" y="140"/>
                      <a:pt x="93" y="146"/>
                    </a:cubicBezTo>
                    <a:cubicBezTo>
                      <a:pt x="94" y="153"/>
                      <a:pt x="82" y="153"/>
                      <a:pt x="82" y="146"/>
                    </a:cubicBezTo>
                    <a:cubicBezTo>
                      <a:pt x="81" y="136"/>
                      <a:pt x="82" y="126"/>
                      <a:pt x="89" y="119"/>
                    </a:cubicBezTo>
                    <a:cubicBezTo>
                      <a:pt x="94" y="114"/>
                      <a:pt x="101" y="113"/>
                      <a:pt x="107" y="113"/>
                    </a:cubicBezTo>
                    <a:cubicBezTo>
                      <a:pt x="107" y="81"/>
                      <a:pt x="107" y="81"/>
                      <a:pt x="107" y="81"/>
                    </a:cubicBezTo>
                    <a:cubicBezTo>
                      <a:pt x="104" y="81"/>
                      <a:pt x="100" y="81"/>
                      <a:pt x="98" y="83"/>
                    </a:cubicBezTo>
                    <a:cubicBezTo>
                      <a:pt x="92" y="87"/>
                      <a:pt x="93" y="96"/>
                      <a:pt x="93" y="102"/>
                    </a:cubicBezTo>
                    <a:cubicBezTo>
                      <a:pt x="94" y="109"/>
                      <a:pt x="82" y="109"/>
                      <a:pt x="82" y="102"/>
                    </a:cubicBezTo>
                    <a:cubicBezTo>
                      <a:pt x="81" y="92"/>
                      <a:pt x="82" y="82"/>
                      <a:pt x="89" y="75"/>
                    </a:cubicBezTo>
                    <a:cubicBezTo>
                      <a:pt x="94" y="70"/>
                      <a:pt x="101" y="69"/>
                      <a:pt x="107" y="69"/>
                    </a:cubicBezTo>
                    <a:cubicBezTo>
                      <a:pt x="107" y="69"/>
                      <a:pt x="107" y="69"/>
                      <a:pt x="107" y="69"/>
                    </a:cubicBezTo>
                    <a:cubicBezTo>
                      <a:pt x="271" y="69"/>
                      <a:pt x="271" y="69"/>
                      <a:pt x="271" y="69"/>
                    </a:cubicBezTo>
                    <a:lnTo>
                      <a:pt x="271" y="2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48" name="Group 47">
              <a:extLst>
                <a:ext uri="{FF2B5EF4-FFF2-40B4-BE49-F238E27FC236}">
                  <a16:creationId xmlns:a16="http://schemas.microsoft.com/office/drawing/2014/main" id="{6D880286-C94D-0D3D-21DF-DA186AF4CE4B}"/>
                </a:ext>
              </a:extLst>
            </p:cNvPr>
            <p:cNvGrpSpPr/>
            <p:nvPr/>
          </p:nvGrpSpPr>
          <p:grpSpPr>
            <a:xfrm>
              <a:off x="7420206" y="2571846"/>
              <a:ext cx="490105" cy="489162"/>
              <a:chOff x="7116763" y="2187575"/>
              <a:chExt cx="825500" cy="823913"/>
            </a:xfrm>
            <a:solidFill>
              <a:schemeClr val="bg1">
                <a:lumMod val="50000"/>
              </a:schemeClr>
            </a:solidFill>
          </p:grpSpPr>
          <p:sp>
            <p:nvSpPr>
              <p:cNvPr id="156" name="Freeform 48">
                <a:extLst>
                  <a:ext uri="{FF2B5EF4-FFF2-40B4-BE49-F238E27FC236}">
                    <a16:creationId xmlns:a16="http://schemas.microsoft.com/office/drawing/2014/main" id="{7687526B-809E-BB6A-FAA5-4D4A6AF05BE3}"/>
                  </a:ext>
                </a:extLst>
              </p:cNvPr>
              <p:cNvSpPr>
                <a:spLocks/>
              </p:cNvSpPr>
              <p:nvPr/>
            </p:nvSpPr>
            <p:spPr bwMode="auto">
              <a:xfrm>
                <a:off x="7473951" y="2566988"/>
                <a:ext cx="71438" cy="98425"/>
              </a:xfrm>
              <a:custGeom>
                <a:avLst/>
                <a:gdLst>
                  <a:gd name="T0" fmla="*/ 0 w 25"/>
                  <a:gd name="T1" fmla="*/ 32 h 34"/>
                  <a:gd name="T2" fmla="*/ 3 w 25"/>
                  <a:gd name="T3" fmla="*/ 34 h 34"/>
                  <a:gd name="T4" fmla="*/ 25 w 25"/>
                  <a:gd name="T5" fmla="*/ 0 h 34"/>
                  <a:gd name="T6" fmla="*/ 13 w 25"/>
                  <a:gd name="T7" fmla="*/ 4 h 34"/>
                  <a:gd name="T8" fmla="*/ 0 w 25"/>
                  <a:gd name="T9" fmla="*/ 32 h 34"/>
                </a:gdLst>
                <a:ahLst/>
                <a:cxnLst>
                  <a:cxn ang="0">
                    <a:pos x="T0" y="T1"/>
                  </a:cxn>
                  <a:cxn ang="0">
                    <a:pos x="T2" y="T3"/>
                  </a:cxn>
                  <a:cxn ang="0">
                    <a:pos x="T4" y="T5"/>
                  </a:cxn>
                  <a:cxn ang="0">
                    <a:pos x="T6" y="T7"/>
                  </a:cxn>
                  <a:cxn ang="0">
                    <a:pos x="T8" y="T9"/>
                  </a:cxn>
                </a:cxnLst>
                <a:rect l="0" t="0" r="r" b="b"/>
                <a:pathLst>
                  <a:path w="25" h="34">
                    <a:moveTo>
                      <a:pt x="0" y="32"/>
                    </a:moveTo>
                    <a:cubicBezTo>
                      <a:pt x="0" y="34"/>
                      <a:pt x="2" y="34"/>
                      <a:pt x="3" y="34"/>
                    </a:cubicBezTo>
                    <a:cubicBezTo>
                      <a:pt x="9" y="34"/>
                      <a:pt x="18" y="28"/>
                      <a:pt x="25" y="0"/>
                    </a:cubicBezTo>
                    <a:cubicBezTo>
                      <a:pt x="20" y="0"/>
                      <a:pt x="15" y="2"/>
                      <a:pt x="13" y="4"/>
                    </a:cubicBezTo>
                    <a:cubicBezTo>
                      <a:pt x="6" y="11"/>
                      <a:pt x="0" y="23"/>
                      <a:pt x="0"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7" name="Freeform 49">
                <a:extLst>
                  <a:ext uri="{FF2B5EF4-FFF2-40B4-BE49-F238E27FC236}">
                    <a16:creationId xmlns:a16="http://schemas.microsoft.com/office/drawing/2014/main" id="{83748FB9-F434-4394-60DA-1FE48A2CE6A2}"/>
                  </a:ext>
                </a:extLst>
              </p:cNvPr>
              <p:cNvSpPr>
                <a:spLocks noEditPoints="1"/>
              </p:cNvSpPr>
              <p:nvPr/>
            </p:nvSpPr>
            <p:spPr bwMode="auto">
              <a:xfrm>
                <a:off x="7116763" y="2187575"/>
                <a:ext cx="825500" cy="823913"/>
              </a:xfrm>
              <a:custGeom>
                <a:avLst/>
                <a:gdLst>
                  <a:gd name="T0" fmla="*/ 143 w 287"/>
                  <a:gd name="T1" fmla="*/ 0 h 286"/>
                  <a:gd name="T2" fmla="*/ 0 w 287"/>
                  <a:gd name="T3" fmla="*/ 143 h 286"/>
                  <a:gd name="T4" fmla="*/ 143 w 287"/>
                  <a:gd name="T5" fmla="*/ 286 h 286"/>
                  <a:gd name="T6" fmla="*/ 287 w 287"/>
                  <a:gd name="T7" fmla="*/ 143 h 286"/>
                  <a:gd name="T8" fmla="*/ 143 w 287"/>
                  <a:gd name="T9" fmla="*/ 0 h 286"/>
                  <a:gd name="T10" fmla="*/ 222 w 287"/>
                  <a:gd name="T11" fmla="*/ 171 h 286"/>
                  <a:gd name="T12" fmla="*/ 180 w 287"/>
                  <a:gd name="T13" fmla="*/ 194 h 286"/>
                  <a:gd name="T14" fmla="*/ 154 w 287"/>
                  <a:gd name="T15" fmla="*/ 184 h 286"/>
                  <a:gd name="T16" fmla="*/ 125 w 287"/>
                  <a:gd name="T17" fmla="*/ 194 h 286"/>
                  <a:gd name="T18" fmla="*/ 91 w 287"/>
                  <a:gd name="T19" fmla="*/ 165 h 286"/>
                  <a:gd name="T20" fmla="*/ 110 w 287"/>
                  <a:gd name="T21" fmla="*/ 120 h 286"/>
                  <a:gd name="T22" fmla="*/ 170 w 287"/>
                  <a:gd name="T23" fmla="*/ 103 h 286"/>
                  <a:gd name="T24" fmla="*/ 180 w 287"/>
                  <a:gd name="T25" fmla="*/ 103 h 286"/>
                  <a:gd name="T26" fmla="*/ 187 w 287"/>
                  <a:gd name="T27" fmla="*/ 104 h 286"/>
                  <a:gd name="T28" fmla="*/ 185 w 287"/>
                  <a:gd name="T29" fmla="*/ 110 h 286"/>
                  <a:gd name="T30" fmla="*/ 178 w 287"/>
                  <a:gd name="T31" fmla="*/ 149 h 286"/>
                  <a:gd name="T32" fmla="*/ 177 w 287"/>
                  <a:gd name="T33" fmla="*/ 151 h 286"/>
                  <a:gd name="T34" fmla="*/ 175 w 287"/>
                  <a:gd name="T35" fmla="*/ 162 h 286"/>
                  <a:gd name="T36" fmla="*/ 181 w 287"/>
                  <a:gd name="T37" fmla="*/ 166 h 286"/>
                  <a:gd name="T38" fmla="*/ 196 w 287"/>
                  <a:gd name="T39" fmla="*/ 154 h 286"/>
                  <a:gd name="T40" fmla="*/ 201 w 287"/>
                  <a:gd name="T41" fmla="*/ 131 h 286"/>
                  <a:gd name="T42" fmla="*/ 186 w 287"/>
                  <a:gd name="T43" fmla="*/ 94 h 286"/>
                  <a:gd name="T44" fmla="*/ 146 w 287"/>
                  <a:gd name="T45" fmla="*/ 80 h 286"/>
                  <a:gd name="T46" fmla="*/ 79 w 287"/>
                  <a:gd name="T47" fmla="*/ 161 h 286"/>
                  <a:gd name="T48" fmla="*/ 94 w 287"/>
                  <a:gd name="T49" fmla="*/ 199 h 286"/>
                  <a:gd name="T50" fmla="*/ 135 w 287"/>
                  <a:gd name="T51" fmla="*/ 213 h 286"/>
                  <a:gd name="T52" fmla="*/ 201 w 287"/>
                  <a:gd name="T53" fmla="*/ 193 h 286"/>
                  <a:gd name="T54" fmla="*/ 206 w 287"/>
                  <a:gd name="T55" fmla="*/ 191 h 286"/>
                  <a:gd name="T56" fmla="*/ 208 w 287"/>
                  <a:gd name="T57" fmla="*/ 196 h 286"/>
                  <a:gd name="T58" fmla="*/ 216 w 287"/>
                  <a:gd name="T59" fmla="*/ 212 h 286"/>
                  <a:gd name="T60" fmla="*/ 218 w 287"/>
                  <a:gd name="T61" fmla="*/ 217 h 286"/>
                  <a:gd name="T62" fmla="*/ 214 w 287"/>
                  <a:gd name="T63" fmla="*/ 219 h 286"/>
                  <a:gd name="T64" fmla="*/ 133 w 287"/>
                  <a:gd name="T65" fmla="*/ 240 h 286"/>
                  <a:gd name="T66" fmla="*/ 74 w 287"/>
                  <a:gd name="T67" fmla="*/ 221 h 286"/>
                  <a:gd name="T68" fmla="*/ 46 w 287"/>
                  <a:gd name="T69" fmla="*/ 160 h 286"/>
                  <a:gd name="T70" fmla="*/ 71 w 287"/>
                  <a:gd name="T71" fmla="*/ 88 h 286"/>
                  <a:gd name="T72" fmla="*/ 148 w 287"/>
                  <a:gd name="T73" fmla="*/ 52 h 286"/>
                  <a:gd name="T74" fmla="*/ 204 w 287"/>
                  <a:gd name="T75" fmla="*/ 70 h 286"/>
                  <a:gd name="T76" fmla="*/ 234 w 287"/>
                  <a:gd name="T77" fmla="*/ 129 h 286"/>
                  <a:gd name="T78" fmla="*/ 222 w 287"/>
                  <a:gd name="T79" fmla="*/ 171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87" h="286">
                    <a:moveTo>
                      <a:pt x="143" y="0"/>
                    </a:moveTo>
                    <a:cubicBezTo>
                      <a:pt x="64" y="0"/>
                      <a:pt x="0" y="64"/>
                      <a:pt x="0" y="143"/>
                    </a:cubicBezTo>
                    <a:cubicBezTo>
                      <a:pt x="0" y="222"/>
                      <a:pt x="64" y="286"/>
                      <a:pt x="143" y="286"/>
                    </a:cubicBezTo>
                    <a:cubicBezTo>
                      <a:pt x="223" y="286"/>
                      <a:pt x="287" y="222"/>
                      <a:pt x="287" y="143"/>
                    </a:cubicBezTo>
                    <a:cubicBezTo>
                      <a:pt x="287" y="64"/>
                      <a:pt x="223" y="0"/>
                      <a:pt x="143" y="0"/>
                    </a:cubicBezTo>
                    <a:close/>
                    <a:moveTo>
                      <a:pt x="222" y="171"/>
                    </a:moveTo>
                    <a:cubicBezTo>
                      <a:pt x="212" y="186"/>
                      <a:pt x="198" y="194"/>
                      <a:pt x="180" y="194"/>
                    </a:cubicBezTo>
                    <a:cubicBezTo>
                      <a:pt x="167" y="194"/>
                      <a:pt x="161" y="190"/>
                      <a:pt x="154" y="184"/>
                    </a:cubicBezTo>
                    <a:cubicBezTo>
                      <a:pt x="146" y="190"/>
                      <a:pt x="138" y="194"/>
                      <a:pt x="125" y="194"/>
                    </a:cubicBezTo>
                    <a:cubicBezTo>
                      <a:pt x="105" y="194"/>
                      <a:pt x="91" y="182"/>
                      <a:pt x="91" y="165"/>
                    </a:cubicBezTo>
                    <a:cubicBezTo>
                      <a:pt x="91" y="150"/>
                      <a:pt x="99" y="132"/>
                      <a:pt x="110" y="120"/>
                    </a:cubicBezTo>
                    <a:cubicBezTo>
                      <a:pt x="119" y="110"/>
                      <a:pt x="133" y="103"/>
                      <a:pt x="170" y="103"/>
                    </a:cubicBezTo>
                    <a:cubicBezTo>
                      <a:pt x="173" y="103"/>
                      <a:pt x="177" y="103"/>
                      <a:pt x="180" y="103"/>
                    </a:cubicBezTo>
                    <a:cubicBezTo>
                      <a:pt x="187" y="104"/>
                      <a:pt x="187" y="104"/>
                      <a:pt x="187" y="104"/>
                    </a:cubicBezTo>
                    <a:cubicBezTo>
                      <a:pt x="185" y="110"/>
                      <a:pt x="185" y="110"/>
                      <a:pt x="185" y="110"/>
                    </a:cubicBezTo>
                    <a:cubicBezTo>
                      <a:pt x="178" y="149"/>
                      <a:pt x="178" y="149"/>
                      <a:pt x="178" y="149"/>
                    </a:cubicBezTo>
                    <a:cubicBezTo>
                      <a:pt x="177" y="149"/>
                      <a:pt x="177" y="150"/>
                      <a:pt x="177" y="151"/>
                    </a:cubicBezTo>
                    <a:cubicBezTo>
                      <a:pt x="177" y="154"/>
                      <a:pt x="175" y="159"/>
                      <a:pt x="175" y="162"/>
                    </a:cubicBezTo>
                    <a:cubicBezTo>
                      <a:pt x="175" y="165"/>
                      <a:pt x="177" y="166"/>
                      <a:pt x="181" y="166"/>
                    </a:cubicBezTo>
                    <a:cubicBezTo>
                      <a:pt x="187" y="166"/>
                      <a:pt x="192" y="162"/>
                      <a:pt x="196" y="154"/>
                    </a:cubicBezTo>
                    <a:cubicBezTo>
                      <a:pt x="200" y="146"/>
                      <a:pt x="201" y="136"/>
                      <a:pt x="201" y="131"/>
                    </a:cubicBezTo>
                    <a:cubicBezTo>
                      <a:pt x="201" y="116"/>
                      <a:pt x="196" y="103"/>
                      <a:pt x="186" y="94"/>
                    </a:cubicBezTo>
                    <a:cubicBezTo>
                      <a:pt x="176" y="84"/>
                      <a:pt x="162" y="80"/>
                      <a:pt x="146" y="80"/>
                    </a:cubicBezTo>
                    <a:cubicBezTo>
                      <a:pt x="112" y="80"/>
                      <a:pt x="79" y="107"/>
                      <a:pt x="79" y="161"/>
                    </a:cubicBezTo>
                    <a:cubicBezTo>
                      <a:pt x="79" y="177"/>
                      <a:pt x="84" y="190"/>
                      <a:pt x="94" y="199"/>
                    </a:cubicBezTo>
                    <a:cubicBezTo>
                      <a:pt x="104" y="208"/>
                      <a:pt x="118" y="213"/>
                      <a:pt x="135" y="213"/>
                    </a:cubicBezTo>
                    <a:cubicBezTo>
                      <a:pt x="161" y="213"/>
                      <a:pt x="182" y="203"/>
                      <a:pt x="201" y="193"/>
                    </a:cubicBezTo>
                    <a:cubicBezTo>
                      <a:pt x="206" y="191"/>
                      <a:pt x="206" y="191"/>
                      <a:pt x="206" y="191"/>
                    </a:cubicBezTo>
                    <a:cubicBezTo>
                      <a:pt x="208" y="196"/>
                      <a:pt x="208" y="196"/>
                      <a:pt x="208" y="196"/>
                    </a:cubicBezTo>
                    <a:cubicBezTo>
                      <a:pt x="216" y="212"/>
                      <a:pt x="216" y="212"/>
                      <a:pt x="216" y="212"/>
                    </a:cubicBezTo>
                    <a:cubicBezTo>
                      <a:pt x="218" y="217"/>
                      <a:pt x="218" y="217"/>
                      <a:pt x="218" y="217"/>
                    </a:cubicBezTo>
                    <a:cubicBezTo>
                      <a:pt x="214" y="219"/>
                      <a:pt x="214" y="219"/>
                      <a:pt x="214" y="219"/>
                    </a:cubicBezTo>
                    <a:cubicBezTo>
                      <a:pt x="189" y="233"/>
                      <a:pt x="161" y="240"/>
                      <a:pt x="133" y="240"/>
                    </a:cubicBezTo>
                    <a:cubicBezTo>
                      <a:pt x="111" y="240"/>
                      <a:pt x="90" y="233"/>
                      <a:pt x="74" y="221"/>
                    </a:cubicBezTo>
                    <a:cubicBezTo>
                      <a:pt x="55" y="207"/>
                      <a:pt x="46" y="186"/>
                      <a:pt x="46" y="160"/>
                    </a:cubicBezTo>
                    <a:cubicBezTo>
                      <a:pt x="46" y="134"/>
                      <a:pt x="55" y="108"/>
                      <a:pt x="71" y="88"/>
                    </a:cubicBezTo>
                    <a:cubicBezTo>
                      <a:pt x="84" y="72"/>
                      <a:pt x="108" y="52"/>
                      <a:pt x="148" y="52"/>
                    </a:cubicBezTo>
                    <a:cubicBezTo>
                      <a:pt x="167" y="52"/>
                      <a:pt x="188" y="59"/>
                      <a:pt x="204" y="70"/>
                    </a:cubicBezTo>
                    <a:cubicBezTo>
                      <a:pt x="217" y="80"/>
                      <a:pt x="234" y="98"/>
                      <a:pt x="234" y="129"/>
                    </a:cubicBezTo>
                    <a:cubicBezTo>
                      <a:pt x="234" y="144"/>
                      <a:pt x="229" y="159"/>
                      <a:pt x="222" y="1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sp>
          <p:nvSpPr>
            <p:cNvPr id="49" name="Freeform 50">
              <a:extLst>
                <a:ext uri="{FF2B5EF4-FFF2-40B4-BE49-F238E27FC236}">
                  <a16:creationId xmlns:a16="http://schemas.microsoft.com/office/drawing/2014/main" id="{667893A9-3797-9BB1-035F-B066B926D0FD}"/>
                </a:ext>
              </a:extLst>
            </p:cNvPr>
            <p:cNvSpPr>
              <a:spLocks noEditPoints="1"/>
            </p:cNvSpPr>
            <p:nvPr/>
          </p:nvSpPr>
          <p:spPr bwMode="auto">
            <a:xfrm>
              <a:off x="6708612" y="2231602"/>
              <a:ext cx="495760" cy="493875"/>
            </a:xfrm>
            <a:custGeom>
              <a:avLst/>
              <a:gdLst>
                <a:gd name="T0" fmla="*/ 145 w 290"/>
                <a:gd name="T1" fmla="*/ 0 h 289"/>
                <a:gd name="T2" fmla="*/ 0 w 290"/>
                <a:gd name="T3" fmla="*/ 144 h 289"/>
                <a:gd name="T4" fmla="*/ 145 w 290"/>
                <a:gd name="T5" fmla="*/ 289 h 289"/>
                <a:gd name="T6" fmla="*/ 290 w 290"/>
                <a:gd name="T7" fmla="*/ 144 h 289"/>
                <a:gd name="T8" fmla="*/ 145 w 290"/>
                <a:gd name="T9" fmla="*/ 0 h 289"/>
                <a:gd name="T10" fmla="*/ 173 w 290"/>
                <a:gd name="T11" fmla="*/ 144 h 289"/>
                <a:gd name="T12" fmla="*/ 173 w 290"/>
                <a:gd name="T13" fmla="*/ 236 h 289"/>
                <a:gd name="T14" fmla="*/ 79 w 290"/>
                <a:gd name="T15" fmla="*/ 197 h 289"/>
                <a:gd name="T16" fmla="*/ 79 w 290"/>
                <a:gd name="T17" fmla="*/ 183 h 289"/>
                <a:gd name="T18" fmla="*/ 46 w 290"/>
                <a:gd name="T19" fmla="*/ 183 h 289"/>
                <a:gd name="T20" fmla="*/ 46 w 290"/>
                <a:gd name="T21" fmla="*/ 106 h 289"/>
                <a:gd name="T22" fmla="*/ 79 w 290"/>
                <a:gd name="T23" fmla="*/ 106 h 289"/>
                <a:gd name="T24" fmla="*/ 79 w 290"/>
                <a:gd name="T25" fmla="*/ 91 h 289"/>
                <a:gd name="T26" fmla="*/ 173 w 290"/>
                <a:gd name="T27" fmla="*/ 53 h 289"/>
                <a:gd name="T28" fmla="*/ 173 w 290"/>
                <a:gd name="T29" fmla="*/ 144 h 289"/>
                <a:gd name="T30" fmla="*/ 182 w 290"/>
                <a:gd name="T31" fmla="*/ 196 h 289"/>
                <a:gd name="T32" fmla="*/ 194 w 290"/>
                <a:gd name="T33" fmla="*/ 144 h 289"/>
                <a:gd name="T34" fmla="*/ 182 w 290"/>
                <a:gd name="T35" fmla="*/ 93 h 289"/>
                <a:gd name="T36" fmla="*/ 197 w 290"/>
                <a:gd name="T37" fmla="*/ 84 h 289"/>
                <a:gd name="T38" fmla="*/ 211 w 290"/>
                <a:gd name="T39" fmla="*/ 144 h 289"/>
                <a:gd name="T40" fmla="*/ 197 w 290"/>
                <a:gd name="T41" fmla="*/ 204 h 289"/>
                <a:gd name="T42" fmla="*/ 182 w 290"/>
                <a:gd name="T43" fmla="*/ 196 h 289"/>
                <a:gd name="T44" fmla="*/ 225 w 290"/>
                <a:gd name="T45" fmla="*/ 225 h 289"/>
                <a:gd name="T46" fmla="*/ 210 w 290"/>
                <a:gd name="T47" fmla="*/ 216 h 289"/>
                <a:gd name="T48" fmla="*/ 227 w 290"/>
                <a:gd name="T49" fmla="*/ 144 h 289"/>
                <a:gd name="T50" fmla="*/ 210 w 290"/>
                <a:gd name="T51" fmla="*/ 72 h 289"/>
                <a:gd name="T52" fmla="*/ 225 w 290"/>
                <a:gd name="T53" fmla="*/ 64 h 289"/>
                <a:gd name="T54" fmla="*/ 244 w 290"/>
                <a:gd name="T55" fmla="*/ 144 h 289"/>
                <a:gd name="T56" fmla="*/ 225 w 290"/>
                <a:gd name="T57" fmla="*/ 225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90" h="289">
                  <a:moveTo>
                    <a:pt x="145" y="0"/>
                  </a:moveTo>
                  <a:cubicBezTo>
                    <a:pt x="65" y="0"/>
                    <a:pt x="0" y="64"/>
                    <a:pt x="0" y="144"/>
                  </a:cubicBezTo>
                  <a:cubicBezTo>
                    <a:pt x="0" y="224"/>
                    <a:pt x="65" y="289"/>
                    <a:pt x="145" y="289"/>
                  </a:cubicBezTo>
                  <a:cubicBezTo>
                    <a:pt x="225" y="289"/>
                    <a:pt x="290" y="224"/>
                    <a:pt x="290" y="144"/>
                  </a:cubicBezTo>
                  <a:cubicBezTo>
                    <a:pt x="290" y="64"/>
                    <a:pt x="225" y="0"/>
                    <a:pt x="145" y="0"/>
                  </a:cubicBezTo>
                  <a:close/>
                  <a:moveTo>
                    <a:pt x="173" y="144"/>
                  </a:moveTo>
                  <a:cubicBezTo>
                    <a:pt x="173" y="236"/>
                    <a:pt x="173" y="236"/>
                    <a:pt x="173" y="236"/>
                  </a:cubicBezTo>
                  <a:cubicBezTo>
                    <a:pt x="79" y="197"/>
                    <a:pt x="79" y="197"/>
                    <a:pt x="79" y="197"/>
                  </a:cubicBezTo>
                  <a:cubicBezTo>
                    <a:pt x="79" y="183"/>
                    <a:pt x="79" y="183"/>
                    <a:pt x="79" y="183"/>
                  </a:cubicBezTo>
                  <a:cubicBezTo>
                    <a:pt x="46" y="183"/>
                    <a:pt x="46" y="183"/>
                    <a:pt x="46" y="183"/>
                  </a:cubicBezTo>
                  <a:cubicBezTo>
                    <a:pt x="46" y="106"/>
                    <a:pt x="46" y="106"/>
                    <a:pt x="46" y="106"/>
                  </a:cubicBezTo>
                  <a:cubicBezTo>
                    <a:pt x="79" y="106"/>
                    <a:pt x="79" y="106"/>
                    <a:pt x="79" y="106"/>
                  </a:cubicBezTo>
                  <a:cubicBezTo>
                    <a:pt x="79" y="91"/>
                    <a:pt x="79" y="91"/>
                    <a:pt x="79" y="91"/>
                  </a:cubicBezTo>
                  <a:cubicBezTo>
                    <a:pt x="173" y="53"/>
                    <a:pt x="173" y="53"/>
                    <a:pt x="173" y="53"/>
                  </a:cubicBezTo>
                  <a:lnTo>
                    <a:pt x="173" y="144"/>
                  </a:lnTo>
                  <a:close/>
                  <a:moveTo>
                    <a:pt x="182" y="196"/>
                  </a:moveTo>
                  <a:cubicBezTo>
                    <a:pt x="190" y="182"/>
                    <a:pt x="194" y="163"/>
                    <a:pt x="194" y="144"/>
                  </a:cubicBezTo>
                  <a:cubicBezTo>
                    <a:pt x="194" y="125"/>
                    <a:pt x="190" y="107"/>
                    <a:pt x="182" y="93"/>
                  </a:cubicBezTo>
                  <a:cubicBezTo>
                    <a:pt x="197" y="84"/>
                    <a:pt x="197" y="84"/>
                    <a:pt x="197" y="84"/>
                  </a:cubicBezTo>
                  <a:cubicBezTo>
                    <a:pt x="206" y="101"/>
                    <a:pt x="211" y="123"/>
                    <a:pt x="211" y="144"/>
                  </a:cubicBezTo>
                  <a:cubicBezTo>
                    <a:pt x="211" y="166"/>
                    <a:pt x="206" y="187"/>
                    <a:pt x="197" y="204"/>
                  </a:cubicBezTo>
                  <a:lnTo>
                    <a:pt x="182" y="196"/>
                  </a:lnTo>
                  <a:close/>
                  <a:moveTo>
                    <a:pt x="225" y="225"/>
                  </a:moveTo>
                  <a:cubicBezTo>
                    <a:pt x="210" y="216"/>
                    <a:pt x="210" y="216"/>
                    <a:pt x="210" y="216"/>
                  </a:cubicBezTo>
                  <a:cubicBezTo>
                    <a:pt x="221" y="196"/>
                    <a:pt x="227" y="171"/>
                    <a:pt x="227" y="144"/>
                  </a:cubicBezTo>
                  <a:cubicBezTo>
                    <a:pt x="227" y="118"/>
                    <a:pt x="221" y="93"/>
                    <a:pt x="210" y="72"/>
                  </a:cubicBezTo>
                  <a:cubicBezTo>
                    <a:pt x="225" y="64"/>
                    <a:pt x="225" y="64"/>
                    <a:pt x="225" y="64"/>
                  </a:cubicBezTo>
                  <a:cubicBezTo>
                    <a:pt x="237" y="87"/>
                    <a:pt x="244" y="115"/>
                    <a:pt x="244" y="144"/>
                  </a:cubicBezTo>
                  <a:cubicBezTo>
                    <a:pt x="244" y="174"/>
                    <a:pt x="237" y="202"/>
                    <a:pt x="225" y="225"/>
                  </a:cubicBezTo>
                  <a:close/>
                </a:path>
              </a:pathLst>
            </a:cu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nvGrpSpPr>
            <p:cNvPr id="50" name="Group 49">
              <a:extLst>
                <a:ext uri="{FF2B5EF4-FFF2-40B4-BE49-F238E27FC236}">
                  <a16:creationId xmlns:a16="http://schemas.microsoft.com/office/drawing/2014/main" id="{92E3E2A5-F73E-2E91-E7B9-4D1EB95414B7}"/>
                </a:ext>
              </a:extLst>
            </p:cNvPr>
            <p:cNvGrpSpPr/>
            <p:nvPr/>
          </p:nvGrpSpPr>
          <p:grpSpPr>
            <a:xfrm>
              <a:off x="8225108" y="3245740"/>
              <a:ext cx="603206" cy="601321"/>
              <a:chOff x="8472488" y="3322638"/>
              <a:chExt cx="1016000" cy="1012825"/>
            </a:xfrm>
            <a:solidFill>
              <a:srgbClr val="F8B323"/>
            </a:solidFill>
          </p:grpSpPr>
          <p:sp>
            <p:nvSpPr>
              <p:cNvPr id="154" name="Oval 51">
                <a:extLst>
                  <a:ext uri="{FF2B5EF4-FFF2-40B4-BE49-F238E27FC236}">
                    <a16:creationId xmlns:a16="http://schemas.microsoft.com/office/drawing/2014/main" id="{880EC634-B0CC-A20C-E36C-115AF9BAFA51}"/>
                  </a:ext>
                </a:extLst>
              </p:cNvPr>
              <p:cNvSpPr>
                <a:spLocks noChangeArrowheads="1"/>
              </p:cNvSpPr>
              <p:nvPr/>
            </p:nvSpPr>
            <p:spPr bwMode="auto">
              <a:xfrm>
                <a:off x="9110663" y="3733800"/>
                <a:ext cx="55563" cy="539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5" name="Freeform 52">
                <a:extLst>
                  <a:ext uri="{FF2B5EF4-FFF2-40B4-BE49-F238E27FC236}">
                    <a16:creationId xmlns:a16="http://schemas.microsoft.com/office/drawing/2014/main" id="{A9824CCE-F4AC-12FB-C069-7B62E8C2C967}"/>
                  </a:ext>
                </a:extLst>
              </p:cNvPr>
              <p:cNvSpPr>
                <a:spLocks noEditPoints="1"/>
              </p:cNvSpPr>
              <p:nvPr/>
            </p:nvSpPr>
            <p:spPr bwMode="auto">
              <a:xfrm>
                <a:off x="8472488" y="3322638"/>
                <a:ext cx="1016000" cy="1012825"/>
              </a:xfrm>
              <a:custGeom>
                <a:avLst/>
                <a:gdLst>
                  <a:gd name="T0" fmla="*/ 176 w 353"/>
                  <a:gd name="T1" fmla="*/ 0 h 352"/>
                  <a:gd name="T2" fmla="*/ 0 w 353"/>
                  <a:gd name="T3" fmla="*/ 176 h 352"/>
                  <a:gd name="T4" fmla="*/ 176 w 353"/>
                  <a:gd name="T5" fmla="*/ 352 h 352"/>
                  <a:gd name="T6" fmla="*/ 353 w 353"/>
                  <a:gd name="T7" fmla="*/ 176 h 352"/>
                  <a:gd name="T8" fmla="*/ 176 w 353"/>
                  <a:gd name="T9" fmla="*/ 0 h 352"/>
                  <a:gd name="T10" fmla="*/ 287 w 353"/>
                  <a:gd name="T11" fmla="*/ 162 h 352"/>
                  <a:gd name="T12" fmla="*/ 268 w 353"/>
                  <a:gd name="T13" fmla="*/ 183 h 352"/>
                  <a:gd name="T14" fmla="*/ 160 w 353"/>
                  <a:gd name="T15" fmla="*/ 289 h 352"/>
                  <a:gd name="T16" fmla="*/ 63 w 353"/>
                  <a:gd name="T17" fmla="*/ 191 h 352"/>
                  <a:gd name="T18" fmla="*/ 84 w 353"/>
                  <a:gd name="T19" fmla="*/ 202 h 352"/>
                  <a:gd name="T20" fmla="*/ 140 w 353"/>
                  <a:gd name="T21" fmla="*/ 175 h 352"/>
                  <a:gd name="T22" fmla="*/ 139 w 353"/>
                  <a:gd name="T23" fmla="*/ 164 h 352"/>
                  <a:gd name="T24" fmla="*/ 197 w 353"/>
                  <a:gd name="T25" fmla="*/ 97 h 352"/>
                  <a:gd name="T26" fmla="*/ 259 w 353"/>
                  <a:gd name="T27" fmla="*/ 137 h 352"/>
                  <a:gd name="T28" fmla="*/ 287 w 353"/>
                  <a:gd name="T29" fmla="*/ 150 h 352"/>
                  <a:gd name="T30" fmla="*/ 290 w 353"/>
                  <a:gd name="T31" fmla="*/ 156 h 352"/>
                  <a:gd name="T32" fmla="*/ 287 w 353"/>
                  <a:gd name="T33" fmla="*/ 162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3" h="352">
                    <a:moveTo>
                      <a:pt x="176" y="0"/>
                    </a:moveTo>
                    <a:cubicBezTo>
                      <a:pt x="79" y="0"/>
                      <a:pt x="0" y="79"/>
                      <a:pt x="0" y="176"/>
                    </a:cubicBezTo>
                    <a:cubicBezTo>
                      <a:pt x="0" y="274"/>
                      <a:pt x="79" y="352"/>
                      <a:pt x="176" y="352"/>
                    </a:cubicBezTo>
                    <a:cubicBezTo>
                      <a:pt x="274" y="352"/>
                      <a:pt x="353" y="274"/>
                      <a:pt x="353" y="176"/>
                    </a:cubicBezTo>
                    <a:cubicBezTo>
                      <a:pt x="353" y="79"/>
                      <a:pt x="274" y="0"/>
                      <a:pt x="176" y="0"/>
                    </a:cubicBezTo>
                    <a:close/>
                    <a:moveTo>
                      <a:pt x="287" y="162"/>
                    </a:moveTo>
                    <a:cubicBezTo>
                      <a:pt x="268" y="183"/>
                      <a:pt x="268" y="183"/>
                      <a:pt x="268" y="183"/>
                    </a:cubicBezTo>
                    <a:cubicBezTo>
                      <a:pt x="268" y="249"/>
                      <a:pt x="224" y="289"/>
                      <a:pt x="160" y="289"/>
                    </a:cubicBezTo>
                    <a:cubicBezTo>
                      <a:pt x="106" y="289"/>
                      <a:pt x="63" y="231"/>
                      <a:pt x="63" y="191"/>
                    </a:cubicBezTo>
                    <a:cubicBezTo>
                      <a:pt x="63" y="173"/>
                      <a:pt x="70" y="193"/>
                      <a:pt x="84" y="202"/>
                    </a:cubicBezTo>
                    <a:cubicBezTo>
                      <a:pt x="99" y="212"/>
                      <a:pt x="141" y="218"/>
                      <a:pt x="140" y="175"/>
                    </a:cubicBezTo>
                    <a:cubicBezTo>
                      <a:pt x="139" y="171"/>
                      <a:pt x="139" y="167"/>
                      <a:pt x="139" y="164"/>
                    </a:cubicBezTo>
                    <a:cubicBezTo>
                      <a:pt x="139" y="128"/>
                      <a:pt x="161" y="97"/>
                      <a:pt x="197" y="97"/>
                    </a:cubicBezTo>
                    <a:cubicBezTo>
                      <a:pt x="229" y="97"/>
                      <a:pt x="253" y="116"/>
                      <a:pt x="259" y="137"/>
                    </a:cubicBezTo>
                    <a:cubicBezTo>
                      <a:pt x="287" y="150"/>
                      <a:pt x="287" y="150"/>
                      <a:pt x="287" y="150"/>
                    </a:cubicBezTo>
                    <a:cubicBezTo>
                      <a:pt x="289" y="152"/>
                      <a:pt x="290" y="154"/>
                      <a:pt x="290" y="156"/>
                    </a:cubicBezTo>
                    <a:cubicBezTo>
                      <a:pt x="290" y="158"/>
                      <a:pt x="289" y="160"/>
                      <a:pt x="287" y="1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sp>
          <p:nvSpPr>
            <p:cNvPr id="51" name="Freeform 53">
              <a:extLst>
                <a:ext uri="{FF2B5EF4-FFF2-40B4-BE49-F238E27FC236}">
                  <a16:creationId xmlns:a16="http://schemas.microsoft.com/office/drawing/2014/main" id="{4FEFE21B-E984-61FB-2AC8-43583E517681}"/>
                </a:ext>
              </a:extLst>
            </p:cNvPr>
            <p:cNvSpPr>
              <a:spLocks noEditPoints="1"/>
            </p:cNvSpPr>
            <p:nvPr/>
          </p:nvSpPr>
          <p:spPr bwMode="auto">
            <a:xfrm>
              <a:off x="7717096" y="1960159"/>
              <a:ext cx="598494" cy="598494"/>
            </a:xfrm>
            <a:custGeom>
              <a:avLst/>
              <a:gdLst>
                <a:gd name="T0" fmla="*/ 175 w 350"/>
                <a:gd name="T1" fmla="*/ 0 h 350"/>
                <a:gd name="T2" fmla="*/ 0 w 350"/>
                <a:gd name="T3" fmla="*/ 175 h 350"/>
                <a:gd name="T4" fmla="*/ 175 w 350"/>
                <a:gd name="T5" fmla="*/ 350 h 350"/>
                <a:gd name="T6" fmla="*/ 350 w 350"/>
                <a:gd name="T7" fmla="*/ 175 h 350"/>
                <a:gd name="T8" fmla="*/ 175 w 350"/>
                <a:gd name="T9" fmla="*/ 0 h 350"/>
                <a:gd name="T10" fmla="*/ 277 w 350"/>
                <a:gd name="T11" fmla="*/ 257 h 350"/>
                <a:gd name="T12" fmla="*/ 268 w 350"/>
                <a:gd name="T13" fmla="*/ 261 h 350"/>
                <a:gd name="T14" fmla="*/ 255 w 350"/>
                <a:gd name="T15" fmla="*/ 264 h 350"/>
                <a:gd name="T16" fmla="*/ 248 w 350"/>
                <a:gd name="T17" fmla="*/ 270 h 350"/>
                <a:gd name="T18" fmla="*/ 230 w 350"/>
                <a:gd name="T19" fmla="*/ 270 h 350"/>
                <a:gd name="T20" fmla="*/ 223 w 350"/>
                <a:gd name="T21" fmla="*/ 264 h 350"/>
                <a:gd name="T22" fmla="*/ 223 w 350"/>
                <a:gd name="T23" fmla="*/ 175 h 350"/>
                <a:gd name="T24" fmla="*/ 230 w 350"/>
                <a:gd name="T25" fmla="*/ 169 h 350"/>
                <a:gd name="T26" fmla="*/ 248 w 350"/>
                <a:gd name="T27" fmla="*/ 169 h 350"/>
                <a:gd name="T28" fmla="*/ 255 w 350"/>
                <a:gd name="T29" fmla="*/ 175 h 350"/>
                <a:gd name="T30" fmla="*/ 262 w 350"/>
                <a:gd name="T31" fmla="*/ 176 h 350"/>
                <a:gd name="T32" fmla="*/ 175 w 350"/>
                <a:gd name="T33" fmla="*/ 96 h 350"/>
                <a:gd name="T34" fmla="*/ 88 w 350"/>
                <a:gd name="T35" fmla="*/ 176 h 350"/>
                <a:gd name="T36" fmla="*/ 95 w 350"/>
                <a:gd name="T37" fmla="*/ 175 h 350"/>
                <a:gd name="T38" fmla="*/ 101 w 350"/>
                <a:gd name="T39" fmla="*/ 169 h 350"/>
                <a:gd name="T40" fmla="*/ 120 w 350"/>
                <a:gd name="T41" fmla="*/ 169 h 350"/>
                <a:gd name="T42" fmla="*/ 126 w 350"/>
                <a:gd name="T43" fmla="*/ 175 h 350"/>
                <a:gd name="T44" fmla="*/ 126 w 350"/>
                <a:gd name="T45" fmla="*/ 264 h 350"/>
                <a:gd name="T46" fmla="*/ 120 w 350"/>
                <a:gd name="T47" fmla="*/ 270 h 350"/>
                <a:gd name="T48" fmla="*/ 101 w 350"/>
                <a:gd name="T49" fmla="*/ 270 h 350"/>
                <a:gd name="T50" fmla="*/ 95 w 350"/>
                <a:gd name="T51" fmla="*/ 264 h 350"/>
                <a:gd name="T52" fmla="*/ 52 w 350"/>
                <a:gd name="T53" fmla="*/ 219 h 350"/>
                <a:gd name="T54" fmla="*/ 71 w 350"/>
                <a:gd name="T55" fmla="*/ 183 h 350"/>
                <a:gd name="T56" fmla="*/ 175 w 350"/>
                <a:gd name="T57" fmla="*/ 80 h 350"/>
                <a:gd name="T58" fmla="*/ 279 w 350"/>
                <a:gd name="T59" fmla="*/ 183 h 350"/>
                <a:gd name="T60" fmla="*/ 298 w 350"/>
                <a:gd name="T61" fmla="*/ 219 h 350"/>
                <a:gd name="T62" fmla="*/ 277 w 350"/>
                <a:gd name="T63" fmla="*/ 257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50" h="350">
                  <a:moveTo>
                    <a:pt x="175" y="0"/>
                  </a:moveTo>
                  <a:cubicBezTo>
                    <a:pt x="78" y="0"/>
                    <a:pt x="0" y="78"/>
                    <a:pt x="0" y="175"/>
                  </a:cubicBezTo>
                  <a:cubicBezTo>
                    <a:pt x="0" y="272"/>
                    <a:pt x="78" y="350"/>
                    <a:pt x="175" y="350"/>
                  </a:cubicBezTo>
                  <a:cubicBezTo>
                    <a:pt x="271" y="350"/>
                    <a:pt x="350" y="272"/>
                    <a:pt x="350" y="175"/>
                  </a:cubicBezTo>
                  <a:cubicBezTo>
                    <a:pt x="350" y="78"/>
                    <a:pt x="271" y="0"/>
                    <a:pt x="175" y="0"/>
                  </a:cubicBezTo>
                  <a:close/>
                  <a:moveTo>
                    <a:pt x="277" y="257"/>
                  </a:moveTo>
                  <a:cubicBezTo>
                    <a:pt x="268" y="261"/>
                    <a:pt x="268" y="261"/>
                    <a:pt x="268" y="261"/>
                  </a:cubicBezTo>
                  <a:cubicBezTo>
                    <a:pt x="264" y="263"/>
                    <a:pt x="260" y="264"/>
                    <a:pt x="255" y="264"/>
                  </a:cubicBezTo>
                  <a:cubicBezTo>
                    <a:pt x="255" y="267"/>
                    <a:pt x="252" y="270"/>
                    <a:pt x="248" y="270"/>
                  </a:cubicBezTo>
                  <a:cubicBezTo>
                    <a:pt x="230" y="270"/>
                    <a:pt x="230" y="270"/>
                    <a:pt x="230" y="270"/>
                  </a:cubicBezTo>
                  <a:cubicBezTo>
                    <a:pt x="226" y="270"/>
                    <a:pt x="223" y="267"/>
                    <a:pt x="223" y="264"/>
                  </a:cubicBezTo>
                  <a:cubicBezTo>
                    <a:pt x="223" y="175"/>
                    <a:pt x="223" y="175"/>
                    <a:pt x="223" y="175"/>
                  </a:cubicBezTo>
                  <a:cubicBezTo>
                    <a:pt x="223" y="171"/>
                    <a:pt x="226" y="169"/>
                    <a:pt x="230" y="169"/>
                  </a:cubicBezTo>
                  <a:cubicBezTo>
                    <a:pt x="248" y="169"/>
                    <a:pt x="248" y="169"/>
                    <a:pt x="248" y="169"/>
                  </a:cubicBezTo>
                  <a:cubicBezTo>
                    <a:pt x="252" y="169"/>
                    <a:pt x="255" y="171"/>
                    <a:pt x="255" y="175"/>
                  </a:cubicBezTo>
                  <a:cubicBezTo>
                    <a:pt x="257" y="175"/>
                    <a:pt x="259" y="175"/>
                    <a:pt x="262" y="176"/>
                  </a:cubicBezTo>
                  <a:cubicBezTo>
                    <a:pt x="258" y="131"/>
                    <a:pt x="220" y="96"/>
                    <a:pt x="175" y="96"/>
                  </a:cubicBezTo>
                  <a:cubicBezTo>
                    <a:pt x="129" y="96"/>
                    <a:pt x="92" y="131"/>
                    <a:pt x="88" y="176"/>
                  </a:cubicBezTo>
                  <a:cubicBezTo>
                    <a:pt x="90" y="175"/>
                    <a:pt x="92" y="175"/>
                    <a:pt x="95" y="175"/>
                  </a:cubicBezTo>
                  <a:cubicBezTo>
                    <a:pt x="95" y="171"/>
                    <a:pt x="98" y="169"/>
                    <a:pt x="101" y="169"/>
                  </a:cubicBezTo>
                  <a:cubicBezTo>
                    <a:pt x="120" y="169"/>
                    <a:pt x="120" y="169"/>
                    <a:pt x="120" y="169"/>
                  </a:cubicBezTo>
                  <a:cubicBezTo>
                    <a:pt x="123" y="169"/>
                    <a:pt x="126" y="171"/>
                    <a:pt x="126" y="175"/>
                  </a:cubicBezTo>
                  <a:cubicBezTo>
                    <a:pt x="126" y="264"/>
                    <a:pt x="126" y="264"/>
                    <a:pt x="126" y="264"/>
                  </a:cubicBezTo>
                  <a:cubicBezTo>
                    <a:pt x="126" y="267"/>
                    <a:pt x="123" y="270"/>
                    <a:pt x="120" y="270"/>
                  </a:cubicBezTo>
                  <a:cubicBezTo>
                    <a:pt x="101" y="270"/>
                    <a:pt x="101" y="270"/>
                    <a:pt x="101" y="270"/>
                  </a:cubicBezTo>
                  <a:cubicBezTo>
                    <a:pt x="98" y="270"/>
                    <a:pt x="95" y="267"/>
                    <a:pt x="95" y="264"/>
                  </a:cubicBezTo>
                  <a:cubicBezTo>
                    <a:pt x="71" y="263"/>
                    <a:pt x="52" y="243"/>
                    <a:pt x="52" y="219"/>
                  </a:cubicBezTo>
                  <a:cubicBezTo>
                    <a:pt x="52" y="204"/>
                    <a:pt x="59" y="191"/>
                    <a:pt x="71" y="183"/>
                  </a:cubicBezTo>
                  <a:cubicBezTo>
                    <a:pt x="71" y="126"/>
                    <a:pt x="118" y="80"/>
                    <a:pt x="175" y="80"/>
                  </a:cubicBezTo>
                  <a:cubicBezTo>
                    <a:pt x="232" y="80"/>
                    <a:pt x="278" y="126"/>
                    <a:pt x="279" y="183"/>
                  </a:cubicBezTo>
                  <a:cubicBezTo>
                    <a:pt x="290" y="191"/>
                    <a:pt x="298" y="204"/>
                    <a:pt x="298" y="219"/>
                  </a:cubicBezTo>
                  <a:cubicBezTo>
                    <a:pt x="298" y="235"/>
                    <a:pt x="290" y="249"/>
                    <a:pt x="277" y="257"/>
                  </a:cubicBezTo>
                  <a:close/>
                </a:path>
              </a:pathLst>
            </a:custGeom>
            <a:solidFill>
              <a:srgbClr val="F8B323"/>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52" name="Freeform 54">
              <a:extLst>
                <a:ext uri="{FF2B5EF4-FFF2-40B4-BE49-F238E27FC236}">
                  <a16:creationId xmlns:a16="http://schemas.microsoft.com/office/drawing/2014/main" id="{457FC21A-815F-733F-DC69-B5CA1C388B46}"/>
                </a:ext>
              </a:extLst>
            </p:cNvPr>
            <p:cNvSpPr>
              <a:spLocks noEditPoints="1"/>
            </p:cNvSpPr>
            <p:nvPr/>
          </p:nvSpPr>
          <p:spPr bwMode="auto">
            <a:xfrm>
              <a:off x="6008328" y="2554882"/>
              <a:ext cx="493875" cy="493875"/>
            </a:xfrm>
            <a:custGeom>
              <a:avLst/>
              <a:gdLst>
                <a:gd name="T0" fmla="*/ 145 w 289"/>
                <a:gd name="T1" fmla="*/ 0 h 289"/>
                <a:gd name="T2" fmla="*/ 0 w 289"/>
                <a:gd name="T3" fmla="*/ 145 h 289"/>
                <a:gd name="T4" fmla="*/ 145 w 289"/>
                <a:gd name="T5" fmla="*/ 289 h 289"/>
                <a:gd name="T6" fmla="*/ 289 w 289"/>
                <a:gd name="T7" fmla="*/ 145 h 289"/>
                <a:gd name="T8" fmla="*/ 145 w 289"/>
                <a:gd name="T9" fmla="*/ 0 h 289"/>
                <a:gd name="T10" fmla="*/ 145 w 289"/>
                <a:gd name="T11" fmla="*/ 227 h 289"/>
                <a:gd name="T12" fmla="*/ 121 w 289"/>
                <a:gd name="T13" fmla="*/ 204 h 289"/>
                <a:gd name="T14" fmla="*/ 145 w 289"/>
                <a:gd name="T15" fmla="*/ 181 h 289"/>
                <a:gd name="T16" fmla="*/ 168 w 289"/>
                <a:gd name="T17" fmla="*/ 204 h 289"/>
                <a:gd name="T18" fmla="*/ 145 w 289"/>
                <a:gd name="T19" fmla="*/ 227 h 289"/>
                <a:gd name="T20" fmla="*/ 206 w 289"/>
                <a:gd name="T21" fmla="*/ 174 h 289"/>
                <a:gd name="T22" fmla="*/ 185 w 289"/>
                <a:gd name="T23" fmla="*/ 174 h 289"/>
                <a:gd name="T24" fmla="*/ 180 w 289"/>
                <a:gd name="T25" fmla="*/ 168 h 289"/>
                <a:gd name="T26" fmla="*/ 113 w 289"/>
                <a:gd name="T27" fmla="*/ 168 h 289"/>
                <a:gd name="T28" fmla="*/ 105 w 289"/>
                <a:gd name="T29" fmla="*/ 176 h 289"/>
                <a:gd name="T30" fmla="*/ 85 w 289"/>
                <a:gd name="T31" fmla="*/ 176 h 289"/>
                <a:gd name="T32" fmla="*/ 85 w 289"/>
                <a:gd name="T33" fmla="*/ 156 h 289"/>
                <a:gd name="T34" fmla="*/ 89 w 289"/>
                <a:gd name="T35" fmla="*/ 151 h 289"/>
                <a:gd name="T36" fmla="*/ 93 w 289"/>
                <a:gd name="T37" fmla="*/ 148 h 289"/>
                <a:gd name="T38" fmla="*/ 198 w 289"/>
                <a:gd name="T39" fmla="*/ 145 h 289"/>
                <a:gd name="T40" fmla="*/ 198 w 289"/>
                <a:gd name="T41" fmla="*/ 146 h 289"/>
                <a:gd name="T42" fmla="*/ 199 w 289"/>
                <a:gd name="T43" fmla="*/ 147 h 289"/>
                <a:gd name="T44" fmla="*/ 200 w 289"/>
                <a:gd name="T45" fmla="*/ 148 h 289"/>
                <a:gd name="T46" fmla="*/ 206 w 289"/>
                <a:gd name="T47" fmla="*/ 154 h 289"/>
                <a:gd name="T48" fmla="*/ 210 w 289"/>
                <a:gd name="T49" fmla="*/ 164 h 289"/>
                <a:gd name="T50" fmla="*/ 206 w 289"/>
                <a:gd name="T51" fmla="*/ 174 h 289"/>
                <a:gd name="T52" fmla="*/ 240 w 289"/>
                <a:gd name="T53" fmla="*/ 138 h 289"/>
                <a:gd name="T54" fmla="*/ 221 w 289"/>
                <a:gd name="T55" fmla="*/ 138 h 289"/>
                <a:gd name="T56" fmla="*/ 214 w 289"/>
                <a:gd name="T57" fmla="*/ 131 h 289"/>
                <a:gd name="T58" fmla="*/ 76 w 289"/>
                <a:gd name="T59" fmla="*/ 132 h 289"/>
                <a:gd name="T60" fmla="*/ 76 w 289"/>
                <a:gd name="T61" fmla="*/ 132 h 289"/>
                <a:gd name="T62" fmla="*/ 67 w 289"/>
                <a:gd name="T63" fmla="*/ 141 h 289"/>
                <a:gd name="T64" fmla="*/ 49 w 289"/>
                <a:gd name="T65" fmla="*/ 141 h 289"/>
                <a:gd name="T66" fmla="*/ 48 w 289"/>
                <a:gd name="T67" fmla="*/ 122 h 289"/>
                <a:gd name="T68" fmla="*/ 57 w 289"/>
                <a:gd name="T69" fmla="*/ 113 h 289"/>
                <a:gd name="T70" fmla="*/ 58 w 289"/>
                <a:gd name="T71" fmla="*/ 112 h 289"/>
                <a:gd name="T72" fmla="*/ 229 w 289"/>
                <a:gd name="T73" fmla="*/ 109 h 289"/>
                <a:gd name="T74" fmla="*/ 231 w 289"/>
                <a:gd name="T75" fmla="*/ 110 h 289"/>
                <a:gd name="T76" fmla="*/ 235 w 289"/>
                <a:gd name="T77" fmla="*/ 114 h 289"/>
                <a:gd name="T78" fmla="*/ 235 w 289"/>
                <a:gd name="T79" fmla="*/ 114 h 289"/>
                <a:gd name="T80" fmla="*/ 240 w 289"/>
                <a:gd name="T81" fmla="*/ 119 h 289"/>
                <a:gd name="T82" fmla="*/ 240 w 289"/>
                <a:gd name="T83" fmla="*/ 13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9" h="289">
                  <a:moveTo>
                    <a:pt x="145" y="0"/>
                  </a:moveTo>
                  <a:cubicBezTo>
                    <a:pt x="65" y="0"/>
                    <a:pt x="0" y="65"/>
                    <a:pt x="0" y="145"/>
                  </a:cubicBezTo>
                  <a:cubicBezTo>
                    <a:pt x="0" y="224"/>
                    <a:pt x="65" y="289"/>
                    <a:pt x="145" y="289"/>
                  </a:cubicBezTo>
                  <a:cubicBezTo>
                    <a:pt x="225" y="289"/>
                    <a:pt x="289" y="224"/>
                    <a:pt x="289" y="145"/>
                  </a:cubicBezTo>
                  <a:cubicBezTo>
                    <a:pt x="289" y="65"/>
                    <a:pt x="225" y="0"/>
                    <a:pt x="145" y="0"/>
                  </a:cubicBezTo>
                  <a:close/>
                  <a:moveTo>
                    <a:pt x="145" y="227"/>
                  </a:moveTo>
                  <a:cubicBezTo>
                    <a:pt x="132" y="227"/>
                    <a:pt x="121" y="217"/>
                    <a:pt x="121" y="204"/>
                  </a:cubicBezTo>
                  <a:cubicBezTo>
                    <a:pt x="121" y="191"/>
                    <a:pt x="132" y="181"/>
                    <a:pt x="145" y="181"/>
                  </a:cubicBezTo>
                  <a:cubicBezTo>
                    <a:pt x="158" y="181"/>
                    <a:pt x="168" y="191"/>
                    <a:pt x="168" y="204"/>
                  </a:cubicBezTo>
                  <a:cubicBezTo>
                    <a:pt x="168" y="217"/>
                    <a:pt x="158" y="227"/>
                    <a:pt x="145" y="227"/>
                  </a:cubicBezTo>
                  <a:close/>
                  <a:moveTo>
                    <a:pt x="206" y="174"/>
                  </a:moveTo>
                  <a:cubicBezTo>
                    <a:pt x="200" y="180"/>
                    <a:pt x="191" y="180"/>
                    <a:pt x="185" y="174"/>
                  </a:cubicBezTo>
                  <a:cubicBezTo>
                    <a:pt x="180" y="168"/>
                    <a:pt x="180" y="168"/>
                    <a:pt x="180" y="168"/>
                  </a:cubicBezTo>
                  <a:cubicBezTo>
                    <a:pt x="161" y="150"/>
                    <a:pt x="132" y="150"/>
                    <a:pt x="113" y="168"/>
                  </a:cubicBezTo>
                  <a:cubicBezTo>
                    <a:pt x="105" y="176"/>
                    <a:pt x="105" y="176"/>
                    <a:pt x="105" y="176"/>
                  </a:cubicBezTo>
                  <a:cubicBezTo>
                    <a:pt x="100" y="182"/>
                    <a:pt x="90" y="182"/>
                    <a:pt x="85" y="176"/>
                  </a:cubicBezTo>
                  <a:cubicBezTo>
                    <a:pt x="79" y="171"/>
                    <a:pt x="79" y="161"/>
                    <a:pt x="85" y="156"/>
                  </a:cubicBezTo>
                  <a:cubicBezTo>
                    <a:pt x="89" y="151"/>
                    <a:pt x="89" y="151"/>
                    <a:pt x="89" y="151"/>
                  </a:cubicBezTo>
                  <a:cubicBezTo>
                    <a:pt x="93" y="148"/>
                    <a:pt x="93" y="148"/>
                    <a:pt x="93" y="148"/>
                  </a:cubicBezTo>
                  <a:cubicBezTo>
                    <a:pt x="121" y="119"/>
                    <a:pt x="167" y="118"/>
                    <a:pt x="198" y="145"/>
                  </a:cubicBezTo>
                  <a:cubicBezTo>
                    <a:pt x="198" y="145"/>
                    <a:pt x="198" y="146"/>
                    <a:pt x="198" y="146"/>
                  </a:cubicBezTo>
                  <a:cubicBezTo>
                    <a:pt x="199" y="147"/>
                    <a:pt x="199" y="147"/>
                    <a:pt x="199" y="147"/>
                  </a:cubicBezTo>
                  <a:cubicBezTo>
                    <a:pt x="200" y="147"/>
                    <a:pt x="200" y="147"/>
                    <a:pt x="200" y="148"/>
                  </a:cubicBezTo>
                  <a:cubicBezTo>
                    <a:pt x="206" y="154"/>
                    <a:pt x="206" y="154"/>
                    <a:pt x="206" y="154"/>
                  </a:cubicBezTo>
                  <a:cubicBezTo>
                    <a:pt x="209" y="156"/>
                    <a:pt x="210" y="160"/>
                    <a:pt x="210" y="164"/>
                  </a:cubicBezTo>
                  <a:cubicBezTo>
                    <a:pt x="210" y="168"/>
                    <a:pt x="209" y="171"/>
                    <a:pt x="206" y="174"/>
                  </a:cubicBezTo>
                  <a:close/>
                  <a:moveTo>
                    <a:pt x="240" y="138"/>
                  </a:moveTo>
                  <a:cubicBezTo>
                    <a:pt x="235" y="143"/>
                    <a:pt x="226" y="143"/>
                    <a:pt x="221" y="138"/>
                  </a:cubicBezTo>
                  <a:cubicBezTo>
                    <a:pt x="214" y="131"/>
                    <a:pt x="214" y="131"/>
                    <a:pt x="214" y="131"/>
                  </a:cubicBezTo>
                  <a:cubicBezTo>
                    <a:pt x="176" y="94"/>
                    <a:pt x="115" y="95"/>
                    <a:pt x="76" y="132"/>
                  </a:cubicBezTo>
                  <a:cubicBezTo>
                    <a:pt x="76" y="132"/>
                    <a:pt x="76" y="132"/>
                    <a:pt x="76" y="132"/>
                  </a:cubicBezTo>
                  <a:cubicBezTo>
                    <a:pt x="67" y="141"/>
                    <a:pt x="67" y="141"/>
                    <a:pt x="67" y="141"/>
                  </a:cubicBezTo>
                  <a:cubicBezTo>
                    <a:pt x="62" y="146"/>
                    <a:pt x="54" y="146"/>
                    <a:pt x="49" y="141"/>
                  </a:cubicBezTo>
                  <a:cubicBezTo>
                    <a:pt x="43" y="135"/>
                    <a:pt x="43" y="127"/>
                    <a:pt x="48" y="122"/>
                  </a:cubicBezTo>
                  <a:cubicBezTo>
                    <a:pt x="57" y="113"/>
                    <a:pt x="57" y="113"/>
                    <a:pt x="57" y="113"/>
                  </a:cubicBezTo>
                  <a:cubicBezTo>
                    <a:pt x="57" y="113"/>
                    <a:pt x="58" y="113"/>
                    <a:pt x="58" y="112"/>
                  </a:cubicBezTo>
                  <a:cubicBezTo>
                    <a:pt x="105" y="67"/>
                    <a:pt x="180" y="65"/>
                    <a:pt x="229" y="109"/>
                  </a:cubicBezTo>
                  <a:cubicBezTo>
                    <a:pt x="230" y="109"/>
                    <a:pt x="231" y="110"/>
                    <a:pt x="231" y="110"/>
                  </a:cubicBezTo>
                  <a:cubicBezTo>
                    <a:pt x="235" y="114"/>
                    <a:pt x="235" y="114"/>
                    <a:pt x="235" y="114"/>
                  </a:cubicBezTo>
                  <a:cubicBezTo>
                    <a:pt x="235" y="114"/>
                    <a:pt x="235" y="114"/>
                    <a:pt x="235" y="114"/>
                  </a:cubicBezTo>
                  <a:cubicBezTo>
                    <a:pt x="240" y="119"/>
                    <a:pt x="240" y="119"/>
                    <a:pt x="240" y="119"/>
                  </a:cubicBezTo>
                  <a:cubicBezTo>
                    <a:pt x="245" y="124"/>
                    <a:pt x="245" y="133"/>
                    <a:pt x="240" y="138"/>
                  </a:cubicBezTo>
                  <a:close/>
                </a:path>
              </a:pathLst>
            </a:custGeom>
            <a:solidFill>
              <a:srgbClr val="F8B323"/>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nvGrpSpPr>
            <p:cNvPr id="53" name="Group 52">
              <a:extLst>
                <a:ext uri="{FF2B5EF4-FFF2-40B4-BE49-F238E27FC236}">
                  <a16:creationId xmlns:a16="http://schemas.microsoft.com/office/drawing/2014/main" id="{5EC09A7D-28EC-0A78-A239-3EC33A362738}"/>
                </a:ext>
              </a:extLst>
            </p:cNvPr>
            <p:cNvGrpSpPr/>
            <p:nvPr/>
          </p:nvGrpSpPr>
          <p:grpSpPr>
            <a:xfrm>
              <a:off x="7603054" y="3158087"/>
              <a:ext cx="527805" cy="527805"/>
              <a:chOff x="7424738" y="3175000"/>
              <a:chExt cx="889000" cy="889000"/>
            </a:xfrm>
            <a:solidFill>
              <a:schemeClr val="bg1">
                <a:lumMod val="65000"/>
              </a:schemeClr>
            </a:solidFill>
          </p:grpSpPr>
          <p:sp>
            <p:nvSpPr>
              <p:cNvPr id="144" name="Rectangle 55">
                <a:extLst>
                  <a:ext uri="{FF2B5EF4-FFF2-40B4-BE49-F238E27FC236}">
                    <a16:creationId xmlns:a16="http://schemas.microsoft.com/office/drawing/2014/main" id="{2BD65784-E55A-E6E0-D3EE-5E9BF75BAAF0}"/>
                  </a:ext>
                </a:extLst>
              </p:cNvPr>
              <p:cNvSpPr>
                <a:spLocks noChangeArrowheads="1"/>
              </p:cNvSpPr>
              <p:nvPr/>
            </p:nvSpPr>
            <p:spPr bwMode="auto">
              <a:xfrm>
                <a:off x="7612063" y="3603625"/>
                <a:ext cx="746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45" name="Freeform 56">
                <a:extLst>
                  <a:ext uri="{FF2B5EF4-FFF2-40B4-BE49-F238E27FC236}">
                    <a16:creationId xmlns:a16="http://schemas.microsoft.com/office/drawing/2014/main" id="{1F111C13-0AB0-3CFC-FA3C-23D0A4E1FDF0}"/>
                  </a:ext>
                </a:extLst>
              </p:cNvPr>
              <p:cNvSpPr>
                <a:spLocks/>
              </p:cNvSpPr>
              <p:nvPr/>
            </p:nvSpPr>
            <p:spPr bwMode="auto">
              <a:xfrm>
                <a:off x="7675563" y="3738563"/>
                <a:ext cx="76200" cy="76200"/>
              </a:xfrm>
              <a:custGeom>
                <a:avLst/>
                <a:gdLst>
                  <a:gd name="T0" fmla="*/ 0 w 48"/>
                  <a:gd name="T1" fmla="*/ 33 h 48"/>
                  <a:gd name="T2" fmla="*/ 14 w 48"/>
                  <a:gd name="T3" fmla="*/ 48 h 48"/>
                  <a:gd name="T4" fmla="*/ 48 w 48"/>
                  <a:gd name="T5" fmla="*/ 15 h 48"/>
                  <a:gd name="T6" fmla="*/ 34 w 48"/>
                  <a:gd name="T7" fmla="*/ 0 h 48"/>
                  <a:gd name="T8" fmla="*/ 0 w 48"/>
                  <a:gd name="T9" fmla="*/ 33 h 48"/>
                </a:gdLst>
                <a:ahLst/>
                <a:cxnLst>
                  <a:cxn ang="0">
                    <a:pos x="T0" y="T1"/>
                  </a:cxn>
                  <a:cxn ang="0">
                    <a:pos x="T2" y="T3"/>
                  </a:cxn>
                  <a:cxn ang="0">
                    <a:pos x="T4" y="T5"/>
                  </a:cxn>
                  <a:cxn ang="0">
                    <a:pos x="T6" y="T7"/>
                  </a:cxn>
                  <a:cxn ang="0">
                    <a:pos x="T8" y="T9"/>
                  </a:cxn>
                </a:cxnLst>
                <a:rect l="0" t="0" r="r" b="b"/>
                <a:pathLst>
                  <a:path w="48" h="48">
                    <a:moveTo>
                      <a:pt x="0" y="33"/>
                    </a:moveTo>
                    <a:lnTo>
                      <a:pt x="14" y="48"/>
                    </a:lnTo>
                    <a:lnTo>
                      <a:pt x="48" y="15"/>
                    </a:lnTo>
                    <a:lnTo>
                      <a:pt x="34" y="0"/>
                    </a:lnTo>
                    <a:lnTo>
                      <a:pt x="0"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46" name="Freeform 57">
                <a:extLst>
                  <a:ext uri="{FF2B5EF4-FFF2-40B4-BE49-F238E27FC236}">
                    <a16:creationId xmlns:a16="http://schemas.microsoft.com/office/drawing/2014/main" id="{6705B1CD-AF75-82D0-8E94-FC636965E166}"/>
                  </a:ext>
                </a:extLst>
              </p:cNvPr>
              <p:cNvSpPr>
                <a:spLocks/>
              </p:cNvSpPr>
              <p:nvPr/>
            </p:nvSpPr>
            <p:spPr bwMode="auto">
              <a:xfrm>
                <a:off x="7675563" y="3425825"/>
                <a:ext cx="76200" cy="77788"/>
              </a:xfrm>
              <a:custGeom>
                <a:avLst/>
                <a:gdLst>
                  <a:gd name="T0" fmla="*/ 0 w 48"/>
                  <a:gd name="T1" fmla="*/ 14 h 49"/>
                  <a:gd name="T2" fmla="*/ 34 w 48"/>
                  <a:gd name="T3" fmla="*/ 49 h 49"/>
                  <a:gd name="T4" fmla="*/ 48 w 48"/>
                  <a:gd name="T5" fmla="*/ 34 h 49"/>
                  <a:gd name="T6" fmla="*/ 14 w 48"/>
                  <a:gd name="T7" fmla="*/ 0 h 49"/>
                  <a:gd name="T8" fmla="*/ 0 w 48"/>
                  <a:gd name="T9" fmla="*/ 14 h 49"/>
                </a:gdLst>
                <a:ahLst/>
                <a:cxnLst>
                  <a:cxn ang="0">
                    <a:pos x="T0" y="T1"/>
                  </a:cxn>
                  <a:cxn ang="0">
                    <a:pos x="T2" y="T3"/>
                  </a:cxn>
                  <a:cxn ang="0">
                    <a:pos x="T4" y="T5"/>
                  </a:cxn>
                  <a:cxn ang="0">
                    <a:pos x="T6" y="T7"/>
                  </a:cxn>
                  <a:cxn ang="0">
                    <a:pos x="T8" y="T9"/>
                  </a:cxn>
                </a:cxnLst>
                <a:rect l="0" t="0" r="r" b="b"/>
                <a:pathLst>
                  <a:path w="48" h="49">
                    <a:moveTo>
                      <a:pt x="0" y="14"/>
                    </a:moveTo>
                    <a:lnTo>
                      <a:pt x="34" y="49"/>
                    </a:lnTo>
                    <a:lnTo>
                      <a:pt x="48" y="34"/>
                    </a:lnTo>
                    <a:lnTo>
                      <a:pt x="14" y="0"/>
                    </a:lnTo>
                    <a:lnTo>
                      <a:pt x="0"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47" name="Rectangle 58">
                <a:extLst>
                  <a:ext uri="{FF2B5EF4-FFF2-40B4-BE49-F238E27FC236}">
                    <a16:creationId xmlns:a16="http://schemas.microsoft.com/office/drawing/2014/main" id="{B93D383D-C790-B725-A731-E00317756108}"/>
                  </a:ext>
                </a:extLst>
              </p:cNvPr>
              <p:cNvSpPr>
                <a:spLocks noChangeArrowheads="1"/>
              </p:cNvSpPr>
              <p:nvPr/>
            </p:nvSpPr>
            <p:spPr bwMode="auto">
              <a:xfrm>
                <a:off x="7853363" y="3362325"/>
                <a:ext cx="31750"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48" name="Freeform 59">
                <a:extLst>
                  <a:ext uri="{FF2B5EF4-FFF2-40B4-BE49-F238E27FC236}">
                    <a16:creationId xmlns:a16="http://schemas.microsoft.com/office/drawing/2014/main" id="{B4EEA934-7AA8-EBD4-3141-7C98E70F2320}"/>
                  </a:ext>
                </a:extLst>
              </p:cNvPr>
              <p:cNvSpPr>
                <a:spLocks/>
              </p:cNvSpPr>
              <p:nvPr/>
            </p:nvSpPr>
            <p:spPr bwMode="auto">
              <a:xfrm>
                <a:off x="7988301" y="3425825"/>
                <a:ext cx="74613" cy="77788"/>
              </a:xfrm>
              <a:custGeom>
                <a:avLst/>
                <a:gdLst>
                  <a:gd name="T0" fmla="*/ 47 w 47"/>
                  <a:gd name="T1" fmla="*/ 14 h 49"/>
                  <a:gd name="T2" fmla="*/ 33 w 47"/>
                  <a:gd name="T3" fmla="*/ 0 h 49"/>
                  <a:gd name="T4" fmla="*/ 0 w 47"/>
                  <a:gd name="T5" fmla="*/ 34 h 49"/>
                  <a:gd name="T6" fmla="*/ 15 w 47"/>
                  <a:gd name="T7" fmla="*/ 49 h 49"/>
                  <a:gd name="T8" fmla="*/ 47 w 47"/>
                  <a:gd name="T9" fmla="*/ 14 h 49"/>
                </a:gdLst>
                <a:ahLst/>
                <a:cxnLst>
                  <a:cxn ang="0">
                    <a:pos x="T0" y="T1"/>
                  </a:cxn>
                  <a:cxn ang="0">
                    <a:pos x="T2" y="T3"/>
                  </a:cxn>
                  <a:cxn ang="0">
                    <a:pos x="T4" y="T5"/>
                  </a:cxn>
                  <a:cxn ang="0">
                    <a:pos x="T6" y="T7"/>
                  </a:cxn>
                  <a:cxn ang="0">
                    <a:pos x="T8" y="T9"/>
                  </a:cxn>
                </a:cxnLst>
                <a:rect l="0" t="0" r="r" b="b"/>
                <a:pathLst>
                  <a:path w="47" h="49">
                    <a:moveTo>
                      <a:pt x="47" y="14"/>
                    </a:moveTo>
                    <a:lnTo>
                      <a:pt x="33" y="0"/>
                    </a:lnTo>
                    <a:lnTo>
                      <a:pt x="0" y="34"/>
                    </a:lnTo>
                    <a:lnTo>
                      <a:pt x="15" y="49"/>
                    </a:lnTo>
                    <a:lnTo>
                      <a:pt x="47"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49" name="Rectangle 60">
                <a:extLst>
                  <a:ext uri="{FF2B5EF4-FFF2-40B4-BE49-F238E27FC236}">
                    <a16:creationId xmlns:a16="http://schemas.microsoft.com/office/drawing/2014/main" id="{61FD9E79-D4D8-E937-BC42-652CA9C6EFCA}"/>
                  </a:ext>
                </a:extLst>
              </p:cNvPr>
              <p:cNvSpPr>
                <a:spLocks noChangeArrowheads="1"/>
              </p:cNvSpPr>
              <p:nvPr/>
            </p:nvSpPr>
            <p:spPr bwMode="auto">
              <a:xfrm>
                <a:off x="8051801" y="3603625"/>
                <a:ext cx="746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0" name="Freeform 61">
                <a:extLst>
                  <a:ext uri="{FF2B5EF4-FFF2-40B4-BE49-F238E27FC236}">
                    <a16:creationId xmlns:a16="http://schemas.microsoft.com/office/drawing/2014/main" id="{B47A9F1A-E39C-80E8-76E8-AC6A82F11F01}"/>
                  </a:ext>
                </a:extLst>
              </p:cNvPr>
              <p:cNvSpPr>
                <a:spLocks/>
              </p:cNvSpPr>
              <p:nvPr/>
            </p:nvSpPr>
            <p:spPr bwMode="auto">
              <a:xfrm>
                <a:off x="7988301" y="3738563"/>
                <a:ext cx="74613" cy="76200"/>
              </a:xfrm>
              <a:custGeom>
                <a:avLst/>
                <a:gdLst>
                  <a:gd name="T0" fmla="*/ 0 w 47"/>
                  <a:gd name="T1" fmla="*/ 15 h 48"/>
                  <a:gd name="T2" fmla="*/ 33 w 47"/>
                  <a:gd name="T3" fmla="*/ 48 h 48"/>
                  <a:gd name="T4" fmla="*/ 47 w 47"/>
                  <a:gd name="T5" fmla="*/ 33 h 48"/>
                  <a:gd name="T6" fmla="*/ 15 w 47"/>
                  <a:gd name="T7" fmla="*/ 0 h 48"/>
                  <a:gd name="T8" fmla="*/ 0 w 47"/>
                  <a:gd name="T9" fmla="*/ 15 h 48"/>
                </a:gdLst>
                <a:ahLst/>
                <a:cxnLst>
                  <a:cxn ang="0">
                    <a:pos x="T0" y="T1"/>
                  </a:cxn>
                  <a:cxn ang="0">
                    <a:pos x="T2" y="T3"/>
                  </a:cxn>
                  <a:cxn ang="0">
                    <a:pos x="T4" y="T5"/>
                  </a:cxn>
                  <a:cxn ang="0">
                    <a:pos x="T6" y="T7"/>
                  </a:cxn>
                  <a:cxn ang="0">
                    <a:pos x="T8" y="T9"/>
                  </a:cxn>
                </a:cxnLst>
                <a:rect l="0" t="0" r="r" b="b"/>
                <a:pathLst>
                  <a:path w="47" h="48">
                    <a:moveTo>
                      <a:pt x="0" y="15"/>
                    </a:moveTo>
                    <a:lnTo>
                      <a:pt x="33" y="48"/>
                    </a:lnTo>
                    <a:lnTo>
                      <a:pt x="47" y="33"/>
                    </a:lnTo>
                    <a:lnTo>
                      <a:pt x="15" y="0"/>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1" name="Freeform 62">
                <a:extLst>
                  <a:ext uri="{FF2B5EF4-FFF2-40B4-BE49-F238E27FC236}">
                    <a16:creationId xmlns:a16="http://schemas.microsoft.com/office/drawing/2014/main" id="{25C25449-F318-798D-9313-90579C80B14E}"/>
                  </a:ext>
                </a:extLst>
              </p:cNvPr>
              <p:cNvSpPr>
                <a:spLocks noEditPoints="1"/>
              </p:cNvSpPr>
              <p:nvPr/>
            </p:nvSpPr>
            <p:spPr bwMode="auto">
              <a:xfrm>
                <a:off x="7424738" y="3175000"/>
                <a:ext cx="889000" cy="889000"/>
              </a:xfrm>
              <a:custGeom>
                <a:avLst/>
                <a:gdLst>
                  <a:gd name="T0" fmla="*/ 155 w 309"/>
                  <a:gd name="T1" fmla="*/ 0 h 309"/>
                  <a:gd name="T2" fmla="*/ 0 w 309"/>
                  <a:gd name="T3" fmla="*/ 155 h 309"/>
                  <a:gd name="T4" fmla="*/ 155 w 309"/>
                  <a:gd name="T5" fmla="*/ 309 h 309"/>
                  <a:gd name="T6" fmla="*/ 309 w 309"/>
                  <a:gd name="T7" fmla="*/ 155 h 309"/>
                  <a:gd name="T8" fmla="*/ 155 w 309"/>
                  <a:gd name="T9" fmla="*/ 0 h 309"/>
                  <a:gd name="T10" fmla="*/ 155 w 309"/>
                  <a:gd name="T11" fmla="*/ 253 h 309"/>
                  <a:gd name="T12" fmla="*/ 56 w 309"/>
                  <a:gd name="T13" fmla="*/ 155 h 309"/>
                  <a:gd name="T14" fmla="*/ 155 w 309"/>
                  <a:gd name="T15" fmla="*/ 57 h 309"/>
                  <a:gd name="T16" fmla="*/ 253 w 309"/>
                  <a:gd name="T17" fmla="*/ 155 h 309"/>
                  <a:gd name="T18" fmla="*/ 155 w 309"/>
                  <a:gd name="T19" fmla="*/ 253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9" h="309">
                    <a:moveTo>
                      <a:pt x="155" y="0"/>
                    </a:moveTo>
                    <a:cubicBezTo>
                      <a:pt x="69" y="0"/>
                      <a:pt x="0" y="70"/>
                      <a:pt x="0" y="155"/>
                    </a:cubicBezTo>
                    <a:cubicBezTo>
                      <a:pt x="0" y="240"/>
                      <a:pt x="69" y="309"/>
                      <a:pt x="155" y="309"/>
                    </a:cubicBezTo>
                    <a:cubicBezTo>
                      <a:pt x="240" y="309"/>
                      <a:pt x="309" y="240"/>
                      <a:pt x="309" y="155"/>
                    </a:cubicBezTo>
                    <a:cubicBezTo>
                      <a:pt x="309" y="70"/>
                      <a:pt x="240" y="0"/>
                      <a:pt x="155" y="0"/>
                    </a:cubicBezTo>
                    <a:close/>
                    <a:moveTo>
                      <a:pt x="155" y="253"/>
                    </a:moveTo>
                    <a:cubicBezTo>
                      <a:pt x="100" y="253"/>
                      <a:pt x="56" y="209"/>
                      <a:pt x="56" y="155"/>
                    </a:cubicBezTo>
                    <a:cubicBezTo>
                      <a:pt x="56" y="101"/>
                      <a:pt x="100" y="57"/>
                      <a:pt x="155" y="57"/>
                    </a:cubicBezTo>
                    <a:cubicBezTo>
                      <a:pt x="209" y="57"/>
                      <a:pt x="253" y="101"/>
                      <a:pt x="253" y="155"/>
                    </a:cubicBezTo>
                    <a:cubicBezTo>
                      <a:pt x="253" y="209"/>
                      <a:pt x="209" y="253"/>
                      <a:pt x="155" y="2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2" name="Rectangle 63">
                <a:extLst>
                  <a:ext uri="{FF2B5EF4-FFF2-40B4-BE49-F238E27FC236}">
                    <a16:creationId xmlns:a16="http://schemas.microsoft.com/office/drawing/2014/main" id="{A1F21307-BBB2-1FEC-1B03-0BBA7B6BDA6C}"/>
                  </a:ext>
                </a:extLst>
              </p:cNvPr>
              <p:cNvSpPr>
                <a:spLocks noChangeArrowheads="1"/>
              </p:cNvSpPr>
              <p:nvPr/>
            </p:nvSpPr>
            <p:spPr bwMode="auto">
              <a:xfrm>
                <a:off x="7853363" y="3805238"/>
                <a:ext cx="31750"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3" name="Freeform 64">
                <a:extLst>
                  <a:ext uri="{FF2B5EF4-FFF2-40B4-BE49-F238E27FC236}">
                    <a16:creationId xmlns:a16="http://schemas.microsoft.com/office/drawing/2014/main" id="{AB37A9CA-1B01-3BDA-0B7A-1F40587C6D79}"/>
                  </a:ext>
                </a:extLst>
              </p:cNvPr>
              <p:cNvSpPr>
                <a:spLocks/>
              </p:cNvSpPr>
              <p:nvPr/>
            </p:nvSpPr>
            <p:spPr bwMode="auto">
              <a:xfrm>
                <a:off x="7800976" y="3514725"/>
                <a:ext cx="182563" cy="131763"/>
              </a:xfrm>
              <a:custGeom>
                <a:avLst/>
                <a:gdLst>
                  <a:gd name="T0" fmla="*/ 46 w 115"/>
                  <a:gd name="T1" fmla="*/ 54 h 83"/>
                  <a:gd name="T2" fmla="*/ 15 w 115"/>
                  <a:gd name="T3" fmla="*/ 25 h 83"/>
                  <a:gd name="T4" fmla="*/ 0 w 115"/>
                  <a:gd name="T5" fmla="*/ 40 h 83"/>
                  <a:gd name="T6" fmla="*/ 46 w 115"/>
                  <a:gd name="T7" fmla="*/ 83 h 83"/>
                  <a:gd name="T8" fmla="*/ 115 w 115"/>
                  <a:gd name="T9" fmla="*/ 15 h 83"/>
                  <a:gd name="T10" fmla="*/ 100 w 115"/>
                  <a:gd name="T11" fmla="*/ 0 h 83"/>
                  <a:gd name="T12" fmla="*/ 46 w 115"/>
                  <a:gd name="T13" fmla="*/ 54 h 83"/>
                </a:gdLst>
                <a:ahLst/>
                <a:cxnLst>
                  <a:cxn ang="0">
                    <a:pos x="T0" y="T1"/>
                  </a:cxn>
                  <a:cxn ang="0">
                    <a:pos x="T2" y="T3"/>
                  </a:cxn>
                  <a:cxn ang="0">
                    <a:pos x="T4" y="T5"/>
                  </a:cxn>
                  <a:cxn ang="0">
                    <a:pos x="T6" y="T7"/>
                  </a:cxn>
                  <a:cxn ang="0">
                    <a:pos x="T8" y="T9"/>
                  </a:cxn>
                  <a:cxn ang="0">
                    <a:pos x="T10" y="T11"/>
                  </a:cxn>
                  <a:cxn ang="0">
                    <a:pos x="T12" y="T13"/>
                  </a:cxn>
                </a:cxnLst>
                <a:rect l="0" t="0" r="r" b="b"/>
                <a:pathLst>
                  <a:path w="115" h="83">
                    <a:moveTo>
                      <a:pt x="46" y="54"/>
                    </a:moveTo>
                    <a:lnTo>
                      <a:pt x="15" y="25"/>
                    </a:lnTo>
                    <a:lnTo>
                      <a:pt x="0" y="40"/>
                    </a:lnTo>
                    <a:lnTo>
                      <a:pt x="46" y="83"/>
                    </a:lnTo>
                    <a:lnTo>
                      <a:pt x="115" y="15"/>
                    </a:lnTo>
                    <a:lnTo>
                      <a:pt x="100" y="0"/>
                    </a:lnTo>
                    <a:lnTo>
                      <a:pt x="46"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54" name="Group 53">
              <a:extLst>
                <a:ext uri="{FF2B5EF4-FFF2-40B4-BE49-F238E27FC236}">
                  <a16:creationId xmlns:a16="http://schemas.microsoft.com/office/drawing/2014/main" id="{829F7CD1-A646-5B33-D205-176E1DE299F4}"/>
                </a:ext>
              </a:extLst>
            </p:cNvPr>
            <p:cNvGrpSpPr/>
            <p:nvPr/>
          </p:nvGrpSpPr>
          <p:grpSpPr>
            <a:xfrm>
              <a:off x="7322185" y="3750925"/>
              <a:ext cx="526863" cy="526863"/>
              <a:chOff x="6951663" y="4173538"/>
              <a:chExt cx="887413" cy="887413"/>
            </a:xfrm>
            <a:solidFill>
              <a:schemeClr val="bg1">
                <a:lumMod val="50000"/>
              </a:schemeClr>
            </a:solidFill>
          </p:grpSpPr>
          <p:sp>
            <p:nvSpPr>
              <p:cNvPr id="142" name="Freeform 65">
                <a:extLst>
                  <a:ext uri="{FF2B5EF4-FFF2-40B4-BE49-F238E27FC236}">
                    <a16:creationId xmlns:a16="http://schemas.microsoft.com/office/drawing/2014/main" id="{E05294B8-0539-52FA-6FEC-E30EF1348FD4}"/>
                  </a:ext>
                </a:extLst>
              </p:cNvPr>
              <p:cNvSpPr>
                <a:spLocks/>
              </p:cNvSpPr>
              <p:nvPr/>
            </p:nvSpPr>
            <p:spPr bwMode="auto">
              <a:xfrm>
                <a:off x="7597776" y="4640263"/>
                <a:ext cx="77788" cy="114300"/>
              </a:xfrm>
              <a:custGeom>
                <a:avLst/>
                <a:gdLst>
                  <a:gd name="T0" fmla="*/ 9 w 27"/>
                  <a:gd name="T1" fmla="*/ 0 h 40"/>
                  <a:gd name="T2" fmla="*/ 9 w 27"/>
                  <a:gd name="T3" fmla="*/ 0 h 40"/>
                  <a:gd name="T4" fmla="*/ 0 w 27"/>
                  <a:gd name="T5" fmla="*/ 39 h 40"/>
                  <a:gd name="T6" fmla="*/ 6 w 27"/>
                  <a:gd name="T7" fmla="*/ 40 h 40"/>
                  <a:gd name="T8" fmla="*/ 27 w 27"/>
                  <a:gd name="T9" fmla="*/ 20 h 40"/>
                  <a:gd name="T10" fmla="*/ 9 w 27"/>
                  <a:gd name="T11" fmla="*/ 0 h 40"/>
                </a:gdLst>
                <a:ahLst/>
                <a:cxnLst>
                  <a:cxn ang="0">
                    <a:pos x="T0" y="T1"/>
                  </a:cxn>
                  <a:cxn ang="0">
                    <a:pos x="T2" y="T3"/>
                  </a:cxn>
                  <a:cxn ang="0">
                    <a:pos x="T4" y="T5"/>
                  </a:cxn>
                  <a:cxn ang="0">
                    <a:pos x="T6" y="T7"/>
                  </a:cxn>
                  <a:cxn ang="0">
                    <a:pos x="T8" y="T9"/>
                  </a:cxn>
                  <a:cxn ang="0">
                    <a:pos x="T10" y="T11"/>
                  </a:cxn>
                </a:cxnLst>
                <a:rect l="0" t="0" r="r" b="b"/>
                <a:pathLst>
                  <a:path w="27" h="40">
                    <a:moveTo>
                      <a:pt x="9" y="0"/>
                    </a:moveTo>
                    <a:cubicBezTo>
                      <a:pt x="9" y="0"/>
                      <a:pt x="9" y="0"/>
                      <a:pt x="9" y="0"/>
                    </a:cubicBezTo>
                    <a:cubicBezTo>
                      <a:pt x="9" y="14"/>
                      <a:pt x="6" y="27"/>
                      <a:pt x="0" y="39"/>
                    </a:cubicBezTo>
                    <a:cubicBezTo>
                      <a:pt x="2" y="40"/>
                      <a:pt x="4" y="40"/>
                      <a:pt x="6" y="40"/>
                    </a:cubicBezTo>
                    <a:cubicBezTo>
                      <a:pt x="17" y="40"/>
                      <a:pt x="27" y="31"/>
                      <a:pt x="27" y="20"/>
                    </a:cubicBezTo>
                    <a:cubicBezTo>
                      <a:pt x="27" y="10"/>
                      <a:pt x="19" y="1"/>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43" name="Freeform 66">
                <a:extLst>
                  <a:ext uri="{FF2B5EF4-FFF2-40B4-BE49-F238E27FC236}">
                    <a16:creationId xmlns:a16="http://schemas.microsoft.com/office/drawing/2014/main" id="{10C895E8-79B2-98E3-6954-316E1104967E}"/>
                  </a:ext>
                </a:extLst>
              </p:cNvPr>
              <p:cNvSpPr>
                <a:spLocks noEditPoints="1"/>
              </p:cNvSpPr>
              <p:nvPr/>
            </p:nvSpPr>
            <p:spPr bwMode="auto">
              <a:xfrm>
                <a:off x="6951663" y="4173538"/>
                <a:ext cx="887413" cy="887413"/>
              </a:xfrm>
              <a:custGeom>
                <a:avLst/>
                <a:gdLst>
                  <a:gd name="T0" fmla="*/ 154 w 308"/>
                  <a:gd name="T1" fmla="*/ 0 h 308"/>
                  <a:gd name="T2" fmla="*/ 0 w 308"/>
                  <a:gd name="T3" fmla="*/ 154 h 308"/>
                  <a:gd name="T4" fmla="*/ 154 w 308"/>
                  <a:gd name="T5" fmla="*/ 308 h 308"/>
                  <a:gd name="T6" fmla="*/ 308 w 308"/>
                  <a:gd name="T7" fmla="*/ 154 h 308"/>
                  <a:gd name="T8" fmla="*/ 154 w 308"/>
                  <a:gd name="T9" fmla="*/ 0 h 308"/>
                  <a:gd name="T10" fmla="*/ 165 w 308"/>
                  <a:gd name="T11" fmla="*/ 62 h 308"/>
                  <a:gd name="T12" fmla="*/ 174 w 308"/>
                  <a:gd name="T13" fmla="*/ 77 h 308"/>
                  <a:gd name="T14" fmla="*/ 174 w 308"/>
                  <a:gd name="T15" fmla="*/ 90 h 308"/>
                  <a:gd name="T16" fmla="*/ 182 w 308"/>
                  <a:gd name="T17" fmla="*/ 107 h 308"/>
                  <a:gd name="T18" fmla="*/ 169 w 308"/>
                  <a:gd name="T19" fmla="*/ 136 h 308"/>
                  <a:gd name="T20" fmla="*/ 164 w 308"/>
                  <a:gd name="T21" fmla="*/ 120 h 308"/>
                  <a:gd name="T22" fmla="*/ 156 w 308"/>
                  <a:gd name="T23" fmla="*/ 91 h 308"/>
                  <a:gd name="T24" fmla="*/ 165 w 308"/>
                  <a:gd name="T25" fmla="*/ 62 h 308"/>
                  <a:gd name="T26" fmla="*/ 117 w 308"/>
                  <a:gd name="T27" fmla="*/ 62 h 308"/>
                  <a:gd name="T28" fmla="*/ 125 w 308"/>
                  <a:gd name="T29" fmla="*/ 77 h 308"/>
                  <a:gd name="T30" fmla="*/ 126 w 308"/>
                  <a:gd name="T31" fmla="*/ 90 h 308"/>
                  <a:gd name="T32" fmla="*/ 134 w 308"/>
                  <a:gd name="T33" fmla="*/ 107 h 308"/>
                  <a:gd name="T34" fmla="*/ 120 w 308"/>
                  <a:gd name="T35" fmla="*/ 136 h 308"/>
                  <a:gd name="T36" fmla="*/ 116 w 308"/>
                  <a:gd name="T37" fmla="*/ 120 h 308"/>
                  <a:gd name="T38" fmla="*/ 108 w 308"/>
                  <a:gd name="T39" fmla="*/ 91 h 308"/>
                  <a:gd name="T40" fmla="*/ 117 w 308"/>
                  <a:gd name="T41" fmla="*/ 62 h 308"/>
                  <a:gd name="T42" fmla="*/ 230 w 308"/>
                  <a:gd name="T43" fmla="*/ 218 h 308"/>
                  <a:gd name="T44" fmla="*/ 215 w 308"/>
                  <a:gd name="T45" fmla="*/ 215 h 308"/>
                  <a:gd name="T46" fmla="*/ 147 w 308"/>
                  <a:gd name="T47" fmla="*/ 247 h 308"/>
                  <a:gd name="T48" fmla="*/ 62 w 308"/>
                  <a:gd name="T49" fmla="*/ 162 h 308"/>
                  <a:gd name="T50" fmla="*/ 63 w 308"/>
                  <a:gd name="T51" fmla="*/ 146 h 308"/>
                  <a:gd name="T52" fmla="*/ 232 w 308"/>
                  <a:gd name="T53" fmla="*/ 146 h 308"/>
                  <a:gd name="T54" fmla="*/ 232 w 308"/>
                  <a:gd name="T55" fmla="*/ 146 h 308"/>
                  <a:gd name="T56" fmla="*/ 266 w 308"/>
                  <a:gd name="T57" fmla="*/ 182 h 308"/>
                  <a:gd name="T58" fmla="*/ 230 w 308"/>
                  <a:gd name="T59" fmla="*/ 218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8" h="308">
                    <a:moveTo>
                      <a:pt x="154" y="0"/>
                    </a:moveTo>
                    <a:cubicBezTo>
                      <a:pt x="69" y="0"/>
                      <a:pt x="0" y="69"/>
                      <a:pt x="0" y="154"/>
                    </a:cubicBezTo>
                    <a:cubicBezTo>
                      <a:pt x="0" y="239"/>
                      <a:pt x="69" y="308"/>
                      <a:pt x="154" y="308"/>
                    </a:cubicBezTo>
                    <a:cubicBezTo>
                      <a:pt x="239" y="308"/>
                      <a:pt x="308" y="239"/>
                      <a:pt x="308" y="154"/>
                    </a:cubicBezTo>
                    <a:cubicBezTo>
                      <a:pt x="308" y="69"/>
                      <a:pt x="239" y="0"/>
                      <a:pt x="154" y="0"/>
                    </a:cubicBezTo>
                    <a:close/>
                    <a:moveTo>
                      <a:pt x="165" y="62"/>
                    </a:moveTo>
                    <a:cubicBezTo>
                      <a:pt x="174" y="56"/>
                      <a:pt x="183" y="71"/>
                      <a:pt x="174" y="77"/>
                    </a:cubicBezTo>
                    <a:cubicBezTo>
                      <a:pt x="169" y="79"/>
                      <a:pt x="172" y="86"/>
                      <a:pt x="174" y="90"/>
                    </a:cubicBezTo>
                    <a:cubicBezTo>
                      <a:pt x="177" y="95"/>
                      <a:pt x="181" y="101"/>
                      <a:pt x="182" y="107"/>
                    </a:cubicBezTo>
                    <a:cubicBezTo>
                      <a:pt x="185" y="119"/>
                      <a:pt x="181" y="132"/>
                      <a:pt x="169" y="136"/>
                    </a:cubicBezTo>
                    <a:cubicBezTo>
                      <a:pt x="158" y="140"/>
                      <a:pt x="153" y="123"/>
                      <a:pt x="164" y="120"/>
                    </a:cubicBezTo>
                    <a:cubicBezTo>
                      <a:pt x="172" y="117"/>
                      <a:pt x="157" y="95"/>
                      <a:pt x="156" y="91"/>
                    </a:cubicBezTo>
                    <a:cubicBezTo>
                      <a:pt x="152" y="80"/>
                      <a:pt x="154" y="68"/>
                      <a:pt x="165" y="62"/>
                    </a:cubicBezTo>
                    <a:close/>
                    <a:moveTo>
                      <a:pt x="117" y="62"/>
                    </a:moveTo>
                    <a:cubicBezTo>
                      <a:pt x="126" y="56"/>
                      <a:pt x="135" y="71"/>
                      <a:pt x="125" y="77"/>
                    </a:cubicBezTo>
                    <a:cubicBezTo>
                      <a:pt x="121" y="79"/>
                      <a:pt x="124" y="86"/>
                      <a:pt x="126" y="90"/>
                    </a:cubicBezTo>
                    <a:cubicBezTo>
                      <a:pt x="129" y="95"/>
                      <a:pt x="133" y="101"/>
                      <a:pt x="134" y="107"/>
                    </a:cubicBezTo>
                    <a:cubicBezTo>
                      <a:pt x="137" y="119"/>
                      <a:pt x="133" y="132"/>
                      <a:pt x="120" y="136"/>
                    </a:cubicBezTo>
                    <a:cubicBezTo>
                      <a:pt x="110" y="140"/>
                      <a:pt x="105" y="123"/>
                      <a:pt x="116" y="120"/>
                    </a:cubicBezTo>
                    <a:cubicBezTo>
                      <a:pt x="124" y="117"/>
                      <a:pt x="109" y="95"/>
                      <a:pt x="108" y="91"/>
                    </a:cubicBezTo>
                    <a:cubicBezTo>
                      <a:pt x="104" y="80"/>
                      <a:pt x="106" y="68"/>
                      <a:pt x="117" y="62"/>
                    </a:cubicBezTo>
                    <a:close/>
                    <a:moveTo>
                      <a:pt x="230" y="218"/>
                    </a:moveTo>
                    <a:cubicBezTo>
                      <a:pt x="225" y="218"/>
                      <a:pt x="219" y="217"/>
                      <a:pt x="215" y="215"/>
                    </a:cubicBezTo>
                    <a:cubicBezTo>
                      <a:pt x="199" y="235"/>
                      <a:pt x="175" y="247"/>
                      <a:pt x="147" y="247"/>
                    </a:cubicBezTo>
                    <a:cubicBezTo>
                      <a:pt x="100" y="247"/>
                      <a:pt x="62" y="209"/>
                      <a:pt x="62" y="162"/>
                    </a:cubicBezTo>
                    <a:cubicBezTo>
                      <a:pt x="62" y="156"/>
                      <a:pt x="62" y="151"/>
                      <a:pt x="63" y="146"/>
                    </a:cubicBezTo>
                    <a:cubicBezTo>
                      <a:pt x="232" y="146"/>
                      <a:pt x="232" y="146"/>
                      <a:pt x="232" y="146"/>
                    </a:cubicBezTo>
                    <a:cubicBezTo>
                      <a:pt x="232" y="146"/>
                      <a:pt x="232" y="146"/>
                      <a:pt x="232" y="146"/>
                    </a:cubicBezTo>
                    <a:cubicBezTo>
                      <a:pt x="251" y="147"/>
                      <a:pt x="266" y="162"/>
                      <a:pt x="266" y="182"/>
                    </a:cubicBezTo>
                    <a:cubicBezTo>
                      <a:pt x="266" y="202"/>
                      <a:pt x="250" y="218"/>
                      <a:pt x="230" y="2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55" name="Group 54">
              <a:extLst>
                <a:ext uri="{FF2B5EF4-FFF2-40B4-BE49-F238E27FC236}">
                  <a16:creationId xmlns:a16="http://schemas.microsoft.com/office/drawing/2014/main" id="{F59E20A8-8187-ADC7-C138-206D4FB5147E}"/>
                </a:ext>
              </a:extLst>
            </p:cNvPr>
            <p:cNvGrpSpPr/>
            <p:nvPr/>
          </p:nvGrpSpPr>
          <p:grpSpPr>
            <a:xfrm>
              <a:off x="6047914" y="3735845"/>
              <a:ext cx="531575" cy="529690"/>
              <a:chOff x="4805363" y="4148138"/>
              <a:chExt cx="895350" cy="892175"/>
            </a:xfrm>
            <a:solidFill>
              <a:schemeClr val="bg1">
                <a:lumMod val="65000"/>
              </a:schemeClr>
            </a:solidFill>
          </p:grpSpPr>
          <p:sp>
            <p:nvSpPr>
              <p:cNvPr id="139" name="Freeform 67">
                <a:extLst>
                  <a:ext uri="{FF2B5EF4-FFF2-40B4-BE49-F238E27FC236}">
                    <a16:creationId xmlns:a16="http://schemas.microsoft.com/office/drawing/2014/main" id="{7D7C3BCA-61AC-74B8-5125-8D86D1905293}"/>
                  </a:ext>
                </a:extLst>
              </p:cNvPr>
              <p:cNvSpPr>
                <a:spLocks/>
              </p:cNvSpPr>
              <p:nvPr/>
            </p:nvSpPr>
            <p:spPr bwMode="auto">
              <a:xfrm>
                <a:off x="5332413" y="4371975"/>
                <a:ext cx="103188" cy="66675"/>
              </a:xfrm>
              <a:custGeom>
                <a:avLst/>
                <a:gdLst>
                  <a:gd name="T0" fmla="*/ 36 w 36"/>
                  <a:gd name="T1" fmla="*/ 2 h 23"/>
                  <a:gd name="T2" fmla="*/ 34 w 36"/>
                  <a:gd name="T3" fmla="*/ 1 h 23"/>
                  <a:gd name="T4" fmla="*/ 0 w 36"/>
                  <a:gd name="T5" fmla="*/ 23 h 23"/>
                  <a:gd name="T6" fmla="*/ 22 w 36"/>
                  <a:gd name="T7" fmla="*/ 15 h 23"/>
                  <a:gd name="T8" fmla="*/ 32 w 36"/>
                  <a:gd name="T9" fmla="*/ 6 h 23"/>
                  <a:gd name="T10" fmla="*/ 36 w 36"/>
                  <a:gd name="T11" fmla="*/ 2 h 23"/>
                </a:gdLst>
                <a:ahLst/>
                <a:cxnLst>
                  <a:cxn ang="0">
                    <a:pos x="T0" y="T1"/>
                  </a:cxn>
                  <a:cxn ang="0">
                    <a:pos x="T2" y="T3"/>
                  </a:cxn>
                  <a:cxn ang="0">
                    <a:pos x="T4" y="T5"/>
                  </a:cxn>
                  <a:cxn ang="0">
                    <a:pos x="T6" y="T7"/>
                  </a:cxn>
                  <a:cxn ang="0">
                    <a:pos x="T8" y="T9"/>
                  </a:cxn>
                  <a:cxn ang="0">
                    <a:pos x="T10" y="T11"/>
                  </a:cxn>
                </a:cxnLst>
                <a:rect l="0" t="0" r="r" b="b"/>
                <a:pathLst>
                  <a:path w="36" h="23">
                    <a:moveTo>
                      <a:pt x="36" y="2"/>
                    </a:moveTo>
                    <a:cubicBezTo>
                      <a:pt x="35" y="2"/>
                      <a:pt x="35" y="1"/>
                      <a:pt x="34" y="1"/>
                    </a:cubicBezTo>
                    <a:cubicBezTo>
                      <a:pt x="19" y="0"/>
                      <a:pt x="5" y="9"/>
                      <a:pt x="0" y="23"/>
                    </a:cubicBezTo>
                    <a:cubicBezTo>
                      <a:pt x="8" y="22"/>
                      <a:pt x="15" y="19"/>
                      <a:pt x="22" y="15"/>
                    </a:cubicBezTo>
                    <a:cubicBezTo>
                      <a:pt x="25" y="12"/>
                      <a:pt x="29" y="10"/>
                      <a:pt x="32" y="6"/>
                    </a:cubicBezTo>
                    <a:cubicBezTo>
                      <a:pt x="32" y="6"/>
                      <a:pt x="35" y="3"/>
                      <a:pt x="3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40" name="Freeform 68">
                <a:extLst>
                  <a:ext uri="{FF2B5EF4-FFF2-40B4-BE49-F238E27FC236}">
                    <a16:creationId xmlns:a16="http://schemas.microsoft.com/office/drawing/2014/main" id="{01C39C57-B058-E592-B44F-8EA0E9D1CF5D}"/>
                  </a:ext>
                </a:extLst>
              </p:cNvPr>
              <p:cNvSpPr>
                <a:spLocks/>
              </p:cNvSpPr>
              <p:nvPr/>
            </p:nvSpPr>
            <p:spPr bwMode="auto">
              <a:xfrm>
                <a:off x="5067301" y="4371975"/>
                <a:ext cx="103188" cy="66675"/>
              </a:xfrm>
              <a:custGeom>
                <a:avLst/>
                <a:gdLst>
                  <a:gd name="T0" fmla="*/ 4 w 36"/>
                  <a:gd name="T1" fmla="*/ 6 h 23"/>
                  <a:gd name="T2" fmla="*/ 14 w 36"/>
                  <a:gd name="T3" fmla="*/ 15 h 23"/>
                  <a:gd name="T4" fmla="*/ 36 w 36"/>
                  <a:gd name="T5" fmla="*/ 23 h 23"/>
                  <a:gd name="T6" fmla="*/ 2 w 36"/>
                  <a:gd name="T7" fmla="*/ 1 h 23"/>
                  <a:gd name="T8" fmla="*/ 0 w 36"/>
                  <a:gd name="T9" fmla="*/ 2 h 23"/>
                  <a:gd name="T10" fmla="*/ 4 w 36"/>
                  <a:gd name="T11" fmla="*/ 6 h 23"/>
                </a:gdLst>
                <a:ahLst/>
                <a:cxnLst>
                  <a:cxn ang="0">
                    <a:pos x="T0" y="T1"/>
                  </a:cxn>
                  <a:cxn ang="0">
                    <a:pos x="T2" y="T3"/>
                  </a:cxn>
                  <a:cxn ang="0">
                    <a:pos x="T4" y="T5"/>
                  </a:cxn>
                  <a:cxn ang="0">
                    <a:pos x="T6" y="T7"/>
                  </a:cxn>
                  <a:cxn ang="0">
                    <a:pos x="T8" y="T9"/>
                  </a:cxn>
                  <a:cxn ang="0">
                    <a:pos x="T10" y="T11"/>
                  </a:cxn>
                </a:cxnLst>
                <a:rect l="0" t="0" r="r" b="b"/>
                <a:pathLst>
                  <a:path w="36" h="23">
                    <a:moveTo>
                      <a:pt x="4" y="6"/>
                    </a:moveTo>
                    <a:cubicBezTo>
                      <a:pt x="7" y="10"/>
                      <a:pt x="10" y="12"/>
                      <a:pt x="14" y="15"/>
                    </a:cubicBezTo>
                    <a:cubicBezTo>
                      <a:pt x="21" y="19"/>
                      <a:pt x="28" y="22"/>
                      <a:pt x="36" y="23"/>
                    </a:cubicBezTo>
                    <a:cubicBezTo>
                      <a:pt x="31" y="9"/>
                      <a:pt x="17" y="0"/>
                      <a:pt x="2" y="1"/>
                    </a:cubicBezTo>
                    <a:cubicBezTo>
                      <a:pt x="1" y="1"/>
                      <a:pt x="1" y="2"/>
                      <a:pt x="0" y="2"/>
                    </a:cubicBezTo>
                    <a:cubicBezTo>
                      <a:pt x="1" y="3"/>
                      <a:pt x="3" y="6"/>
                      <a:pt x="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41" name="Freeform 69">
                <a:extLst>
                  <a:ext uri="{FF2B5EF4-FFF2-40B4-BE49-F238E27FC236}">
                    <a16:creationId xmlns:a16="http://schemas.microsoft.com/office/drawing/2014/main" id="{473B56AD-5800-80C7-F87C-DDEB901A8048}"/>
                  </a:ext>
                </a:extLst>
              </p:cNvPr>
              <p:cNvSpPr>
                <a:spLocks noEditPoints="1"/>
              </p:cNvSpPr>
              <p:nvPr/>
            </p:nvSpPr>
            <p:spPr bwMode="auto">
              <a:xfrm>
                <a:off x="4805363" y="4148138"/>
                <a:ext cx="895350" cy="892175"/>
              </a:xfrm>
              <a:custGeom>
                <a:avLst/>
                <a:gdLst>
                  <a:gd name="T0" fmla="*/ 155 w 311"/>
                  <a:gd name="T1" fmla="*/ 0 h 310"/>
                  <a:gd name="T2" fmla="*/ 0 w 311"/>
                  <a:gd name="T3" fmla="*/ 155 h 310"/>
                  <a:gd name="T4" fmla="*/ 155 w 311"/>
                  <a:gd name="T5" fmla="*/ 310 h 310"/>
                  <a:gd name="T6" fmla="*/ 311 w 311"/>
                  <a:gd name="T7" fmla="*/ 155 h 310"/>
                  <a:gd name="T8" fmla="*/ 155 w 311"/>
                  <a:gd name="T9" fmla="*/ 0 h 310"/>
                  <a:gd name="T10" fmla="*/ 187 w 311"/>
                  <a:gd name="T11" fmla="*/ 73 h 310"/>
                  <a:gd name="T12" fmla="*/ 208 w 311"/>
                  <a:gd name="T13" fmla="*/ 65 h 310"/>
                  <a:gd name="T14" fmla="*/ 227 w 311"/>
                  <a:gd name="T15" fmla="*/ 67 h 310"/>
                  <a:gd name="T16" fmla="*/ 217 w 311"/>
                  <a:gd name="T17" fmla="*/ 102 h 310"/>
                  <a:gd name="T18" fmla="*/ 208 w 311"/>
                  <a:gd name="T19" fmla="*/ 108 h 310"/>
                  <a:gd name="T20" fmla="*/ 166 w 311"/>
                  <a:gd name="T21" fmla="*/ 108 h 310"/>
                  <a:gd name="T22" fmla="*/ 187 w 311"/>
                  <a:gd name="T23" fmla="*/ 73 h 310"/>
                  <a:gd name="T24" fmla="*/ 148 w 311"/>
                  <a:gd name="T25" fmla="*/ 92 h 310"/>
                  <a:gd name="T26" fmla="*/ 163 w 311"/>
                  <a:gd name="T27" fmla="*/ 92 h 310"/>
                  <a:gd name="T28" fmla="*/ 163 w 311"/>
                  <a:gd name="T29" fmla="*/ 108 h 310"/>
                  <a:gd name="T30" fmla="*/ 148 w 311"/>
                  <a:gd name="T31" fmla="*/ 108 h 310"/>
                  <a:gd name="T32" fmla="*/ 148 w 311"/>
                  <a:gd name="T33" fmla="*/ 92 h 310"/>
                  <a:gd name="T34" fmla="*/ 83 w 311"/>
                  <a:gd name="T35" fmla="*/ 67 h 310"/>
                  <a:gd name="T36" fmla="*/ 102 w 311"/>
                  <a:gd name="T37" fmla="*/ 65 h 310"/>
                  <a:gd name="T38" fmla="*/ 123 w 311"/>
                  <a:gd name="T39" fmla="*/ 73 h 310"/>
                  <a:gd name="T40" fmla="*/ 143 w 311"/>
                  <a:gd name="T41" fmla="*/ 108 h 310"/>
                  <a:gd name="T42" fmla="*/ 102 w 311"/>
                  <a:gd name="T43" fmla="*/ 108 h 310"/>
                  <a:gd name="T44" fmla="*/ 92 w 311"/>
                  <a:gd name="T45" fmla="*/ 102 h 310"/>
                  <a:gd name="T46" fmla="*/ 83 w 311"/>
                  <a:gd name="T47" fmla="*/ 67 h 310"/>
                  <a:gd name="T48" fmla="*/ 238 w 311"/>
                  <a:gd name="T49" fmla="*/ 245 h 310"/>
                  <a:gd name="T50" fmla="*/ 73 w 311"/>
                  <a:gd name="T51" fmla="*/ 245 h 310"/>
                  <a:gd name="T52" fmla="*/ 73 w 311"/>
                  <a:gd name="T53" fmla="*/ 114 h 310"/>
                  <a:gd name="T54" fmla="*/ 116 w 311"/>
                  <a:gd name="T55" fmla="*/ 114 h 310"/>
                  <a:gd name="T56" fmla="*/ 137 w 311"/>
                  <a:gd name="T57" fmla="*/ 114 h 310"/>
                  <a:gd name="T58" fmla="*/ 137 w 311"/>
                  <a:gd name="T59" fmla="*/ 118 h 310"/>
                  <a:gd name="T60" fmla="*/ 137 w 311"/>
                  <a:gd name="T61" fmla="*/ 183 h 310"/>
                  <a:gd name="T62" fmla="*/ 156 w 311"/>
                  <a:gd name="T63" fmla="*/ 167 h 310"/>
                  <a:gd name="T64" fmla="*/ 175 w 311"/>
                  <a:gd name="T65" fmla="*/ 183 h 310"/>
                  <a:gd name="T66" fmla="*/ 175 w 311"/>
                  <a:gd name="T67" fmla="*/ 117 h 310"/>
                  <a:gd name="T68" fmla="*/ 175 w 311"/>
                  <a:gd name="T69" fmla="*/ 114 h 310"/>
                  <a:gd name="T70" fmla="*/ 194 w 311"/>
                  <a:gd name="T71" fmla="*/ 114 h 310"/>
                  <a:gd name="T72" fmla="*/ 238 w 311"/>
                  <a:gd name="T73" fmla="*/ 114 h 310"/>
                  <a:gd name="T74" fmla="*/ 238 w 311"/>
                  <a:gd name="T75" fmla="*/ 245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11" h="310">
                    <a:moveTo>
                      <a:pt x="155" y="0"/>
                    </a:moveTo>
                    <a:cubicBezTo>
                      <a:pt x="70" y="0"/>
                      <a:pt x="0" y="69"/>
                      <a:pt x="0" y="155"/>
                    </a:cubicBezTo>
                    <a:cubicBezTo>
                      <a:pt x="0" y="240"/>
                      <a:pt x="70" y="310"/>
                      <a:pt x="155" y="310"/>
                    </a:cubicBezTo>
                    <a:cubicBezTo>
                      <a:pt x="241" y="310"/>
                      <a:pt x="311" y="240"/>
                      <a:pt x="311" y="155"/>
                    </a:cubicBezTo>
                    <a:cubicBezTo>
                      <a:pt x="311" y="69"/>
                      <a:pt x="241" y="0"/>
                      <a:pt x="155" y="0"/>
                    </a:cubicBezTo>
                    <a:close/>
                    <a:moveTo>
                      <a:pt x="187" y="73"/>
                    </a:moveTo>
                    <a:cubicBezTo>
                      <a:pt x="193" y="68"/>
                      <a:pt x="200" y="66"/>
                      <a:pt x="208" y="65"/>
                    </a:cubicBezTo>
                    <a:cubicBezTo>
                      <a:pt x="214" y="64"/>
                      <a:pt x="222" y="64"/>
                      <a:pt x="227" y="67"/>
                    </a:cubicBezTo>
                    <a:cubicBezTo>
                      <a:pt x="242" y="78"/>
                      <a:pt x="227" y="94"/>
                      <a:pt x="217" y="102"/>
                    </a:cubicBezTo>
                    <a:cubicBezTo>
                      <a:pt x="214" y="104"/>
                      <a:pt x="211" y="106"/>
                      <a:pt x="208" y="108"/>
                    </a:cubicBezTo>
                    <a:cubicBezTo>
                      <a:pt x="166" y="108"/>
                      <a:pt x="166" y="108"/>
                      <a:pt x="166" y="108"/>
                    </a:cubicBezTo>
                    <a:cubicBezTo>
                      <a:pt x="168" y="94"/>
                      <a:pt x="175" y="80"/>
                      <a:pt x="187" y="73"/>
                    </a:cubicBezTo>
                    <a:close/>
                    <a:moveTo>
                      <a:pt x="148" y="92"/>
                    </a:moveTo>
                    <a:cubicBezTo>
                      <a:pt x="148" y="82"/>
                      <a:pt x="163" y="82"/>
                      <a:pt x="163" y="92"/>
                    </a:cubicBezTo>
                    <a:cubicBezTo>
                      <a:pt x="163" y="108"/>
                      <a:pt x="163" y="108"/>
                      <a:pt x="163" y="108"/>
                    </a:cubicBezTo>
                    <a:cubicBezTo>
                      <a:pt x="148" y="108"/>
                      <a:pt x="148" y="108"/>
                      <a:pt x="148" y="108"/>
                    </a:cubicBezTo>
                    <a:lnTo>
                      <a:pt x="148" y="92"/>
                    </a:lnTo>
                    <a:close/>
                    <a:moveTo>
                      <a:pt x="83" y="67"/>
                    </a:moveTo>
                    <a:cubicBezTo>
                      <a:pt x="88" y="64"/>
                      <a:pt x="96" y="64"/>
                      <a:pt x="102" y="65"/>
                    </a:cubicBezTo>
                    <a:cubicBezTo>
                      <a:pt x="109" y="66"/>
                      <a:pt x="116" y="68"/>
                      <a:pt x="123" y="73"/>
                    </a:cubicBezTo>
                    <a:cubicBezTo>
                      <a:pt x="135" y="80"/>
                      <a:pt x="142" y="94"/>
                      <a:pt x="143" y="108"/>
                    </a:cubicBezTo>
                    <a:cubicBezTo>
                      <a:pt x="102" y="108"/>
                      <a:pt x="102" y="108"/>
                      <a:pt x="102" y="108"/>
                    </a:cubicBezTo>
                    <a:cubicBezTo>
                      <a:pt x="99" y="106"/>
                      <a:pt x="96" y="104"/>
                      <a:pt x="92" y="102"/>
                    </a:cubicBezTo>
                    <a:cubicBezTo>
                      <a:pt x="82" y="94"/>
                      <a:pt x="67" y="78"/>
                      <a:pt x="83" y="67"/>
                    </a:cubicBezTo>
                    <a:close/>
                    <a:moveTo>
                      <a:pt x="238" y="245"/>
                    </a:moveTo>
                    <a:cubicBezTo>
                      <a:pt x="73" y="245"/>
                      <a:pt x="73" y="245"/>
                      <a:pt x="73" y="245"/>
                    </a:cubicBezTo>
                    <a:cubicBezTo>
                      <a:pt x="73" y="114"/>
                      <a:pt x="73" y="114"/>
                      <a:pt x="73" y="114"/>
                    </a:cubicBezTo>
                    <a:cubicBezTo>
                      <a:pt x="116" y="114"/>
                      <a:pt x="116" y="114"/>
                      <a:pt x="116" y="114"/>
                    </a:cubicBezTo>
                    <a:cubicBezTo>
                      <a:pt x="137" y="114"/>
                      <a:pt x="137" y="114"/>
                      <a:pt x="137" y="114"/>
                    </a:cubicBezTo>
                    <a:cubicBezTo>
                      <a:pt x="137" y="118"/>
                      <a:pt x="137" y="118"/>
                      <a:pt x="137" y="118"/>
                    </a:cubicBezTo>
                    <a:cubicBezTo>
                      <a:pt x="137" y="183"/>
                      <a:pt x="137" y="183"/>
                      <a:pt x="137" y="183"/>
                    </a:cubicBezTo>
                    <a:cubicBezTo>
                      <a:pt x="156" y="167"/>
                      <a:pt x="156" y="167"/>
                      <a:pt x="156" y="167"/>
                    </a:cubicBezTo>
                    <a:cubicBezTo>
                      <a:pt x="175" y="183"/>
                      <a:pt x="175" y="183"/>
                      <a:pt x="175" y="183"/>
                    </a:cubicBezTo>
                    <a:cubicBezTo>
                      <a:pt x="175" y="117"/>
                      <a:pt x="175" y="117"/>
                      <a:pt x="175" y="117"/>
                    </a:cubicBezTo>
                    <a:cubicBezTo>
                      <a:pt x="175" y="114"/>
                      <a:pt x="175" y="114"/>
                      <a:pt x="175" y="114"/>
                    </a:cubicBezTo>
                    <a:cubicBezTo>
                      <a:pt x="194" y="114"/>
                      <a:pt x="194" y="114"/>
                      <a:pt x="194" y="114"/>
                    </a:cubicBezTo>
                    <a:cubicBezTo>
                      <a:pt x="238" y="114"/>
                      <a:pt x="238" y="114"/>
                      <a:pt x="238" y="114"/>
                    </a:cubicBezTo>
                    <a:lnTo>
                      <a:pt x="23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sp>
          <p:nvSpPr>
            <p:cNvPr id="56" name="Freeform 145">
              <a:extLst>
                <a:ext uri="{FF2B5EF4-FFF2-40B4-BE49-F238E27FC236}">
                  <a16:creationId xmlns:a16="http://schemas.microsoft.com/office/drawing/2014/main" id="{DE76EF4D-63B2-9CAC-401E-9FEA9E800F2F}"/>
                </a:ext>
              </a:extLst>
            </p:cNvPr>
            <p:cNvSpPr>
              <a:spLocks noEditPoints="1"/>
            </p:cNvSpPr>
            <p:nvPr/>
          </p:nvSpPr>
          <p:spPr bwMode="auto">
            <a:xfrm>
              <a:off x="6367486" y="3414959"/>
              <a:ext cx="241667" cy="191742"/>
            </a:xfrm>
            <a:custGeom>
              <a:avLst/>
              <a:gdLst>
                <a:gd name="T0" fmla="*/ 141 w 141"/>
                <a:gd name="T1" fmla="*/ 41 h 112"/>
                <a:gd name="T2" fmla="*/ 127 w 141"/>
                <a:gd name="T3" fmla="*/ 26 h 112"/>
                <a:gd name="T4" fmla="*/ 114 w 141"/>
                <a:gd name="T5" fmla="*/ 0 h 112"/>
                <a:gd name="T6" fmla="*/ 28 w 141"/>
                <a:gd name="T7" fmla="*/ 0 h 112"/>
                <a:gd name="T8" fmla="*/ 14 w 141"/>
                <a:gd name="T9" fmla="*/ 26 h 112"/>
                <a:gd name="T10" fmla="*/ 0 w 141"/>
                <a:gd name="T11" fmla="*/ 41 h 112"/>
                <a:gd name="T12" fmla="*/ 0 w 141"/>
                <a:gd name="T13" fmla="*/ 86 h 112"/>
                <a:gd name="T14" fmla="*/ 0 w 141"/>
                <a:gd name="T15" fmla="*/ 90 h 112"/>
                <a:gd name="T16" fmla="*/ 0 w 141"/>
                <a:gd name="T17" fmla="*/ 106 h 112"/>
                <a:gd name="T18" fmla="*/ 7 w 141"/>
                <a:gd name="T19" fmla="*/ 112 h 112"/>
                <a:gd name="T20" fmla="*/ 27 w 141"/>
                <a:gd name="T21" fmla="*/ 112 h 112"/>
                <a:gd name="T22" fmla="*/ 34 w 141"/>
                <a:gd name="T23" fmla="*/ 106 h 112"/>
                <a:gd name="T24" fmla="*/ 34 w 141"/>
                <a:gd name="T25" fmla="*/ 90 h 112"/>
                <a:gd name="T26" fmla="*/ 108 w 141"/>
                <a:gd name="T27" fmla="*/ 90 h 112"/>
                <a:gd name="T28" fmla="*/ 108 w 141"/>
                <a:gd name="T29" fmla="*/ 106 h 112"/>
                <a:gd name="T30" fmla="*/ 114 w 141"/>
                <a:gd name="T31" fmla="*/ 112 h 112"/>
                <a:gd name="T32" fmla="*/ 135 w 141"/>
                <a:gd name="T33" fmla="*/ 112 h 112"/>
                <a:gd name="T34" fmla="*/ 141 w 141"/>
                <a:gd name="T35" fmla="*/ 106 h 112"/>
                <a:gd name="T36" fmla="*/ 141 w 141"/>
                <a:gd name="T37" fmla="*/ 90 h 112"/>
                <a:gd name="T38" fmla="*/ 141 w 141"/>
                <a:gd name="T39" fmla="*/ 41 h 112"/>
                <a:gd name="T40" fmla="*/ 35 w 141"/>
                <a:gd name="T41" fmla="*/ 10 h 112"/>
                <a:gd name="T42" fmla="*/ 106 w 141"/>
                <a:gd name="T43" fmla="*/ 10 h 112"/>
                <a:gd name="T44" fmla="*/ 118 w 141"/>
                <a:gd name="T45" fmla="*/ 32 h 112"/>
                <a:gd name="T46" fmla="*/ 24 w 141"/>
                <a:gd name="T47" fmla="*/ 32 h 112"/>
                <a:gd name="T48" fmla="*/ 35 w 141"/>
                <a:gd name="T49" fmla="*/ 10 h 112"/>
                <a:gd name="T50" fmla="*/ 41 w 141"/>
                <a:gd name="T51" fmla="*/ 79 h 112"/>
                <a:gd name="T52" fmla="*/ 13 w 141"/>
                <a:gd name="T53" fmla="*/ 79 h 112"/>
                <a:gd name="T54" fmla="*/ 13 w 141"/>
                <a:gd name="T55" fmla="*/ 64 h 112"/>
                <a:gd name="T56" fmla="*/ 41 w 141"/>
                <a:gd name="T57" fmla="*/ 64 h 112"/>
                <a:gd name="T58" fmla="*/ 41 w 141"/>
                <a:gd name="T59" fmla="*/ 79 h 112"/>
                <a:gd name="T60" fmla="*/ 129 w 141"/>
                <a:gd name="T61" fmla="*/ 79 h 112"/>
                <a:gd name="T62" fmla="*/ 100 w 141"/>
                <a:gd name="T63" fmla="*/ 79 h 112"/>
                <a:gd name="T64" fmla="*/ 100 w 141"/>
                <a:gd name="T65" fmla="*/ 64 h 112"/>
                <a:gd name="T66" fmla="*/ 129 w 141"/>
                <a:gd name="T67" fmla="*/ 64 h 112"/>
                <a:gd name="T68" fmla="*/ 129 w 141"/>
                <a:gd name="T69" fmla="*/ 7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1" h="112">
                  <a:moveTo>
                    <a:pt x="141" y="41"/>
                  </a:moveTo>
                  <a:cubicBezTo>
                    <a:pt x="127" y="26"/>
                    <a:pt x="127" y="26"/>
                    <a:pt x="127" y="26"/>
                  </a:cubicBezTo>
                  <a:cubicBezTo>
                    <a:pt x="114" y="0"/>
                    <a:pt x="114" y="0"/>
                    <a:pt x="114" y="0"/>
                  </a:cubicBezTo>
                  <a:cubicBezTo>
                    <a:pt x="28" y="0"/>
                    <a:pt x="28" y="0"/>
                    <a:pt x="28" y="0"/>
                  </a:cubicBezTo>
                  <a:cubicBezTo>
                    <a:pt x="14" y="26"/>
                    <a:pt x="14" y="26"/>
                    <a:pt x="14" y="26"/>
                  </a:cubicBezTo>
                  <a:cubicBezTo>
                    <a:pt x="0" y="41"/>
                    <a:pt x="0" y="41"/>
                    <a:pt x="0" y="41"/>
                  </a:cubicBezTo>
                  <a:cubicBezTo>
                    <a:pt x="0" y="86"/>
                    <a:pt x="0" y="86"/>
                    <a:pt x="0" y="86"/>
                  </a:cubicBezTo>
                  <a:cubicBezTo>
                    <a:pt x="0" y="90"/>
                    <a:pt x="0" y="90"/>
                    <a:pt x="0" y="90"/>
                  </a:cubicBezTo>
                  <a:cubicBezTo>
                    <a:pt x="0" y="106"/>
                    <a:pt x="0" y="106"/>
                    <a:pt x="0" y="106"/>
                  </a:cubicBezTo>
                  <a:cubicBezTo>
                    <a:pt x="0" y="110"/>
                    <a:pt x="3" y="112"/>
                    <a:pt x="7" y="112"/>
                  </a:cubicBezTo>
                  <a:cubicBezTo>
                    <a:pt x="27" y="112"/>
                    <a:pt x="27" y="112"/>
                    <a:pt x="27" y="112"/>
                  </a:cubicBezTo>
                  <a:cubicBezTo>
                    <a:pt x="31" y="112"/>
                    <a:pt x="34" y="110"/>
                    <a:pt x="34" y="106"/>
                  </a:cubicBezTo>
                  <a:cubicBezTo>
                    <a:pt x="34" y="90"/>
                    <a:pt x="34" y="90"/>
                    <a:pt x="34" y="90"/>
                  </a:cubicBezTo>
                  <a:cubicBezTo>
                    <a:pt x="108" y="90"/>
                    <a:pt x="108" y="90"/>
                    <a:pt x="108" y="90"/>
                  </a:cubicBezTo>
                  <a:cubicBezTo>
                    <a:pt x="108" y="106"/>
                    <a:pt x="108" y="106"/>
                    <a:pt x="108" y="106"/>
                  </a:cubicBezTo>
                  <a:cubicBezTo>
                    <a:pt x="108" y="110"/>
                    <a:pt x="111" y="112"/>
                    <a:pt x="114" y="112"/>
                  </a:cubicBezTo>
                  <a:cubicBezTo>
                    <a:pt x="135" y="112"/>
                    <a:pt x="135" y="112"/>
                    <a:pt x="135" y="112"/>
                  </a:cubicBezTo>
                  <a:cubicBezTo>
                    <a:pt x="138" y="112"/>
                    <a:pt x="141" y="110"/>
                    <a:pt x="141" y="106"/>
                  </a:cubicBezTo>
                  <a:cubicBezTo>
                    <a:pt x="141" y="90"/>
                    <a:pt x="141" y="90"/>
                    <a:pt x="141" y="90"/>
                  </a:cubicBezTo>
                  <a:lnTo>
                    <a:pt x="141" y="41"/>
                  </a:lnTo>
                  <a:close/>
                  <a:moveTo>
                    <a:pt x="35" y="10"/>
                  </a:moveTo>
                  <a:cubicBezTo>
                    <a:pt x="106" y="10"/>
                    <a:pt x="106" y="10"/>
                    <a:pt x="106" y="10"/>
                  </a:cubicBezTo>
                  <a:cubicBezTo>
                    <a:pt x="118" y="32"/>
                    <a:pt x="118" y="32"/>
                    <a:pt x="118" y="32"/>
                  </a:cubicBezTo>
                  <a:cubicBezTo>
                    <a:pt x="24" y="32"/>
                    <a:pt x="24" y="32"/>
                    <a:pt x="24" y="32"/>
                  </a:cubicBezTo>
                  <a:lnTo>
                    <a:pt x="35" y="10"/>
                  </a:lnTo>
                  <a:close/>
                  <a:moveTo>
                    <a:pt x="41" y="79"/>
                  </a:moveTo>
                  <a:cubicBezTo>
                    <a:pt x="13" y="79"/>
                    <a:pt x="13" y="79"/>
                    <a:pt x="13" y="79"/>
                  </a:cubicBezTo>
                  <a:cubicBezTo>
                    <a:pt x="13" y="64"/>
                    <a:pt x="13" y="64"/>
                    <a:pt x="13" y="64"/>
                  </a:cubicBezTo>
                  <a:cubicBezTo>
                    <a:pt x="41" y="64"/>
                    <a:pt x="41" y="64"/>
                    <a:pt x="41" y="64"/>
                  </a:cubicBezTo>
                  <a:lnTo>
                    <a:pt x="41" y="79"/>
                  </a:lnTo>
                  <a:close/>
                  <a:moveTo>
                    <a:pt x="129" y="79"/>
                  </a:moveTo>
                  <a:cubicBezTo>
                    <a:pt x="100" y="79"/>
                    <a:pt x="100" y="79"/>
                    <a:pt x="100" y="79"/>
                  </a:cubicBezTo>
                  <a:cubicBezTo>
                    <a:pt x="100" y="64"/>
                    <a:pt x="100" y="64"/>
                    <a:pt x="100" y="64"/>
                  </a:cubicBezTo>
                  <a:cubicBezTo>
                    <a:pt x="129" y="64"/>
                    <a:pt x="129" y="64"/>
                    <a:pt x="129" y="64"/>
                  </a:cubicBezTo>
                  <a:lnTo>
                    <a:pt x="129" y="79"/>
                  </a:lnTo>
                  <a:close/>
                </a:path>
              </a:pathLst>
            </a:cu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nvGrpSpPr>
            <p:cNvPr id="57" name="Group 56">
              <a:extLst>
                <a:ext uri="{FF2B5EF4-FFF2-40B4-BE49-F238E27FC236}">
                  <a16:creationId xmlns:a16="http://schemas.microsoft.com/office/drawing/2014/main" id="{03ED8892-B649-4F06-5F45-B2E48F749123}"/>
                </a:ext>
              </a:extLst>
            </p:cNvPr>
            <p:cNvGrpSpPr/>
            <p:nvPr/>
          </p:nvGrpSpPr>
          <p:grpSpPr>
            <a:xfrm>
              <a:off x="7318239" y="3478631"/>
              <a:ext cx="258309" cy="167865"/>
              <a:chOff x="7145338" y="3587750"/>
              <a:chExt cx="566738" cy="368300"/>
            </a:xfrm>
            <a:solidFill>
              <a:srgbClr val="CE003D"/>
            </a:solidFill>
          </p:grpSpPr>
          <p:sp>
            <p:nvSpPr>
              <p:cNvPr id="134" name="Freeform 146">
                <a:extLst>
                  <a:ext uri="{FF2B5EF4-FFF2-40B4-BE49-F238E27FC236}">
                    <a16:creationId xmlns:a16="http://schemas.microsoft.com/office/drawing/2014/main" id="{838A359C-1D5E-2628-A810-D2BD38B1911C}"/>
                  </a:ext>
                </a:extLst>
              </p:cNvPr>
              <p:cNvSpPr>
                <a:spLocks/>
              </p:cNvSpPr>
              <p:nvPr/>
            </p:nvSpPr>
            <p:spPr bwMode="auto">
              <a:xfrm>
                <a:off x="7250113" y="3816350"/>
                <a:ext cx="153988" cy="139700"/>
              </a:xfrm>
              <a:custGeom>
                <a:avLst/>
                <a:gdLst>
                  <a:gd name="T0" fmla="*/ 33 w 41"/>
                  <a:gd name="T1" fmla="*/ 0 h 37"/>
                  <a:gd name="T2" fmla="*/ 15 w 41"/>
                  <a:gd name="T3" fmla="*/ 6 h 37"/>
                  <a:gd name="T4" fmla="*/ 10 w 41"/>
                  <a:gd name="T5" fmla="*/ 5 h 37"/>
                  <a:gd name="T6" fmla="*/ 10 w 41"/>
                  <a:gd name="T7" fmla="*/ 6 h 37"/>
                  <a:gd name="T8" fmla="*/ 6 w 41"/>
                  <a:gd name="T9" fmla="*/ 31 h 37"/>
                  <a:gd name="T10" fmla="*/ 32 w 41"/>
                  <a:gd name="T11" fmla="*/ 28 h 37"/>
                  <a:gd name="T12" fmla="*/ 35 w 41"/>
                  <a:gd name="T13" fmla="*/ 2 h 37"/>
                  <a:gd name="T14" fmla="*/ 33 w 41"/>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37">
                    <a:moveTo>
                      <a:pt x="33" y="0"/>
                    </a:moveTo>
                    <a:cubicBezTo>
                      <a:pt x="28" y="4"/>
                      <a:pt x="22" y="6"/>
                      <a:pt x="15" y="6"/>
                    </a:cubicBezTo>
                    <a:cubicBezTo>
                      <a:pt x="14" y="6"/>
                      <a:pt x="12" y="6"/>
                      <a:pt x="10" y="5"/>
                    </a:cubicBezTo>
                    <a:cubicBezTo>
                      <a:pt x="10" y="5"/>
                      <a:pt x="10" y="5"/>
                      <a:pt x="10" y="6"/>
                    </a:cubicBezTo>
                    <a:cubicBezTo>
                      <a:pt x="2" y="14"/>
                      <a:pt x="0" y="25"/>
                      <a:pt x="6" y="31"/>
                    </a:cubicBezTo>
                    <a:cubicBezTo>
                      <a:pt x="13" y="37"/>
                      <a:pt x="24" y="36"/>
                      <a:pt x="32" y="28"/>
                    </a:cubicBezTo>
                    <a:cubicBezTo>
                      <a:pt x="40" y="20"/>
                      <a:pt x="41" y="8"/>
                      <a:pt x="35" y="2"/>
                    </a:cubicBezTo>
                    <a:cubicBezTo>
                      <a:pt x="34" y="2"/>
                      <a:pt x="34" y="1"/>
                      <a:pt x="3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35" name="Freeform 147">
                <a:extLst>
                  <a:ext uri="{FF2B5EF4-FFF2-40B4-BE49-F238E27FC236}">
                    <a16:creationId xmlns:a16="http://schemas.microsoft.com/office/drawing/2014/main" id="{E280B2C3-062A-30F7-28C1-A20858AEC45C}"/>
                  </a:ext>
                </a:extLst>
              </p:cNvPr>
              <p:cNvSpPr>
                <a:spLocks/>
              </p:cNvSpPr>
              <p:nvPr/>
            </p:nvSpPr>
            <p:spPr bwMode="auto">
              <a:xfrm>
                <a:off x="7145338" y="3587750"/>
                <a:ext cx="266700" cy="236537"/>
              </a:xfrm>
              <a:custGeom>
                <a:avLst/>
                <a:gdLst>
                  <a:gd name="T0" fmla="*/ 16 w 71"/>
                  <a:gd name="T1" fmla="*/ 51 h 63"/>
                  <a:gd name="T2" fmla="*/ 42 w 71"/>
                  <a:gd name="T3" fmla="*/ 63 h 63"/>
                  <a:gd name="T4" fmla="*/ 43 w 71"/>
                  <a:gd name="T5" fmla="*/ 63 h 63"/>
                  <a:gd name="T6" fmla="*/ 56 w 71"/>
                  <a:gd name="T7" fmla="*/ 60 h 63"/>
                  <a:gd name="T8" fmla="*/ 60 w 71"/>
                  <a:gd name="T9" fmla="*/ 56 h 63"/>
                  <a:gd name="T10" fmla="*/ 55 w 71"/>
                  <a:gd name="T11" fmla="*/ 12 h 63"/>
                  <a:gd name="T12" fmla="*/ 28 w 71"/>
                  <a:gd name="T13" fmla="*/ 0 h 63"/>
                  <a:gd name="T14" fmla="*/ 11 w 71"/>
                  <a:gd name="T15" fmla="*/ 7 h 63"/>
                  <a:gd name="T16" fmla="*/ 16 w 71"/>
                  <a:gd name="T17" fmla="*/ 5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63">
                    <a:moveTo>
                      <a:pt x="16" y="51"/>
                    </a:moveTo>
                    <a:cubicBezTo>
                      <a:pt x="24" y="58"/>
                      <a:pt x="33" y="63"/>
                      <a:pt x="42" y="63"/>
                    </a:cubicBezTo>
                    <a:cubicBezTo>
                      <a:pt x="43" y="63"/>
                      <a:pt x="43" y="63"/>
                      <a:pt x="43" y="63"/>
                    </a:cubicBezTo>
                    <a:cubicBezTo>
                      <a:pt x="48" y="63"/>
                      <a:pt x="52" y="62"/>
                      <a:pt x="56" y="60"/>
                    </a:cubicBezTo>
                    <a:cubicBezTo>
                      <a:pt x="58" y="59"/>
                      <a:pt x="59" y="58"/>
                      <a:pt x="60" y="56"/>
                    </a:cubicBezTo>
                    <a:cubicBezTo>
                      <a:pt x="71" y="46"/>
                      <a:pt x="69" y="26"/>
                      <a:pt x="55" y="12"/>
                    </a:cubicBezTo>
                    <a:cubicBezTo>
                      <a:pt x="47" y="4"/>
                      <a:pt x="37" y="0"/>
                      <a:pt x="28" y="0"/>
                    </a:cubicBezTo>
                    <a:cubicBezTo>
                      <a:pt x="21" y="0"/>
                      <a:pt x="15" y="2"/>
                      <a:pt x="11" y="7"/>
                    </a:cubicBezTo>
                    <a:cubicBezTo>
                      <a:pt x="0" y="17"/>
                      <a:pt x="3" y="37"/>
                      <a:pt x="16" y="5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36" name="Freeform 148">
                <a:extLst>
                  <a:ext uri="{FF2B5EF4-FFF2-40B4-BE49-F238E27FC236}">
                    <a16:creationId xmlns:a16="http://schemas.microsoft.com/office/drawing/2014/main" id="{6449EBEC-CCFA-500C-2E80-4C5AF8565DEA}"/>
                  </a:ext>
                </a:extLst>
              </p:cNvPr>
              <p:cNvSpPr>
                <a:spLocks/>
              </p:cNvSpPr>
              <p:nvPr/>
            </p:nvSpPr>
            <p:spPr bwMode="auto">
              <a:xfrm>
                <a:off x="7450138" y="3816350"/>
                <a:ext cx="157163" cy="139700"/>
              </a:xfrm>
              <a:custGeom>
                <a:avLst/>
                <a:gdLst>
                  <a:gd name="T0" fmla="*/ 35 w 42"/>
                  <a:gd name="T1" fmla="*/ 31 h 37"/>
                  <a:gd name="T2" fmla="*/ 32 w 42"/>
                  <a:gd name="T3" fmla="*/ 6 h 37"/>
                  <a:gd name="T4" fmla="*/ 32 w 42"/>
                  <a:gd name="T5" fmla="*/ 5 h 37"/>
                  <a:gd name="T6" fmla="*/ 26 w 42"/>
                  <a:gd name="T7" fmla="*/ 6 h 37"/>
                  <a:gd name="T8" fmla="*/ 9 w 42"/>
                  <a:gd name="T9" fmla="*/ 0 h 37"/>
                  <a:gd name="T10" fmla="*/ 7 w 42"/>
                  <a:gd name="T11" fmla="*/ 2 h 37"/>
                  <a:gd name="T12" fmla="*/ 10 w 42"/>
                  <a:gd name="T13" fmla="*/ 28 h 37"/>
                  <a:gd name="T14" fmla="*/ 35 w 42"/>
                  <a:gd name="T15" fmla="*/ 31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7">
                    <a:moveTo>
                      <a:pt x="35" y="31"/>
                    </a:moveTo>
                    <a:cubicBezTo>
                      <a:pt x="42" y="25"/>
                      <a:pt x="40" y="14"/>
                      <a:pt x="32" y="6"/>
                    </a:cubicBezTo>
                    <a:cubicBezTo>
                      <a:pt x="32" y="5"/>
                      <a:pt x="32" y="5"/>
                      <a:pt x="32" y="5"/>
                    </a:cubicBezTo>
                    <a:cubicBezTo>
                      <a:pt x="30" y="6"/>
                      <a:pt x="28" y="6"/>
                      <a:pt x="26" y="6"/>
                    </a:cubicBezTo>
                    <a:cubicBezTo>
                      <a:pt x="20" y="6"/>
                      <a:pt x="14" y="4"/>
                      <a:pt x="9" y="0"/>
                    </a:cubicBezTo>
                    <a:cubicBezTo>
                      <a:pt x="8" y="1"/>
                      <a:pt x="7" y="2"/>
                      <a:pt x="7" y="2"/>
                    </a:cubicBezTo>
                    <a:cubicBezTo>
                      <a:pt x="0" y="8"/>
                      <a:pt x="2" y="20"/>
                      <a:pt x="10" y="28"/>
                    </a:cubicBezTo>
                    <a:cubicBezTo>
                      <a:pt x="18" y="36"/>
                      <a:pt x="29" y="37"/>
                      <a:pt x="35" y="3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37" name="Freeform 149">
                <a:extLst>
                  <a:ext uri="{FF2B5EF4-FFF2-40B4-BE49-F238E27FC236}">
                    <a16:creationId xmlns:a16="http://schemas.microsoft.com/office/drawing/2014/main" id="{9A62DE18-91D3-3B2F-3FEC-E547219B1AB8}"/>
                  </a:ext>
                </a:extLst>
              </p:cNvPr>
              <p:cNvSpPr>
                <a:spLocks/>
              </p:cNvSpPr>
              <p:nvPr/>
            </p:nvSpPr>
            <p:spPr bwMode="auto">
              <a:xfrm>
                <a:off x="7445376" y="3587750"/>
                <a:ext cx="266700" cy="236537"/>
              </a:xfrm>
              <a:custGeom>
                <a:avLst/>
                <a:gdLst>
                  <a:gd name="T0" fmla="*/ 60 w 71"/>
                  <a:gd name="T1" fmla="*/ 7 h 63"/>
                  <a:gd name="T2" fmla="*/ 43 w 71"/>
                  <a:gd name="T3" fmla="*/ 0 h 63"/>
                  <a:gd name="T4" fmla="*/ 16 w 71"/>
                  <a:gd name="T5" fmla="*/ 12 h 63"/>
                  <a:gd name="T6" fmla="*/ 10 w 71"/>
                  <a:gd name="T7" fmla="*/ 56 h 63"/>
                  <a:gd name="T8" fmla="*/ 15 w 71"/>
                  <a:gd name="T9" fmla="*/ 60 h 63"/>
                  <a:gd name="T10" fmla="*/ 27 w 71"/>
                  <a:gd name="T11" fmla="*/ 63 h 63"/>
                  <a:gd name="T12" fmla="*/ 29 w 71"/>
                  <a:gd name="T13" fmla="*/ 63 h 63"/>
                  <a:gd name="T14" fmla="*/ 55 w 71"/>
                  <a:gd name="T15" fmla="*/ 51 h 63"/>
                  <a:gd name="T16" fmla="*/ 60 w 71"/>
                  <a:gd name="T17" fmla="*/ 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63">
                    <a:moveTo>
                      <a:pt x="60" y="7"/>
                    </a:moveTo>
                    <a:cubicBezTo>
                      <a:pt x="56" y="2"/>
                      <a:pt x="50" y="0"/>
                      <a:pt x="43" y="0"/>
                    </a:cubicBezTo>
                    <a:cubicBezTo>
                      <a:pt x="34" y="0"/>
                      <a:pt x="24" y="4"/>
                      <a:pt x="16" y="12"/>
                    </a:cubicBezTo>
                    <a:cubicBezTo>
                      <a:pt x="2" y="26"/>
                      <a:pt x="0" y="46"/>
                      <a:pt x="10" y="56"/>
                    </a:cubicBezTo>
                    <a:cubicBezTo>
                      <a:pt x="12" y="58"/>
                      <a:pt x="13" y="59"/>
                      <a:pt x="15" y="60"/>
                    </a:cubicBezTo>
                    <a:cubicBezTo>
                      <a:pt x="18" y="62"/>
                      <a:pt x="23" y="63"/>
                      <a:pt x="27" y="63"/>
                    </a:cubicBezTo>
                    <a:cubicBezTo>
                      <a:pt x="28" y="63"/>
                      <a:pt x="28" y="63"/>
                      <a:pt x="29" y="63"/>
                    </a:cubicBezTo>
                    <a:cubicBezTo>
                      <a:pt x="37" y="63"/>
                      <a:pt x="47" y="58"/>
                      <a:pt x="55" y="51"/>
                    </a:cubicBezTo>
                    <a:cubicBezTo>
                      <a:pt x="68" y="37"/>
                      <a:pt x="71" y="17"/>
                      <a:pt x="60"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38" name="Freeform 150">
                <a:extLst>
                  <a:ext uri="{FF2B5EF4-FFF2-40B4-BE49-F238E27FC236}">
                    <a16:creationId xmlns:a16="http://schemas.microsoft.com/office/drawing/2014/main" id="{A7418AA1-D54E-A431-30A0-4E7923832D26}"/>
                  </a:ext>
                </a:extLst>
              </p:cNvPr>
              <p:cNvSpPr>
                <a:spLocks/>
              </p:cNvSpPr>
              <p:nvPr/>
            </p:nvSpPr>
            <p:spPr bwMode="auto">
              <a:xfrm>
                <a:off x="7381876" y="3606800"/>
                <a:ext cx="93663" cy="333375"/>
              </a:xfrm>
              <a:custGeom>
                <a:avLst/>
                <a:gdLst>
                  <a:gd name="T0" fmla="*/ 23 w 25"/>
                  <a:gd name="T1" fmla="*/ 4 h 89"/>
                  <a:gd name="T2" fmla="*/ 20 w 25"/>
                  <a:gd name="T3" fmla="*/ 1 h 89"/>
                  <a:gd name="T4" fmla="*/ 14 w 25"/>
                  <a:gd name="T5" fmla="*/ 10 h 89"/>
                  <a:gd name="T6" fmla="*/ 12 w 25"/>
                  <a:gd name="T7" fmla="*/ 10 h 89"/>
                  <a:gd name="T8" fmla="*/ 11 w 25"/>
                  <a:gd name="T9" fmla="*/ 10 h 89"/>
                  <a:gd name="T10" fmla="*/ 5 w 25"/>
                  <a:gd name="T11" fmla="*/ 1 h 89"/>
                  <a:gd name="T12" fmla="*/ 2 w 25"/>
                  <a:gd name="T13" fmla="*/ 4 h 89"/>
                  <a:gd name="T14" fmla="*/ 8 w 25"/>
                  <a:gd name="T15" fmla="*/ 13 h 89"/>
                  <a:gd name="T16" fmla="*/ 7 w 25"/>
                  <a:gd name="T17" fmla="*/ 15 h 89"/>
                  <a:gd name="T18" fmla="*/ 7 w 25"/>
                  <a:gd name="T19" fmla="*/ 27 h 89"/>
                  <a:gd name="T20" fmla="*/ 7 w 25"/>
                  <a:gd name="T21" fmla="*/ 41 h 89"/>
                  <a:gd name="T22" fmla="*/ 7 w 25"/>
                  <a:gd name="T23" fmla="*/ 83 h 89"/>
                  <a:gd name="T24" fmla="*/ 12 w 25"/>
                  <a:gd name="T25" fmla="*/ 89 h 89"/>
                  <a:gd name="T26" fmla="*/ 18 w 25"/>
                  <a:gd name="T27" fmla="*/ 83 h 89"/>
                  <a:gd name="T28" fmla="*/ 18 w 25"/>
                  <a:gd name="T29" fmla="*/ 41 h 89"/>
                  <a:gd name="T30" fmla="*/ 18 w 25"/>
                  <a:gd name="T31" fmla="*/ 27 h 89"/>
                  <a:gd name="T32" fmla="*/ 18 w 25"/>
                  <a:gd name="T33" fmla="*/ 15 h 89"/>
                  <a:gd name="T34" fmla="*/ 17 w 25"/>
                  <a:gd name="T35" fmla="*/ 13 h 89"/>
                  <a:gd name="T36" fmla="*/ 23 w 25"/>
                  <a:gd name="T37" fmla="*/ 4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89">
                    <a:moveTo>
                      <a:pt x="23" y="4"/>
                    </a:moveTo>
                    <a:cubicBezTo>
                      <a:pt x="25" y="2"/>
                      <a:pt x="22" y="0"/>
                      <a:pt x="20" y="1"/>
                    </a:cubicBezTo>
                    <a:cubicBezTo>
                      <a:pt x="18" y="4"/>
                      <a:pt x="16" y="7"/>
                      <a:pt x="14" y="10"/>
                    </a:cubicBezTo>
                    <a:cubicBezTo>
                      <a:pt x="14" y="10"/>
                      <a:pt x="13" y="10"/>
                      <a:pt x="12" y="10"/>
                    </a:cubicBezTo>
                    <a:cubicBezTo>
                      <a:pt x="12" y="10"/>
                      <a:pt x="11" y="10"/>
                      <a:pt x="11" y="10"/>
                    </a:cubicBezTo>
                    <a:cubicBezTo>
                      <a:pt x="9" y="7"/>
                      <a:pt x="7" y="4"/>
                      <a:pt x="5" y="1"/>
                    </a:cubicBezTo>
                    <a:cubicBezTo>
                      <a:pt x="3" y="0"/>
                      <a:pt x="0" y="2"/>
                      <a:pt x="2" y="4"/>
                    </a:cubicBezTo>
                    <a:cubicBezTo>
                      <a:pt x="4" y="7"/>
                      <a:pt x="6" y="9"/>
                      <a:pt x="8" y="13"/>
                    </a:cubicBezTo>
                    <a:cubicBezTo>
                      <a:pt x="7" y="13"/>
                      <a:pt x="7" y="14"/>
                      <a:pt x="7" y="15"/>
                    </a:cubicBezTo>
                    <a:cubicBezTo>
                      <a:pt x="7" y="27"/>
                      <a:pt x="7" y="27"/>
                      <a:pt x="7" y="27"/>
                    </a:cubicBezTo>
                    <a:cubicBezTo>
                      <a:pt x="7" y="41"/>
                      <a:pt x="7" y="41"/>
                      <a:pt x="7" y="41"/>
                    </a:cubicBezTo>
                    <a:cubicBezTo>
                      <a:pt x="7" y="83"/>
                      <a:pt x="7" y="83"/>
                      <a:pt x="7" y="83"/>
                    </a:cubicBezTo>
                    <a:cubicBezTo>
                      <a:pt x="7" y="86"/>
                      <a:pt x="9" y="89"/>
                      <a:pt x="12" y="89"/>
                    </a:cubicBezTo>
                    <a:cubicBezTo>
                      <a:pt x="15" y="89"/>
                      <a:pt x="18" y="86"/>
                      <a:pt x="18" y="83"/>
                    </a:cubicBezTo>
                    <a:cubicBezTo>
                      <a:pt x="18" y="41"/>
                      <a:pt x="18" y="41"/>
                      <a:pt x="18" y="41"/>
                    </a:cubicBezTo>
                    <a:cubicBezTo>
                      <a:pt x="18" y="27"/>
                      <a:pt x="18" y="27"/>
                      <a:pt x="18" y="27"/>
                    </a:cubicBezTo>
                    <a:cubicBezTo>
                      <a:pt x="18" y="15"/>
                      <a:pt x="18" y="15"/>
                      <a:pt x="18" y="15"/>
                    </a:cubicBezTo>
                    <a:cubicBezTo>
                      <a:pt x="18" y="14"/>
                      <a:pt x="18" y="13"/>
                      <a:pt x="17" y="13"/>
                    </a:cubicBezTo>
                    <a:cubicBezTo>
                      <a:pt x="19" y="9"/>
                      <a:pt x="20" y="7"/>
                      <a:pt x="23"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58" name="Group 57">
              <a:extLst>
                <a:ext uri="{FF2B5EF4-FFF2-40B4-BE49-F238E27FC236}">
                  <a16:creationId xmlns:a16="http://schemas.microsoft.com/office/drawing/2014/main" id="{A6A5A40A-FD24-0B00-C2B0-01FF25CF54A8}"/>
                </a:ext>
              </a:extLst>
            </p:cNvPr>
            <p:cNvGrpSpPr/>
            <p:nvPr/>
          </p:nvGrpSpPr>
          <p:grpSpPr>
            <a:xfrm>
              <a:off x="6372550" y="3070546"/>
              <a:ext cx="295212" cy="202596"/>
              <a:chOff x="5070476" y="2692400"/>
              <a:chExt cx="647700" cy="444500"/>
            </a:xfrm>
            <a:solidFill>
              <a:schemeClr val="bg1">
                <a:lumMod val="65000"/>
              </a:schemeClr>
            </a:solidFill>
          </p:grpSpPr>
          <p:sp>
            <p:nvSpPr>
              <p:cNvPr id="132" name="Freeform 151">
                <a:extLst>
                  <a:ext uri="{FF2B5EF4-FFF2-40B4-BE49-F238E27FC236}">
                    <a16:creationId xmlns:a16="http://schemas.microsoft.com/office/drawing/2014/main" id="{6BEC8FF3-377B-8671-0875-34C676EEF1CC}"/>
                  </a:ext>
                </a:extLst>
              </p:cNvPr>
              <p:cNvSpPr>
                <a:spLocks noEditPoints="1"/>
              </p:cNvSpPr>
              <p:nvPr/>
            </p:nvSpPr>
            <p:spPr bwMode="auto">
              <a:xfrm>
                <a:off x="5070476" y="3076575"/>
                <a:ext cx="647700" cy="60325"/>
              </a:xfrm>
              <a:custGeom>
                <a:avLst/>
                <a:gdLst>
                  <a:gd name="T0" fmla="*/ 408 w 408"/>
                  <a:gd name="T1" fmla="*/ 0 h 38"/>
                  <a:gd name="T2" fmla="*/ 0 w 408"/>
                  <a:gd name="T3" fmla="*/ 0 h 38"/>
                  <a:gd name="T4" fmla="*/ 0 w 408"/>
                  <a:gd name="T5" fmla="*/ 38 h 38"/>
                  <a:gd name="T6" fmla="*/ 408 w 408"/>
                  <a:gd name="T7" fmla="*/ 38 h 38"/>
                  <a:gd name="T8" fmla="*/ 408 w 408"/>
                  <a:gd name="T9" fmla="*/ 0 h 38"/>
                  <a:gd name="T10" fmla="*/ 389 w 408"/>
                  <a:gd name="T11" fmla="*/ 24 h 38"/>
                  <a:gd name="T12" fmla="*/ 355 w 408"/>
                  <a:gd name="T13" fmla="*/ 24 h 38"/>
                  <a:gd name="T14" fmla="*/ 355 w 408"/>
                  <a:gd name="T15" fmla="*/ 14 h 38"/>
                  <a:gd name="T16" fmla="*/ 389 w 408"/>
                  <a:gd name="T17" fmla="*/ 14 h 38"/>
                  <a:gd name="T18" fmla="*/ 389 w 408"/>
                  <a:gd name="T19" fmla="*/ 2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8" h="38">
                    <a:moveTo>
                      <a:pt x="408" y="0"/>
                    </a:moveTo>
                    <a:lnTo>
                      <a:pt x="0" y="0"/>
                    </a:lnTo>
                    <a:lnTo>
                      <a:pt x="0" y="38"/>
                    </a:lnTo>
                    <a:lnTo>
                      <a:pt x="408" y="38"/>
                    </a:lnTo>
                    <a:lnTo>
                      <a:pt x="408" y="0"/>
                    </a:lnTo>
                    <a:close/>
                    <a:moveTo>
                      <a:pt x="389" y="24"/>
                    </a:moveTo>
                    <a:lnTo>
                      <a:pt x="355" y="24"/>
                    </a:lnTo>
                    <a:lnTo>
                      <a:pt x="355" y="14"/>
                    </a:lnTo>
                    <a:lnTo>
                      <a:pt x="389" y="14"/>
                    </a:lnTo>
                    <a:lnTo>
                      <a:pt x="389"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33" name="Freeform 152">
                <a:extLst>
                  <a:ext uri="{FF2B5EF4-FFF2-40B4-BE49-F238E27FC236}">
                    <a16:creationId xmlns:a16="http://schemas.microsoft.com/office/drawing/2014/main" id="{A723956C-1C3E-A312-47A7-10A0BE22137C}"/>
                  </a:ext>
                </a:extLst>
              </p:cNvPr>
              <p:cNvSpPr>
                <a:spLocks noEditPoints="1"/>
              </p:cNvSpPr>
              <p:nvPr/>
            </p:nvSpPr>
            <p:spPr bwMode="auto">
              <a:xfrm>
                <a:off x="5100638" y="2692400"/>
                <a:ext cx="587375" cy="365125"/>
              </a:xfrm>
              <a:custGeom>
                <a:avLst/>
                <a:gdLst>
                  <a:gd name="T0" fmla="*/ 370 w 370"/>
                  <a:gd name="T1" fmla="*/ 0 h 230"/>
                  <a:gd name="T2" fmla="*/ 0 w 370"/>
                  <a:gd name="T3" fmla="*/ 0 h 230"/>
                  <a:gd name="T4" fmla="*/ 0 w 370"/>
                  <a:gd name="T5" fmla="*/ 230 h 230"/>
                  <a:gd name="T6" fmla="*/ 370 w 370"/>
                  <a:gd name="T7" fmla="*/ 230 h 230"/>
                  <a:gd name="T8" fmla="*/ 370 w 370"/>
                  <a:gd name="T9" fmla="*/ 0 h 230"/>
                  <a:gd name="T10" fmla="*/ 329 w 370"/>
                  <a:gd name="T11" fmla="*/ 197 h 230"/>
                  <a:gd name="T12" fmla="*/ 41 w 370"/>
                  <a:gd name="T13" fmla="*/ 197 h 230"/>
                  <a:gd name="T14" fmla="*/ 41 w 370"/>
                  <a:gd name="T15" fmla="*/ 34 h 230"/>
                  <a:gd name="T16" fmla="*/ 329 w 370"/>
                  <a:gd name="T17" fmla="*/ 34 h 230"/>
                  <a:gd name="T18" fmla="*/ 329 w 370"/>
                  <a:gd name="T19" fmla="*/ 19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0" h="230">
                    <a:moveTo>
                      <a:pt x="370" y="0"/>
                    </a:moveTo>
                    <a:lnTo>
                      <a:pt x="0" y="0"/>
                    </a:lnTo>
                    <a:lnTo>
                      <a:pt x="0" y="230"/>
                    </a:lnTo>
                    <a:lnTo>
                      <a:pt x="370" y="230"/>
                    </a:lnTo>
                    <a:lnTo>
                      <a:pt x="370" y="0"/>
                    </a:lnTo>
                    <a:close/>
                    <a:moveTo>
                      <a:pt x="329" y="197"/>
                    </a:moveTo>
                    <a:lnTo>
                      <a:pt x="41" y="197"/>
                    </a:lnTo>
                    <a:lnTo>
                      <a:pt x="41" y="34"/>
                    </a:lnTo>
                    <a:lnTo>
                      <a:pt x="329" y="34"/>
                    </a:lnTo>
                    <a:lnTo>
                      <a:pt x="329" y="1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sp>
          <p:nvSpPr>
            <p:cNvPr id="59" name="Freeform 153">
              <a:extLst>
                <a:ext uri="{FF2B5EF4-FFF2-40B4-BE49-F238E27FC236}">
                  <a16:creationId xmlns:a16="http://schemas.microsoft.com/office/drawing/2014/main" id="{966361F1-B40B-3442-7243-69D1C4AF7B1C}"/>
                </a:ext>
              </a:extLst>
            </p:cNvPr>
            <p:cNvSpPr>
              <a:spLocks noEditPoints="1"/>
            </p:cNvSpPr>
            <p:nvPr/>
          </p:nvSpPr>
          <p:spPr bwMode="auto">
            <a:xfrm>
              <a:off x="7156885" y="3684122"/>
              <a:ext cx="204043" cy="222855"/>
            </a:xfrm>
            <a:custGeom>
              <a:avLst/>
              <a:gdLst>
                <a:gd name="T0" fmla="*/ 147 w 282"/>
                <a:gd name="T1" fmla="*/ 0 h 308"/>
                <a:gd name="T2" fmla="*/ 145 w 282"/>
                <a:gd name="T3" fmla="*/ 2 h 308"/>
                <a:gd name="T4" fmla="*/ 3 w 282"/>
                <a:gd name="T5" fmla="*/ 218 h 308"/>
                <a:gd name="T6" fmla="*/ 0 w 282"/>
                <a:gd name="T7" fmla="*/ 218 h 308"/>
                <a:gd name="T8" fmla="*/ 3 w 282"/>
                <a:gd name="T9" fmla="*/ 220 h 308"/>
                <a:gd name="T10" fmla="*/ 133 w 282"/>
                <a:gd name="T11" fmla="*/ 308 h 308"/>
                <a:gd name="T12" fmla="*/ 135 w 282"/>
                <a:gd name="T13" fmla="*/ 308 h 308"/>
                <a:gd name="T14" fmla="*/ 135 w 282"/>
                <a:gd name="T15" fmla="*/ 308 h 308"/>
                <a:gd name="T16" fmla="*/ 280 w 282"/>
                <a:gd name="T17" fmla="*/ 92 h 308"/>
                <a:gd name="T18" fmla="*/ 282 w 282"/>
                <a:gd name="T19" fmla="*/ 90 h 308"/>
                <a:gd name="T20" fmla="*/ 280 w 282"/>
                <a:gd name="T21" fmla="*/ 90 h 308"/>
                <a:gd name="T22" fmla="*/ 249 w 282"/>
                <a:gd name="T23" fmla="*/ 68 h 308"/>
                <a:gd name="T24" fmla="*/ 263 w 282"/>
                <a:gd name="T25" fmla="*/ 47 h 308"/>
                <a:gd name="T26" fmla="*/ 263 w 282"/>
                <a:gd name="T27" fmla="*/ 45 h 308"/>
                <a:gd name="T28" fmla="*/ 263 w 282"/>
                <a:gd name="T29" fmla="*/ 45 h 308"/>
                <a:gd name="T30" fmla="*/ 197 w 282"/>
                <a:gd name="T31" fmla="*/ 0 h 308"/>
                <a:gd name="T32" fmla="*/ 195 w 282"/>
                <a:gd name="T33" fmla="*/ 0 h 308"/>
                <a:gd name="T34" fmla="*/ 195 w 282"/>
                <a:gd name="T35" fmla="*/ 0 h 308"/>
                <a:gd name="T36" fmla="*/ 180 w 282"/>
                <a:gd name="T37" fmla="*/ 24 h 308"/>
                <a:gd name="T38" fmla="*/ 147 w 282"/>
                <a:gd name="T39" fmla="*/ 2 h 308"/>
                <a:gd name="T40" fmla="*/ 147 w 282"/>
                <a:gd name="T41" fmla="*/ 0 h 308"/>
                <a:gd name="T42" fmla="*/ 171 w 282"/>
                <a:gd name="T43" fmla="*/ 211 h 308"/>
                <a:gd name="T44" fmla="*/ 76 w 282"/>
                <a:gd name="T45" fmla="*/ 147 h 308"/>
                <a:gd name="T46" fmla="*/ 109 w 282"/>
                <a:gd name="T47" fmla="*/ 97 h 308"/>
                <a:gd name="T48" fmla="*/ 206 w 282"/>
                <a:gd name="T49" fmla="*/ 161 h 308"/>
                <a:gd name="T50" fmla="*/ 171 w 282"/>
                <a:gd name="T51" fmla="*/ 211 h 308"/>
                <a:gd name="T52" fmla="*/ 128 w 282"/>
                <a:gd name="T53" fmla="*/ 274 h 308"/>
                <a:gd name="T54" fmla="*/ 34 w 282"/>
                <a:gd name="T55" fmla="*/ 211 h 308"/>
                <a:gd name="T56" fmla="*/ 67 w 282"/>
                <a:gd name="T57" fmla="*/ 161 h 308"/>
                <a:gd name="T58" fmla="*/ 164 w 282"/>
                <a:gd name="T59" fmla="*/ 225 h 308"/>
                <a:gd name="T60" fmla="*/ 128 w 282"/>
                <a:gd name="T61" fmla="*/ 274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308">
                  <a:moveTo>
                    <a:pt x="147" y="0"/>
                  </a:moveTo>
                  <a:lnTo>
                    <a:pt x="145" y="2"/>
                  </a:lnTo>
                  <a:lnTo>
                    <a:pt x="3" y="218"/>
                  </a:lnTo>
                  <a:lnTo>
                    <a:pt x="0" y="218"/>
                  </a:lnTo>
                  <a:lnTo>
                    <a:pt x="3" y="220"/>
                  </a:lnTo>
                  <a:lnTo>
                    <a:pt x="133" y="308"/>
                  </a:lnTo>
                  <a:lnTo>
                    <a:pt x="135" y="308"/>
                  </a:lnTo>
                  <a:lnTo>
                    <a:pt x="135" y="308"/>
                  </a:lnTo>
                  <a:lnTo>
                    <a:pt x="280" y="92"/>
                  </a:lnTo>
                  <a:lnTo>
                    <a:pt x="282" y="90"/>
                  </a:lnTo>
                  <a:lnTo>
                    <a:pt x="280" y="90"/>
                  </a:lnTo>
                  <a:lnTo>
                    <a:pt x="249" y="68"/>
                  </a:lnTo>
                  <a:lnTo>
                    <a:pt x="263" y="47"/>
                  </a:lnTo>
                  <a:lnTo>
                    <a:pt x="263" y="45"/>
                  </a:lnTo>
                  <a:lnTo>
                    <a:pt x="263" y="45"/>
                  </a:lnTo>
                  <a:lnTo>
                    <a:pt x="197" y="0"/>
                  </a:lnTo>
                  <a:lnTo>
                    <a:pt x="195" y="0"/>
                  </a:lnTo>
                  <a:lnTo>
                    <a:pt x="195" y="0"/>
                  </a:lnTo>
                  <a:lnTo>
                    <a:pt x="180" y="24"/>
                  </a:lnTo>
                  <a:lnTo>
                    <a:pt x="147" y="2"/>
                  </a:lnTo>
                  <a:lnTo>
                    <a:pt x="147" y="0"/>
                  </a:lnTo>
                  <a:close/>
                  <a:moveTo>
                    <a:pt x="171" y="211"/>
                  </a:moveTo>
                  <a:lnTo>
                    <a:pt x="76" y="147"/>
                  </a:lnTo>
                  <a:lnTo>
                    <a:pt x="109" y="97"/>
                  </a:lnTo>
                  <a:lnTo>
                    <a:pt x="206" y="161"/>
                  </a:lnTo>
                  <a:lnTo>
                    <a:pt x="171" y="211"/>
                  </a:lnTo>
                  <a:close/>
                  <a:moveTo>
                    <a:pt x="128" y="274"/>
                  </a:moveTo>
                  <a:lnTo>
                    <a:pt x="34" y="211"/>
                  </a:lnTo>
                  <a:lnTo>
                    <a:pt x="67" y="161"/>
                  </a:lnTo>
                  <a:lnTo>
                    <a:pt x="164" y="225"/>
                  </a:lnTo>
                  <a:lnTo>
                    <a:pt x="128" y="274"/>
                  </a:lnTo>
                  <a:close/>
                </a:path>
              </a:pathLst>
            </a:cu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nvGrpSpPr>
            <p:cNvPr id="60" name="Group 59">
              <a:extLst>
                <a:ext uri="{FF2B5EF4-FFF2-40B4-BE49-F238E27FC236}">
                  <a16:creationId xmlns:a16="http://schemas.microsoft.com/office/drawing/2014/main" id="{65C5EAF5-0D9F-0EEF-4502-8C41EA43A5ED}"/>
                </a:ext>
              </a:extLst>
            </p:cNvPr>
            <p:cNvGrpSpPr/>
            <p:nvPr/>
          </p:nvGrpSpPr>
          <p:grpSpPr>
            <a:xfrm>
              <a:off x="5729309" y="3701487"/>
              <a:ext cx="213450" cy="215620"/>
              <a:chOff x="3659188" y="4076700"/>
              <a:chExt cx="468313" cy="473075"/>
            </a:xfrm>
            <a:solidFill>
              <a:schemeClr val="bg1">
                <a:lumMod val="65000"/>
              </a:schemeClr>
            </a:solidFill>
          </p:grpSpPr>
          <p:sp>
            <p:nvSpPr>
              <p:cNvPr id="130" name="Freeform 154">
                <a:extLst>
                  <a:ext uri="{FF2B5EF4-FFF2-40B4-BE49-F238E27FC236}">
                    <a16:creationId xmlns:a16="http://schemas.microsoft.com/office/drawing/2014/main" id="{9B656130-100F-FB17-7E35-9578AC56EFA3}"/>
                  </a:ext>
                </a:extLst>
              </p:cNvPr>
              <p:cNvSpPr>
                <a:spLocks noEditPoints="1"/>
              </p:cNvSpPr>
              <p:nvPr/>
            </p:nvSpPr>
            <p:spPr bwMode="auto">
              <a:xfrm>
                <a:off x="3659188" y="4076700"/>
                <a:ext cx="225425" cy="473075"/>
              </a:xfrm>
              <a:custGeom>
                <a:avLst/>
                <a:gdLst>
                  <a:gd name="T0" fmla="*/ 1 w 60"/>
                  <a:gd name="T1" fmla="*/ 122 h 126"/>
                  <a:gd name="T2" fmla="*/ 30 w 60"/>
                  <a:gd name="T3" fmla="*/ 108 h 126"/>
                  <a:gd name="T4" fmla="*/ 59 w 60"/>
                  <a:gd name="T5" fmla="*/ 122 h 126"/>
                  <a:gd name="T6" fmla="*/ 60 w 60"/>
                  <a:gd name="T7" fmla="*/ 122 h 126"/>
                  <a:gd name="T8" fmla="*/ 60 w 60"/>
                  <a:gd name="T9" fmla="*/ 27 h 126"/>
                  <a:gd name="T10" fmla="*/ 59 w 60"/>
                  <a:gd name="T11" fmla="*/ 13 h 126"/>
                  <a:gd name="T12" fmla="*/ 30 w 60"/>
                  <a:gd name="T13" fmla="*/ 0 h 126"/>
                  <a:gd name="T14" fmla="*/ 1 w 60"/>
                  <a:gd name="T15" fmla="*/ 13 h 126"/>
                  <a:gd name="T16" fmla="*/ 0 w 60"/>
                  <a:gd name="T17" fmla="*/ 27 h 126"/>
                  <a:gd name="T18" fmla="*/ 0 w 60"/>
                  <a:gd name="T19" fmla="*/ 122 h 126"/>
                  <a:gd name="T20" fmla="*/ 1 w 60"/>
                  <a:gd name="T21" fmla="*/ 122 h 126"/>
                  <a:gd name="T22" fmla="*/ 9 w 60"/>
                  <a:gd name="T23" fmla="*/ 21 h 126"/>
                  <a:gd name="T24" fmla="*/ 30 w 60"/>
                  <a:gd name="T25" fmla="*/ 17 h 126"/>
                  <a:gd name="T26" fmla="*/ 50 w 60"/>
                  <a:gd name="T27" fmla="*/ 21 h 126"/>
                  <a:gd name="T28" fmla="*/ 51 w 60"/>
                  <a:gd name="T29" fmla="*/ 23 h 126"/>
                  <a:gd name="T30" fmla="*/ 50 w 60"/>
                  <a:gd name="T31" fmla="*/ 24 h 126"/>
                  <a:gd name="T32" fmla="*/ 49 w 60"/>
                  <a:gd name="T33" fmla="*/ 24 h 126"/>
                  <a:gd name="T34" fmla="*/ 45 w 60"/>
                  <a:gd name="T35" fmla="*/ 22 h 126"/>
                  <a:gd name="T36" fmla="*/ 30 w 60"/>
                  <a:gd name="T37" fmla="*/ 20 h 126"/>
                  <a:gd name="T38" fmla="*/ 15 w 60"/>
                  <a:gd name="T39" fmla="*/ 22 h 126"/>
                  <a:gd name="T40" fmla="*/ 11 w 60"/>
                  <a:gd name="T41" fmla="*/ 24 h 126"/>
                  <a:gd name="T42" fmla="*/ 9 w 60"/>
                  <a:gd name="T43" fmla="*/ 23 h 126"/>
                  <a:gd name="T44" fmla="*/ 9 w 60"/>
                  <a:gd name="T45" fmla="*/ 21 h 126"/>
                  <a:gd name="T46" fmla="*/ 9 w 60"/>
                  <a:gd name="T47" fmla="*/ 38 h 126"/>
                  <a:gd name="T48" fmla="*/ 30 w 60"/>
                  <a:gd name="T49" fmla="*/ 34 h 126"/>
                  <a:gd name="T50" fmla="*/ 50 w 60"/>
                  <a:gd name="T51" fmla="*/ 38 h 126"/>
                  <a:gd name="T52" fmla="*/ 51 w 60"/>
                  <a:gd name="T53" fmla="*/ 40 h 126"/>
                  <a:gd name="T54" fmla="*/ 50 w 60"/>
                  <a:gd name="T55" fmla="*/ 41 h 126"/>
                  <a:gd name="T56" fmla="*/ 49 w 60"/>
                  <a:gd name="T57" fmla="*/ 41 h 126"/>
                  <a:gd name="T58" fmla="*/ 45 w 60"/>
                  <a:gd name="T59" fmla="*/ 39 h 126"/>
                  <a:gd name="T60" fmla="*/ 30 w 60"/>
                  <a:gd name="T61" fmla="*/ 37 h 126"/>
                  <a:gd name="T62" fmla="*/ 15 w 60"/>
                  <a:gd name="T63" fmla="*/ 39 h 126"/>
                  <a:gd name="T64" fmla="*/ 11 w 60"/>
                  <a:gd name="T65" fmla="*/ 41 h 126"/>
                  <a:gd name="T66" fmla="*/ 9 w 60"/>
                  <a:gd name="T67" fmla="*/ 40 h 126"/>
                  <a:gd name="T68" fmla="*/ 9 w 60"/>
                  <a:gd name="T69" fmla="*/ 38 h 126"/>
                  <a:gd name="T70" fmla="*/ 9 w 60"/>
                  <a:gd name="T71" fmla="*/ 55 h 126"/>
                  <a:gd name="T72" fmla="*/ 30 w 60"/>
                  <a:gd name="T73" fmla="*/ 51 h 126"/>
                  <a:gd name="T74" fmla="*/ 50 w 60"/>
                  <a:gd name="T75" fmla="*/ 55 h 126"/>
                  <a:gd name="T76" fmla="*/ 51 w 60"/>
                  <a:gd name="T77" fmla="*/ 57 h 126"/>
                  <a:gd name="T78" fmla="*/ 50 w 60"/>
                  <a:gd name="T79" fmla="*/ 58 h 126"/>
                  <a:gd name="T80" fmla="*/ 49 w 60"/>
                  <a:gd name="T81" fmla="*/ 58 h 126"/>
                  <a:gd name="T82" fmla="*/ 45 w 60"/>
                  <a:gd name="T83" fmla="*/ 56 h 126"/>
                  <a:gd name="T84" fmla="*/ 30 w 60"/>
                  <a:gd name="T85" fmla="*/ 54 h 126"/>
                  <a:gd name="T86" fmla="*/ 15 w 60"/>
                  <a:gd name="T87" fmla="*/ 56 h 126"/>
                  <a:gd name="T88" fmla="*/ 11 w 60"/>
                  <a:gd name="T89" fmla="*/ 58 h 126"/>
                  <a:gd name="T90" fmla="*/ 9 w 60"/>
                  <a:gd name="T91" fmla="*/ 57 h 126"/>
                  <a:gd name="T92" fmla="*/ 9 w 60"/>
                  <a:gd name="T93" fmla="*/ 55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0" h="126">
                    <a:moveTo>
                      <a:pt x="1" y="122"/>
                    </a:moveTo>
                    <a:cubicBezTo>
                      <a:pt x="4" y="111"/>
                      <a:pt x="16" y="108"/>
                      <a:pt x="30" y="108"/>
                    </a:cubicBezTo>
                    <a:cubicBezTo>
                      <a:pt x="44" y="108"/>
                      <a:pt x="55" y="111"/>
                      <a:pt x="59" y="122"/>
                    </a:cubicBezTo>
                    <a:cubicBezTo>
                      <a:pt x="60" y="126"/>
                      <a:pt x="60" y="126"/>
                      <a:pt x="60" y="122"/>
                    </a:cubicBezTo>
                    <a:cubicBezTo>
                      <a:pt x="60" y="102"/>
                      <a:pt x="60" y="47"/>
                      <a:pt x="60" y="27"/>
                    </a:cubicBezTo>
                    <a:cubicBezTo>
                      <a:pt x="60" y="23"/>
                      <a:pt x="60" y="17"/>
                      <a:pt x="59" y="13"/>
                    </a:cubicBezTo>
                    <a:cubicBezTo>
                      <a:pt x="55" y="3"/>
                      <a:pt x="44" y="0"/>
                      <a:pt x="30" y="0"/>
                    </a:cubicBezTo>
                    <a:cubicBezTo>
                      <a:pt x="16" y="0"/>
                      <a:pt x="5" y="3"/>
                      <a:pt x="1" y="13"/>
                    </a:cubicBezTo>
                    <a:cubicBezTo>
                      <a:pt x="0" y="17"/>
                      <a:pt x="0" y="23"/>
                      <a:pt x="0" y="27"/>
                    </a:cubicBezTo>
                    <a:cubicBezTo>
                      <a:pt x="0" y="47"/>
                      <a:pt x="0" y="102"/>
                      <a:pt x="0" y="122"/>
                    </a:cubicBezTo>
                    <a:cubicBezTo>
                      <a:pt x="0" y="126"/>
                      <a:pt x="0" y="126"/>
                      <a:pt x="1" y="122"/>
                    </a:cubicBezTo>
                    <a:moveTo>
                      <a:pt x="9" y="21"/>
                    </a:moveTo>
                    <a:cubicBezTo>
                      <a:pt x="14" y="18"/>
                      <a:pt x="21" y="17"/>
                      <a:pt x="30" y="17"/>
                    </a:cubicBezTo>
                    <a:cubicBezTo>
                      <a:pt x="39" y="17"/>
                      <a:pt x="45" y="18"/>
                      <a:pt x="50" y="21"/>
                    </a:cubicBezTo>
                    <a:cubicBezTo>
                      <a:pt x="51" y="21"/>
                      <a:pt x="52" y="22"/>
                      <a:pt x="51" y="23"/>
                    </a:cubicBezTo>
                    <a:cubicBezTo>
                      <a:pt x="51" y="24"/>
                      <a:pt x="50" y="24"/>
                      <a:pt x="50" y="24"/>
                    </a:cubicBezTo>
                    <a:cubicBezTo>
                      <a:pt x="49" y="24"/>
                      <a:pt x="49" y="24"/>
                      <a:pt x="49" y="24"/>
                    </a:cubicBezTo>
                    <a:cubicBezTo>
                      <a:pt x="48" y="23"/>
                      <a:pt x="46" y="23"/>
                      <a:pt x="45" y="22"/>
                    </a:cubicBezTo>
                    <a:cubicBezTo>
                      <a:pt x="41" y="21"/>
                      <a:pt x="36" y="20"/>
                      <a:pt x="30" y="20"/>
                    </a:cubicBezTo>
                    <a:cubicBezTo>
                      <a:pt x="24" y="20"/>
                      <a:pt x="19" y="21"/>
                      <a:pt x="15" y="22"/>
                    </a:cubicBezTo>
                    <a:cubicBezTo>
                      <a:pt x="14" y="23"/>
                      <a:pt x="12" y="23"/>
                      <a:pt x="11" y="24"/>
                    </a:cubicBezTo>
                    <a:cubicBezTo>
                      <a:pt x="10" y="24"/>
                      <a:pt x="9" y="24"/>
                      <a:pt x="9" y="23"/>
                    </a:cubicBezTo>
                    <a:cubicBezTo>
                      <a:pt x="8" y="22"/>
                      <a:pt x="9" y="21"/>
                      <a:pt x="9" y="21"/>
                    </a:cubicBezTo>
                    <a:moveTo>
                      <a:pt x="9" y="38"/>
                    </a:moveTo>
                    <a:cubicBezTo>
                      <a:pt x="14" y="35"/>
                      <a:pt x="21" y="34"/>
                      <a:pt x="30" y="34"/>
                    </a:cubicBezTo>
                    <a:cubicBezTo>
                      <a:pt x="39" y="34"/>
                      <a:pt x="45" y="35"/>
                      <a:pt x="50" y="38"/>
                    </a:cubicBezTo>
                    <a:cubicBezTo>
                      <a:pt x="51" y="38"/>
                      <a:pt x="52" y="39"/>
                      <a:pt x="51" y="40"/>
                    </a:cubicBezTo>
                    <a:cubicBezTo>
                      <a:pt x="51" y="41"/>
                      <a:pt x="50" y="41"/>
                      <a:pt x="50" y="41"/>
                    </a:cubicBezTo>
                    <a:cubicBezTo>
                      <a:pt x="49" y="41"/>
                      <a:pt x="49" y="41"/>
                      <a:pt x="49" y="41"/>
                    </a:cubicBezTo>
                    <a:cubicBezTo>
                      <a:pt x="48" y="40"/>
                      <a:pt x="46" y="40"/>
                      <a:pt x="45" y="39"/>
                    </a:cubicBezTo>
                    <a:cubicBezTo>
                      <a:pt x="41" y="38"/>
                      <a:pt x="36" y="37"/>
                      <a:pt x="30" y="37"/>
                    </a:cubicBezTo>
                    <a:cubicBezTo>
                      <a:pt x="24" y="37"/>
                      <a:pt x="19" y="38"/>
                      <a:pt x="15" y="39"/>
                    </a:cubicBezTo>
                    <a:cubicBezTo>
                      <a:pt x="14" y="40"/>
                      <a:pt x="12" y="40"/>
                      <a:pt x="11" y="41"/>
                    </a:cubicBezTo>
                    <a:cubicBezTo>
                      <a:pt x="10" y="41"/>
                      <a:pt x="9" y="41"/>
                      <a:pt x="9" y="40"/>
                    </a:cubicBezTo>
                    <a:cubicBezTo>
                      <a:pt x="8" y="39"/>
                      <a:pt x="9" y="38"/>
                      <a:pt x="9" y="38"/>
                    </a:cubicBezTo>
                    <a:moveTo>
                      <a:pt x="9" y="55"/>
                    </a:moveTo>
                    <a:cubicBezTo>
                      <a:pt x="14" y="52"/>
                      <a:pt x="21" y="51"/>
                      <a:pt x="30" y="51"/>
                    </a:cubicBezTo>
                    <a:cubicBezTo>
                      <a:pt x="39" y="51"/>
                      <a:pt x="45" y="52"/>
                      <a:pt x="50" y="55"/>
                    </a:cubicBezTo>
                    <a:cubicBezTo>
                      <a:pt x="51" y="55"/>
                      <a:pt x="52" y="56"/>
                      <a:pt x="51" y="57"/>
                    </a:cubicBezTo>
                    <a:cubicBezTo>
                      <a:pt x="51" y="58"/>
                      <a:pt x="50" y="58"/>
                      <a:pt x="50" y="58"/>
                    </a:cubicBezTo>
                    <a:cubicBezTo>
                      <a:pt x="49" y="58"/>
                      <a:pt x="49" y="58"/>
                      <a:pt x="49" y="58"/>
                    </a:cubicBezTo>
                    <a:cubicBezTo>
                      <a:pt x="48" y="57"/>
                      <a:pt x="46" y="57"/>
                      <a:pt x="45" y="56"/>
                    </a:cubicBezTo>
                    <a:cubicBezTo>
                      <a:pt x="41" y="55"/>
                      <a:pt x="36" y="54"/>
                      <a:pt x="30" y="54"/>
                    </a:cubicBezTo>
                    <a:cubicBezTo>
                      <a:pt x="24" y="54"/>
                      <a:pt x="19" y="55"/>
                      <a:pt x="15" y="56"/>
                    </a:cubicBezTo>
                    <a:cubicBezTo>
                      <a:pt x="14" y="57"/>
                      <a:pt x="12" y="57"/>
                      <a:pt x="11" y="58"/>
                    </a:cubicBezTo>
                    <a:cubicBezTo>
                      <a:pt x="10" y="58"/>
                      <a:pt x="9" y="58"/>
                      <a:pt x="9" y="57"/>
                    </a:cubicBezTo>
                    <a:cubicBezTo>
                      <a:pt x="8" y="56"/>
                      <a:pt x="9" y="55"/>
                      <a:pt x="9" y="5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31" name="Freeform 155">
                <a:extLst>
                  <a:ext uri="{FF2B5EF4-FFF2-40B4-BE49-F238E27FC236}">
                    <a16:creationId xmlns:a16="http://schemas.microsoft.com/office/drawing/2014/main" id="{12037A83-72C5-9C53-B896-95DD3F5B861C}"/>
                  </a:ext>
                </a:extLst>
              </p:cNvPr>
              <p:cNvSpPr>
                <a:spLocks noEditPoints="1"/>
              </p:cNvSpPr>
              <p:nvPr/>
            </p:nvSpPr>
            <p:spPr bwMode="auto">
              <a:xfrm>
                <a:off x="3902076" y="4076700"/>
                <a:ext cx="225425" cy="473075"/>
              </a:xfrm>
              <a:custGeom>
                <a:avLst/>
                <a:gdLst>
                  <a:gd name="T0" fmla="*/ 59 w 60"/>
                  <a:gd name="T1" fmla="*/ 122 h 126"/>
                  <a:gd name="T2" fmla="*/ 60 w 60"/>
                  <a:gd name="T3" fmla="*/ 122 h 126"/>
                  <a:gd name="T4" fmla="*/ 60 w 60"/>
                  <a:gd name="T5" fmla="*/ 27 h 126"/>
                  <a:gd name="T6" fmla="*/ 59 w 60"/>
                  <a:gd name="T7" fmla="*/ 13 h 126"/>
                  <a:gd name="T8" fmla="*/ 30 w 60"/>
                  <a:gd name="T9" fmla="*/ 0 h 126"/>
                  <a:gd name="T10" fmla="*/ 1 w 60"/>
                  <a:gd name="T11" fmla="*/ 13 h 126"/>
                  <a:gd name="T12" fmla="*/ 0 w 60"/>
                  <a:gd name="T13" fmla="*/ 27 h 126"/>
                  <a:gd name="T14" fmla="*/ 0 w 60"/>
                  <a:gd name="T15" fmla="*/ 122 h 126"/>
                  <a:gd name="T16" fmla="*/ 1 w 60"/>
                  <a:gd name="T17" fmla="*/ 122 h 126"/>
                  <a:gd name="T18" fmla="*/ 30 w 60"/>
                  <a:gd name="T19" fmla="*/ 108 h 126"/>
                  <a:gd name="T20" fmla="*/ 59 w 60"/>
                  <a:gd name="T21" fmla="*/ 122 h 126"/>
                  <a:gd name="T22" fmla="*/ 51 w 60"/>
                  <a:gd name="T23" fmla="*/ 57 h 126"/>
                  <a:gd name="T24" fmla="*/ 50 w 60"/>
                  <a:gd name="T25" fmla="*/ 58 h 126"/>
                  <a:gd name="T26" fmla="*/ 49 w 60"/>
                  <a:gd name="T27" fmla="*/ 58 h 126"/>
                  <a:gd name="T28" fmla="*/ 45 w 60"/>
                  <a:gd name="T29" fmla="*/ 56 h 126"/>
                  <a:gd name="T30" fmla="*/ 30 w 60"/>
                  <a:gd name="T31" fmla="*/ 54 h 126"/>
                  <a:gd name="T32" fmla="*/ 15 w 60"/>
                  <a:gd name="T33" fmla="*/ 56 h 126"/>
                  <a:gd name="T34" fmla="*/ 11 w 60"/>
                  <a:gd name="T35" fmla="*/ 58 h 126"/>
                  <a:gd name="T36" fmla="*/ 9 w 60"/>
                  <a:gd name="T37" fmla="*/ 57 h 126"/>
                  <a:gd name="T38" fmla="*/ 10 w 60"/>
                  <a:gd name="T39" fmla="*/ 55 h 126"/>
                  <a:gd name="T40" fmla="*/ 30 w 60"/>
                  <a:gd name="T41" fmla="*/ 51 h 126"/>
                  <a:gd name="T42" fmla="*/ 51 w 60"/>
                  <a:gd name="T43" fmla="*/ 55 h 126"/>
                  <a:gd name="T44" fmla="*/ 51 w 60"/>
                  <a:gd name="T45" fmla="*/ 57 h 126"/>
                  <a:gd name="T46" fmla="*/ 51 w 60"/>
                  <a:gd name="T47" fmla="*/ 40 h 126"/>
                  <a:gd name="T48" fmla="*/ 50 w 60"/>
                  <a:gd name="T49" fmla="*/ 41 h 126"/>
                  <a:gd name="T50" fmla="*/ 49 w 60"/>
                  <a:gd name="T51" fmla="*/ 41 h 126"/>
                  <a:gd name="T52" fmla="*/ 45 w 60"/>
                  <a:gd name="T53" fmla="*/ 39 h 126"/>
                  <a:gd name="T54" fmla="*/ 30 w 60"/>
                  <a:gd name="T55" fmla="*/ 37 h 126"/>
                  <a:gd name="T56" fmla="*/ 15 w 60"/>
                  <a:gd name="T57" fmla="*/ 39 h 126"/>
                  <a:gd name="T58" fmla="*/ 11 w 60"/>
                  <a:gd name="T59" fmla="*/ 41 h 126"/>
                  <a:gd name="T60" fmla="*/ 9 w 60"/>
                  <a:gd name="T61" fmla="*/ 40 h 126"/>
                  <a:gd name="T62" fmla="*/ 10 w 60"/>
                  <a:gd name="T63" fmla="*/ 38 h 126"/>
                  <a:gd name="T64" fmla="*/ 30 w 60"/>
                  <a:gd name="T65" fmla="*/ 34 h 126"/>
                  <a:gd name="T66" fmla="*/ 51 w 60"/>
                  <a:gd name="T67" fmla="*/ 38 h 126"/>
                  <a:gd name="T68" fmla="*/ 51 w 60"/>
                  <a:gd name="T69" fmla="*/ 40 h 126"/>
                  <a:gd name="T70" fmla="*/ 51 w 60"/>
                  <a:gd name="T71" fmla="*/ 23 h 126"/>
                  <a:gd name="T72" fmla="*/ 50 w 60"/>
                  <a:gd name="T73" fmla="*/ 24 h 126"/>
                  <a:gd name="T74" fmla="*/ 49 w 60"/>
                  <a:gd name="T75" fmla="*/ 24 h 126"/>
                  <a:gd name="T76" fmla="*/ 45 w 60"/>
                  <a:gd name="T77" fmla="*/ 22 h 126"/>
                  <a:gd name="T78" fmla="*/ 30 w 60"/>
                  <a:gd name="T79" fmla="*/ 20 h 126"/>
                  <a:gd name="T80" fmla="*/ 15 w 60"/>
                  <a:gd name="T81" fmla="*/ 22 h 126"/>
                  <a:gd name="T82" fmla="*/ 11 w 60"/>
                  <a:gd name="T83" fmla="*/ 24 h 126"/>
                  <a:gd name="T84" fmla="*/ 9 w 60"/>
                  <a:gd name="T85" fmla="*/ 23 h 126"/>
                  <a:gd name="T86" fmla="*/ 10 w 60"/>
                  <a:gd name="T87" fmla="*/ 21 h 126"/>
                  <a:gd name="T88" fmla="*/ 30 w 60"/>
                  <a:gd name="T89" fmla="*/ 17 h 126"/>
                  <a:gd name="T90" fmla="*/ 51 w 60"/>
                  <a:gd name="T91" fmla="*/ 21 h 126"/>
                  <a:gd name="T92" fmla="*/ 51 w 60"/>
                  <a:gd name="T93" fmla="*/ 23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0" h="126">
                    <a:moveTo>
                      <a:pt x="59" y="122"/>
                    </a:moveTo>
                    <a:cubicBezTo>
                      <a:pt x="60" y="126"/>
                      <a:pt x="60" y="126"/>
                      <a:pt x="60" y="122"/>
                    </a:cubicBezTo>
                    <a:cubicBezTo>
                      <a:pt x="60" y="102"/>
                      <a:pt x="60" y="47"/>
                      <a:pt x="60" y="27"/>
                    </a:cubicBezTo>
                    <a:cubicBezTo>
                      <a:pt x="60" y="23"/>
                      <a:pt x="60" y="17"/>
                      <a:pt x="59" y="13"/>
                    </a:cubicBezTo>
                    <a:cubicBezTo>
                      <a:pt x="55" y="3"/>
                      <a:pt x="44" y="0"/>
                      <a:pt x="30" y="0"/>
                    </a:cubicBezTo>
                    <a:cubicBezTo>
                      <a:pt x="16" y="0"/>
                      <a:pt x="5" y="3"/>
                      <a:pt x="1" y="13"/>
                    </a:cubicBezTo>
                    <a:cubicBezTo>
                      <a:pt x="0" y="17"/>
                      <a:pt x="0" y="23"/>
                      <a:pt x="0" y="27"/>
                    </a:cubicBezTo>
                    <a:cubicBezTo>
                      <a:pt x="0" y="47"/>
                      <a:pt x="0" y="102"/>
                      <a:pt x="0" y="122"/>
                    </a:cubicBezTo>
                    <a:cubicBezTo>
                      <a:pt x="0" y="126"/>
                      <a:pt x="0" y="126"/>
                      <a:pt x="1" y="122"/>
                    </a:cubicBezTo>
                    <a:cubicBezTo>
                      <a:pt x="4" y="111"/>
                      <a:pt x="16" y="108"/>
                      <a:pt x="30" y="108"/>
                    </a:cubicBezTo>
                    <a:cubicBezTo>
                      <a:pt x="44" y="108"/>
                      <a:pt x="56" y="111"/>
                      <a:pt x="59" y="122"/>
                    </a:cubicBezTo>
                    <a:moveTo>
                      <a:pt x="51" y="57"/>
                    </a:moveTo>
                    <a:cubicBezTo>
                      <a:pt x="51" y="58"/>
                      <a:pt x="50" y="58"/>
                      <a:pt x="50" y="58"/>
                    </a:cubicBezTo>
                    <a:cubicBezTo>
                      <a:pt x="49" y="58"/>
                      <a:pt x="49" y="58"/>
                      <a:pt x="49" y="58"/>
                    </a:cubicBezTo>
                    <a:cubicBezTo>
                      <a:pt x="48" y="57"/>
                      <a:pt x="46" y="57"/>
                      <a:pt x="45" y="56"/>
                    </a:cubicBezTo>
                    <a:cubicBezTo>
                      <a:pt x="41" y="55"/>
                      <a:pt x="36" y="54"/>
                      <a:pt x="30" y="54"/>
                    </a:cubicBezTo>
                    <a:cubicBezTo>
                      <a:pt x="24" y="54"/>
                      <a:pt x="19" y="55"/>
                      <a:pt x="15" y="56"/>
                    </a:cubicBezTo>
                    <a:cubicBezTo>
                      <a:pt x="14" y="57"/>
                      <a:pt x="12" y="57"/>
                      <a:pt x="11" y="58"/>
                    </a:cubicBezTo>
                    <a:cubicBezTo>
                      <a:pt x="10" y="58"/>
                      <a:pt x="9" y="58"/>
                      <a:pt x="9" y="57"/>
                    </a:cubicBezTo>
                    <a:cubicBezTo>
                      <a:pt x="8" y="56"/>
                      <a:pt x="9" y="55"/>
                      <a:pt x="10" y="55"/>
                    </a:cubicBezTo>
                    <a:cubicBezTo>
                      <a:pt x="15" y="52"/>
                      <a:pt x="21" y="51"/>
                      <a:pt x="30" y="51"/>
                    </a:cubicBezTo>
                    <a:cubicBezTo>
                      <a:pt x="39" y="51"/>
                      <a:pt x="46" y="52"/>
                      <a:pt x="51" y="55"/>
                    </a:cubicBezTo>
                    <a:cubicBezTo>
                      <a:pt x="51" y="55"/>
                      <a:pt x="52" y="56"/>
                      <a:pt x="51" y="57"/>
                    </a:cubicBezTo>
                    <a:moveTo>
                      <a:pt x="51" y="40"/>
                    </a:moveTo>
                    <a:cubicBezTo>
                      <a:pt x="51" y="41"/>
                      <a:pt x="50" y="41"/>
                      <a:pt x="50" y="41"/>
                    </a:cubicBezTo>
                    <a:cubicBezTo>
                      <a:pt x="49" y="41"/>
                      <a:pt x="49" y="41"/>
                      <a:pt x="49" y="41"/>
                    </a:cubicBezTo>
                    <a:cubicBezTo>
                      <a:pt x="48" y="40"/>
                      <a:pt x="46" y="40"/>
                      <a:pt x="45" y="39"/>
                    </a:cubicBezTo>
                    <a:cubicBezTo>
                      <a:pt x="41" y="38"/>
                      <a:pt x="36" y="37"/>
                      <a:pt x="30" y="37"/>
                    </a:cubicBezTo>
                    <a:cubicBezTo>
                      <a:pt x="24" y="37"/>
                      <a:pt x="19" y="38"/>
                      <a:pt x="15" y="39"/>
                    </a:cubicBezTo>
                    <a:cubicBezTo>
                      <a:pt x="14" y="40"/>
                      <a:pt x="12" y="40"/>
                      <a:pt x="11" y="41"/>
                    </a:cubicBezTo>
                    <a:cubicBezTo>
                      <a:pt x="10" y="41"/>
                      <a:pt x="9" y="41"/>
                      <a:pt x="9" y="40"/>
                    </a:cubicBezTo>
                    <a:cubicBezTo>
                      <a:pt x="8" y="39"/>
                      <a:pt x="9" y="38"/>
                      <a:pt x="10" y="38"/>
                    </a:cubicBezTo>
                    <a:cubicBezTo>
                      <a:pt x="15" y="35"/>
                      <a:pt x="21" y="34"/>
                      <a:pt x="30" y="34"/>
                    </a:cubicBezTo>
                    <a:cubicBezTo>
                      <a:pt x="39" y="34"/>
                      <a:pt x="46" y="35"/>
                      <a:pt x="51" y="38"/>
                    </a:cubicBezTo>
                    <a:cubicBezTo>
                      <a:pt x="51" y="38"/>
                      <a:pt x="52" y="39"/>
                      <a:pt x="51" y="40"/>
                    </a:cubicBezTo>
                    <a:moveTo>
                      <a:pt x="51" y="23"/>
                    </a:moveTo>
                    <a:cubicBezTo>
                      <a:pt x="51" y="24"/>
                      <a:pt x="50" y="24"/>
                      <a:pt x="50" y="24"/>
                    </a:cubicBezTo>
                    <a:cubicBezTo>
                      <a:pt x="49" y="24"/>
                      <a:pt x="49" y="24"/>
                      <a:pt x="49" y="24"/>
                    </a:cubicBezTo>
                    <a:cubicBezTo>
                      <a:pt x="48" y="23"/>
                      <a:pt x="46" y="23"/>
                      <a:pt x="45" y="22"/>
                    </a:cubicBezTo>
                    <a:cubicBezTo>
                      <a:pt x="41" y="21"/>
                      <a:pt x="36" y="20"/>
                      <a:pt x="30" y="20"/>
                    </a:cubicBezTo>
                    <a:cubicBezTo>
                      <a:pt x="24" y="20"/>
                      <a:pt x="19" y="21"/>
                      <a:pt x="15" y="22"/>
                    </a:cubicBezTo>
                    <a:cubicBezTo>
                      <a:pt x="14" y="23"/>
                      <a:pt x="12" y="23"/>
                      <a:pt x="11" y="24"/>
                    </a:cubicBezTo>
                    <a:cubicBezTo>
                      <a:pt x="10" y="24"/>
                      <a:pt x="9" y="24"/>
                      <a:pt x="9" y="23"/>
                    </a:cubicBezTo>
                    <a:cubicBezTo>
                      <a:pt x="8" y="22"/>
                      <a:pt x="9" y="21"/>
                      <a:pt x="10" y="21"/>
                    </a:cubicBezTo>
                    <a:cubicBezTo>
                      <a:pt x="15" y="18"/>
                      <a:pt x="21" y="17"/>
                      <a:pt x="30" y="17"/>
                    </a:cubicBezTo>
                    <a:cubicBezTo>
                      <a:pt x="39" y="17"/>
                      <a:pt x="46" y="18"/>
                      <a:pt x="51" y="21"/>
                    </a:cubicBezTo>
                    <a:cubicBezTo>
                      <a:pt x="51" y="21"/>
                      <a:pt x="52" y="22"/>
                      <a:pt x="51" y="2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61" name="Group 60">
              <a:extLst>
                <a:ext uri="{FF2B5EF4-FFF2-40B4-BE49-F238E27FC236}">
                  <a16:creationId xmlns:a16="http://schemas.microsoft.com/office/drawing/2014/main" id="{8F53841B-3DAE-3569-DA49-35D5F52B49B0}"/>
                </a:ext>
              </a:extLst>
            </p:cNvPr>
            <p:cNvGrpSpPr/>
            <p:nvPr/>
          </p:nvGrpSpPr>
          <p:grpSpPr>
            <a:xfrm>
              <a:off x="6583829" y="2714557"/>
              <a:ext cx="164248" cy="177995"/>
              <a:chOff x="5534026" y="1911350"/>
              <a:chExt cx="360362" cy="390525"/>
            </a:xfrm>
            <a:solidFill>
              <a:schemeClr val="bg1">
                <a:lumMod val="65000"/>
              </a:schemeClr>
            </a:solidFill>
          </p:grpSpPr>
          <p:sp>
            <p:nvSpPr>
              <p:cNvPr id="128" name="Freeform 156">
                <a:extLst>
                  <a:ext uri="{FF2B5EF4-FFF2-40B4-BE49-F238E27FC236}">
                    <a16:creationId xmlns:a16="http://schemas.microsoft.com/office/drawing/2014/main" id="{901E5693-EA1C-1AC6-4C96-0AF3E35B68C8}"/>
                  </a:ext>
                </a:extLst>
              </p:cNvPr>
              <p:cNvSpPr>
                <a:spLocks/>
              </p:cNvSpPr>
              <p:nvPr/>
            </p:nvSpPr>
            <p:spPr bwMode="auto">
              <a:xfrm>
                <a:off x="5534026" y="1911350"/>
                <a:ext cx="344488" cy="206375"/>
              </a:xfrm>
              <a:custGeom>
                <a:avLst/>
                <a:gdLst>
                  <a:gd name="T0" fmla="*/ 26 w 92"/>
                  <a:gd name="T1" fmla="*/ 30 h 55"/>
                  <a:gd name="T2" fmla="*/ 65 w 92"/>
                  <a:gd name="T3" fmla="*/ 25 h 55"/>
                  <a:gd name="T4" fmla="*/ 56 w 92"/>
                  <a:gd name="T5" fmla="*/ 34 h 55"/>
                  <a:gd name="T6" fmla="*/ 59 w 92"/>
                  <a:gd name="T7" fmla="*/ 41 h 55"/>
                  <a:gd name="T8" fmla="*/ 81 w 92"/>
                  <a:gd name="T9" fmla="*/ 41 h 55"/>
                  <a:gd name="T10" fmla="*/ 83 w 92"/>
                  <a:gd name="T11" fmla="*/ 41 h 55"/>
                  <a:gd name="T12" fmla="*/ 85 w 92"/>
                  <a:gd name="T13" fmla="*/ 41 h 55"/>
                  <a:gd name="T14" fmla="*/ 90 w 92"/>
                  <a:gd name="T15" fmla="*/ 41 h 55"/>
                  <a:gd name="T16" fmla="*/ 92 w 92"/>
                  <a:gd name="T17" fmla="*/ 38 h 55"/>
                  <a:gd name="T18" fmla="*/ 92 w 92"/>
                  <a:gd name="T19" fmla="*/ 7 h 55"/>
                  <a:gd name="T20" fmla="*/ 86 w 92"/>
                  <a:gd name="T21" fmla="*/ 5 h 55"/>
                  <a:gd name="T22" fmla="*/ 77 w 92"/>
                  <a:gd name="T23" fmla="*/ 14 h 55"/>
                  <a:gd name="T24" fmla="*/ 14 w 92"/>
                  <a:gd name="T25" fmla="*/ 19 h 55"/>
                  <a:gd name="T26" fmla="*/ 0 w 92"/>
                  <a:gd name="T27" fmla="*/ 55 h 55"/>
                  <a:gd name="T28" fmla="*/ 17 w 92"/>
                  <a:gd name="T29" fmla="*/ 55 h 55"/>
                  <a:gd name="T30" fmla="*/ 26 w 92"/>
                  <a:gd name="T31"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2" h="55">
                    <a:moveTo>
                      <a:pt x="26" y="30"/>
                    </a:moveTo>
                    <a:cubicBezTo>
                      <a:pt x="36" y="19"/>
                      <a:pt x="53" y="18"/>
                      <a:pt x="65" y="25"/>
                    </a:cubicBezTo>
                    <a:cubicBezTo>
                      <a:pt x="61" y="29"/>
                      <a:pt x="56" y="34"/>
                      <a:pt x="56" y="34"/>
                    </a:cubicBezTo>
                    <a:cubicBezTo>
                      <a:pt x="53" y="38"/>
                      <a:pt x="57" y="41"/>
                      <a:pt x="59" y="41"/>
                    </a:cubicBezTo>
                    <a:cubicBezTo>
                      <a:pt x="81" y="41"/>
                      <a:pt x="81" y="41"/>
                      <a:pt x="81" y="41"/>
                    </a:cubicBezTo>
                    <a:cubicBezTo>
                      <a:pt x="82" y="41"/>
                      <a:pt x="83" y="41"/>
                      <a:pt x="83" y="41"/>
                    </a:cubicBezTo>
                    <a:cubicBezTo>
                      <a:pt x="85" y="41"/>
                      <a:pt x="85" y="41"/>
                      <a:pt x="85" y="41"/>
                    </a:cubicBezTo>
                    <a:cubicBezTo>
                      <a:pt x="90" y="41"/>
                      <a:pt x="90" y="41"/>
                      <a:pt x="90" y="41"/>
                    </a:cubicBezTo>
                    <a:cubicBezTo>
                      <a:pt x="91" y="41"/>
                      <a:pt x="92" y="40"/>
                      <a:pt x="92" y="38"/>
                    </a:cubicBezTo>
                    <a:cubicBezTo>
                      <a:pt x="92" y="7"/>
                      <a:pt x="92" y="7"/>
                      <a:pt x="92" y="7"/>
                    </a:cubicBezTo>
                    <a:cubicBezTo>
                      <a:pt x="92" y="5"/>
                      <a:pt x="89" y="2"/>
                      <a:pt x="86" y="5"/>
                    </a:cubicBezTo>
                    <a:cubicBezTo>
                      <a:pt x="86" y="5"/>
                      <a:pt x="80" y="10"/>
                      <a:pt x="77" y="14"/>
                    </a:cubicBezTo>
                    <a:cubicBezTo>
                      <a:pt x="58" y="0"/>
                      <a:pt x="31" y="2"/>
                      <a:pt x="14" y="19"/>
                    </a:cubicBezTo>
                    <a:cubicBezTo>
                      <a:pt x="5" y="29"/>
                      <a:pt x="0" y="42"/>
                      <a:pt x="0" y="55"/>
                    </a:cubicBezTo>
                    <a:cubicBezTo>
                      <a:pt x="17" y="55"/>
                      <a:pt x="17" y="55"/>
                      <a:pt x="17" y="55"/>
                    </a:cubicBezTo>
                    <a:cubicBezTo>
                      <a:pt x="16" y="46"/>
                      <a:pt x="19" y="37"/>
                      <a:pt x="26" y="3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29" name="Freeform 157">
                <a:extLst>
                  <a:ext uri="{FF2B5EF4-FFF2-40B4-BE49-F238E27FC236}">
                    <a16:creationId xmlns:a16="http://schemas.microsoft.com/office/drawing/2014/main" id="{C3832300-B86A-CC76-ED6C-A16EB5DD4FF9}"/>
                  </a:ext>
                </a:extLst>
              </p:cNvPr>
              <p:cNvSpPr>
                <a:spLocks/>
              </p:cNvSpPr>
              <p:nvPr/>
            </p:nvSpPr>
            <p:spPr bwMode="auto">
              <a:xfrm>
                <a:off x="5548313" y="2095500"/>
                <a:ext cx="346075" cy="206375"/>
              </a:xfrm>
              <a:custGeom>
                <a:avLst/>
                <a:gdLst>
                  <a:gd name="T0" fmla="*/ 75 w 92"/>
                  <a:gd name="T1" fmla="*/ 0 h 55"/>
                  <a:gd name="T2" fmla="*/ 66 w 92"/>
                  <a:gd name="T3" fmla="*/ 25 h 55"/>
                  <a:gd name="T4" fmla="*/ 27 w 92"/>
                  <a:gd name="T5" fmla="*/ 30 h 55"/>
                  <a:gd name="T6" fmla="*/ 36 w 92"/>
                  <a:gd name="T7" fmla="*/ 21 h 55"/>
                  <a:gd name="T8" fmla="*/ 33 w 92"/>
                  <a:gd name="T9" fmla="*/ 14 h 55"/>
                  <a:gd name="T10" fmla="*/ 11 w 92"/>
                  <a:gd name="T11" fmla="*/ 14 h 55"/>
                  <a:gd name="T12" fmla="*/ 8 w 92"/>
                  <a:gd name="T13" fmla="*/ 14 h 55"/>
                  <a:gd name="T14" fmla="*/ 6 w 92"/>
                  <a:gd name="T15" fmla="*/ 14 h 55"/>
                  <a:gd name="T16" fmla="*/ 2 w 92"/>
                  <a:gd name="T17" fmla="*/ 14 h 55"/>
                  <a:gd name="T18" fmla="*/ 0 w 92"/>
                  <a:gd name="T19" fmla="*/ 17 h 55"/>
                  <a:gd name="T20" fmla="*/ 0 w 92"/>
                  <a:gd name="T21" fmla="*/ 48 h 55"/>
                  <a:gd name="T22" fmla="*/ 6 w 92"/>
                  <a:gd name="T23" fmla="*/ 50 h 55"/>
                  <a:gd name="T24" fmla="*/ 15 w 92"/>
                  <a:gd name="T25" fmla="*/ 41 h 55"/>
                  <a:gd name="T26" fmla="*/ 77 w 92"/>
                  <a:gd name="T27" fmla="*/ 36 h 55"/>
                  <a:gd name="T28" fmla="*/ 91 w 92"/>
                  <a:gd name="T29" fmla="*/ 0 h 55"/>
                  <a:gd name="T30" fmla="*/ 75 w 92"/>
                  <a:gd name="T31"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2" h="55">
                    <a:moveTo>
                      <a:pt x="75" y="0"/>
                    </a:moveTo>
                    <a:cubicBezTo>
                      <a:pt x="76" y="9"/>
                      <a:pt x="73" y="18"/>
                      <a:pt x="66" y="25"/>
                    </a:cubicBezTo>
                    <a:cubicBezTo>
                      <a:pt x="55" y="36"/>
                      <a:pt x="39" y="37"/>
                      <a:pt x="27" y="30"/>
                    </a:cubicBezTo>
                    <a:cubicBezTo>
                      <a:pt x="31" y="26"/>
                      <a:pt x="36" y="21"/>
                      <a:pt x="36" y="21"/>
                    </a:cubicBezTo>
                    <a:cubicBezTo>
                      <a:pt x="39" y="17"/>
                      <a:pt x="35" y="14"/>
                      <a:pt x="33" y="14"/>
                    </a:cubicBezTo>
                    <a:cubicBezTo>
                      <a:pt x="11" y="14"/>
                      <a:pt x="11" y="14"/>
                      <a:pt x="11" y="14"/>
                    </a:cubicBezTo>
                    <a:cubicBezTo>
                      <a:pt x="9" y="14"/>
                      <a:pt x="8" y="14"/>
                      <a:pt x="8" y="14"/>
                    </a:cubicBezTo>
                    <a:cubicBezTo>
                      <a:pt x="6" y="14"/>
                      <a:pt x="6" y="14"/>
                      <a:pt x="6" y="14"/>
                    </a:cubicBezTo>
                    <a:cubicBezTo>
                      <a:pt x="2" y="14"/>
                      <a:pt x="2" y="14"/>
                      <a:pt x="2" y="14"/>
                    </a:cubicBezTo>
                    <a:cubicBezTo>
                      <a:pt x="1" y="14"/>
                      <a:pt x="0" y="15"/>
                      <a:pt x="0" y="17"/>
                    </a:cubicBezTo>
                    <a:cubicBezTo>
                      <a:pt x="0" y="48"/>
                      <a:pt x="0" y="48"/>
                      <a:pt x="0" y="48"/>
                    </a:cubicBezTo>
                    <a:cubicBezTo>
                      <a:pt x="0" y="50"/>
                      <a:pt x="3" y="53"/>
                      <a:pt x="6" y="50"/>
                    </a:cubicBezTo>
                    <a:cubicBezTo>
                      <a:pt x="6" y="50"/>
                      <a:pt x="11" y="45"/>
                      <a:pt x="15" y="41"/>
                    </a:cubicBezTo>
                    <a:cubicBezTo>
                      <a:pt x="34" y="55"/>
                      <a:pt x="60" y="53"/>
                      <a:pt x="77" y="36"/>
                    </a:cubicBezTo>
                    <a:cubicBezTo>
                      <a:pt x="87" y="26"/>
                      <a:pt x="92" y="13"/>
                      <a:pt x="91" y="0"/>
                    </a:cubicBezTo>
                    <a:cubicBezTo>
                      <a:pt x="75" y="0"/>
                      <a:pt x="75" y="0"/>
                      <a:pt x="7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sp>
          <p:nvSpPr>
            <p:cNvPr id="62" name="Freeform 158">
              <a:extLst>
                <a:ext uri="{FF2B5EF4-FFF2-40B4-BE49-F238E27FC236}">
                  <a16:creationId xmlns:a16="http://schemas.microsoft.com/office/drawing/2014/main" id="{196AC2BB-584D-C15F-ED42-5B330BA9CC28}"/>
                </a:ext>
              </a:extLst>
            </p:cNvPr>
            <p:cNvSpPr>
              <a:spLocks noEditPoints="1"/>
            </p:cNvSpPr>
            <p:nvPr/>
          </p:nvSpPr>
          <p:spPr bwMode="auto">
            <a:xfrm>
              <a:off x="7270483" y="3119025"/>
              <a:ext cx="314747" cy="279292"/>
            </a:xfrm>
            <a:custGeom>
              <a:avLst/>
              <a:gdLst>
                <a:gd name="T0" fmla="*/ 162 w 184"/>
                <a:gd name="T1" fmla="*/ 0 h 163"/>
                <a:gd name="T2" fmla="*/ 21 w 184"/>
                <a:gd name="T3" fmla="*/ 0 h 163"/>
                <a:gd name="T4" fmla="*/ 0 w 184"/>
                <a:gd name="T5" fmla="*/ 21 h 163"/>
                <a:gd name="T6" fmla="*/ 0 w 184"/>
                <a:gd name="T7" fmla="*/ 97 h 163"/>
                <a:gd name="T8" fmla="*/ 21 w 184"/>
                <a:gd name="T9" fmla="*/ 119 h 163"/>
                <a:gd name="T10" fmla="*/ 32 w 184"/>
                <a:gd name="T11" fmla="*/ 119 h 163"/>
                <a:gd name="T12" fmla="*/ 32 w 184"/>
                <a:gd name="T13" fmla="*/ 157 h 163"/>
                <a:gd name="T14" fmla="*/ 34 w 184"/>
                <a:gd name="T15" fmla="*/ 161 h 163"/>
                <a:gd name="T16" fmla="*/ 42 w 184"/>
                <a:gd name="T17" fmla="*/ 161 h 163"/>
                <a:gd name="T18" fmla="*/ 86 w 184"/>
                <a:gd name="T19" fmla="*/ 119 h 163"/>
                <a:gd name="T20" fmla="*/ 162 w 184"/>
                <a:gd name="T21" fmla="*/ 119 h 163"/>
                <a:gd name="T22" fmla="*/ 184 w 184"/>
                <a:gd name="T23" fmla="*/ 97 h 163"/>
                <a:gd name="T24" fmla="*/ 184 w 184"/>
                <a:gd name="T25" fmla="*/ 21 h 163"/>
                <a:gd name="T26" fmla="*/ 162 w 184"/>
                <a:gd name="T27" fmla="*/ 0 h 163"/>
                <a:gd name="T28" fmla="*/ 38 w 184"/>
                <a:gd name="T29" fmla="*/ 32 h 163"/>
                <a:gd name="T30" fmla="*/ 124 w 184"/>
                <a:gd name="T31" fmla="*/ 32 h 163"/>
                <a:gd name="T32" fmla="*/ 130 w 184"/>
                <a:gd name="T33" fmla="*/ 38 h 163"/>
                <a:gd name="T34" fmla="*/ 124 w 184"/>
                <a:gd name="T35" fmla="*/ 43 h 163"/>
                <a:gd name="T36" fmla="*/ 38 w 184"/>
                <a:gd name="T37" fmla="*/ 43 h 163"/>
                <a:gd name="T38" fmla="*/ 32 w 184"/>
                <a:gd name="T39" fmla="*/ 38 h 163"/>
                <a:gd name="T40" fmla="*/ 38 w 184"/>
                <a:gd name="T41" fmla="*/ 32 h 163"/>
                <a:gd name="T42" fmla="*/ 81 w 184"/>
                <a:gd name="T43" fmla="*/ 86 h 163"/>
                <a:gd name="T44" fmla="*/ 38 w 184"/>
                <a:gd name="T45" fmla="*/ 86 h 163"/>
                <a:gd name="T46" fmla="*/ 32 w 184"/>
                <a:gd name="T47" fmla="*/ 81 h 163"/>
                <a:gd name="T48" fmla="*/ 38 w 184"/>
                <a:gd name="T49" fmla="*/ 76 h 163"/>
                <a:gd name="T50" fmla="*/ 81 w 184"/>
                <a:gd name="T51" fmla="*/ 76 h 163"/>
                <a:gd name="T52" fmla="*/ 86 w 184"/>
                <a:gd name="T53" fmla="*/ 81 h 163"/>
                <a:gd name="T54" fmla="*/ 81 w 184"/>
                <a:gd name="T55" fmla="*/ 86 h 163"/>
                <a:gd name="T56" fmla="*/ 146 w 184"/>
                <a:gd name="T57" fmla="*/ 65 h 163"/>
                <a:gd name="T58" fmla="*/ 38 w 184"/>
                <a:gd name="T59" fmla="*/ 65 h 163"/>
                <a:gd name="T60" fmla="*/ 32 w 184"/>
                <a:gd name="T61" fmla="*/ 59 h 163"/>
                <a:gd name="T62" fmla="*/ 38 w 184"/>
                <a:gd name="T63" fmla="*/ 54 h 163"/>
                <a:gd name="T64" fmla="*/ 146 w 184"/>
                <a:gd name="T65" fmla="*/ 54 h 163"/>
                <a:gd name="T66" fmla="*/ 151 w 184"/>
                <a:gd name="T67" fmla="*/ 59 h 163"/>
                <a:gd name="T68" fmla="*/ 146 w 184"/>
                <a:gd name="T69" fmla="*/ 65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4" h="163">
                  <a:moveTo>
                    <a:pt x="162" y="0"/>
                  </a:moveTo>
                  <a:cubicBezTo>
                    <a:pt x="21" y="0"/>
                    <a:pt x="21" y="0"/>
                    <a:pt x="21" y="0"/>
                  </a:cubicBezTo>
                  <a:cubicBezTo>
                    <a:pt x="9" y="0"/>
                    <a:pt x="0" y="9"/>
                    <a:pt x="0" y="21"/>
                  </a:cubicBezTo>
                  <a:cubicBezTo>
                    <a:pt x="0" y="97"/>
                    <a:pt x="0" y="97"/>
                    <a:pt x="0" y="97"/>
                  </a:cubicBezTo>
                  <a:cubicBezTo>
                    <a:pt x="0" y="109"/>
                    <a:pt x="9" y="119"/>
                    <a:pt x="21" y="119"/>
                  </a:cubicBezTo>
                  <a:cubicBezTo>
                    <a:pt x="32" y="119"/>
                    <a:pt x="32" y="119"/>
                    <a:pt x="32" y="119"/>
                  </a:cubicBezTo>
                  <a:cubicBezTo>
                    <a:pt x="32" y="157"/>
                    <a:pt x="32" y="157"/>
                    <a:pt x="32" y="157"/>
                  </a:cubicBezTo>
                  <a:cubicBezTo>
                    <a:pt x="32" y="158"/>
                    <a:pt x="33" y="160"/>
                    <a:pt x="34" y="161"/>
                  </a:cubicBezTo>
                  <a:cubicBezTo>
                    <a:pt x="36" y="163"/>
                    <a:pt x="39" y="163"/>
                    <a:pt x="42" y="161"/>
                  </a:cubicBezTo>
                  <a:cubicBezTo>
                    <a:pt x="86" y="119"/>
                    <a:pt x="86" y="119"/>
                    <a:pt x="86" y="119"/>
                  </a:cubicBezTo>
                  <a:cubicBezTo>
                    <a:pt x="162" y="119"/>
                    <a:pt x="162" y="119"/>
                    <a:pt x="162" y="119"/>
                  </a:cubicBezTo>
                  <a:cubicBezTo>
                    <a:pt x="174" y="119"/>
                    <a:pt x="184" y="109"/>
                    <a:pt x="184" y="97"/>
                  </a:cubicBezTo>
                  <a:cubicBezTo>
                    <a:pt x="184" y="21"/>
                    <a:pt x="184" y="21"/>
                    <a:pt x="184" y="21"/>
                  </a:cubicBezTo>
                  <a:cubicBezTo>
                    <a:pt x="184" y="9"/>
                    <a:pt x="174" y="0"/>
                    <a:pt x="162" y="0"/>
                  </a:cubicBezTo>
                  <a:moveTo>
                    <a:pt x="38" y="32"/>
                  </a:moveTo>
                  <a:cubicBezTo>
                    <a:pt x="124" y="32"/>
                    <a:pt x="124" y="32"/>
                    <a:pt x="124" y="32"/>
                  </a:cubicBezTo>
                  <a:cubicBezTo>
                    <a:pt x="127" y="32"/>
                    <a:pt x="130" y="35"/>
                    <a:pt x="130" y="38"/>
                  </a:cubicBezTo>
                  <a:cubicBezTo>
                    <a:pt x="130" y="41"/>
                    <a:pt x="127" y="43"/>
                    <a:pt x="124" y="43"/>
                  </a:cubicBezTo>
                  <a:cubicBezTo>
                    <a:pt x="38" y="43"/>
                    <a:pt x="38" y="43"/>
                    <a:pt x="38" y="43"/>
                  </a:cubicBezTo>
                  <a:cubicBezTo>
                    <a:pt x="35" y="43"/>
                    <a:pt x="32" y="41"/>
                    <a:pt x="32" y="38"/>
                  </a:cubicBezTo>
                  <a:cubicBezTo>
                    <a:pt x="32" y="35"/>
                    <a:pt x="35" y="32"/>
                    <a:pt x="38" y="32"/>
                  </a:cubicBezTo>
                  <a:moveTo>
                    <a:pt x="81" y="86"/>
                  </a:moveTo>
                  <a:cubicBezTo>
                    <a:pt x="38" y="86"/>
                    <a:pt x="38" y="86"/>
                    <a:pt x="38" y="86"/>
                  </a:cubicBezTo>
                  <a:cubicBezTo>
                    <a:pt x="35" y="86"/>
                    <a:pt x="32" y="84"/>
                    <a:pt x="32" y="81"/>
                  </a:cubicBezTo>
                  <a:cubicBezTo>
                    <a:pt x="32" y="78"/>
                    <a:pt x="35" y="76"/>
                    <a:pt x="38" y="76"/>
                  </a:cubicBezTo>
                  <a:cubicBezTo>
                    <a:pt x="81" y="76"/>
                    <a:pt x="81" y="76"/>
                    <a:pt x="81" y="76"/>
                  </a:cubicBezTo>
                  <a:cubicBezTo>
                    <a:pt x="84" y="76"/>
                    <a:pt x="86" y="78"/>
                    <a:pt x="86" y="81"/>
                  </a:cubicBezTo>
                  <a:cubicBezTo>
                    <a:pt x="86" y="84"/>
                    <a:pt x="84" y="86"/>
                    <a:pt x="81" y="86"/>
                  </a:cubicBezTo>
                  <a:moveTo>
                    <a:pt x="146" y="65"/>
                  </a:moveTo>
                  <a:cubicBezTo>
                    <a:pt x="38" y="65"/>
                    <a:pt x="38" y="65"/>
                    <a:pt x="38" y="65"/>
                  </a:cubicBezTo>
                  <a:cubicBezTo>
                    <a:pt x="35" y="65"/>
                    <a:pt x="32" y="62"/>
                    <a:pt x="32" y="59"/>
                  </a:cubicBezTo>
                  <a:cubicBezTo>
                    <a:pt x="32" y="56"/>
                    <a:pt x="35" y="54"/>
                    <a:pt x="38" y="54"/>
                  </a:cubicBezTo>
                  <a:cubicBezTo>
                    <a:pt x="146" y="54"/>
                    <a:pt x="146" y="54"/>
                    <a:pt x="146" y="54"/>
                  </a:cubicBezTo>
                  <a:cubicBezTo>
                    <a:pt x="149" y="54"/>
                    <a:pt x="151" y="56"/>
                    <a:pt x="151" y="59"/>
                  </a:cubicBezTo>
                  <a:cubicBezTo>
                    <a:pt x="151" y="62"/>
                    <a:pt x="149" y="65"/>
                    <a:pt x="146" y="65"/>
                  </a:cubicBezTo>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nvGrpSpPr>
            <p:cNvPr id="63" name="Group 62">
              <a:extLst>
                <a:ext uri="{FF2B5EF4-FFF2-40B4-BE49-F238E27FC236}">
                  <a16:creationId xmlns:a16="http://schemas.microsoft.com/office/drawing/2014/main" id="{38B8CD20-8553-725B-110E-2F3F63CA022B}"/>
                </a:ext>
              </a:extLst>
            </p:cNvPr>
            <p:cNvGrpSpPr/>
            <p:nvPr/>
          </p:nvGrpSpPr>
          <p:grpSpPr>
            <a:xfrm>
              <a:off x="7859457" y="3784696"/>
              <a:ext cx="220685" cy="193913"/>
              <a:chOff x="8332788" y="4259263"/>
              <a:chExt cx="484188" cy="425449"/>
            </a:xfrm>
            <a:solidFill>
              <a:srgbClr val="CE003D"/>
            </a:solidFill>
          </p:grpSpPr>
          <p:sp>
            <p:nvSpPr>
              <p:cNvPr id="125" name="Freeform 159">
                <a:extLst>
                  <a:ext uri="{FF2B5EF4-FFF2-40B4-BE49-F238E27FC236}">
                    <a16:creationId xmlns:a16="http://schemas.microsoft.com/office/drawing/2014/main" id="{8035913E-1F11-3EA7-23E0-E457D24C8C41}"/>
                  </a:ext>
                </a:extLst>
              </p:cNvPr>
              <p:cNvSpPr>
                <a:spLocks/>
              </p:cNvSpPr>
              <p:nvPr/>
            </p:nvSpPr>
            <p:spPr bwMode="auto">
              <a:xfrm>
                <a:off x="8569326" y="4552950"/>
                <a:ext cx="131763" cy="131762"/>
              </a:xfrm>
              <a:custGeom>
                <a:avLst/>
                <a:gdLst>
                  <a:gd name="T0" fmla="*/ 13 w 35"/>
                  <a:gd name="T1" fmla="*/ 3 h 35"/>
                  <a:gd name="T2" fmla="*/ 33 w 35"/>
                  <a:gd name="T3" fmla="*/ 13 h 35"/>
                  <a:gd name="T4" fmla="*/ 23 w 35"/>
                  <a:gd name="T5" fmla="*/ 33 h 35"/>
                  <a:gd name="T6" fmla="*/ 3 w 35"/>
                  <a:gd name="T7" fmla="*/ 23 h 35"/>
                  <a:gd name="T8" fmla="*/ 13 w 35"/>
                  <a:gd name="T9" fmla="*/ 3 h 35"/>
                </a:gdLst>
                <a:ahLst/>
                <a:cxnLst>
                  <a:cxn ang="0">
                    <a:pos x="T0" y="T1"/>
                  </a:cxn>
                  <a:cxn ang="0">
                    <a:pos x="T2" y="T3"/>
                  </a:cxn>
                  <a:cxn ang="0">
                    <a:pos x="T4" y="T5"/>
                  </a:cxn>
                  <a:cxn ang="0">
                    <a:pos x="T6" y="T7"/>
                  </a:cxn>
                  <a:cxn ang="0">
                    <a:pos x="T8" y="T9"/>
                  </a:cxn>
                </a:cxnLst>
                <a:rect l="0" t="0" r="r" b="b"/>
                <a:pathLst>
                  <a:path w="35" h="35">
                    <a:moveTo>
                      <a:pt x="13" y="3"/>
                    </a:moveTo>
                    <a:cubicBezTo>
                      <a:pt x="21" y="0"/>
                      <a:pt x="30" y="5"/>
                      <a:pt x="33" y="13"/>
                    </a:cubicBezTo>
                    <a:cubicBezTo>
                      <a:pt x="35" y="21"/>
                      <a:pt x="31" y="30"/>
                      <a:pt x="23" y="33"/>
                    </a:cubicBezTo>
                    <a:cubicBezTo>
                      <a:pt x="15" y="35"/>
                      <a:pt x="6" y="31"/>
                      <a:pt x="3" y="23"/>
                    </a:cubicBezTo>
                    <a:cubicBezTo>
                      <a:pt x="0" y="15"/>
                      <a:pt x="5" y="6"/>
                      <a:pt x="13" y="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26" name="Freeform 160">
                <a:extLst>
                  <a:ext uri="{FF2B5EF4-FFF2-40B4-BE49-F238E27FC236}">
                    <a16:creationId xmlns:a16="http://schemas.microsoft.com/office/drawing/2014/main" id="{AE098B2C-89FF-9049-EEAA-2B7770990ED5}"/>
                  </a:ext>
                </a:extLst>
              </p:cNvPr>
              <p:cNvSpPr>
                <a:spLocks/>
              </p:cNvSpPr>
              <p:nvPr/>
            </p:nvSpPr>
            <p:spPr bwMode="auto">
              <a:xfrm>
                <a:off x="8445501" y="4395788"/>
                <a:ext cx="315913" cy="217487"/>
              </a:xfrm>
              <a:custGeom>
                <a:avLst/>
                <a:gdLst>
                  <a:gd name="T0" fmla="*/ 74 w 84"/>
                  <a:gd name="T1" fmla="*/ 12 h 58"/>
                  <a:gd name="T2" fmla="*/ 73 w 84"/>
                  <a:gd name="T3" fmla="*/ 12 h 58"/>
                  <a:gd name="T4" fmla="*/ 72 w 84"/>
                  <a:gd name="T5" fmla="*/ 11 h 58"/>
                  <a:gd name="T6" fmla="*/ 72 w 84"/>
                  <a:gd name="T7" fmla="*/ 11 h 58"/>
                  <a:gd name="T8" fmla="*/ 6 w 84"/>
                  <a:gd name="T9" fmla="*/ 36 h 58"/>
                  <a:gd name="T10" fmla="*/ 4 w 84"/>
                  <a:gd name="T11" fmla="*/ 38 h 58"/>
                  <a:gd name="T12" fmla="*/ 2 w 84"/>
                  <a:gd name="T13" fmla="*/ 42 h 58"/>
                  <a:gd name="T14" fmla="*/ 7 w 84"/>
                  <a:gd name="T15" fmla="*/ 56 h 58"/>
                  <a:gd name="T16" fmla="*/ 20 w 84"/>
                  <a:gd name="T17" fmla="*/ 51 h 58"/>
                  <a:gd name="T18" fmla="*/ 23 w 84"/>
                  <a:gd name="T19" fmla="*/ 44 h 58"/>
                  <a:gd name="T20" fmla="*/ 65 w 84"/>
                  <a:gd name="T21" fmla="*/ 30 h 58"/>
                  <a:gd name="T22" fmla="*/ 70 w 84"/>
                  <a:gd name="T23" fmla="*/ 32 h 58"/>
                  <a:gd name="T24" fmla="*/ 83 w 84"/>
                  <a:gd name="T25" fmla="*/ 27 h 58"/>
                  <a:gd name="T26" fmla="*/ 84 w 84"/>
                  <a:gd name="T27" fmla="*/ 20 h 58"/>
                  <a:gd name="T28" fmla="*/ 79 w 84"/>
                  <a:gd name="T29" fmla="*/ 14 h 58"/>
                  <a:gd name="T30" fmla="*/ 74 w 84"/>
                  <a:gd name="T31" fmla="*/ 1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4" h="58">
                    <a:moveTo>
                      <a:pt x="74" y="12"/>
                    </a:moveTo>
                    <a:cubicBezTo>
                      <a:pt x="74" y="12"/>
                      <a:pt x="73" y="12"/>
                      <a:pt x="73" y="12"/>
                    </a:cubicBezTo>
                    <a:cubicBezTo>
                      <a:pt x="72" y="11"/>
                      <a:pt x="72" y="11"/>
                      <a:pt x="72" y="11"/>
                    </a:cubicBezTo>
                    <a:cubicBezTo>
                      <a:pt x="72" y="11"/>
                      <a:pt x="72" y="11"/>
                      <a:pt x="72" y="11"/>
                    </a:cubicBezTo>
                    <a:cubicBezTo>
                      <a:pt x="46" y="0"/>
                      <a:pt x="18" y="11"/>
                      <a:pt x="6" y="36"/>
                    </a:cubicBezTo>
                    <a:cubicBezTo>
                      <a:pt x="4" y="38"/>
                      <a:pt x="4" y="38"/>
                      <a:pt x="4" y="38"/>
                    </a:cubicBezTo>
                    <a:cubicBezTo>
                      <a:pt x="2" y="42"/>
                      <a:pt x="2" y="42"/>
                      <a:pt x="2" y="42"/>
                    </a:cubicBezTo>
                    <a:cubicBezTo>
                      <a:pt x="0" y="47"/>
                      <a:pt x="2" y="53"/>
                      <a:pt x="7" y="56"/>
                    </a:cubicBezTo>
                    <a:cubicBezTo>
                      <a:pt x="12" y="58"/>
                      <a:pt x="18" y="56"/>
                      <a:pt x="20" y="51"/>
                    </a:cubicBezTo>
                    <a:cubicBezTo>
                      <a:pt x="23" y="44"/>
                      <a:pt x="23" y="44"/>
                      <a:pt x="23" y="44"/>
                    </a:cubicBezTo>
                    <a:cubicBezTo>
                      <a:pt x="31" y="29"/>
                      <a:pt x="50" y="22"/>
                      <a:pt x="65" y="30"/>
                    </a:cubicBezTo>
                    <a:cubicBezTo>
                      <a:pt x="70" y="32"/>
                      <a:pt x="70" y="32"/>
                      <a:pt x="70" y="32"/>
                    </a:cubicBezTo>
                    <a:cubicBezTo>
                      <a:pt x="75" y="34"/>
                      <a:pt x="81" y="32"/>
                      <a:pt x="83" y="27"/>
                    </a:cubicBezTo>
                    <a:cubicBezTo>
                      <a:pt x="84" y="25"/>
                      <a:pt x="84" y="22"/>
                      <a:pt x="84" y="20"/>
                    </a:cubicBezTo>
                    <a:cubicBezTo>
                      <a:pt x="83" y="18"/>
                      <a:pt x="81" y="16"/>
                      <a:pt x="79" y="14"/>
                    </a:cubicBezTo>
                    <a:lnTo>
                      <a:pt x="7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27" name="Freeform 161">
                <a:extLst>
                  <a:ext uri="{FF2B5EF4-FFF2-40B4-BE49-F238E27FC236}">
                    <a16:creationId xmlns:a16="http://schemas.microsoft.com/office/drawing/2014/main" id="{196BFF8C-0F75-2074-10C9-D98C398A416E}"/>
                  </a:ext>
                </a:extLst>
              </p:cNvPr>
              <p:cNvSpPr>
                <a:spLocks/>
              </p:cNvSpPr>
              <p:nvPr/>
            </p:nvSpPr>
            <p:spPr bwMode="auto">
              <a:xfrm>
                <a:off x="8332788" y="4259263"/>
                <a:ext cx="484188" cy="296862"/>
              </a:xfrm>
              <a:custGeom>
                <a:avLst/>
                <a:gdLst>
                  <a:gd name="T0" fmla="*/ 123 w 129"/>
                  <a:gd name="T1" fmla="*/ 21 h 79"/>
                  <a:gd name="T2" fmla="*/ 119 w 129"/>
                  <a:gd name="T3" fmla="*/ 19 h 79"/>
                  <a:gd name="T4" fmla="*/ 118 w 129"/>
                  <a:gd name="T5" fmla="*/ 19 h 79"/>
                  <a:gd name="T6" fmla="*/ 115 w 129"/>
                  <a:gd name="T7" fmla="*/ 17 h 79"/>
                  <a:gd name="T8" fmla="*/ 113 w 129"/>
                  <a:gd name="T9" fmla="*/ 17 h 79"/>
                  <a:gd name="T10" fmla="*/ 6 w 129"/>
                  <a:gd name="T11" fmla="*/ 57 h 79"/>
                  <a:gd name="T12" fmla="*/ 5 w 129"/>
                  <a:gd name="T13" fmla="*/ 57 h 79"/>
                  <a:gd name="T14" fmla="*/ 2 w 129"/>
                  <a:gd name="T15" fmla="*/ 65 h 79"/>
                  <a:gd name="T16" fmla="*/ 6 w 129"/>
                  <a:gd name="T17" fmla="*/ 77 h 79"/>
                  <a:gd name="T18" fmla="*/ 18 w 129"/>
                  <a:gd name="T19" fmla="*/ 73 h 79"/>
                  <a:gd name="T20" fmla="*/ 22 w 129"/>
                  <a:gd name="T21" fmla="*/ 65 h 79"/>
                  <a:gd name="T22" fmla="*/ 22 w 129"/>
                  <a:gd name="T23" fmla="*/ 65 h 79"/>
                  <a:gd name="T24" fmla="*/ 109 w 129"/>
                  <a:gd name="T25" fmla="*/ 34 h 79"/>
                  <a:gd name="T26" fmla="*/ 115 w 129"/>
                  <a:gd name="T27" fmla="*/ 37 h 79"/>
                  <a:gd name="T28" fmla="*/ 127 w 129"/>
                  <a:gd name="T29" fmla="*/ 33 h 79"/>
                  <a:gd name="T30" fmla="*/ 123 w 129"/>
                  <a:gd name="T31" fmla="*/ 21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9" h="79">
                    <a:moveTo>
                      <a:pt x="123" y="21"/>
                    </a:moveTo>
                    <a:cubicBezTo>
                      <a:pt x="119" y="19"/>
                      <a:pt x="119" y="19"/>
                      <a:pt x="119" y="19"/>
                    </a:cubicBezTo>
                    <a:cubicBezTo>
                      <a:pt x="118" y="19"/>
                      <a:pt x="118" y="19"/>
                      <a:pt x="118" y="19"/>
                    </a:cubicBezTo>
                    <a:cubicBezTo>
                      <a:pt x="115" y="17"/>
                      <a:pt x="115" y="17"/>
                      <a:pt x="115" y="17"/>
                    </a:cubicBezTo>
                    <a:cubicBezTo>
                      <a:pt x="115" y="17"/>
                      <a:pt x="114" y="17"/>
                      <a:pt x="113" y="17"/>
                    </a:cubicBezTo>
                    <a:cubicBezTo>
                      <a:pt x="73" y="0"/>
                      <a:pt x="26" y="18"/>
                      <a:pt x="6" y="57"/>
                    </a:cubicBezTo>
                    <a:cubicBezTo>
                      <a:pt x="6" y="57"/>
                      <a:pt x="6" y="57"/>
                      <a:pt x="5" y="57"/>
                    </a:cubicBezTo>
                    <a:cubicBezTo>
                      <a:pt x="2" y="65"/>
                      <a:pt x="2" y="65"/>
                      <a:pt x="2" y="65"/>
                    </a:cubicBezTo>
                    <a:cubicBezTo>
                      <a:pt x="0" y="69"/>
                      <a:pt x="2" y="75"/>
                      <a:pt x="6" y="77"/>
                    </a:cubicBezTo>
                    <a:cubicBezTo>
                      <a:pt x="10" y="79"/>
                      <a:pt x="16" y="77"/>
                      <a:pt x="18" y="73"/>
                    </a:cubicBezTo>
                    <a:cubicBezTo>
                      <a:pt x="22" y="65"/>
                      <a:pt x="22" y="65"/>
                      <a:pt x="22" y="65"/>
                    </a:cubicBezTo>
                    <a:cubicBezTo>
                      <a:pt x="22" y="65"/>
                      <a:pt x="22" y="65"/>
                      <a:pt x="22" y="65"/>
                    </a:cubicBezTo>
                    <a:cubicBezTo>
                      <a:pt x="38" y="33"/>
                      <a:pt x="76" y="20"/>
                      <a:pt x="109" y="34"/>
                    </a:cubicBezTo>
                    <a:cubicBezTo>
                      <a:pt x="115" y="37"/>
                      <a:pt x="115" y="37"/>
                      <a:pt x="115" y="37"/>
                    </a:cubicBezTo>
                    <a:cubicBezTo>
                      <a:pt x="119" y="39"/>
                      <a:pt x="125" y="37"/>
                      <a:pt x="127" y="33"/>
                    </a:cubicBezTo>
                    <a:cubicBezTo>
                      <a:pt x="129" y="29"/>
                      <a:pt x="127" y="23"/>
                      <a:pt x="123" y="2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sp>
          <p:nvSpPr>
            <p:cNvPr id="64" name="Freeform 162">
              <a:extLst>
                <a:ext uri="{FF2B5EF4-FFF2-40B4-BE49-F238E27FC236}">
                  <a16:creationId xmlns:a16="http://schemas.microsoft.com/office/drawing/2014/main" id="{97A1D246-6A37-4B59-F5B8-6D43FA93A37D}"/>
                </a:ext>
              </a:extLst>
            </p:cNvPr>
            <p:cNvSpPr>
              <a:spLocks/>
            </p:cNvSpPr>
            <p:nvPr/>
          </p:nvSpPr>
          <p:spPr bwMode="auto">
            <a:xfrm>
              <a:off x="7938325" y="2923665"/>
              <a:ext cx="195361" cy="181612"/>
            </a:xfrm>
            <a:custGeom>
              <a:avLst/>
              <a:gdLst>
                <a:gd name="T0" fmla="*/ 107 w 114"/>
                <a:gd name="T1" fmla="*/ 55 h 106"/>
                <a:gd name="T2" fmla="*/ 59 w 114"/>
                <a:gd name="T3" fmla="*/ 38 h 106"/>
                <a:gd name="T4" fmla="*/ 57 w 114"/>
                <a:gd name="T5" fmla="*/ 43 h 106"/>
                <a:gd name="T6" fmla="*/ 56 w 114"/>
                <a:gd name="T7" fmla="*/ 38 h 106"/>
                <a:gd name="T8" fmla="*/ 6 w 114"/>
                <a:gd name="T9" fmla="*/ 34 h 106"/>
                <a:gd name="T10" fmla="*/ 44 w 114"/>
                <a:gd name="T11" fmla="*/ 106 h 106"/>
                <a:gd name="T12" fmla="*/ 44 w 114"/>
                <a:gd name="T13" fmla="*/ 106 h 106"/>
                <a:gd name="T14" fmla="*/ 44 w 114"/>
                <a:gd name="T15" fmla="*/ 106 h 106"/>
                <a:gd name="T16" fmla="*/ 44 w 114"/>
                <a:gd name="T17" fmla="*/ 106 h 106"/>
                <a:gd name="T18" fmla="*/ 44 w 114"/>
                <a:gd name="T19" fmla="*/ 106 h 106"/>
                <a:gd name="T20" fmla="*/ 107 w 114"/>
                <a:gd name="T21" fmla="*/ 5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4" h="106">
                  <a:moveTo>
                    <a:pt x="107" y="55"/>
                  </a:moveTo>
                  <a:cubicBezTo>
                    <a:pt x="114" y="21"/>
                    <a:pt x="73" y="8"/>
                    <a:pt x="59" y="38"/>
                  </a:cubicBezTo>
                  <a:cubicBezTo>
                    <a:pt x="57" y="43"/>
                    <a:pt x="57" y="43"/>
                    <a:pt x="57" y="43"/>
                  </a:cubicBezTo>
                  <a:cubicBezTo>
                    <a:pt x="56" y="38"/>
                    <a:pt x="56" y="38"/>
                    <a:pt x="56" y="38"/>
                  </a:cubicBezTo>
                  <a:cubicBezTo>
                    <a:pt x="55" y="5"/>
                    <a:pt x="13" y="0"/>
                    <a:pt x="6" y="34"/>
                  </a:cubicBezTo>
                  <a:cubicBezTo>
                    <a:pt x="0" y="61"/>
                    <a:pt x="30" y="86"/>
                    <a:pt x="44" y="106"/>
                  </a:cubicBezTo>
                  <a:cubicBezTo>
                    <a:pt x="44" y="106"/>
                    <a:pt x="44" y="106"/>
                    <a:pt x="44" y="106"/>
                  </a:cubicBezTo>
                  <a:cubicBezTo>
                    <a:pt x="44" y="106"/>
                    <a:pt x="44" y="106"/>
                    <a:pt x="44" y="106"/>
                  </a:cubicBezTo>
                  <a:cubicBezTo>
                    <a:pt x="44" y="106"/>
                    <a:pt x="44" y="106"/>
                    <a:pt x="44" y="106"/>
                  </a:cubicBezTo>
                  <a:cubicBezTo>
                    <a:pt x="44" y="106"/>
                    <a:pt x="44" y="106"/>
                    <a:pt x="44" y="106"/>
                  </a:cubicBezTo>
                  <a:cubicBezTo>
                    <a:pt x="64" y="93"/>
                    <a:pt x="101" y="82"/>
                    <a:pt x="107" y="55"/>
                  </a:cubicBezTo>
                  <a:close/>
                </a:path>
              </a:pathLst>
            </a:custGeom>
            <a:solidFill>
              <a:srgbClr val="CE003D"/>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65" name="Freeform 163">
              <a:extLst>
                <a:ext uri="{FF2B5EF4-FFF2-40B4-BE49-F238E27FC236}">
                  <a16:creationId xmlns:a16="http://schemas.microsoft.com/office/drawing/2014/main" id="{82833749-68B7-E532-E1AD-2BFAE14D05B2}"/>
                </a:ext>
              </a:extLst>
            </p:cNvPr>
            <p:cNvSpPr>
              <a:spLocks noEditPoints="1"/>
            </p:cNvSpPr>
            <p:nvPr/>
          </p:nvSpPr>
          <p:spPr bwMode="auto">
            <a:xfrm>
              <a:off x="5910198" y="4171799"/>
              <a:ext cx="232985" cy="197531"/>
            </a:xfrm>
            <a:custGeom>
              <a:avLst/>
              <a:gdLst>
                <a:gd name="T0" fmla="*/ 2 w 136"/>
                <a:gd name="T1" fmla="*/ 32 h 115"/>
                <a:gd name="T2" fmla="*/ 0 w 136"/>
                <a:gd name="T3" fmla="*/ 35 h 115"/>
                <a:gd name="T4" fmla="*/ 2 w 136"/>
                <a:gd name="T5" fmla="*/ 39 h 115"/>
                <a:gd name="T6" fmla="*/ 14 w 136"/>
                <a:gd name="T7" fmla="*/ 51 h 115"/>
                <a:gd name="T8" fmla="*/ 78 w 136"/>
                <a:gd name="T9" fmla="*/ 115 h 115"/>
                <a:gd name="T10" fmla="*/ 136 w 136"/>
                <a:gd name="T11" fmla="*/ 56 h 115"/>
                <a:gd name="T12" fmla="*/ 123 w 136"/>
                <a:gd name="T13" fmla="*/ 63 h 115"/>
                <a:gd name="T14" fmla="*/ 90 w 136"/>
                <a:gd name="T15" fmla="*/ 46 h 115"/>
                <a:gd name="T16" fmla="*/ 90 w 136"/>
                <a:gd name="T17" fmla="*/ 40 h 115"/>
                <a:gd name="T18" fmla="*/ 56 w 136"/>
                <a:gd name="T19" fmla="*/ 0 h 115"/>
                <a:gd name="T20" fmla="*/ 19 w 136"/>
                <a:gd name="T21" fmla="*/ 24 h 115"/>
                <a:gd name="T22" fmla="*/ 2 w 136"/>
                <a:gd name="T23" fmla="*/ 32 h 115"/>
                <a:gd name="T24" fmla="*/ 35 w 136"/>
                <a:gd name="T25" fmla="*/ 39 h 115"/>
                <a:gd name="T26" fmla="*/ 29 w 136"/>
                <a:gd name="T27" fmla="*/ 33 h 115"/>
                <a:gd name="T28" fmla="*/ 35 w 136"/>
                <a:gd name="T29" fmla="*/ 27 h 115"/>
                <a:gd name="T30" fmla="*/ 41 w 136"/>
                <a:gd name="T31" fmla="*/ 33 h 115"/>
                <a:gd name="T32" fmla="*/ 35 w 136"/>
                <a:gd name="T33" fmla="*/ 39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6" h="115">
                  <a:moveTo>
                    <a:pt x="2" y="32"/>
                  </a:moveTo>
                  <a:cubicBezTo>
                    <a:pt x="1" y="33"/>
                    <a:pt x="0" y="34"/>
                    <a:pt x="0" y="35"/>
                  </a:cubicBezTo>
                  <a:cubicBezTo>
                    <a:pt x="0" y="37"/>
                    <a:pt x="1" y="38"/>
                    <a:pt x="2" y="39"/>
                  </a:cubicBezTo>
                  <a:cubicBezTo>
                    <a:pt x="14" y="51"/>
                    <a:pt x="14" y="51"/>
                    <a:pt x="14" y="51"/>
                  </a:cubicBezTo>
                  <a:cubicBezTo>
                    <a:pt x="14" y="90"/>
                    <a:pt x="40" y="115"/>
                    <a:pt x="78" y="115"/>
                  </a:cubicBezTo>
                  <a:cubicBezTo>
                    <a:pt x="110" y="115"/>
                    <a:pt x="136" y="80"/>
                    <a:pt x="136" y="56"/>
                  </a:cubicBezTo>
                  <a:cubicBezTo>
                    <a:pt x="136" y="45"/>
                    <a:pt x="132" y="58"/>
                    <a:pt x="123" y="63"/>
                  </a:cubicBezTo>
                  <a:cubicBezTo>
                    <a:pt x="114" y="68"/>
                    <a:pt x="89" y="72"/>
                    <a:pt x="90" y="46"/>
                  </a:cubicBezTo>
                  <a:cubicBezTo>
                    <a:pt x="90" y="44"/>
                    <a:pt x="90" y="42"/>
                    <a:pt x="90" y="40"/>
                  </a:cubicBezTo>
                  <a:cubicBezTo>
                    <a:pt x="90" y="19"/>
                    <a:pt x="77" y="0"/>
                    <a:pt x="56" y="0"/>
                  </a:cubicBezTo>
                  <a:cubicBezTo>
                    <a:pt x="36" y="0"/>
                    <a:pt x="22" y="11"/>
                    <a:pt x="19" y="24"/>
                  </a:cubicBezTo>
                  <a:cubicBezTo>
                    <a:pt x="2" y="32"/>
                    <a:pt x="2" y="32"/>
                    <a:pt x="2" y="32"/>
                  </a:cubicBezTo>
                  <a:moveTo>
                    <a:pt x="35" y="39"/>
                  </a:moveTo>
                  <a:cubicBezTo>
                    <a:pt x="32" y="39"/>
                    <a:pt x="29" y="36"/>
                    <a:pt x="29" y="33"/>
                  </a:cubicBezTo>
                  <a:cubicBezTo>
                    <a:pt x="29" y="30"/>
                    <a:pt x="32" y="27"/>
                    <a:pt x="35" y="27"/>
                  </a:cubicBezTo>
                  <a:cubicBezTo>
                    <a:pt x="38" y="27"/>
                    <a:pt x="41" y="30"/>
                    <a:pt x="41" y="33"/>
                  </a:cubicBezTo>
                  <a:cubicBezTo>
                    <a:pt x="41" y="36"/>
                    <a:pt x="38" y="39"/>
                    <a:pt x="35" y="39"/>
                  </a:cubicBezTo>
                </a:path>
              </a:pathLst>
            </a:custGeom>
            <a:solidFill>
              <a:srgbClr val="CE003D"/>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66" name="Freeform 164">
              <a:extLst>
                <a:ext uri="{FF2B5EF4-FFF2-40B4-BE49-F238E27FC236}">
                  <a16:creationId xmlns:a16="http://schemas.microsoft.com/office/drawing/2014/main" id="{87BDEAE4-B0A5-1993-E1A3-53E2E7474216}"/>
                </a:ext>
              </a:extLst>
            </p:cNvPr>
            <p:cNvSpPr>
              <a:spLocks noEditPoints="1"/>
            </p:cNvSpPr>
            <p:nvPr/>
          </p:nvSpPr>
          <p:spPr bwMode="auto">
            <a:xfrm>
              <a:off x="6610600" y="3713064"/>
              <a:ext cx="162800" cy="229367"/>
            </a:xfrm>
            <a:custGeom>
              <a:avLst/>
              <a:gdLst>
                <a:gd name="T0" fmla="*/ 47 w 95"/>
                <a:gd name="T1" fmla="*/ 0 h 134"/>
                <a:gd name="T2" fmla="*/ 0 w 95"/>
                <a:gd name="T3" fmla="*/ 47 h 134"/>
                <a:gd name="T4" fmla="*/ 47 w 95"/>
                <a:gd name="T5" fmla="*/ 134 h 134"/>
                <a:gd name="T6" fmla="*/ 95 w 95"/>
                <a:gd name="T7" fmla="*/ 47 h 134"/>
                <a:gd name="T8" fmla="*/ 47 w 95"/>
                <a:gd name="T9" fmla="*/ 0 h 134"/>
                <a:gd name="T10" fmla="*/ 47 w 95"/>
                <a:gd name="T11" fmla="*/ 55 h 134"/>
                <a:gd name="T12" fmla="*/ 32 w 95"/>
                <a:gd name="T13" fmla="*/ 40 h 134"/>
                <a:gd name="T14" fmla="*/ 47 w 95"/>
                <a:gd name="T15" fmla="*/ 25 h 134"/>
                <a:gd name="T16" fmla="*/ 62 w 95"/>
                <a:gd name="T17" fmla="*/ 40 h 134"/>
                <a:gd name="T18" fmla="*/ 47 w 95"/>
                <a:gd name="T19" fmla="*/ 55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34">
                  <a:moveTo>
                    <a:pt x="47" y="0"/>
                  </a:moveTo>
                  <a:cubicBezTo>
                    <a:pt x="21" y="0"/>
                    <a:pt x="0" y="21"/>
                    <a:pt x="0" y="47"/>
                  </a:cubicBezTo>
                  <a:cubicBezTo>
                    <a:pt x="0" y="73"/>
                    <a:pt x="47" y="134"/>
                    <a:pt x="47" y="134"/>
                  </a:cubicBezTo>
                  <a:cubicBezTo>
                    <a:pt x="47" y="134"/>
                    <a:pt x="95" y="73"/>
                    <a:pt x="95" y="47"/>
                  </a:cubicBezTo>
                  <a:cubicBezTo>
                    <a:pt x="95" y="21"/>
                    <a:pt x="73" y="0"/>
                    <a:pt x="47" y="0"/>
                  </a:cubicBezTo>
                  <a:close/>
                  <a:moveTo>
                    <a:pt x="47" y="55"/>
                  </a:moveTo>
                  <a:cubicBezTo>
                    <a:pt x="39" y="55"/>
                    <a:pt x="32" y="48"/>
                    <a:pt x="32" y="40"/>
                  </a:cubicBezTo>
                  <a:cubicBezTo>
                    <a:pt x="32" y="32"/>
                    <a:pt x="39" y="25"/>
                    <a:pt x="47" y="25"/>
                  </a:cubicBezTo>
                  <a:cubicBezTo>
                    <a:pt x="55" y="25"/>
                    <a:pt x="62" y="32"/>
                    <a:pt x="62" y="40"/>
                  </a:cubicBezTo>
                  <a:cubicBezTo>
                    <a:pt x="62" y="48"/>
                    <a:pt x="55" y="55"/>
                    <a:pt x="47" y="55"/>
                  </a:cubicBezTo>
                  <a:close/>
                </a:path>
              </a:pathLst>
            </a:cu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67" name="Freeform 165">
              <a:extLst>
                <a:ext uri="{FF2B5EF4-FFF2-40B4-BE49-F238E27FC236}">
                  <a16:creationId xmlns:a16="http://schemas.microsoft.com/office/drawing/2014/main" id="{F1E38934-94DA-41F2-AE6D-16186F9202F4}"/>
                </a:ext>
              </a:extLst>
            </p:cNvPr>
            <p:cNvSpPr>
              <a:spLocks noEditPoints="1"/>
            </p:cNvSpPr>
            <p:nvPr/>
          </p:nvSpPr>
          <p:spPr bwMode="auto">
            <a:xfrm>
              <a:off x="7234305" y="2839732"/>
              <a:ext cx="121557" cy="172930"/>
            </a:xfrm>
            <a:custGeom>
              <a:avLst/>
              <a:gdLst>
                <a:gd name="T0" fmla="*/ 36 w 71"/>
                <a:gd name="T1" fmla="*/ 0 h 101"/>
                <a:gd name="T2" fmla="*/ 0 w 71"/>
                <a:gd name="T3" fmla="*/ 36 h 101"/>
                <a:gd name="T4" fmla="*/ 36 w 71"/>
                <a:gd name="T5" fmla="*/ 101 h 101"/>
                <a:gd name="T6" fmla="*/ 71 w 71"/>
                <a:gd name="T7" fmla="*/ 36 h 101"/>
                <a:gd name="T8" fmla="*/ 36 w 71"/>
                <a:gd name="T9" fmla="*/ 0 h 101"/>
                <a:gd name="T10" fmla="*/ 36 w 71"/>
                <a:gd name="T11" fmla="*/ 41 h 101"/>
                <a:gd name="T12" fmla="*/ 25 w 71"/>
                <a:gd name="T13" fmla="*/ 30 h 101"/>
                <a:gd name="T14" fmla="*/ 36 w 71"/>
                <a:gd name="T15" fmla="*/ 19 h 101"/>
                <a:gd name="T16" fmla="*/ 47 w 71"/>
                <a:gd name="T17" fmla="*/ 30 h 101"/>
                <a:gd name="T18" fmla="*/ 36 w 71"/>
                <a:gd name="T19" fmla="*/ 4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101">
                  <a:moveTo>
                    <a:pt x="36" y="0"/>
                  </a:moveTo>
                  <a:cubicBezTo>
                    <a:pt x="16" y="0"/>
                    <a:pt x="0" y="16"/>
                    <a:pt x="0" y="36"/>
                  </a:cubicBezTo>
                  <a:cubicBezTo>
                    <a:pt x="0" y="55"/>
                    <a:pt x="36" y="101"/>
                    <a:pt x="36" y="101"/>
                  </a:cubicBezTo>
                  <a:cubicBezTo>
                    <a:pt x="36" y="101"/>
                    <a:pt x="71" y="55"/>
                    <a:pt x="71" y="36"/>
                  </a:cubicBezTo>
                  <a:cubicBezTo>
                    <a:pt x="71" y="16"/>
                    <a:pt x="55" y="0"/>
                    <a:pt x="36" y="0"/>
                  </a:cubicBezTo>
                  <a:close/>
                  <a:moveTo>
                    <a:pt x="36" y="41"/>
                  </a:moveTo>
                  <a:cubicBezTo>
                    <a:pt x="30" y="41"/>
                    <a:pt x="25" y="37"/>
                    <a:pt x="25" y="30"/>
                  </a:cubicBezTo>
                  <a:cubicBezTo>
                    <a:pt x="25" y="24"/>
                    <a:pt x="30" y="19"/>
                    <a:pt x="36" y="19"/>
                  </a:cubicBezTo>
                  <a:cubicBezTo>
                    <a:pt x="42" y="19"/>
                    <a:pt x="47" y="24"/>
                    <a:pt x="47" y="30"/>
                  </a:cubicBezTo>
                  <a:cubicBezTo>
                    <a:pt x="47" y="37"/>
                    <a:pt x="42" y="41"/>
                    <a:pt x="36" y="41"/>
                  </a:cubicBezTo>
                  <a:close/>
                </a:path>
              </a:pathLst>
            </a:custGeom>
            <a:solidFill>
              <a:srgbClr val="CE003D"/>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nvGrpSpPr>
            <p:cNvPr id="68" name="Group 67">
              <a:extLst>
                <a:ext uri="{FF2B5EF4-FFF2-40B4-BE49-F238E27FC236}">
                  <a16:creationId xmlns:a16="http://schemas.microsoft.com/office/drawing/2014/main" id="{C48EE037-395E-E59D-2472-F0A7B6BAE21A}"/>
                </a:ext>
              </a:extLst>
            </p:cNvPr>
            <p:cNvGrpSpPr/>
            <p:nvPr/>
          </p:nvGrpSpPr>
          <p:grpSpPr>
            <a:xfrm>
              <a:off x="6829837" y="2101705"/>
              <a:ext cx="275675" cy="73079"/>
              <a:chOff x="6073776" y="566738"/>
              <a:chExt cx="604838" cy="160337"/>
            </a:xfrm>
            <a:solidFill>
              <a:srgbClr val="CE003D"/>
            </a:solidFill>
          </p:grpSpPr>
          <p:sp>
            <p:nvSpPr>
              <p:cNvPr id="122" name="Freeform 166">
                <a:extLst>
                  <a:ext uri="{FF2B5EF4-FFF2-40B4-BE49-F238E27FC236}">
                    <a16:creationId xmlns:a16="http://schemas.microsoft.com/office/drawing/2014/main" id="{B2E6DDDE-A479-6589-9BF0-862C5A1C3EF6}"/>
                  </a:ext>
                </a:extLst>
              </p:cNvPr>
              <p:cNvSpPr>
                <a:spLocks/>
              </p:cNvSpPr>
              <p:nvPr/>
            </p:nvSpPr>
            <p:spPr bwMode="auto">
              <a:xfrm>
                <a:off x="6073776" y="566738"/>
                <a:ext cx="195263" cy="160337"/>
              </a:xfrm>
              <a:custGeom>
                <a:avLst/>
                <a:gdLst>
                  <a:gd name="T0" fmla="*/ 11 w 52"/>
                  <a:gd name="T1" fmla="*/ 43 h 43"/>
                  <a:gd name="T2" fmla="*/ 0 w 52"/>
                  <a:gd name="T3" fmla="*/ 0 h 43"/>
                  <a:gd name="T4" fmla="*/ 6 w 52"/>
                  <a:gd name="T5" fmla="*/ 0 h 43"/>
                  <a:gd name="T6" fmla="*/ 11 w 52"/>
                  <a:gd name="T7" fmla="*/ 22 h 43"/>
                  <a:gd name="T8" fmla="*/ 14 w 52"/>
                  <a:gd name="T9" fmla="*/ 37 h 43"/>
                  <a:gd name="T10" fmla="*/ 14 w 52"/>
                  <a:gd name="T11" fmla="*/ 37 h 43"/>
                  <a:gd name="T12" fmla="*/ 18 w 52"/>
                  <a:gd name="T13" fmla="*/ 22 h 43"/>
                  <a:gd name="T14" fmla="*/ 23 w 52"/>
                  <a:gd name="T15" fmla="*/ 0 h 43"/>
                  <a:gd name="T16" fmla="*/ 29 w 52"/>
                  <a:gd name="T17" fmla="*/ 0 h 43"/>
                  <a:gd name="T18" fmla="*/ 34 w 52"/>
                  <a:gd name="T19" fmla="*/ 22 h 43"/>
                  <a:gd name="T20" fmla="*/ 37 w 52"/>
                  <a:gd name="T21" fmla="*/ 36 h 43"/>
                  <a:gd name="T22" fmla="*/ 37 w 52"/>
                  <a:gd name="T23" fmla="*/ 36 h 43"/>
                  <a:gd name="T24" fmla="*/ 41 w 52"/>
                  <a:gd name="T25" fmla="*/ 22 h 43"/>
                  <a:gd name="T26" fmla="*/ 46 w 52"/>
                  <a:gd name="T27" fmla="*/ 0 h 43"/>
                  <a:gd name="T28" fmla="*/ 52 w 52"/>
                  <a:gd name="T29" fmla="*/ 0 h 43"/>
                  <a:gd name="T30" fmla="*/ 40 w 52"/>
                  <a:gd name="T31" fmla="*/ 43 h 43"/>
                  <a:gd name="T32" fmla="*/ 34 w 52"/>
                  <a:gd name="T33" fmla="*/ 43 h 43"/>
                  <a:gd name="T34" fmla="*/ 29 w 52"/>
                  <a:gd name="T35" fmla="*/ 21 h 43"/>
                  <a:gd name="T36" fmla="*/ 26 w 52"/>
                  <a:gd name="T37" fmla="*/ 7 h 43"/>
                  <a:gd name="T38" fmla="*/ 26 w 52"/>
                  <a:gd name="T39" fmla="*/ 7 h 43"/>
                  <a:gd name="T40" fmla="*/ 23 w 52"/>
                  <a:gd name="T41" fmla="*/ 21 h 43"/>
                  <a:gd name="T42" fmla="*/ 17 w 52"/>
                  <a:gd name="T43" fmla="*/ 43 h 43"/>
                  <a:gd name="T44" fmla="*/ 11 w 52"/>
                  <a:gd name="T45"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2" h="43">
                    <a:moveTo>
                      <a:pt x="11" y="43"/>
                    </a:moveTo>
                    <a:cubicBezTo>
                      <a:pt x="0" y="0"/>
                      <a:pt x="0" y="0"/>
                      <a:pt x="0" y="0"/>
                    </a:cubicBezTo>
                    <a:cubicBezTo>
                      <a:pt x="6" y="0"/>
                      <a:pt x="6" y="0"/>
                      <a:pt x="6" y="0"/>
                    </a:cubicBezTo>
                    <a:cubicBezTo>
                      <a:pt x="11" y="22"/>
                      <a:pt x="11" y="22"/>
                      <a:pt x="11" y="22"/>
                    </a:cubicBezTo>
                    <a:cubicBezTo>
                      <a:pt x="12" y="27"/>
                      <a:pt x="13" y="32"/>
                      <a:pt x="14" y="37"/>
                    </a:cubicBezTo>
                    <a:cubicBezTo>
                      <a:pt x="14" y="37"/>
                      <a:pt x="14" y="37"/>
                      <a:pt x="14" y="37"/>
                    </a:cubicBezTo>
                    <a:cubicBezTo>
                      <a:pt x="15" y="32"/>
                      <a:pt x="16" y="27"/>
                      <a:pt x="18" y="22"/>
                    </a:cubicBezTo>
                    <a:cubicBezTo>
                      <a:pt x="23" y="0"/>
                      <a:pt x="23" y="0"/>
                      <a:pt x="23" y="0"/>
                    </a:cubicBezTo>
                    <a:cubicBezTo>
                      <a:pt x="29" y="0"/>
                      <a:pt x="29" y="0"/>
                      <a:pt x="29" y="0"/>
                    </a:cubicBezTo>
                    <a:cubicBezTo>
                      <a:pt x="34" y="22"/>
                      <a:pt x="34" y="22"/>
                      <a:pt x="34" y="22"/>
                    </a:cubicBezTo>
                    <a:cubicBezTo>
                      <a:pt x="35" y="27"/>
                      <a:pt x="37" y="32"/>
                      <a:pt x="37" y="36"/>
                    </a:cubicBezTo>
                    <a:cubicBezTo>
                      <a:pt x="37" y="36"/>
                      <a:pt x="37" y="36"/>
                      <a:pt x="37" y="36"/>
                    </a:cubicBezTo>
                    <a:cubicBezTo>
                      <a:pt x="38" y="32"/>
                      <a:pt x="39" y="27"/>
                      <a:pt x="41" y="22"/>
                    </a:cubicBezTo>
                    <a:cubicBezTo>
                      <a:pt x="46" y="0"/>
                      <a:pt x="46" y="0"/>
                      <a:pt x="46" y="0"/>
                    </a:cubicBezTo>
                    <a:cubicBezTo>
                      <a:pt x="52" y="0"/>
                      <a:pt x="52" y="0"/>
                      <a:pt x="52" y="0"/>
                    </a:cubicBezTo>
                    <a:cubicBezTo>
                      <a:pt x="40" y="43"/>
                      <a:pt x="40" y="43"/>
                      <a:pt x="40" y="43"/>
                    </a:cubicBezTo>
                    <a:cubicBezTo>
                      <a:pt x="34" y="43"/>
                      <a:pt x="34" y="43"/>
                      <a:pt x="34" y="43"/>
                    </a:cubicBezTo>
                    <a:cubicBezTo>
                      <a:pt x="29" y="21"/>
                      <a:pt x="29" y="21"/>
                      <a:pt x="29" y="21"/>
                    </a:cubicBezTo>
                    <a:cubicBezTo>
                      <a:pt x="28" y="15"/>
                      <a:pt x="27" y="11"/>
                      <a:pt x="26" y="7"/>
                    </a:cubicBezTo>
                    <a:cubicBezTo>
                      <a:pt x="26" y="7"/>
                      <a:pt x="26" y="7"/>
                      <a:pt x="26" y="7"/>
                    </a:cubicBezTo>
                    <a:cubicBezTo>
                      <a:pt x="25" y="11"/>
                      <a:pt x="24" y="15"/>
                      <a:pt x="23" y="21"/>
                    </a:cubicBezTo>
                    <a:cubicBezTo>
                      <a:pt x="17" y="43"/>
                      <a:pt x="17" y="43"/>
                      <a:pt x="17" y="43"/>
                    </a:cubicBezTo>
                    <a:lnTo>
                      <a:pt x="11"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23" name="Freeform 167">
                <a:extLst>
                  <a:ext uri="{FF2B5EF4-FFF2-40B4-BE49-F238E27FC236}">
                    <a16:creationId xmlns:a16="http://schemas.microsoft.com/office/drawing/2014/main" id="{6EA067ED-247A-6FC2-68D4-CC9CFA1F6EDD}"/>
                  </a:ext>
                </a:extLst>
              </p:cNvPr>
              <p:cNvSpPr>
                <a:spLocks/>
              </p:cNvSpPr>
              <p:nvPr/>
            </p:nvSpPr>
            <p:spPr bwMode="auto">
              <a:xfrm>
                <a:off x="6281738" y="566738"/>
                <a:ext cx="195263" cy="160337"/>
              </a:xfrm>
              <a:custGeom>
                <a:avLst/>
                <a:gdLst>
                  <a:gd name="T0" fmla="*/ 10 w 52"/>
                  <a:gd name="T1" fmla="*/ 43 h 43"/>
                  <a:gd name="T2" fmla="*/ 0 w 52"/>
                  <a:gd name="T3" fmla="*/ 0 h 43"/>
                  <a:gd name="T4" fmla="*/ 5 w 52"/>
                  <a:gd name="T5" fmla="*/ 0 h 43"/>
                  <a:gd name="T6" fmla="*/ 10 w 52"/>
                  <a:gd name="T7" fmla="*/ 22 h 43"/>
                  <a:gd name="T8" fmla="*/ 14 w 52"/>
                  <a:gd name="T9" fmla="*/ 37 h 43"/>
                  <a:gd name="T10" fmla="*/ 14 w 52"/>
                  <a:gd name="T11" fmla="*/ 37 h 43"/>
                  <a:gd name="T12" fmla="*/ 17 w 52"/>
                  <a:gd name="T13" fmla="*/ 22 h 43"/>
                  <a:gd name="T14" fmla="*/ 23 w 52"/>
                  <a:gd name="T15" fmla="*/ 0 h 43"/>
                  <a:gd name="T16" fmla="*/ 29 w 52"/>
                  <a:gd name="T17" fmla="*/ 0 h 43"/>
                  <a:gd name="T18" fmla="*/ 34 w 52"/>
                  <a:gd name="T19" fmla="*/ 22 h 43"/>
                  <a:gd name="T20" fmla="*/ 37 w 52"/>
                  <a:gd name="T21" fmla="*/ 36 h 43"/>
                  <a:gd name="T22" fmla="*/ 37 w 52"/>
                  <a:gd name="T23" fmla="*/ 36 h 43"/>
                  <a:gd name="T24" fmla="*/ 40 w 52"/>
                  <a:gd name="T25" fmla="*/ 22 h 43"/>
                  <a:gd name="T26" fmla="*/ 46 w 52"/>
                  <a:gd name="T27" fmla="*/ 0 h 43"/>
                  <a:gd name="T28" fmla="*/ 52 w 52"/>
                  <a:gd name="T29" fmla="*/ 0 h 43"/>
                  <a:gd name="T30" fmla="*/ 40 w 52"/>
                  <a:gd name="T31" fmla="*/ 43 h 43"/>
                  <a:gd name="T32" fmla="*/ 34 w 52"/>
                  <a:gd name="T33" fmla="*/ 43 h 43"/>
                  <a:gd name="T34" fmla="*/ 28 w 52"/>
                  <a:gd name="T35" fmla="*/ 21 h 43"/>
                  <a:gd name="T36" fmla="*/ 26 w 52"/>
                  <a:gd name="T37" fmla="*/ 7 h 43"/>
                  <a:gd name="T38" fmla="*/ 25 w 52"/>
                  <a:gd name="T39" fmla="*/ 7 h 43"/>
                  <a:gd name="T40" fmla="*/ 22 w 52"/>
                  <a:gd name="T41" fmla="*/ 21 h 43"/>
                  <a:gd name="T42" fmla="*/ 16 w 52"/>
                  <a:gd name="T43" fmla="*/ 43 h 43"/>
                  <a:gd name="T44" fmla="*/ 10 w 52"/>
                  <a:gd name="T45"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2" h="43">
                    <a:moveTo>
                      <a:pt x="10" y="43"/>
                    </a:moveTo>
                    <a:cubicBezTo>
                      <a:pt x="0" y="0"/>
                      <a:pt x="0" y="0"/>
                      <a:pt x="0" y="0"/>
                    </a:cubicBezTo>
                    <a:cubicBezTo>
                      <a:pt x="5" y="0"/>
                      <a:pt x="5" y="0"/>
                      <a:pt x="5" y="0"/>
                    </a:cubicBezTo>
                    <a:cubicBezTo>
                      <a:pt x="10" y="22"/>
                      <a:pt x="10" y="22"/>
                      <a:pt x="10" y="22"/>
                    </a:cubicBezTo>
                    <a:cubicBezTo>
                      <a:pt x="12" y="27"/>
                      <a:pt x="13" y="32"/>
                      <a:pt x="14" y="37"/>
                    </a:cubicBezTo>
                    <a:cubicBezTo>
                      <a:pt x="14" y="37"/>
                      <a:pt x="14" y="37"/>
                      <a:pt x="14" y="37"/>
                    </a:cubicBezTo>
                    <a:cubicBezTo>
                      <a:pt x="14" y="32"/>
                      <a:pt x="16" y="27"/>
                      <a:pt x="17" y="22"/>
                    </a:cubicBezTo>
                    <a:cubicBezTo>
                      <a:pt x="23" y="0"/>
                      <a:pt x="23" y="0"/>
                      <a:pt x="23" y="0"/>
                    </a:cubicBezTo>
                    <a:cubicBezTo>
                      <a:pt x="29" y="0"/>
                      <a:pt x="29" y="0"/>
                      <a:pt x="29" y="0"/>
                    </a:cubicBezTo>
                    <a:cubicBezTo>
                      <a:pt x="34" y="22"/>
                      <a:pt x="34" y="22"/>
                      <a:pt x="34" y="22"/>
                    </a:cubicBezTo>
                    <a:cubicBezTo>
                      <a:pt x="35" y="27"/>
                      <a:pt x="36" y="32"/>
                      <a:pt x="37" y="36"/>
                    </a:cubicBezTo>
                    <a:cubicBezTo>
                      <a:pt x="37" y="36"/>
                      <a:pt x="37" y="36"/>
                      <a:pt x="37" y="36"/>
                    </a:cubicBezTo>
                    <a:cubicBezTo>
                      <a:pt x="38" y="32"/>
                      <a:pt x="39" y="27"/>
                      <a:pt x="40" y="22"/>
                    </a:cubicBezTo>
                    <a:cubicBezTo>
                      <a:pt x="46" y="0"/>
                      <a:pt x="46" y="0"/>
                      <a:pt x="46" y="0"/>
                    </a:cubicBezTo>
                    <a:cubicBezTo>
                      <a:pt x="52" y="0"/>
                      <a:pt x="52" y="0"/>
                      <a:pt x="52" y="0"/>
                    </a:cubicBezTo>
                    <a:cubicBezTo>
                      <a:pt x="40" y="43"/>
                      <a:pt x="40" y="43"/>
                      <a:pt x="40" y="43"/>
                    </a:cubicBezTo>
                    <a:cubicBezTo>
                      <a:pt x="34" y="43"/>
                      <a:pt x="34" y="43"/>
                      <a:pt x="34" y="43"/>
                    </a:cubicBezTo>
                    <a:cubicBezTo>
                      <a:pt x="28" y="21"/>
                      <a:pt x="28" y="21"/>
                      <a:pt x="28" y="21"/>
                    </a:cubicBezTo>
                    <a:cubicBezTo>
                      <a:pt x="27" y="15"/>
                      <a:pt x="26" y="11"/>
                      <a:pt x="26" y="7"/>
                    </a:cubicBezTo>
                    <a:cubicBezTo>
                      <a:pt x="25" y="7"/>
                      <a:pt x="25" y="7"/>
                      <a:pt x="25" y="7"/>
                    </a:cubicBezTo>
                    <a:cubicBezTo>
                      <a:pt x="25" y="11"/>
                      <a:pt x="24" y="15"/>
                      <a:pt x="22" y="21"/>
                    </a:cubicBezTo>
                    <a:cubicBezTo>
                      <a:pt x="16" y="43"/>
                      <a:pt x="16" y="43"/>
                      <a:pt x="16" y="43"/>
                    </a:cubicBezTo>
                    <a:lnTo>
                      <a:pt x="10"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24" name="Freeform 168">
                <a:extLst>
                  <a:ext uri="{FF2B5EF4-FFF2-40B4-BE49-F238E27FC236}">
                    <a16:creationId xmlns:a16="http://schemas.microsoft.com/office/drawing/2014/main" id="{CD85D536-B312-C99B-CB18-7A1BFE4375E1}"/>
                  </a:ext>
                </a:extLst>
              </p:cNvPr>
              <p:cNvSpPr>
                <a:spLocks/>
              </p:cNvSpPr>
              <p:nvPr/>
            </p:nvSpPr>
            <p:spPr bwMode="auto">
              <a:xfrm>
                <a:off x="6483351" y="566738"/>
                <a:ext cx="195263" cy="160337"/>
              </a:xfrm>
              <a:custGeom>
                <a:avLst/>
                <a:gdLst>
                  <a:gd name="T0" fmla="*/ 11 w 52"/>
                  <a:gd name="T1" fmla="*/ 43 h 43"/>
                  <a:gd name="T2" fmla="*/ 0 w 52"/>
                  <a:gd name="T3" fmla="*/ 0 h 43"/>
                  <a:gd name="T4" fmla="*/ 6 w 52"/>
                  <a:gd name="T5" fmla="*/ 0 h 43"/>
                  <a:gd name="T6" fmla="*/ 11 w 52"/>
                  <a:gd name="T7" fmla="*/ 22 h 43"/>
                  <a:gd name="T8" fmla="*/ 14 w 52"/>
                  <a:gd name="T9" fmla="*/ 37 h 43"/>
                  <a:gd name="T10" fmla="*/ 14 w 52"/>
                  <a:gd name="T11" fmla="*/ 37 h 43"/>
                  <a:gd name="T12" fmla="*/ 18 w 52"/>
                  <a:gd name="T13" fmla="*/ 22 h 43"/>
                  <a:gd name="T14" fmla="*/ 23 w 52"/>
                  <a:gd name="T15" fmla="*/ 0 h 43"/>
                  <a:gd name="T16" fmla="*/ 29 w 52"/>
                  <a:gd name="T17" fmla="*/ 0 h 43"/>
                  <a:gd name="T18" fmla="*/ 34 w 52"/>
                  <a:gd name="T19" fmla="*/ 22 h 43"/>
                  <a:gd name="T20" fmla="*/ 37 w 52"/>
                  <a:gd name="T21" fmla="*/ 36 h 43"/>
                  <a:gd name="T22" fmla="*/ 37 w 52"/>
                  <a:gd name="T23" fmla="*/ 36 h 43"/>
                  <a:gd name="T24" fmla="*/ 41 w 52"/>
                  <a:gd name="T25" fmla="*/ 22 h 43"/>
                  <a:gd name="T26" fmla="*/ 46 w 52"/>
                  <a:gd name="T27" fmla="*/ 0 h 43"/>
                  <a:gd name="T28" fmla="*/ 52 w 52"/>
                  <a:gd name="T29" fmla="*/ 0 h 43"/>
                  <a:gd name="T30" fmla="*/ 40 w 52"/>
                  <a:gd name="T31" fmla="*/ 43 h 43"/>
                  <a:gd name="T32" fmla="*/ 34 w 52"/>
                  <a:gd name="T33" fmla="*/ 43 h 43"/>
                  <a:gd name="T34" fmla="*/ 29 w 52"/>
                  <a:gd name="T35" fmla="*/ 21 h 43"/>
                  <a:gd name="T36" fmla="*/ 26 w 52"/>
                  <a:gd name="T37" fmla="*/ 7 h 43"/>
                  <a:gd name="T38" fmla="*/ 26 w 52"/>
                  <a:gd name="T39" fmla="*/ 7 h 43"/>
                  <a:gd name="T40" fmla="*/ 23 w 52"/>
                  <a:gd name="T41" fmla="*/ 21 h 43"/>
                  <a:gd name="T42" fmla="*/ 17 w 52"/>
                  <a:gd name="T43" fmla="*/ 43 h 43"/>
                  <a:gd name="T44" fmla="*/ 11 w 52"/>
                  <a:gd name="T45"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2" h="43">
                    <a:moveTo>
                      <a:pt x="11" y="43"/>
                    </a:moveTo>
                    <a:cubicBezTo>
                      <a:pt x="0" y="0"/>
                      <a:pt x="0" y="0"/>
                      <a:pt x="0" y="0"/>
                    </a:cubicBezTo>
                    <a:cubicBezTo>
                      <a:pt x="6" y="0"/>
                      <a:pt x="6" y="0"/>
                      <a:pt x="6" y="0"/>
                    </a:cubicBezTo>
                    <a:cubicBezTo>
                      <a:pt x="11" y="22"/>
                      <a:pt x="11" y="22"/>
                      <a:pt x="11" y="22"/>
                    </a:cubicBezTo>
                    <a:cubicBezTo>
                      <a:pt x="12" y="27"/>
                      <a:pt x="13" y="32"/>
                      <a:pt x="14" y="37"/>
                    </a:cubicBezTo>
                    <a:cubicBezTo>
                      <a:pt x="14" y="37"/>
                      <a:pt x="14" y="37"/>
                      <a:pt x="14" y="37"/>
                    </a:cubicBezTo>
                    <a:cubicBezTo>
                      <a:pt x="15" y="32"/>
                      <a:pt x="16" y="27"/>
                      <a:pt x="18" y="22"/>
                    </a:cubicBezTo>
                    <a:cubicBezTo>
                      <a:pt x="23" y="0"/>
                      <a:pt x="23" y="0"/>
                      <a:pt x="23" y="0"/>
                    </a:cubicBezTo>
                    <a:cubicBezTo>
                      <a:pt x="29" y="0"/>
                      <a:pt x="29" y="0"/>
                      <a:pt x="29" y="0"/>
                    </a:cubicBezTo>
                    <a:cubicBezTo>
                      <a:pt x="34" y="22"/>
                      <a:pt x="34" y="22"/>
                      <a:pt x="34" y="22"/>
                    </a:cubicBezTo>
                    <a:cubicBezTo>
                      <a:pt x="36" y="27"/>
                      <a:pt x="37" y="32"/>
                      <a:pt x="37" y="36"/>
                    </a:cubicBezTo>
                    <a:cubicBezTo>
                      <a:pt x="37" y="36"/>
                      <a:pt x="37" y="36"/>
                      <a:pt x="37" y="36"/>
                    </a:cubicBezTo>
                    <a:cubicBezTo>
                      <a:pt x="38" y="32"/>
                      <a:pt x="40" y="27"/>
                      <a:pt x="41" y="22"/>
                    </a:cubicBezTo>
                    <a:cubicBezTo>
                      <a:pt x="46" y="0"/>
                      <a:pt x="46" y="0"/>
                      <a:pt x="46" y="0"/>
                    </a:cubicBezTo>
                    <a:cubicBezTo>
                      <a:pt x="52" y="0"/>
                      <a:pt x="52" y="0"/>
                      <a:pt x="52" y="0"/>
                    </a:cubicBezTo>
                    <a:cubicBezTo>
                      <a:pt x="40" y="43"/>
                      <a:pt x="40" y="43"/>
                      <a:pt x="40" y="43"/>
                    </a:cubicBezTo>
                    <a:cubicBezTo>
                      <a:pt x="34" y="43"/>
                      <a:pt x="34" y="43"/>
                      <a:pt x="34" y="43"/>
                    </a:cubicBezTo>
                    <a:cubicBezTo>
                      <a:pt x="29" y="21"/>
                      <a:pt x="29" y="21"/>
                      <a:pt x="29" y="21"/>
                    </a:cubicBezTo>
                    <a:cubicBezTo>
                      <a:pt x="28" y="15"/>
                      <a:pt x="27" y="11"/>
                      <a:pt x="26" y="7"/>
                    </a:cubicBezTo>
                    <a:cubicBezTo>
                      <a:pt x="26" y="7"/>
                      <a:pt x="26" y="7"/>
                      <a:pt x="26" y="7"/>
                    </a:cubicBezTo>
                    <a:cubicBezTo>
                      <a:pt x="25" y="11"/>
                      <a:pt x="24" y="15"/>
                      <a:pt x="23" y="21"/>
                    </a:cubicBezTo>
                    <a:cubicBezTo>
                      <a:pt x="17" y="43"/>
                      <a:pt x="17" y="43"/>
                      <a:pt x="17" y="43"/>
                    </a:cubicBezTo>
                    <a:lnTo>
                      <a:pt x="11"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69" name="Group 68">
              <a:extLst>
                <a:ext uri="{FF2B5EF4-FFF2-40B4-BE49-F238E27FC236}">
                  <a16:creationId xmlns:a16="http://schemas.microsoft.com/office/drawing/2014/main" id="{5715669D-6505-35D8-EDEF-73400760E214}"/>
                </a:ext>
              </a:extLst>
            </p:cNvPr>
            <p:cNvGrpSpPr/>
            <p:nvPr/>
          </p:nvGrpSpPr>
          <p:grpSpPr>
            <a:xfrm>
              <a:off x="6376167" y="4326639"/>
              <a:ext cx="274228" cy="311129"/>
              <a:chOff x="5078413" y="5448300"/>
              <a:chExt cx="601663" cy="682625"/>
            </a:xfrm>
            <a:solidFill>
              <a:srgbClr val="CE003D"/>
            </a:solidFill>
          </p:grpSpPr>
          <p:sp>
            <p:nvSpPr>
              <p:cNvPr id="114" name="Freeform 169">
                <a:extLst>
                  <a:ext uri="{FF2B5EF4-FFF2-40B4-BE49-F238E27FC236}">
                    <a16:creationId xmlns:a16="http://schemas.microsoft.com/office/drawing/2014/main" id="{6E2E9CA6-6B87-2122-3FE8-6F139EADE2AD}"/>
                  </a:ext>
                </a:extLst>
              </p:cNvPr>
              <p:cNvSpPr>
                <a:spLocks/>
              </p:cNvSpPr>
              <p:nvPr/>
            </p:nvSpPr>
            <p:spPr bwMode="auto">
              <a:xfrm>
                <a:off x="5364163" y="5635625"/>
                <a:ext cx="44450" cy="85725"/>
              </a:xfrm>
              <a:custGeom>
                <a:avLst/>
                <a:gdLst>
                  <a:gd name="T0" fmla="*/ 6 w 12"/>
                  <a:gd name="T1" fmla="*/ 18 h 23"/>
                  <a:gd name="T2" fmla="*/ 1 w 12"/>
                  <a:gd name="T3" fmla="*/ 10 h 23"/>
                  <a:gd name="T4" fmla="*/ 1 w 12"/>
                  <a:gd name="T5" fmla="*/ 16 h 23"/>
                  <a:gd name="T6" fmla="*/ 2 w 12"/>
                  <a:gd name="T7" fmla="*/ 23 h 23"/>
                  <a:gd name="T8" fmla="*/ 6 w 12"/>
                  <a:gd name="T9" fmla="*/ 18 h 23"/>
                </a:gdLst>
                <a:ahLst/>
                <a:cxnLst>
                  <a:cxn ang="0">
                    <a:pos x="T0" y="T1"/>
                  </a:cxn>
                  <a:cxn ang="0">
                    <a:pos x="T2" y="T3"/>
                  </a:cxn>
                  <a:cxn ang="0">
                    <a:pos x="T4" y="T5"/>
                  </a:cxn>
                  <a:cxn ang="0">
                    <a:pos x="T6" y="T7"/>
                  </a:cxn>
                  <a:cxn ang="0">
                    <a:pos x="T8" y="T9"/>
                  </a:cxn>
                </a:cxnLst>
                <a:rect l="0" t="0" r="r" b="b"/>
                <a:pathLst>
                  <a:path w="12" h="23">
                    <a:moveTo>
                      <a:pt x="6" y="18"/>
                    </a:moveTo>
                    <a:cubicBezTo>
                      <a:pt x="12" y="5"/>
                      <a:pt x="1" y="0"/>
                      <a:pt x="1" y="10"/>
                    </a:cubicBezTo>
                    <a:cubicBezTo>
                      <a:pt x="0" y="12"/>
                      <a:pt x="0" y="14"/>
                      <a:pt x="1" y="16"/>
                    </a:cubicBezTo>
                    <a:cubicBezTo>
                      <a:pt x="1" y="18"/>
                      <a:pt x="1" y="21"/>
                      <a:pt x="2" y="23"/>
                    </a:cubicBezTo>
                    <a:cubicBezTo>
                      <a:pt x="4" y="22"/>
                      <a:pt x="5" y="20"/>
                      <a:pt x="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15" name="Freeform 170">
                <a:extLst>
                  <a:ext uri="{FF2B5EF4-FFF2-40B4-BE49-F238E27FC236}">
                    <a16:creationId xmlns:a16="http://schemas.microsoft.com/office/drawing/2014/main" id="{A0531CC5-B4E7-6626-9DB0-CF8545E367C9}"/>
                  </a:ext>
                </a:extLst>
              </p:cNvPr>
              <p:cNvSpPr>
                <a:spLocks/>
              </p:cNvSpPr>
              <p:nvPr/>
            </p:nvSpPr>
            <p:spPr bwMode="auto">
              <a:xfrm>
                <a:off x="5262563" y="5691188"/>
                <a:ext cx="30163" cy="38100"/>
              </a:xfrm>
              <a:custGeom>
                <a:avLst/>
                <a:gdLst>
                  <a:gd name="T0" fmla="*/ 4 w 8"/>
                  <a:gd name="T1" fmla="*/ 8 h 10"/>
                  <a:gd name="T2" fmla="*/ 8 w 8"/>
                  <a:gd name="T3" fmla="*/ 10 h 10"/>
                  <a:gd name="T4" fmla="*/ 1 w 8"/>
                  <a:gd name="T5" fmla="*/ 0 h 10"/>
                  <a:gd name="T6" fmla="*/ 4 w 8"/>
                  <a:gd name="T7" fmla="*/ 8 h 10"/>
                </a:gdLst>
                <a:ahLst/>
                <a:cxnLst>
                  <a:cxn ang="0">
                    <a:pos x="T0" y="T1"/>
                  </a:cxn>
                  <a:cxn ang="0">
                    <a:pos x="T2" y="T3"/>
                  </a:cxn>
                  <a:cxn ang="0">
                    <a:pos x="T4" y="T5"/>
                  </a:cxn>
                  <a:cxn ang="0">
                    <a:pos x="T6" y="T7"/>
                  </a:cxn>
                </a:cxnLst>
                <a:rect l="0" t="0" r="r" b="b"/>
                <a:pathLst>
                  <a:path w="8" h="10">
                    <a:moveTo>
                      <a:pt x="4" y="8"/>
                    </a:moveTo>
                    <a:cubicBezTo>
                      <a:pt x="5" y="9"/>
                      <a:pt x="6" y="9"/>
                      <a:pt x="8" y="10"/>
                    </a:cubicBezTo>
                    <a:cubicBezTo>
                      <a:pt x="6" y="6"/>
                      <a:pt x="4" y="2"/>
                      <a:pt x="1" y="0"/>
                    </a:cubicBezTo>
                    <a:cubicBezTo>
                      <a:pt x="0" y="4"/>
                      <a:pt x="1" y="6"/>
                      <a:pt x="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16" name="Freeform 171">
                <a:extLst>
                  <a:ext uri="{FF2B5EF4-FFF2-40B4-BE49-F238E27FC236}">
                    <a16:creationId xmlns:a16="http://schemas.microsoft.com/office/drawing/2014/main" id="{2C648CE5-AE0F-BF4B-1116-ED05B7589407}"/>
                  </a:ext>
                </a:extLst>
              </p:cNvPr>
              <p:cNvSpPr>
                <a:spLocks/>
              </p:cNvSpPr>
              <p:nvPr/>
            </p:nvSpPr>
            <p:spPr bwMode="auto">
              <a:xfrm>
                <a:off x="5432426" y="5740400"/>
                <a:ext cx="71438" cy="52387"/>
              </a:xfrm>
              <a:custGeom>
                <a:avLst/>
                <a:gdLst>
                  <a:gd name="T0" fmla="*/ 6 w 19"/>
                  <a:gd name="T1" fmla="*/ 14 h 14"/>
                  <a:gd name="T2" fmla="*/ 12 w 19"/>
                  <a:gd name="T3" fmla="*/ 12 h 14"/>
                  <a:gd name="T4" fmla="*/ 13 w 19"/>
                  <a:gd name="T5" fmla="*/ 1 h 14"/>
                  <a:gd name="T6" fmla="*/ 0 w 19"/>
                  <a:gd name="T7" fmla="*/ 13 h 14"/>
                  <a:gd name="T8" fmla="*/ 6 w 19"/>
                  <a:gd name="T9" fmla="*/ 14 h 14"/>
                </a:gdLst>
                <a:ahLst/>
                <a:cxnLst>
                  <a:cxn ang="0">
                    <a:pos x="T0" y="T1"/>
                  </a:cxn>
                  <a:cxn ang="0">
                    <a:pos x="T2" y="T3"/>
                  </a:cxn>
                  <a:cxn ang="0">
                    <a:pos x="T4" y="T5"/>
                  </a:cxn>
                  <a:cxn ang="0">
                    <a:pos x="T6" y="T7"/>
                  </a:cxn>
                  <a:cxn ang="0">
                    <a:pos x="T8" y="T9"/>
                  </a:cxn>
                </a:cxnLst>
                <a:rect l="0" t="0" r="r" b="b"/>
                <a:pathLst>
                  <a:path w="19" h="14">
                    <a:moveTo>
                      <a:pt x="6" y="14"/>
                    </a:moveTo>
                    <a:cubicBezTo>
                      <a:pt x="8" y="14"/>
                      <a:pt x="10" y="13"/>
                      <a:pt x="12" y="12"/>
                    </a:cubicBezTo>
                    <a:cubicBezTo>
                      <a:pt x="19" y="8"/>
                      <a:pt x="19" y="4"/>
                      <a:pt x="13" y="1"/>
                    </a:cubicBezTo>
                    <a:cubicBezTo>
                      <a:pt x="8" y="0"/>
                      <a:pt x="3" y="6"/>
                      <a:pt x="0" y="13"/>
                    </a:cubicBezTo>
                    <a:cubicBezTo>
                      <a:pt x="2" y="14"/>
                      <a:pt x="4" y="14"/>
                      <a:pt x="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17" name="Freeform 172">
                <a:extLst>
                  <a:ext uri="{FF2B5EF4-FFF2-40B4-BE49-F238E27FC236}">
                    <a16:creationId xmlns:a16="http://schemas.microsoft.com/office/drawing/2014/main" id="{6EFE8BFC-9B73-4D68-4561-85EC73FBC15D}"/>
                  </a:ext>
                </a:extLst>
              </p:cNvPr>
              <p:cNvSpPr>
                <a:spLocks/>
              </p:cNvSpPr>
              <p:nvPr/>
            </p:nvSpPr>
            <p:spPr bwMode="auto">
              <a:xfrm>
                <a:off x="5326063" y="5751513"/>
                <a:ext cx="87313" cy="214312"/>
              </a:xfrm>
              <a:custGeom>
                <a:avLst/>
                <a:gdLst>
                  <a:gd name="T0" fmla="*/ 23 w 23"/>
                  <a:gd name="T1" fmla="*/ 13 h 57"/>
                  <a:gd name="T2" fmla="*/ 13 w 23"/>
                  <a:gd name="T3" fmla="*/ 7 h 57"/>
                  <a:gd name="T4" fmla="*/ 9 w 23"/>
                  <a:gd name="T5" fmla="*/ 0 h 57"/>
                  <a:gd name="T6" fmla="*/ 0 w 23"/>
                  <a:gd name="T7" fmla="*/ 2 h 57"/>
                  <a:gd name="T8" fmla="*/ 8 w 23"/>
                  <a:gd name="T9" fmla="*/ 55 h 57"/>
                  <a:gd name="T10" fmla="*/ 7 w 23"/>
                  <a:gd name="T11" fmla="*/ 57 h 57"/>
                  <a:gd name="T12" fmla="*/ 14 w 23"/>
                  <a:gd name="T13" fmla="*/ 57 h 57"/>
                  <a:gd name="T14" fmla="*/ 23 w 23"/>
                  <a:gd name="T15" fmla="*/ 57 h 57"/>
                  <a:gd name="T16" fmla="*/ 23 w 23"/>
                  <a:gd name="T17" fmla="*/ 13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57">
                    <a:moveTo>
                      <a:pt x="23" y="13"/>
                    </a:moveTo>
                    <a:cubicBezTo>
                      <a:pt x="19" y="12"/>
                      <a:pt x="15" y="9"/>
                      <a:pt x="13" y="7"/>
                    </a:cubicBezTo>
                    <a:cubicBezTo>
                      <a:pt x="12" y="5"/>
                      <a:pt x="10" y="3"/>
                      <a:pt x="9" y="0"/>
                    </a:cubicBezTo>
                    <a:cubicBezTo>
                      <a:pt x="6" y="1"/>
                      <a:pt x="3" y="2"/>
                      <a:pt x="0" y="2"/>
                    </a:cubicBezTo>
                    <a:cubicBezTo>
                      <a:pt x="5" y="19"/>
                      <a:pt x="6" y="37"/>
                      <a:pt x="8" y="55"/>
                    </a:cubicBezTo>
                    <a:cubicBezTo>
                      <a:pt x="8" y="55"/>
                      <a:pt x="7" y="56"/>
                      <a:pt x="7" y="57"/>
                    </a:cubicBezTo>
                    <a:cubicBezTo>
                      <a:pt x="14" y="57"/>
                      <a:pt x="14" y="57"/>
                      <a:pt x="14" y="57"/>
                    </a:cubicBezTo>
                    <a:cubicBezTo>
                      <a:pt x="23" y="57"/>
                      <a:pt x="23" y="57"/>
                      <a:pt x="23" y="57"/>
                    </a:cubicBezTo>
                    <a:cubicBezTo>
                      <a:pt x="18" y="42"/>
                      <a:pt x="18" y="27"/>
                      <a:pt x="23"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18" name="Freeform 173">
                <a:extLst>
                  <a:ext uri="{FF2B5EF4-FFF2-40B4-BE49-F238E27FC236}">
                    <a16:creationId xmlns:a16="http://schemas.microsoft.com/office/drawing/2014/main" id="{8D668F76-391D-8550-934E-6E1956D0BA84}"/>
                  </a:ext>
                </a:extLst>
              </p:cNvPr>
              <p:cNvSpPr>
                <a:spLocks/>
              </p:cNvSpPr>
              <p:nvPr/>
            </p:nvSpPr>
            <p:spPr bwMode="auto">
              <a:xfrm>
                <a:off x="5078413" y="5448300"/>
                <a:ext cx="601663" cy="522287"/>
              </a:xfrm>
              <a:custGeom>
                <a:avLst/>
                <a:gdLst>
                  <a:gd name="T0" fmla="*/ 121 w 160"/>
                  <a:gd name="T1" fmla="*/ 15 h 139"/>
                  <a:gd name="T2" fmla="*/ 80 w 160"/>
                  <a:gd name="T3" fmla="*/ 0 h 139"/>
                  <a:gd name="T4" fmla="*/ 39 w 160"/>
                  <a:gd name="T5" fmla="*/ 15 h 139"/>
                  <a:gd name="T6" fmla="*/ 32 w 160"/>
                  <a:gd name="T7" fmla="*/ 99 h 139"/>
                  <a:gd name="T8" fmla="*/ 43 w 160"/>
                  <a:gd name="T9" fmla="*/ 128 h 139"/>
                  <a:gd name="T10" fmla="*/ 48 w 160"/>
                  <a:gd name="T11" fmla="*/ 138 h 139"/>
                  <a:gd name="T12" fmla="*/ 68 w 160"/>
                  <a:gd name="T13" fmla="*/ 138 h 139"/>
                  <a:gd name="T14" fmla="*/ 60 w 160"/>
                  <a:gd name="T15" fmla="*/ 84 h 139"/>
                  <a:gd name="T16" fmla="*/ 59 w 160"/>
                  <a:gd name="T17" fmla="*/ 83 h 139"/>
                  <a:gd name="T18" fmla="*/ 51 w 160"/>
                  <a:gd name="T19" fmla="*/ 80 h 139"/>
                  <a:gd name="T20" fmla="*/ 42 w 160"/>
                  <a:gd name="T21" fmla="*/ 66 h 139"/>
                  <a:gd name="T22" fmla="*/ 63 w 160"/>
                  <a:gd name="T23" fmla="*/ 74 h 139"/>
                  <a:gd name="T24" fmla="*/ 64 w 160"/>
                  <a:gd name="T25" fmla="*/ 77 h 139"/>
                  <a:gd name="T26" fmla="*/ 73 w 160"/>
                  <a:gd name="T27" fmla="*/ 76 h 139"/>
                  <a:gd name="T28" fmla="*/ 78 w 160"/>
                  <a:gd name="T29" fmla="*/ 48 h 139"/>
                  <a:gd name="T30" fmla="*/ 89 w 160"/>
                  <a:gd name="T31" fmla="*/ 59 h 139"/>
                  <a:gd name="T32" fmla="*/ 80 w 160"/>
                  <a:gd name="T33" fmla="*/ 77 h 139"/>
                  <a:gd name="T34" fmla="*/ 82 w 160"/>
                  <a:gd name="T35" fmla="*/ 80 h 139"/>
                  <a:gd name="T36" fmla="*/ 91 w 160"/>
                  <a:gd name="T37" fmla="*/ 89 h 139"/>
                  <a:gd name="T38" fmla="*/ 94 w 160"/>
                  <a:gd name="T39" fmla="*/ 83 h 139"/>
                  <a:gd name="T40" fmla="*/ 109 w 160"/>
                  <a:gd name="T41" fmla="*/ 73 h 139"/>
                  <a:gd name="T42" fmla="*/ 117 w 160"/>
                  <a:gd name="T43" fmla="*/ 85 h 139"/>
                  <a:gd name="T44" fmla="*/ 93 w 160"/>
                  <a:gd name="T45" fmla="*/ 96 h 139"/>
                  <a:gd name="T46" fmla="*/ 91 w 160"/>
                  <a:gd name="T47" fmla="*/ 101 h 139"/>
                  <a:gd name="T48" fmla="*/ 95 w 160"/>
                  <a:gd name="T49" fmla="*/ 136 h 139"/>
                  <a:gd name="T50" fmla="*/ 95 w 160"/>
                  <a:gd name="T51" fmla="*/ 138 h 139"/>
                  <a:gd name="T52" fmla="*/ 112 w 160"/>
                  <a:gd name="T53" fmla="*/ 138 h 139"/>
                  <a:gd name="T54" fmla="*/ 117 w 160"/>
                  <a:gd name="T55" fmla="*/ 128 h 139"/>
                  <a:gd name="T56" fmla="*/ 128 w 160"/>
                  <a:gd name="T57" fmla="*/ 99 h 139"/>
                  <a:gd name="T58" fmla="*/ 121 w 160"/>
                  <a:gd name="T59" fmla="*/ 15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0" h="139">
                    <a:moveTo>
                      <a:pt x="121" y="15"/>
                    </a:moveTo>
                    <a:cubicBezTo>
                      <a:pt x="113" y="8"/>
                      <a:pt x="103" y="0"/>
                      <a:pt x="80" y="0"/>
                    </a:cubicBezTo>
                    <a:cubicBezTo>
                      <a:pt x="57" y="0"/>
                      <a:pt x="47" y="8"/>
                      <a:pt x="39" y="15"/>
                    </a:cubicBezTo>
                    <a:cubicBezTo>
                      <a:pt x="0" y="54"/>
                      <a:pt x="30" y="94"/>
                      <a:pt x="32" y="99"/>
                    </a:cubicBezTo>
                    <a:cubicBezTo>
                      <a:pt x="35" y="103"/>
                      <a:pt x="42" y="118"/>
                      <a:pt x="43" y="128"/>
                    </a:cubicBezTo>
                    <a:cubicBezTo>
                      <a:pt x="44" y="139"/>
                      <a:pt x="48" y="138"/>
                      <a:pt x="48" y="138"/>
                    </a:cubicBezTo>
                    <a:cubicBezTo>
                      <a:pt x="68" y="138"/>
                      <a:pt x="68" y="138"/>
                      <a:pt x="68" y="138"/>
                    </a:cubicBezTo>
                    <a:cubicBezTo>
                      <a:pt x="67" y="120"/>
                      <a:pt x="66" y="101"/>
                      <a:pt x="60" y="84"/>
                    </a:cubicBezTo>
                    <a:cubicBezTo>
                      <a:pt x="60" y="84"/>
                      <a:pt x="60" y="83"/>
                      <a:pt x="59" y="83"/>
                    </a:cubicBezTo>
                    <a:cubicBezTo>
                      <a:pt x="57" y="82"/>
                      <a:pt x="54" y="81"/>
                      <a:pt x="51" y="80"/>
                    </a:cubicBezTo>
                    <a:cubicBezTo>
                      <a:pt x="47" y="77"/>
                      <a:pt x="40" y="72"/>
                      <a:pt x="42" y="66"/>
                    </a:cubicBezTo>
                    <a:cubicBezTo>
                      <a:pt x="48" y="48"/>
                      <a:pt x="59" y="65"/>
                      <a:pt x="63" y="74"/>
                    </a:cubicBezTo>
                    <a:cubicBezTo>
                      <a:pt x="63" y="75"/>
                      <a:pt x="63" y="76"/>
                      <a:pt x="64" y="77"/>
                    </a:cubicBezTo>
                    <a:cubicBezTo>
                      <a:pt x="67" y="78"/>
                      <a:pt x="70" y="77"/>
                      <a:pt x="73" y="76"/>
                    </a:cubicBezTo>
                    <a:cubicBezTo>
                      <a:pt x="70" y="66"/>
                      <a:pt x="68" y="52"/>
                      <a:pt x="78" y="48"/>
                    </a:cubicBezTo>
                    <a:cubicBezTo>
                      <a:pt x="84" y="46"/>
                      <a:pt x="89" y="54"/>
                      <a:pt x="89" y="59"/>
                    </a:cubicBezTo>
                    <a:cubicBezTo>
                      <a:pt x="89" y="66"/>
                      <a:pt x="85" y="73"/>
                      <a:pt x="80" y="77"/>
                    </a:cubicBezTo>
                    <a:cubicBezTo>
                      <a:pt x="80" y="78"/>
                      <a:pt x="81" y="79"/>
                      <a:pt x="82" y="80"/>
                    </a:cubicBezTo>
                    <a:cubicBezTo>
                      <a:pt x="84" y="84"/>
                      <a:pt x="87" y="87"/>
                      <a:pt x="91" y="89"/>
                    </a:cubicBezTo>
                    <a:cubicBezTo>
                      <a:pt x="92" y="87"/>
                      <a:pt x="93" y="85"/>
                      <a:pt x="94" y="83"/>
                    </a:cubicBezTo>
                    <a:cubicBezTo>
                      <a:pt x="97" y="79"/>
                      <a:pt x="103" y="72"/>
                      <a:pt x="109" y="73"/>
                    </a:cubicBezTo>
                    <a:cubicBezTo>
                      <a:pt x="114" y="74"/>
                      <a:pt x="119" y="80"/>
                      <a:pt x="117" y="85"/>
                    </a:cubicBezTo>
                    <a:cubicBezTo>
                      <a:pt x="114" y="97"/>
                      <a:pt x="103" y="99"/>
                      <a:pt x="93" y="96"/>
                    </a:cubicBezTo>
                    <a:cubicBezTo>
                      <a:pt x="92" y="98"/>
                      <a:pt x="91" y="100"/>
                      <a:pt x="91" y="101"/>
                    </a:cubicBezTo>
                    <a:cubicBezTo>
                      <a:pt x="90" y="113"/>
                      <a:pt x="91" y="125"/>
                      <a:pt x="95" y="136"/>
                    </a:cubicBezTo>
                    <a:cubicBezTo>
                      <a:pt x="95" y="136"/>
                      <a:pt x="95" y="137"/>
                      <a:pt x="95" y="138"/>
                    </a:cubicBezTo>
                    <a:cubicBezTo>
                      <a:pt x="112" y="138"/>
                      <a:pt x="112" y="138"/>
                      <a:pt x="112" y="138"/>
                    </a:cubicBezTo>
                    <a:cubicBezTo>
                      <a:pt x="112" y="138"/>
                      <a:pt x="116" y="139"/>
                      <a:pt x="117" y="128"/>
                    </a:cubicBezTo>
                    <a:cubicBezTo>
                      <a:pt x="118" y="118"/>
                      <a:pt x="125" y="103"/>
                      <a:pt x="128" y="99"/>
                    </a:cubicBezTo>
                    <a:cubicBezTo>
                      <a:pt x="130" y="94"/>
                      <a:pt x="160" y="54"/>
                      <a:pt x="12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19" name="Freeform 174">
                <a:extLst>
                  <a:ext uri="{FF2B5EF4-FFF2-40B4-BE49-F238E27FC236}">
                    <a16:creationId xmlns:a16="http://schemas.microsoft.com/office/drawing/2014/main" id="{D23C4445-FB86-84E9-4A93-05827BA5E65B}"/>
                  </a:ext>
                </a:extLst>
              </p:cNvPr>
              <p:cNvSpPr>
                <a:spLocks/>
              </p:cNvSpPr>
              <p:nvPr/>
            </p:nvSpPr>
            <p:spPr bwMode="auto">
              <a:xfrm>
                <a:off x="5251451" y="5988050"/>
                <a:ext cx="263525" cy="46037"/>
              </a:xfrm>
              <a:custGeom>
                <a:avLst/>
                <a:gdLst>
                  <a:gd name="T0" fmla="*/ 64 w 70"/>
                  <a:gd name="T1" fmla="*/ 0 h 12"/>
                  <a:gd name="T2" fmla="*/ 6 w 70"/>
                  <a:gd name="T3" fmla="*/ 0 h 12"/>
                  <a:gd name="T4" fmla="*/ 0 w 70"/>
                  <a:gd name="T5" fmla="*/ 6 h 12"/>
                  <a:gd name="T6" fmla="*/ 6 w 70"/>
                  <a:gd name="T7" fmla="*/ 12 h 12"/>
                  <a:gd name="T8" fmla="*/ 64 w 70"/>
                  <a:gd name="T9" fmla="*/ 12 h 12"/>
                  <a:gd name="T10" fmla="*/ 70 w 70"/>
                  <a:gd name="T11" fmla="*/ 6 h 12"/>
                  <a:gd name="T12" fmla="*/ 64 w 70"/>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70" h="12">
                    <a:moveTo>
                      <a:pt x="64" y="0"/>
                    </a:moveTo>
                    <a:cubicBezTo>
                      <a:pt x="6" y="0"/>
                      <a:pt x="6" y="0"/>
                      <a:pt x="6" y="0"/>
                    </a:cubicBezTo>
                    <a:cubicBezTo>
                      <a:pt x="3" y="0"/>
                      <a:pt x="0" y="3"/>
                      <a:pt x="0" y="6"/>
                    </a:cubicBezTo>
                    <a:cubicBezTo>
                      <a:pt x="0" y="10"/>
                      <a:pt x="3" y="12"/>
                      <a:pt x="6" y="12"/>
                    </a:cubicBezTo>
                    <a:cubicBezTo>
                      <a:pt x="64" y="12"/>
                      <a:pt x="64" y="12"/>
                      <a:pt x="64" y="12"/>
                    </a:cubicBezTo>
                    <a:cubicBezTo>
                      <a:pt x="67" y="12"/>
                      <a:pt x="70" y="10"/>
                      <a:pt x="70" y="6"/>
                    </a:cubicBezTo>
                    <a:cubicBezTo>
                      <a:pt x="70" y="3"/>
                      <a:pt x="67" y="0"/>
                      <a:pt x="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20" name="Freeform 175">
                <a:extLst>
                  <a:ext uri="{FF2B5EF4-FFF2-40B4-BE49-F238E27FC236}">
                    <a16:creationId xmlns:a16="http://schemas.microsoft.com/office/drawing/2014/main" id="{280FB6E9-E435-844B-C7FC-8D71DB123D07}"/>
                  </a:ext>
                </a:extLst>
              </p:cNvPr>
              <p:cNvSpPr>
                <a:spLocks/>
              </p:cNvSpPr>
              <p:nvPr/>
            </p:nvSpPr>
            <p:spPr bwMode="auto">
              <a:xfrm>
                <a:off x="5259388" y="6045200"/>
                <a:ext cx="247650" cy="41275"/>
              </a:xfrm>
              <a:custGeom>
                <a:avLst/>
                <a:gdLst>
                  <a:gd name="T0" fmla="*/ 61 w 66"/>
                  <a:gd name="T1" fmla="*/ 0 h 11"/>
                  <a:gd name="T2" fmla="*/ 6 w 66"/>
                  <a:gd name="T3" fmla="*/ 0 h 11"/>
                  <a:gd name="T4" fmla="*/ 0 w 66"/>
                  <a:gd name="T5" fmla="*/ 6 h 11"/>
                  <a:gd name="T6" fmla="*/ 6 w 66"/>
                  <a:gd name="T7" fmla="*/ 11 h 11"/>
                  <a:gd name="T8" fmla="*/ 61 w 66"/>
                  <a:gd name="T9" fmla="*/ 11 h 11"/>
                  <a:gd name="T10" fmla="*/ 66 w 66"/>
                  <a:gd name="T11" fmla="*/ 6 h 11"/>
                  <a:gd name="T12" fmla="*/ 61 w 66"/>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66" h="11">
                    <a:moveTo>
                      <a:pt x="61" y="0"/>
                    </a:moveTo>
                    <a:cubicBezTo>
                      <a:pt x="6" y="0"/>
                      <a:pt x="6" y="0"/>
                      <a:pt x="6" y="0"/>
                    </a:cubicBezTo>
                    <a:cubicBezTo>
                      <a:pt x="3" y="0"/>
                      <a:pt x="0" y="3"/>
                      <a:pt x="0" y="6"/>
                    </a:cubicBezTo>
                    <a:cubicBezTo>
                      <a:pt x="0" y="9"/>
                      <a:pt x="3" y="11"/>
                      <a:pt x="6" y="11"/>
                    </a:cubicBezTo>
                    <a:cubicBezTo>
                      <a:pt x="61" y="11"/>
                      <a:pt x="61" y="11"/>
                      <a:pt x="61" y="11"/>
                    </a:cubicBezTo>
                    <a:cubicBezTo>
                      <a:pt x="64" y="11"/>
                      <a:pt x="66" y="9"/>
                      <a:pt x="66" y="6"/>
                    </a:cubicBezTo>
                    <a:cubicBezTo>
                      <a:pt x="66" y="3"/>
                      <a:pt x="64" y="0"/>
                      <a:pt x="6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21" name="Freeform 176">
                <a:extLst>
                  <a:ext uri="{FF2B5EF4-FFF2-40B4-BE49-F238E27FC236}">
                    <a16:creationId xmlns:a16="http://schemas.microsoft.com/office/drawing/2014/main" id="{5E98BA2F-54D1-D3EC-98B8-8FD8F68A146B}"/>
                  </a:ext>
                </a:extLst>
              </p:cNvPr>
              <p:cNvSpPr>
                <a:spLocks/>
              </p:cNvSpPr>
              <p:nvPr/>
            </p:nvSpPr>
            <p:spPr bwMode="auto">
              <a:xfrm>
                <a:off x="5314951" y="6097588"/>
                <a:ext cx="136525" cy="33337"/>
              </a:xfrm>
              <a:custGeom>
                <a:avLst/>
                <a:gdLst>
                  <a:gd name="T0" fmla="*/ 32 w 36"/>
                  <a:gd name="T1" fmla="*/ 0 h 9"/>
                  <a:gd name="T2" fmla="*/ 4 w 36"/>
                  <a:gd name="T3" fmla="*/ 0 h 9"/>
                  <a:gd name="T4" fmla="*/ 0 w 36"/>
                  <a:gd name="T5" fmla="*/ 4 h 9"/>
                  <a:gd name="T6" fmla="*/ 4 w 36"/>
                  <a:gd name="T7" fmla="*/ 9 h 9"/>
                  <a:gd name="T8" fmla="*/ 32 w 36"/>
                  <a:gd name="T9" fmla="*/ 9 h 9"/>
                  <a:gd name="T10" fmla="*/ 36 w 36"/>
                  <a:gd name="T11" fmla="*/ 4 h 9"/>
                  <a:gd name="T12" fmla="*/ 32 w 36"/>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36" h="9">
                    <a:moveTo>
                      <a:pt x="32" y="0"/>
                    </a:moveTo>
                    <a:cubicBezTo>
                      <a:pt x="4" y="0"/>
                      <a:pt x="4" y="0"/>
                      <a:pt x="4" y="0"/>
                    </a:cubicBezTo>
                    <a:cubicBezTo>
                      <a:pt x="2" y="0"/>
                      <a:pt x="0" y="2"/>
                      <a:pt x="0" y="4"/>
                    </a:cubicBezTo>
                    <a:cubicBezTo>
                      <a:pt x="0" y="7"/>
                      <a:pt x="2" y="9"/>
                      <a:pt x="4" y="9"/>
                    </a:cubicBezTo>
                    <a:cubicBezTo>
                      <a:pt x="32" y="9"/>
                      <a:pt x="32" y="9"/>
                      <a:pt x="32" y="9"/>
                    </a:cubicBezTo>
                    <a:cubicBezTo>
                      <a:pt x="34" y="9"/>
                      <a:pt x="36" y="7"/>
                      <a:pt x="36" y="4"/>
                    </a:cubicBezTo>
                    <a:cubicBezTo>
                      <a:pt x="36" y="2"/>
                      <a:pt x="34" y="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sp>
          <p:nvSpPr>
            <p:cNvPr id="70" name="Freeform 177">
              <a:extLst>
                <a:ext uri="{FF2B5EF4-FFF2-40B4-BE49-F238E27FC236}">
                  <a16:creationId xmlns:a16="http://schemas.microsoft.com/office/drawing/2014/main" id="{E1648D8D-8115-CDFE-DE95-6A4F73CAF43F}"/>
                </a:ext>
              </a:extLst>
            </p:cNvPr>
            <p:cNvSpPr>
              <a:spLocks noEditPoints="1"/>
            </p:cNvSpPr>
            <p:nvPr/>
          </p:nvSpPr>
          <p:spPr bwMode="auto">
            <a:xfrm>
              <a:off x="6460100" y="2388957"/>
              <a:ext cx="186677" cy="243115"/>
            </a:xfrm>
            <a:custGeom>
              <a:avLst/>
              <a:gdLst>
                <a:gd name="T0" fmla="*/ 253 w 258"/>
                <a:gd name="T1" fmla="*/ 303 h 336"/>
                <a:gd name="T2" fmla="*/ 142 w 258"/>
                <a:gd name="T3" fmla="*/ 254 h 336"/>
                <a:gd name="T4" fmla="*/ 232 w 258"/>
                <a:gd name="T5" fmla="*/ 43 h 336"/>
                <a:gd name="T6" fmla="*/ 97 w 258"/>
                <a:gd name="T7" fmla="*/ 235 h 336"/>
                <a:gd name="T8" fmla="*/ 0 w 258"/>
                <a:gd name="T9" fmla="*/ 190 h 336"/>
                <a:gd name="T10" fmla="*/ 258 w 258"/>
                <a:gd name="T11" fmla="*/ 0 h 336"/>
                <a:gd name="T12" fmla="*/ 253 w 258"/>
                <a:gd name="T13" fmla="*/ 303 h 336"/>
                <a:gd name="T14" fmla="*/ 109 w 258"/>
                <a:gd name="T15" fmla="*/ 336 h 336"/>
                <a:gd name="T16" fmla="*/ 92 w 258"/>
                <a:gd name="T17" fmla="*/ 263 h 336"/>
                <a:gd name="T18" fmla="*/ 154 w 258"/>
                <a:gd name="T19" fmla="*/ 287 h 336"/>
                <a:gd name="T20" fmla="*/ 109 w 258"/>
                <a:gd name="T21" fmla="*/ 336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8" h="336">
                  <a:moveTo>
                    <a:pt x="253" y="303"/>
                  </a:moveTo>
                  <a:lnTo>
                    <a:pt x="142" y="254"/>
                  </a:lnTo>
                  <a:lnTo>
                    <a:pt x="232" y="43"/>
                  </a:lnTo>
                  <a:lnTo>
                    <a:pt x="97" y="235"/>
                  </a:lnTo>
                  <a:lnTo>
                    <a:pt x="0" y="190"/>
                  </a:lnTo>
                  <a:lnTo>
                    <a:pt x="258" y="0"/>
                  </a:lnTo>
                  <a:lnTo>
                    <a:pt x="253" y="303"/>
                  </a:lnTo>
                  <a:close/>
                  <a:moveTo>
                    <a:pt x="109" y="336"/>
                  </a:moveTo>
                  <a:lnTo>
                    <a:pt x="92" y="263"/>
                  </a:lnTo>
                  <a:lnTo>
                    <a:pt x="154" y="287"/>
                  </a:lnTo>
                  <a:lnTo>
                    <a:pt x="109" y="336"/>
                  </a:lnTo>
                  <a:close/>
                </a:path>
              </a:pathLst>
            </a:custGeom>
            <a:solidFill>
              <a:srgbClr val="CE003D"/>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nvGrpSpPr>
            <p:cNvPr id="71" name="Group 70">
              <a:extLst>
                <a:ext uri="{FF2B5EF4-FFF2-40B4-BE49-F238E27FC236}">
                  <a16:creationId xmlns:a16="http://schemas.microsoft.com/office/drawing/2014/main" id="{962E1DBE-1B8F-232E-CAB9-56FAFC308271}"/>
                </a:ext>
              </a:extLst>
            </p:cNvPr>
            <p:cNvGrpSpPr/>
            <p:nvPr/>
          </p:nvGrpSpPr>
          <p:grpSpPr>
            <a:xfrm>
              <a:off x="7446308" y="2226156"/>
              <a:ext cx="248904" cy="253968"/>
              <a:chOff x="7426326" y="839788"/>
              <a:chExt cx="546100" cy="557212"/>
            </a:xfrm>
            <a:solidFill>
              <a:srgbClr val="CE003D"/>
            </a:solidFill>
          </p:grpSpPr>
          <p:sp>
            <p:nvSpPr>
              <p:cNvPr id="112" name="Freeform 178">
                <a:extLst>
                  <a:ext uri="{FF2B5EF4-FFF2-40B4-BE49-F238E27FC236}">
                    <a16:creationId xmlns:a16="http://schemas.microsoft.com/office/drawing/2014/main" id="{D5FAB348-8426-3C6A-9FD2-BD5A4473DF15}"/>
                  </a:ext>
                </a:extLst>
              </p:cNvPr>
              <p:cNvSpPr>
                <a:spLocks noEditPoints="1"/>
              </p:cNvSpPr>
              <p:nvPr/>
            </p:nvSpPr>
            <p:spPr bwMode="auto">
              <a:xfrm>
                <a:off x="7426326" y="1017588"/>
                <a:ext cx="381000" cy="379412"/>
              </a:xfrm>
              <a:custGeom>
                <a:avLst/>
                <a:gdLst>
                  <a:gd name="T0" fmla="*/ 15 w 101"/>
                  <a:gd name="T1" fmla="*/ 76 h 101"/>
                  <a:gd name="T2" fmla="*/ 9 w 101"/>
                  <a:gd name="T3" fmla="*/ 81 h 101"/>
                  <a:gd name="T4" fmla="*/ 21 w 101"/>
                  <a:gd name="T5" fmla="*/ 92 h 101"/>
                  <a:gd name="T6" fmla="*/ 26 w 101"/>
                  <a:gd name="T7" fmla="*/ 87 h 101"/>
                  <a:gd name="T8" fmla="*/ 43 w 101"/>
                  <a:gd name="T9" fmla="*/ 93 h 101"/>
                  <a:gd name="T10" fmla="*/ 43 w 101"/>
                  <a:gd name="T11" fmla="*/ 101 h 101"/>
                  <a:gd name="T12" fmla="*/ 59 w 101"/>
                  <a:gd name="T13" fmla="*/ 101 h 101"/>
                  <a:gd name="T14" fmla="*/ 59 w 101"/>
                  <a:gd name="T15" fmla="*/ 93 h 101"/>
                  <a:gd name="T16" fmla="*/ 75 w 101"/>
                  <a:gd name="T17" fmla="*/ 86 h 101"/>
                  <a:gd name="T18" fmla="*/ 81 w 101"/>
                  <a:gd name="T19" fmla="*/ 91 h 101"/>
                  <a:gd name="T20" fmla="*/ 92 w 101"/>
                  <a:gd name="T21" fmla="*/ 80 h 101"/>
                  <a:gd name="T22" fmla="*/ 87 w 101"/>
                  <a:gd name="T23" fmla="*/ 75 h 101"/>
                  <a:gd name="T24" fmla="*/ 93 w 101"/>
                  <a:gd name="T25" fmla="*/ 58 h 101"/>
                  <a:gd name="T26" fmla="*/ 101 w 101"/>
                  <a:gd name="T27" fmla="*/ 58 h 101"/>
                  <a:gd name="T28" fmla="*/ 101 w 101"/>
                  <a:gd name="T29" fmla="*/ 42 h 101"/>
                  <a:gd name="T30" fmla="*/ 93 w 101"/>
                  <a:gd name="T31" fmla="*/ 42 h 101"/>
                  <a:gd name="T32" fmla="*/ 86 w 101"/>
                  <a:gd name="T33" fmla="*/ 25 h 101"/>
                  <a:gd name="T34" fmla="*/ 91 w 101"/>
                  <a:gd name="T35" fmla="*/ 20 h 101"/>
                  <a:gd name="T36" fmla="*/ 80 w 101"/>
                  <a:gd name="T37" fmla="*/ 9 h 101"/>
                  <a:gd name="T38" fmla="*/ 74 w 101"/>
                  <a:gd name="T39" fmla="*/ 14 h 101"/>
                  <a:gd name="T40" fmla="*/ 58 w 101"/>
                  <a:gd name="T41" fmla="*/ 7 h 101"/>
                  <a:gd name="T42" fmla="*/ 57 w 101"/>
                  <a:gd name="T43" fmla="*/ 0 h 101"/>
                  <a:gd name="T44" fmla="*/ 41 w 101"/>
                  <a:gd name="T45" fmla="*/ 0 h 101"/>
                  <a:gd name="T46" fmla="*/ 42 w 101"/>
                  <a:gd name="T47" fmla="*/ 8 h 101"/>
                  <a:gd name="T48" fmla="*/ 25 w 101"/>
                  <a:gd name="T49" fmla="*/ 15 h 101"/>
                  <a:gd name="T50" fmla="*/ 20 w 101"/>
                  <a:gd name="T51" fmla="*/ 10 h 101"/>
                  <a:gd name="T52" fmla="*/ 8 w 101"/>
                  <a:gd name="T53" fmla="*/ 21 h 101"/>
                  <a:gd name="T54" fmla="*/ 14 w 101"/>
                  <a:gd name="T55" fmla="*/ 26 h 101"/>
                  <a:gd name="T56" fmla="*/ 7 w 101"/>
                  <a:gd name="T57" fmla="*/ 43 h 101"/>
                  <a:gd name="T58" fmla="*/ 0 w 101"/>
                  <a:gd name="T59" fmla="*/ 43 h 101"/>
                  <a:gd name="T60" fmla="*/ 0 w 101"/>
                  <a:gd name="T61" fmla="*/ 59 h 101"/>
                  <a:gd name="T62" fmla="*/ 7 w 101"/>
                  <a:gd name="T63" fmla="*/ 59 h 101"/>
                  <a:gd name="T64" fmla="*/ 15 w 101"/>
                  <a:gd name="T65" fmla="*/ 76 h 101"/>
                  <a:gd name="T66" fmla="*/ 50 w 101"/>
                  <a:gd name="T67" fmla="*/ 18 h 101"/>
                  <a:gd name="T68" fmla="*/ 82 w 101"/>
                  <a:gd name="T69" fmla="*/ 50 h 101"/>
                  <a:gd name="T70" fmla="*/ 51 w 101"/>
                  <a:gd name="T71" fmla="*/ 83 h 101"/>
                  <a:gd name="T72" fmla="*/ 18 w 101"/>
                  <a:gd name="T73" fmla="*/ 51 h 101"/>
                  <a:gd name="T74" fmla="*/ 50 w 101"/>
                  <a:gd name="T75" fmla="*/ 18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1" h="101">
                    <a:moveTo>
                      <a:pt x="15" y="76"/>
                    </a:moveTo>
                    <a:cubicBezTo>
                      <a:pt x="9" y="81"/>
                      <a:pt x="9" y="81"/>
                      <a:pt x="9" y="81"/>
                    </a:cubicBezTo>
                    <a:cubicBezTo>
                      <a:pt x="21" y="92"/>
                      <a:pt x="21" y="92"/>
                      <a:pt x="21" y="92"/>
                    </a:cubicBezTo>
                    <a:cubicBezTo>
                      <a:pt x="26" y="87"/>
                      <a:pt x="26" y="87"/>
                      <a:pt x="26" y="87"/>
                    </a:cubicBezTo>
                    <a:cubicBezTo>
                      <a:pt x="31" y="90"/>
                      <a:pt x="37" y="92"/>
                      <a:pt x="43" y="93"/>
                    </a:cubicBezTo>
                    <a:cubicBezTo>
                      <a:pt x="43" y="101"/>
                      <a:pt x="43" y="101"/>
                      <a:pt x="43" y="101"/>
                    </a:cubicBezTo>
                    <a:cubicBezTo>
                      <a:pt x="59" y="101"/>
                      <a:pt x="59" y="101"/>
                      <a:pt x="59" y="101"/>
                    </a:cubicBezTo>
                    <a:cubicBezTo>
                      <a:pt x="59" y="93"/>
                      <a:pt x="59" y="93"/>
                      <a:pt x="59" y="93"/>
                    </a:cubicBezTo>
                    <a:cubicBezTo>
                      <a:pt x="65" y="92"/>
                      <a:pt x="71" y="90"/>
                      <a:pt x="75" y="86"/>
                    </a:cubicBezTo>
                    <a:cubicBezTo>
                      <a:pt x="81" y="91"/>
                      <a:pt x="81" y="91"/>
                      <a:pt x="81" y="91"/>
                    </a:cubicBezTo>
                    <a:cubicBezTo>
                      <a:pt x="92" y="80"/>
                      <a:pt x="92" y="80"/>
                      <a:pt x="92" y="80"/>
                    </a:cubicBezTo>
                    <a:cubicBezTo>
                      <a:pt x="87" y="75"/>
                      <a:pt x="87" y="75"/>
                      <a:pt x="87" y="75"/>
                    </a:cubicBezTo>
                    <a:cubicBezTo>
                      <a:pt x="90" y="70"/>
                      <a:pt x="92" y="64"/>
                      <a:pt x="93" y="58"/>
                    </a:cubicBezTo>
                    <a:cubicBezTo>
                      <a:pt x="101" y="58"/>
                      <a:pt x="101" y="58"/>
                      <a:pt x="101" y="58"/>
                    </a:cubicBezTo>
                    <a:cubicBezTo>
                      <a:pt x="101" y="42"/>
                      <a:pt x="101" y="42"/>
                      <a:pt x="101" y="42"/>
                    </a:cubicBezTo>
                    <a:cubicBezTo>
                      <a:pt x="93" y="42"/>
                      <a:pt x="93" y="42"/>
                      <a:pt x="93" y="42"/>
                    </a:cubicBezTo>
                    <a:cubicBezTo>
                      <a:pt x="92" y="36"/>
                      <a:pt x="89" y="30"/>
                      <a:pt x="86" y="25"/>
                    </a:cubicBezTo>
                    <a:cubicBezTo>
                      <a:pt x="91" y="20"/>
                      <a:pt x="91" y="20"/>
                      <a:pt x="91" y="20"/>
                    </a:cubicBezTo>
                    <a:cubicBezTo>
                      <a:pt x="80" y="9"/>
                      <a:pt x="80" y="9"/>
                      <a:pt x="80" y="9"/>
                    </a:cubicBezTo>
                    <a:cubicBezTo>
                      <a:pt x="74" y="14"/>
                      <a:pt x="74" y="14"/>
                      <a:pt x="74" y="14"/>
                    </a:cubicBezTo>
                    <a:cubicBezTo>
                      <a:pt x="69" y="11"/>
                      <a:pt x="64" y="8"/>
                      <a:pt x="58" y="7"/>
                    </a:cubicBezTo>
                    <a:cubicBezTo>
                      <a:pt x="57" y="0"/>
                      <a:pt x="57" y="0"/>
                      <a:pt x="57" y="0"/>
                    </a:cubicBezTo>
                    <a:cubicBezTo>
                      <a:pt x="41" y="0"/>
                      <a:pt x="41" y="0"/>
                      <a:pt x="41" y="0"/>
                    </a:cubicBezTo>
                    <a:cubicBezTo>
                      <a:pt x="42" y="8"/>
                      <a:pt x="42" y="8"/>
                      <a:pt x="42" y="8"/>
                    </a:cubicBezTo>
                    <a:cubicBezTo>
                      <a:pt x="35" y="9"/>
                      <a:pt x="30" y="11"/>
                      <a:pt x="25" y="15"/>
                    </a:cubicBezTo>
                    <a:cubicBezTo>
                      <a:pt x="20" y="10"/>
                      <a:pt x="20" y="10"/>
                      <a:pt x="20" y="10"/>
                    </a:cubicBezTo>
                    <a:cubicBezTo>
                      <a:pt x="8" y="21"/>
                      <a:pt x="8" y="21"/>
                      <a:pt x="8" y="21"/>
                    </a:cubicBezTo>
                    <a:cubicBezTo>
                      <a:pt x="14" y="26"/>
                      <a:pt x="14" y="26"/>
                      <a:pt x="14" y="26"/>
                    </a:cubicBezTo>
                    <a:cubicBezTo>
                      <a:pt x="10" y="31"/>
                      <a:pt x="8" y="37"/>
                      <a:pt x="7" y="43"/>
                    </a:cubicBezTo>
                    <a:cubicBezTo>
                      <a:pt x="0" y="43"/>
                      <a:pt x="0" y="43"/>
                      <a:pt x="0" y="43"/>
                    </a:cubicBezTo>
                    <a:cubicBezTo>
                      <a:pt x="0" y="59"/>
                      <a:pt x="0" y="59"/>
                      <a:pt x="0" y="59"/>
                    </a:cubicBezTo>
                    <a:cubicBezTo>
                      <a:pt x="7" y="59"/>
                      <a:pt x="7" y="59"/>
                      <a:pt x="7" y="59"/>
                    </a:cubicBezTo>
                    <a:cubicBezTo>
                      <a:pt x="9" y="65"/>
                      <a:pt x="11" y="71"/>
                      <a:pt x="15" y="76"/>
                    </a:cubicBezTo>
                    <a:moveTo>
                      <a:pt x="50" y="18"/>
                    </a:moveTo>
                    <a:cubicBezTo>
                      <a:pt x="68" y="18"/>
                      <a:pt x="82" y="32"/>
                      <a:pt x="82" y="50"/>
                    </a:cubicBezTo>
                    <a:cubicBezTo>
                      <a:pt x="83" y="68"/>
                      <a:pt x="68" y="82"/>
                      <a:pt x="51" y="83"/>
                    </a:cubicBezTo>
                    <a:cubicBezTo>
                      <a:pt x="33" y="83"/>
                      <a:pt x="18" y="69"/>
                      <a:pt x="18" y="51"/>
                    </a:cubicBezTo>
                    <a:cubicBezTo>
                      <a:pt x="18" y="33"/>
                      <a:pt x="32" y="18"/>
                      <a:pt x="50" y="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13" name="Freeform 179">
                <a:extLst>
                  <a:ext uri="{FF2B5EF4-FFF2-40B4-BE49-F238E27FC236}">
                    <a16:creationId xmlns:a16="http://schemas.microsoft.com/office/drawing/2014/main" id="{76EB8382-361D-A7DD-2A22-D5C1605680AC}"/>
                  </a:ext>
                </a:extLst>
              </p:cNvPr>
              <p:cNvSpPr>
                <a:spLocks noEditPoints="1"/>
              </p:cNvSpPr>
              <p:nvPr/>
            </p:nvSpPr>
            <p:spPr bwMode="auto">
              <a:xfrm>
                <a:off x="7712076" y="839788"/>
                <a:ext cx="260350" cy="260350"/>
              </a:xfrm>
              <a:custGeom>
                <a:avLst/>
                <a:gdLst>
                  <a:gd name="T0" fmla="*/ 64 w 69"/>
                  <a:gd name="T1" fmla="*/ 29 h 69"/>
                  <a:gd name="T2" fmla="*/ 69 w 69"/>
                  <a:gd name="T3" fmla="*/ 26 h 69"/>
                  <a:gd name="T4" fmla="*/ 63 w 69"/>
                  <a:gd name="T5" fmla="*/ 15 h 69"/>
                  <a:gd name="T6" fmla="*/ 59 w 69"/>
                  <a:gd name="T7" fmla="*/ 17 h 69"/>
                  <a:gd name="T8" fmla="*/ 51 w 69"/>
                  <a:gd name="T9" fmla="*/ 10 h 69"/>
                  <a:gd name="T10" fmla="*/ 53 w 69"/>
                  <a:gd name="T11" fmla="*/ 5 h 69"/>
                  <a:gd name="T12" fmla="*/ 41 w 69"/>
                  <a:gd name="T13" fmla="*/ 0 h 69"/>
                  <a:gd name="T14" fmla="*/ 39 w 69"/>
                  <a:gd name="T15" fmla="*/ 5 h 69"/>
                  <a:gd name="T16" fmla="*/ 29 w 69"/>
                  <a:gd name="T17" fmla="*/ 5 h 69"/>
                  <a:gd name="T18" fmla="*/ 27 w 69"/>
                  <a:gd name="T19" fmla="*/ 1 h 69"/>
                  <a:gd name="T20" fmla="*/ 15 w 69"/>
                  <a:gd name="T21" fmla="*/ 6 h 69"/>
                  <a:gd name="T22" fmla="*/ 17 w 69"/>
                  <a:gd name="T23" fmla="*/ 10 h 69"/>
                  <a:gd name="T24" fmla="*/ 10 w 69"/>
                  <a:gd name="T25" fmla="*/ 18 h 69"/>
                  <a:gd name="T26" fmla="*/ 5 w 69"/>
                  <a:gd name="T27" fmla="*/ 16 h 69"/>
                  <a:gd name="T28" fmla="*/ 0 w 69"/>
                  <a:gd name="T29" fmla="*/ 28 h 69"/>
                  <a:gd name="T30" fmla="*/ 5 w 69"/>
                  <a:gd name="T31" fmla="*/ 30 h 69"/>
                  <a:gd name="T32" fmla="*/ 5 w 69"/>
                  <a:gd name="T33" fmla="*/ 40 h 69"/>
                  <a:gd name="T34" fmla="*/ 1 w 69"/>
                  <a:gd name="T35" fmla="*/ 43 h 69"/>
                  <a:gd name="T36" fmla="*/ 6 w 69"/>
                  <a:gd name="T37" fmla="*/ 54 h 69"/>
                  <a:gd name="T38" fmla="*/ 11 w 69"/>
                  <a:gd name="T39" fmla="*/ 52 h 69"/>
                  <a:gd name="T40" fmla="*/ 18 w 69"/>
                  <a:gd name="T41" fmla="*/ 59 h 69"/>
                  <a:gd name="T42" fmla="*/ 16 w 69"/>
                  <a:gd name="T43" fmla="*/ 64 h 69"/>
                  <a:gd name="T44" fmla="*/ 28 w 69"/>
                  <a:gd name="T45" fmla="*/ 69 h 69"/>
                  <a:gd name="T46" fmla="*/ 30 w 69"/>
                  <a:gd name="T47" fmla="*/ 64 h 69"/>
                  <a:gd name="T48" fmla="*/ 41 w 69"/>
                  <a:gd name="T49" fmla="*/ 64 h 69"/>
                  <a:gd name="T50" fmla="*/ 43 w 69"/>
                  <a:gd name="T51" fmla="*/ 68 h 69"/>
                  <a:gd name="T52" fmla="*/ 54 w 69"/>
                  <a:gd name="T53" fmla="*/ 63 h 69"/>
                  <a:gd name="T54" fmla="*/ 52 w 69"/>
                  <a:gd name="T55" fmla="*/ 58 h 69"/>
                  <a:gd name="T56" fmla="*/ 59 w 69"/>
                  <a:gd name="T57" fmla="*/ 51 h 69"/>
                  <a:gd name="T58" fmla="*/ 64 w 69"/>
                  <a:gd name="T59" fmla="*/ 53 h 69"/>
                  <a:gd name="T60" fmla="*/ 69 w 69"/>
                  <a:gd name="T61" fmla="*/ 41 h 69"/>
                  <a:gd name="T62" fmla="*/ 64 w 69"/>
                  <a:gd name="T63" fmla="*/ 39 h 69"/>
                  <a:gd name="T64" fmla="*/ 64 w 69"/>
                  <a:gd name="T65" fmla="*/ 29 h 69"/>
                  <a:gd name="T66" fmla="*/ 43 w 69"/>
                  <a:gd name="T67" fmla="*/ 53 h 69"/>
                  <a:gd name="T68" fmla="*/ 35 w 69"/>
                  <a:gd name="T69" fmla="*/ 54 h 69"/>
                  <a:gd name="T70" fmla="*/ 16 w 69"/>
                  <a:gd name="T71" fmla="*/ 43 h 69"/>
                  <a:gd name="T72" fmla="*/ 26 w 69"/>
                  <a:gd name="T73" fmla="*/ 16 h 69"/>
                  <a:gd name="T74" fmla="*/ 34 w 69"/>
                  <a:gd name="T75" fmla="*/ 14 h 69"/>
                  <a:gd name="T76" fmla="*/ 53 w 69"/>
                  <a:gd name="T77" fmla="*/ 26 h 69"/>
                  <a:gd name="T78" fmla="*/ 43 w 69"/>
                  <a:gd name="T79" fmla="*/ 5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9" h="69">
                    <a:moveTo>
                      <a:pt x="64" y="29"/>
                    </a:moveTo>
                    <a:cubicBezTo>
                      <a:pt x="69" y="26"/>
                      <a:pt x="69" y="26"/>
                      <a:pt x="69" y="26"/>
                    </a:cubicBezTo>
                    <a:cubicBezTo>
                      <a:pt x="63" y="15"/>
                      <a:pt x="63" y="15"/>
                      <a:pt x="63" y="15"/>
                    </a:cubicBezTo>
                    <a:cubicBezTo>
                      <a:pt x="59" y="17"/>
                      <a:pt x="59" y="17"/>
                      <a:pt x="59" y="17"/>
                    </a:cubicBezTo>
                    <a:cubicBezTo>
                      <a:pt x="57" y="14"/>
                      <a:pt x="54" y="12"/>
                      <a:pt x="51" y="10"/>
                    </a:cubicBezTo>
                    <a:cubicBezTo>
                      <a:pt x="53" y="5"/>
                      <a:pt x="53" y="5"/>
                      <a:pt x="53" y="5"/>
                    </a:cubicBezTo>
                    <a:cubicBezTo>
                      <a:pt x="41" y="0"/>
                      <a:pt x="41" y="0"/>
                      <a:pt x="41" y="0"/>
                    </a:cubicBezTo>
                    <a:cubicBezTo>
                      <a:pt x="39" y="5"/>
                      <a:pt x="39" y="5"/>
                      <a:pt x="39" y="5"/>
                    </a:cubicBezTo>
                    <a:cubicBezTo>
                      <a:pt x="36" y="4"/>
                      <a:pt x="32" y="5"/>
                      <a:pt x="29" y="5"/>
                    </a:cubicBezTo>
                    <a:cubicBezTo>
                      <a:pt x="27" y="1"/>
                      <a:pt x="27" y="1"/>
                      <a:pt x="27" y="1"/>
                    </a:cubicBezTo>
                    <a:cubicBezTo>
                      <a:pt x="15" y="6"/>
                      <a:pt x="15" y="6"/>
                      <a:pt x="15" y="6"/>
                    </a:cubicBezTo>
                    <a:cubicBezTo>
                      <a:pt x="17" y="10"/>
                      <a:pt x="17" y="10"/>
                      <a:pt x="17" y="10"/>
                    </a:cubicBezTo>
                    <a:cubicBezTo>
                      <a:pt x="14" y="13"/>
                      <a:pt x="12" y="15"/>
                      <a:pt x="10" y="18"/>
                    </a:cubicBezTo>
                    <a:cubicBezTo>
                      <a:pt x="5" y="16"/>
                      <a:pt x="5" y="16"/>
                      <a:pt x="5" y="16"/>
                    </a:cubicBezTo>
                    <a:cubicBezTo>
                      <a:pt x="0" y="28"/>
                      <a:pt x="0" y="28"/>
                      <a:pt x="0" y="28"/>
                    </a:cubicBezTo>
                    <a:cubicBezTo>
                      <a:pt x="5" y="30"/>
                      <a:pt x="5" y="30"/>
                      <a:pt x="5" y="30"/>
                    </a:cubicBezTo>
                    <a:cubicBezTo>
                      <a:pt x="5" y="33"/>
                      <a:pt x="5" y="37"/>
                      <a:pt x="5" y="40"/>
                    </a:cubicBezTo>
                    <a:cubicBezTo>
                      <a:pt x="1" y="43"/>
                      <a:pt x="1" y="43"/>
                      <a:pt x="1" y="43"/>
                    </a:cubicBezTo>
                    <a:cubicBezTo>
                      <a:pt x="6" y="54"/>
                      <a:pt x="6" y="54"/>
                      <a:pt x="6" y="54"/>
                    </a:cubicBezTo>
                    <a:cubicBezTo>
                      <a:pt x="11" y="52"/>
                      <a:pt x="11" y="52"/>
                      <a:pt x="11" y="52"/>
                    </a:cubicBezTo>
                    <a:cubicBezTo>
                      <a:pt x="13" y="55"/>
                      <a:pt x="15" y="57"/>
                      <a:pt x="18" y="59"/>
                    </a:cubicBezTo>
                    <a:cubicBezTo>
                      <a:pt x="16" y="64"/>
                      <a:pt x="16" y="64"/>
                      <a:pt x="16" y="64"/>
                    </a:cubicBezTo>
                    <a:cubicBezTo>
                      <a:pt x="28" y="69"/>
                      <a:pt x="28" y="69"/>
                      <a:pt x="28" y="69"/>
                    </a:cubicBezTo>
                    <a:cubicBezTo>
                      <a:pt x="30" y="64"/>
                      <a:pt x="30" y="64"/>
                      <a:pt x="30" y="64"/>
                    </a:cubicBezTo>
                    <a:cubicBezTo>
                      <a:pt x="34" y="64"/>
                      <a:pt x="37" y="64"/>
                      <a:pt x="41" y="64"/>
                    </a:cubicBezTo>
                    <a:cubicBezTo>
                      <a:pt x="43" y="68"/>
                      <a:pt x="43" y="68"/>
                      <a:pt x="43" y="68"/>
                    </a:cubicBezTo>
                    <a:cubicBezTo>
                      <a:pt x="54" y="63"/>
                      <a:pt x="54" y="63"/>
                      <a:pt x="54" y="63"/>
                    </a:cubicBezTo>
                    <a:cubicBezTo>
                      <a:pt x="52" y="58"/>
                      <a:pt x="52" y="58"/>
                      <a:pt x="52" y="58"/>
                    </a:cubicBezTo>
                    <a:cubicBezTo>
                      <a:pt x="55" y="56"/>
                      <a:pt x="58" y="54"/>
                      <a:pt x="59" y="51"/>
                    </a:cubicBezTo>
                    <a:cubicBezTo>
                      <a:pt x="64" y="53"/>
                      <a:pt x="64" y="53"/>
                      <a:pt x="64" y="53"/>
                    </a:cubicBezTo>
                    <a:cubicBezTo>
                      <a:pt x="69" y="41"/>
                      <a:pt x="69" y="41"/>
                      <a:pt x="69" y="41"/>
                    </a:cubicBezTo>
                    <a:cubicBezTo>
                      <a:pt x="64" y="39"/>
                      <a:pt x="64" y="39"/>
                      <a:pt x="64" y="39"/>
                    </a:cubicBezTo>
                    <a:cubicBezTo>
                      <a:pt x="65" y="35"/>
                      <a:pt x="64" y="32"/>
                      <a:pt x="64" y="29"/>
                    </a:cubicBezTo>
                    <a:moveTo>
                      <a:pt x="43" y="53"/>
                    </a:moveTo>
                    <a:cubicBezTo>
                      <a:pt x="40" y="54"/>
                      <a:pt x="38" y="54"/>
                      <a:pt x="35" y="54"/>
                    </a:cubicBezTo>
                    <a:cubicBezTo>
                      <a:pt x="27" y="55"/>
                      <a:pt x="20" y="50"/>
                      <a:pt x="16" y="43"/>
                    </a:cubicBezTo>
                    <a:cubicBezTo>
                      <a:pt x="12" y="33"/>
                      <a:pt x="16" y="21"/>
                      <a:pt x="26" y="16"/>
                    </a:cubicBezTo>
                    <a:cubicBezTo>
                      <a:pt x="29" y="15"/>
                      <a:pt x="32" y="15"/>
                      <a:pt x="34" y="14"/>
                    </a:cubicBezTo>
                    <a:cubicBezTo>
                      <a:pt x="42" y="14"/>
                      <a:pt x="50" y="19"/>
                      <a:pt x="53" y="26"/>
                    </a:cubicBezTo>
                    <a:cubicBezTo>
                      <a:pt x="57" y="36"/>
                      <a:pt x="53" y="48"/>
                      <a:pt x="43" y="5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sp>
          <p:nvSpPr>
            <p:cNvPr id="72" name="Freeform 180">
              <a:extLst>
                <a:ext uri="{FF2B5EF4-FFF2-40B4-BE49-F238E27FC236}">
                  <a16:creationId xmlns:a16="http://schemas.microsoft.com/office/drawing/2014/main" id="{3DA25363-D387-F2A7-404F-F131A6C3B997}"/>
                </a:ext>
              </a:extLst>
            </p:cNvPr>
            <p:cNvSpPr>
              <a:spLocks/>
            </p:cNvSpPr>
            <p:nvPr/>
          </p:nvSpPr>
          <p:spPr bwMode="auto">
            <a:xfrm>
              <a:off x="7350798" y="4336769"/>
              <a:ext cx="188125" cy="222132"/>
            </a:xfrm>
            <a:custGeom>
              <a:avLst/>
              <a:gdLst>
                <a:gd name="T0" fmla="*/ 71 w 110"/>
                <a:gd name="T1" fmla="*/ 112 h 130"/>
                <a:gd name="T2" fmla="*/ 102 w 110"/>
                <a:gd name="T3" fmla="*/ 55 h 130"/>
                <a:gd name="T4" fmla="*/ 91 w 110"/>
                <a:gd name="T5" fmla="*/ 13 h 130"/>
                <a:gd name="T6" fmla="*/ 80 w 110"/>
                <a:gd name="T7" fmla="*/ 7 h 130"/>
                <a:gd name="T8" fmla="*/ 41 w 110"/>
                <a:gd name="T9" fmla="*/ 22 h 130"/>
                <a:gd name="T10" fmla="*/ 7 w 110"/>
                <a:gd name="T11" fmla="*/ 87 h 130"/>
                <a:gd name="T12" fmla="*/ 17 w 110"/>
                <a:gd name="T13" fmla="*/ 123 h 130"/>
                <a:gd name="T14" fmla="*/ 18 w 110"/>
                <a:gd name="T15" fmla="*/ 123 h 130"/>
                <a:gd name="T16" fmla="*/ 54 w 110"/>
                <a:gd name="T17" fmla="*/ 113 h 130"/>
                <a:gd name="T18" fmla="*/ 78 w 110"/>
                <a:gd name="T19" fmla="*/ 68 h 130"/>
                <a:gd name="T20" fmla="*/ 70 w 110"/>
                <a:gd name="T21" fmla="*/ 42 h 130"/>
                <a:gd name="T22" fmla="*/ 69 w 110"/>
                <a:gd name="T23" fmla="*/ 41 h 130"/>
                <a:gd name="T24" fmla="*/ 44 w 110"/>
                <a:gd name="T25" fmla="*/ 50 h 130"/>
                <a:gd name="T26" fmla="*/ 24 w 110"/>
                <a:gd name="T27" fmla="*/ 87 h 130"/>
                <a:gd name="T28" fmla="*/ 33 w 110"/>
                <a:gd name="T29" fmla="*/ 92 h 130"/>
                <a:gd name="T30" fmla="*/ 53 w 110"/>
                <a:gd name="T31" fmla="*/ 54 h 130"/>
                <a:gd name="T32" fmla="*/ 64 w 110"/>
                <a:gd name="T33" fmla="*/ 50 h 130"/>
                <a:gd name="T34" fmla="*/ 66 w 110"/>
                <a:gd name="T35" fmla="*/ 51 h 130"/>
                <a:gd name="T36" fmla="*/ 69 w 110"/>
                <a:gd name="T37" fmla="*/ 63 h 130"/>
                <a:gd name="T38" fmla="*/ 45 w 110"/>
                <a:gd name="T39" fmla="*/ 107 h 130"/>
                <a:gd name="T40" fmla="*/ 23 w 110"/>
                <a:gd name="T41" fmla="*/ 114 h 130"/>
                <a:gd name="T42" fmla="*/ 14 w 110"/>
                <a:gd name="T43" fmla="*/ 103 h 130"/>
                <a:gd name="T44" fmla="*/ 18 w 110"/>
                <a:gd name="T45" fmla="*/ 87 h 130"/>
                <a:gd name="T46" fmla="*/ 50 w 110"/>
                <a:gd name="T47" fmla="*/ 27 h 130"/>
                <a:gd name="T48" fmla="*/ 75 w 110"/>
                <a:gd name="T49" fmla="*/ 16 h 130"/>
                <a:gd name="T50" fmla="*/ 87 w 110"/>
                <a:gd name="T51" fmla="*/ 22 h 130"/>
                <a:gd name="T52" fmla="*/ 93 w 110"/>
                <a:gd name="T53" fmla="*/ 50 h 130"/>
                <a:gd name="T54" fmla="*/ 62 w 110"/>
                <a:gd name="T55" fmla="*/ 108 h 130"/>
                <a:gd name="T56" fmla="*/ 71 w 110"/>
                <a:gd name="T57" fmla="*/ 112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0" h="130">
                  <a:moveTo>
                    <a:pt x="71" y="112"/>
                  </a:moveTo>
                  <a:cubicBezTo>
                    <a:pt x="102" y="55"/>
                    <a:pt x="102" y="55"/>
                    <a:pt x="102" y="55"/>
                  </a:cubicBezTo>
                  <a:cubicBezTo>
                    <a:pt x="110" y="38"/>
                    <a:pt x="106" y="21"/>
                    <a:pt x="91" y="13"/>
                  </a:cubicBezTo>
                  <a:cubicBezTo>
                    <a:pt x="80" y="7"/>
                    <a:pt x="80" y="7"/>
                    <a:pt x="80" y="7"/>
                  </a:cubicBezTo>
                  <a:cubicBezTo>
                    <a:pt x="66" y="0"/>
                    <a:pt x="50" y="6"/>
                    <a:pt x="41" y="22"/>
                  </a:cubicBezTo>
                  <a:cubicBezTo>
                    <a:pt x="7" y="87"/>
                    <a:pt x="7" y="87"/>
                    <a:pt x="7" y="87"/>
                  </a:cubicBezTo>
                  <a:cubicBezTo>
                    <a:pt x="0" y="100"/>
                    <a:pt x="5" y="116"/>
                    <a:pt x="17" y="123"/>
                  </a:cubicBezTo>
                  <a:cubicBezTo>
                    <a:pt x="18" y="123"/>
                    <a:pt x="18" y="123"/>
                    <a:pt x="18" y="123"/>
                  </a:cubicBezTo>
                  <a:cubicBezTo>
                    <a:pt x="31" y="130"/>
                    <a:pt x="47" y="125"/>
                    <a:pt x="54" y="113"/>
                  </a:cubicBezTo>
                  <a:cubicBezTo>
                    <a:pt x="78" y="68"/>
                    <a:pt x="78" y="68"/>
                    <a:pt x="78" y="68"/>
                  </a:cubicBezTo>
                  <a:cubicBezTo>
                    <a:pt x="83" y="58"/>
                    <a:pt x="79" y="47"/>
                    <a:pt x="70" y="42"/>
                  </a:cubicBezTo>
                  <a:cubicBezTo>
                    <a:pt x="69" y="41"/>
                    <a:pt x="69" y="41"/>
                    <a:pt x="69" y="41"/>
                  </a:cubicBezTo>
                  <a:cubicBezTo>
                    <a:pt x="60" y="36"/>
                    <a:pt x="49" y="40"/>
                    <a:pt x="44" y="50"/>
                  </a:cubicBezTo>
                  <a:cubicBezTo>
                    <a:pt x="24" y="87"/>
                    <a:pt x="24" y="87"/>
                    <a:pt x="24" y="87"/>
                  </a:cubicBezTo>
                  <a:cubicBezTo>
                    <a:pt x="33" y="92"/>
                    <a:pt x="33" y="92"/>
                    <a:pt x="33" y="92"/>
                  </a:cubicBezTo>
                  <a:cubicBezTo>
                    <a:pt x="53" y="54"/>
                    <a:pt x="53" y="54"/>
                    <a:pt x="53" y="54"/>
                  </a:cubicBezTo>
                  <a:cubicBezTo>
                    <a:pt x="55" y="50"/>
                    <a:pt x="59" y="47"/>
                    <a:pt x="64" y="50"/>
                  </a:cubicBezTo>
                  <a:cubicBezTo>
                    <a:pt x="66" y="51"/>
                    <a:pt x="66" y="51"/>
                    <a:pt x="66" y="51"/>
                  </a:cubicBezTo>
                  <a:cubicBezTo>
                    <a:pt x="70" y="53"/>
                    <a:pt x="71" y="58"/>
                    <a:pt x="69" y="63"/>
                  </a:cubicBezTo>
                  <a:cubicBezTo>
                    <a:pt x="45" y="107"/>
                    <a:pt x="45" y="107"/>
                    <a:pt x="45" y="107"/>
                  </a:cubicBezTo>
                  <a:cubicBezTo>
                    <a:pt x="41" y="115"/>
                    <a:pt x="31" y="119"/>
                    <a:pt x="23" y="114"/>
                  </a:cubicBezTo>
                  <a:cubicBezTo>
                    <a:pt x="18" y="112"/>
                    <a:pt x="15" y="108"/>
                    <a:pt x="14" y="103"/>
                  </a:cubicBezTo>
                  <a:cubicBezTo>
                    <a:pt x="13" y="99"/>
                    <a:pt x="14" y="94"/>
                    <a:pt x="18" y="87"/>
                  </a:cubicBezTo>
                  <a:cubicBezTo>
                    <a:pt x="50" y="27"/>
                    <a:pt x="50" y="27"/>
                    <a:pt x="50" y="27"/>
                  </a:cubicBezTo>
                  <a:cubicBezTo>
                    <a:pt x="57" y="13"/>
                    <a:pt x="68" y="12"/>
                    <a:pt x="75" y="16"/>
                  </a:cubicBezTo>
                  <a:cubicBezTo>
                    <a:pt x="87" y="22"/>
                    <a:pt x="87" y="22"/>
                    <a:pt x="87" y="22"/>
                  </a:cubicBezTo>
                  <a:cubicBezTo>
                    <a:pt x="98" y="28"/>
                    <a:pt x="98" y="40"/>
                    <a:pt x="93" y="50"/>
                  </a:cubicBezTo>
                  <a:cubicBezTo>
                    <a:pt x="62" y="108"/>
                    <a:pt x="62" y="108"/>
                    <a:pt x="62" y="108"/>
                  </a:cubicBezTo>
                  <a:lnTo>
                    <a:pt x="71" y="112"/>
                  </a:lnTo>
                  <a:close/>
                </a:path>
              </a:pathLst>
            </a:cu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nvGrpSpPr>
            <p:cNvPr id="73" name="Group 72">
              <a:extLst>
                <a:ext uri="{FF2B5EF4-FFF2-40B4-BE49-F238E27FC236}">
                  <a16:creationId xmlns:a16="http://schemas.microsoft.com/office/drawing/2014/main" id="{DDB564DB-2961-E26E-1124-BBE3FDBF38F0}"/>
                </a:ext>
              </a:extLst>
            </p:cNvPr>
            <p:cNvGrpSpPr/>
            <p:nvPr/>
          </p:nvGrpSpPr>
          <p:grpSpPr>
            <a:xfrm>
              <a:off x="5824818" y="2904852"/>
              <a:ext cx="171483" cy="235880"/>
              <a:chOff x="3868738" y="2328863"/>
              <a:chExt cx="376238" cy="517525"/>
            </a:xfrm>
            <a:solidFill>
              <a:srgbClr val="CE003D"/>
            </a:solidFill>
          </p:grpSpPr>
          <p:sp>
            <p:nvSpPr>
              <p:cNvPr id="110" name="Freeform 181">
                <a:extLst>
                  <a:ext uri="{FF2B5EF4-FFF2-40B4-BE49-F238E27FC236}">
                    <a16:creationId xmlns:a16="http://schemas.microsoft.com/office/drawing/2014/main" id="{A6E9FB04-8BD4-0FA5-5BCE-72A41BBFBAEE}"/>
                  </a:ext>
                </a:extLst>
              </p:cNvPr>
              <p:cNvSpPr>
                <a:spLocks/>
              </p:cNvSpPr>
              <p:nvPr/>
            </p:nvSpPr>
            <p:spPr bwMode="auto">
              <a:xfrm>
                <a:off x="3868738" y="2328863"/>
                <a:ext cx="180975" cy="517525"/>
              </a:xfrm>
              <a:custGeom>
                <a:avLst/>
                <a:gdLst>
                  <a:gd name="T0" fmla="*/ 6 w 48"/>
                  <a:gd name="T1" fmla="*/ 16 h 138"/>
                  <a:gd name="T2" fmla="*/ 1 w 48"/>
                  <a:gd name="T3" fmla="*/ 34 h 138"/>
                  <a:gd name="T4" fmla="*/ 4 w 48"/>
                  <a:gd name="T5" fmla="*/ 48 h 138"/>
                  <a:gd name="T6" fmla="*/ 17 w 48"/>
                  <a:gd name="T7" fmla="*/ 63 h 138"/>
                  <a:gd name="T8" fmla="*/ 17 w 48"/>
                  <a:gd name="T9" fmla="*/ 138 h 138"/>
                  <a:gd name="T10" fmla="*/ 30 w 48"/>
                  <a:gd name="T11" fmla="*/ 138 h 138"/>
                  <a:gd name="T12" fmla="*/ 30 w 48"/>
                  <a:gd name="T13" fmla="*/ 63 h 138"/>
                  <a:gd name="T14" fmla="*/ 44 w 48"/>
                  <a:gd name="T15" fmla="*/ 48 h 138"/>
                  <a:gd name="T16" fmla="*/ 47 w 48"/>
                  <a:gd name="T17" fmla="*/ 34 h 138"/>
                  <a:gd name="T18" fmla="*/ 42 w 48"/>
                  <a:gd name="T19" fmla="*/ 16 h 138"/>
                  <a:gd name="T20" fmla="*/ 32 w 48"/>
                  <a:gd name="T21" fmla="*/ 0 h 138"/>
                  <a:gd name="T22" fmla="*/ 35 w 48"/>
                  <a:gd name="T23" fmla="*/ 33 h 138"/>
                  <a:gd name="T24" fmla="*/ 31 w 48"/>
                  <a:gd name="T25" fmla="*/ 33 h 138"/>
                  <a:gd name="T26" fmla="*/ 27 w 48"/>
                  <a:gd name="T27" fmla="*/ 0 h 138"/>
                  <a:gd name="T28" fmla="*/ 24 w 48"/>
                  <a:gd name="T29" fmla="*/ 0 h 138"/>
                  <a:gd name="T30" fmla="*/ 20 w 48"/>
                  <a:gd name="T31" fmla="*/ 0 h 138"/>
                  <a:gd name="T32" fmla="*/ 17 w 48"/>
                  <a:gd name="T33" fmla="*/ 33 h 138"/>
                  <a:gd name="T34" fmla="*/ 13 w 48"/>
                  <a:gd name="T35" fmla="*/ 33 h 138"/>
                  <a:gd name="T36" fmla="*/ 16 w 48"/>
                  <a:gd name="T37" fmla="*/ 0 h 138"/>
                  <a:gd name="T38" fmla="*/ 6 w 48"/>
                  <a:gd name="T39" fmla="*/ 16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 h="138">
                    <a:moveTo>
                      <a:pt x="6" y="16"/>
                    </a:moveTo>
                    <a:cubicBezTo>
                      <a:pt x="4" y="22"/>
                      <a:pt x="1" y="28"/>
                      <a:pt x="1" y="34"/>
                    </a:cubicBezTo>
                    <a:cubicBezTo>
                      <a:pt x="0" y="39"/>
                      <a:pt x="1" y="43"/>
                      <a:pt x="4" y="48"/>
                    </a:cubicBezTo>
                    <a:cubicBezTo>
                      <a:pt x="7" y="53"/>
                      <a:pt x="12" y="60"/>
                      <a:pt x="17" y="63"/>
                    </a:cubicBezTo>
                    <a:cubicBezTo>
                      <a:pt x="17" y="138"/>
                      <a:pt x="17" y="138"/>
                      <a:pt x="17" y="138"/>
                    </a:cubicBezTo>
                    <a:cubicBezTo>
                      <a:pt x="30" y="138"/>
                      <a:pt x="30" y="138"/>
                      <a:pt x="30" y="138"/>
                    </a:cubicBezTo>
                    <a:cubicBezTo>
                      <a:pt x="30" y="63"/>
                      <a:pt x="30" y="63"/>
                      <a:pt x="30" y="63"/>
                    </a:cubicBezTo>
                    <a:cubicBezTo>
                      <a:pt x="36" y="60"/>
                      <a:pt x="41" y="53"/>
                      <a:pt x="44" y="48"/>
                    </a:cubicBezTo>
                    <a:cubicBezTo>
                      <a:pt x="46" y="43"/>
                      <a:pt x="48" y="39"/>
                      <a:pt x="47" y="34"/>
                    </a:cubicBezTo>
                    <a:cubicBezTo>
                      <a:pt x="46" y="28"/>
                      <a:pt x="44" y="22"/>
                      <a:pt x="42" y="16"/>
                    </a:cubicBezTo>
                    <a:cubicBezTo>
                      <a:pt x="41" y="12"/>
                      <a:pt x="37" y="1"/>
                      <a:pt x="32" y="0"/>
                    </a:cubicBezTo>
                    <a:cubicBezTo>
                      <a:pt x="35" y="33"/>
                      <a:pt x="35" y="33"/>
                      <a:pt x="35" y="33"/>
                    </a:cubicBezTo>
                    <a:cubicBezTo>
                      <a:pt x="31" y="33"/>
                      <a:pt x="31" y="33"/>
                      <a:pt x="31" y="33"/>
                    </a:cubicBezTo>
                    <a:cubicBezTo>
                      <a:pt x="27" y="0"/>
                      <a:pt x="27" y="0"/>
                      <a:pt x="27" y="0"/>
                    </a:cubicBezTo>
                    <a:cubicBezTo>
                      <a:pt x="24" y="0"/>
                      <a:pt x="24" y="0"/>
                      <a:pt x="24" y="0"/>
                    </a:cubicBezTo>
                    <a:cubicBezTo>
                      <a:pt x="20" y="0"/>
                      <a:pt x="20" y="0"/>
                      <a:pt x="20" y="0"/>
                    </a:cubicBezTo>
                    <a:cubicBezTo>
                      <a:pt x="17" y="33"/>
                      <a:pt x="17" y="33"/>
                      <a:pt x="17" y="33"/>
                    </a:cubicBezTo>
                    <a:cubicBezTo>
                      <a:pt x="13" y="33"/>
                      <a:pt x="13" y="33"/>
                      <a:pt x="13" y="33"/>
                    </a:cubicBezTo>
                    <a:cubicBezTo>
                      <a:pt x="16" y="0"/>
                      <a:pt x="16" y="0"/>
                      <a:pt x="16" y="0"/>
                    </a:cubicBezTo>
                    <a:cubicBezTo>
                      <a:pt x="10" y="1"/>
                      <a:pt x="7" y="12"/>
                      <a:pt x="6" y="1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11" name="Freeform 182">
                <a:extLst>
                  <a:ext uri="{FF2B5EF4-FFF2-40B4-BE49-F238E27FC236}">
                    <a16:creationId xmlns:a16="http://schemas.microsoft.com/office/drawing/2014/main" id="{07120A7D-55EA-B999-A8A1-B8167D9F5D3E}"/>
                  </a:ext>
                </a:extLst>
              </p:cNvPr>
              <p:cNvSpPr>
                <a:spLocks/>
              </p:cNvSpPr>
              <p:nvPr/>
            </p:nvSpPr>
            <p:spPr bwMode="auto">
              <a:xfrm>
                <a:off x="4127501" y="2328863"/>
                <a:ext cx="117475" cy="517525"/>
              </a:xfrm>
              <a:custGeom>
                <a:avLst/>
                <a:gdLst>
                  <a:gd name="T0" fmla="*/ 0 w 31"/>
                  <a:gd name="T1" fmla="*/ 39 h 138"/>
                  <a:gd name="T2" fmla="*/ 18 w 31"/>
                  <a:gd name="T3" fmla="*/ 77 h 138"/>
                  <a:gd name="T4" fmla="*/ 18 w 31"/>
                  <a:gd name="T5" fmla="*/ 138 h 138"/>
                  <a:gd name="T6" fmla="*/ 31 w 31"/>
                  <a:gd name="T7" fmla="*/ 138 h 138"/>
                  <a:gd name="T8" fmla="*/ 31 w 31"/>
                  <a:gd name="T9" fmla="*/ 0 h 138"/>
                  <a:gd name="T10" fmla="*/ 18 w 31"/>
                  <a:gd name="T11" fmla="*/ 0 h 138"/>
                  <a:gd name="T12" fmla="*/ 0 w 31"/>
                  <a:gd name="T13" fmla="*/ 39 h 138"/>
                </a:gdLst>
                <a:ahLst/>
                <a:cxnLst>
                  <a:cxn ang="0">
                    <a:pos x="T0" y="T1"/>
                  </a:cxn>
                  <a:cxn ang="0">
                    <a:pos x="T2" y="T3"/>
                  </a:cxn>
                  <a:cxn ang="0">
                    <a:pos x="T4" y="T5"/>
                  </a:cxn>
                  <a:cxn ang="0">
                    <a:pos x="T6" y="T7"/>
                  </a:cxn>
                  <a:cxn ang="0">
                    <a:pos x="T8" y="T9"/>
                  </a:cxn>
                  <a:cxn ang="0">
                    <a:pos x="T10" y="T11"/>
                  </a:cxn>
                  <a:cxn ang="0">
                    <a:pos x="T12" y="T13"/>
                  </a:cxn>
                </a:cxnLst>
                <a:rect l="0" t="0" r="r" b="b"/>
                <a:pathLst>
                  <a:path w="31" h="138">
                    <a:moveTo>
                      <a:pt x="0" y="39"/>
                    </a:moveTo>
                    <a:cubicBezTo>
                      <a:pt x="0" y="73"/>
                      <a:pt x="14" y="77"/>
                      <a:pt x="18" y="77"/>
                    </a:cubicBezTo>
                    <a:cubicBezTo>
                      <a:pt x="18" y="138"/>
                      <a:pt x="18" y="138"/>
                      <a:pt x="18" y="138"/>
                    </a:cubicBezTo>
                    <a:cubicBezTo>
                      <a:pt x="31" y="138"/>
                      <a:pt x="31" y="138"/>
                      <a:pt x="31" y="138"/>
                    </a:cubicBezTo>
                    <a:cubicBezTo>
                      <a:pt x="31" y="0"/>
                      <a:pt x="31" y="0"/>
                      <a:pt x="31" y="0"/>
                    </a:cubicBezTo>
                    <a:cubicBezTo>
                      <a:pt x="18" y="0"/>
                      <a:pt x="18" y="0"/>
                      <a:pt x="18" y="0"/>
                    </a:cubicBezTo>
                    <a:cubicBezTo>
                      <a:pt x="18" y="0"/>
                      <a:pt x="0" y="0"/>
                      <a:pt x="0" y="3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74" name="Group 73">
              <a:extLst>
                <a:ext uri="{FF2B5EF4-FFF2-40B4-BE49-F238E27FC236}">
                  <a16:creationId xmlns:a16="http://schemas.microsoft.com/office/drawing/2014/main" id="{63587A8A-61DE-D273-0DEF-0C5D151413AD}"/>
                </a:ext>
              </a:extLst>
            </p:cNvPr>
            <p:cNvGrpSpPr/>
            <p:nvPr/>
          </p:nvGrpSpPr>
          <p:grpSpPr>
            <a:xfrm>
              <a:off x="7227794" y="2490255"/>
              <a:ext cx="222132" cy="215620"/>
              <a:chOff x="6946901" y="1419225"/>
              <a:chExt cx="487363" cy="473075"/>
            </a:xfrm>
            <a:solidFill>
              <a:schemeClr val="bg1">
                <a:lumMod val="65000"/>
              </a:schemeClr>
            </a:solidFill>
          </p:grpSpPr>
          <p:sp>
            <p:nvSpPr>
              <p:cNvPr id="105" name="Freeform 183">
                <a:extLst>
                  <a:ext uri="{FF2B5EF4-FFF2-40B4-BE49-F238E27FC236}">
                    <a16:creationId xmlns:a16="http://schemas.microsoft.com/office/drawing/2014/main" id="{1642C89A-DAD6-43A1-F43D-A3AF3A2EA8A1}"/>
                  </a:ext>
                </a:extLst>
              </p:cNvPr>
              <p:cNvSpPr>
                <a:spLocks/>
              </p:cNvSpPr>
              <p:nvPr/>
            </p:nvSpPr>
            <p:spPr bwMode="auto">
              <a:xfrm>
                <a:off x="6946901" y="1419225"/>
                <a:ext cx="487363" cy="300037"/>
              </a:xfrm>
              <a:custGeom>
                <a:avLst/>
                <a:gdLst>
                  <a:gd name="T0" fmla="*/ 130 w 130"/>
                  <a:gd name="T1" fmla="*/ 66 h 80"/>
                  <a:gd name="T2" fmla="*/ 116 w 130"/>
                  <a:gd name="T3" fmla="*/ 52 h 80"/>
                  <a:gd name="T4" fmla="*/ 118 w 130"/>
                  <a:gd name="T5" fmla="*/ 40 h 80"/>
                  <a:gd name="T6" fmla="*/ 78 w 130"/>
                  <a:gd name="T7" fmla="*/ 0 h 80"/>
                  <a:gd name="T8" fmla="*/ 38 w 130"/>
                  <a:gd name="T9" fmla="*/ 39 h 80"/>
                  <a:gd name="T10" fmla="*/ 23 w 130"/>
                  <a:gd name="T11" fmla="*/ 34 h 80"/>
                  <a:gd name="T12" fmla="*/ 0 w 130"/>
                  <a:gd name="T13" fmla="*/ 57 h 80"/>
                  <a:gd name="T14" fmla="*/ 23 w 130"/>
                  <a:gd name="T15" fmla="*/ 80 h 80"/>
                  <a:gd name="T16" fmla="*/ 76 w 130"/>
                  <a:gd name="T17" fmla="*/ 80 h 80"/>
                  <a:gd name="T18" fmla="*/ 78 w 130"/>
                  <a:gd name="T19" fmla="*/ 80 h 80"/>
                  <a:gd name="T20" fmla="*/ 116 w 130"/>
                  <a:gd name="T21" fmla="*/ 80 h 80"/>
                  <a:gd name="T22" fmla="*/ 130 w 130"/>
                  <a:gd name="T23" fmla="*/ 6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0" h="80">
                    <a:moveTo>
                      <a:pt x="130" y="66"/>
                    </a:moveTo>
                    <a:cubicBezTo>
                      <a:pt x="130" y="58"/>
                      <a:pt x="124" y="52"/>
                      <a:pt x="116" y="52"/>
                    </a:cubicBezTo>
                    <a:cubicBezTo>
                      <a:pt x="118" y="48"/>
                      <a:pt x="118" y="44"/>
                      <a:pt x="118" y="40"/>
                    </a:cubicBezTo>
                    <a:cubicBezTo>
                      <a:pt x="118" y="18"/>
                      <a:pt x="100" y="0"/>
                      <a:pt x="78" y="0"/>
                    </a:cubicBezTo>
                    <a:cubicBezTo>
                      <a:pt x="56" y="0"/>
                      <a:pt x="38" y="18"/>
                      <a:pt x="38" y="39"/>
                    </a:cubicBezTo>
                    <a:cubicBezTo>
                      <a:pt x="34" y="36"/>
                      <a:pt x="29" y="34"/>
                      <a:pt x="23" y="34"/>
                    </a:cubicBezTo>
                    <a:cubicBezTo>
                      <a:pt x="10" y="34"/>
                      <a:pt x="0" y="44"/>
                      <a:pt x="0" y="57"/>
                    </a:cubicBezTo>
                    <a:cubicBezTo>
                      <a:pt x="0" y="70"/>
                      <a:pt x="10" y="80"/>
                      <a:pt x="23" y="80"/>
                    </a:cubicBezTo>
                    <a:cubicBezTo>
                      <a:pt x="76" y="80"/>
                      <a:pt x="76" y="80"/>
                      <a:pt x="76" y="80"/>
                    </a:cubicBezTo>
                    <a:cubicBezTo>
                      <a:pt x="78" y="80"/>
                      <a:pt x="78" y="80"/>
                      <a:pt x="78" y="80"/>
                    </a:cubicBezTo>
                    <a:cubicBezTo>
                      <a:pt x="116" y="80"/>
                      <a:pt x="116" y="80"/>
                      <a:pt x="116" y="80"/>
                    </a:cubicBezTo>
                    <a:cubicBezTo>
                      <a:pt x="124" y="80"/>
                      <a:pt x="130" y="74"/>
                      <a:pt x="130" y="6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6" name="Rectangle 184">
                <a:extLst>
                  <a:ext uri="{FF2B5EF4-FFF2-40B4-BE49-F238E27FC236}">
                    <a16:creationId xmlns:a16="http://schemas.microsoft.com/office/drawing/2014/main" id="{9C552239-3416-7589-D6A3-95F17E69E237}"/>
                  </a:ext>
                </a:extLst>
              </p:cNvPr>
              <p:cNvSpPr>
                <a:spLocks noChangeArrowheads="1"/>
              </p:cNvSpPr>
              <p:nvPr/>
            </p:nvSpPr>
            <p:spPr bwMode="auto">
              <a:xfrm>
                <a:off x="7016751" y="1749425"/>
                <a:ext cx="42863" cy="904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7" name="Rectangle 185">
                <a:extLst>
                  <a:ext uri="{FF2B5EF4-FFF2-40B4-BE49-F238E27FC236}">
                    <a16:creationId xmlns:a16="http://schemas.microsoft.com/office/drawing/2014/main" id="{A744DFFE-3D6D-FE1D-C3D9-D34A4993E173}"/>
                  </a:ext>
                </a:extLst>
              </p:cNvPr>
              <p:cNvSpPr>
                <a:spLocks noChangeArrowheads="1"/>
              </p:cNvSpPr>
              <p:nvPr/>
            </p:nvSpPr>
            <p:spPr bwMode="auto">
              <a:xfrm>
                <a:off x="7118351" y="1798638"/>
                <a:ext cx="41275" cy="9366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8" name="Rectangle 186">
                <a:extLst>
                  <a:ext uri="{FF2B5EF4-FFF2-40B4-BE49-F238E27FC236}">
                    <a16:creationId xmlns:a16="http://schemas.microsoft.com/office/drawing/2014/main" id="{2EF422A1-A3BB-A638-F8E6-03D543264F9D}"/>
                  </a:ext>
                </a:extLst>
              </p:cNvPr>
              <p:cNvSpPr>
                <a:spLocks noChangeArrowheads="1"/>
              </p:cNvSpPr>
              <p:nvPr/>
            </p:nvSpPr>
            <p:spPr bwMode="auto">
              <a:xfrm>
                <a:off x="7219951" y="1749425"/>
                <a:ext cx="41275" cy="904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9" name="Rectangle 187">
                <a:extLst>
                  <a:ext uri="{FF2B5EF4-FFF2-40B4-BE49-F238E27FC236}">
                    <a16:creationId xmlns:a16="http://schemas.microsoft.com/office/drawing/2014/main" id="{CEAB4778-D2F6-D272-6C0D-05A70D7A3B28}"/>
                  </a:ext>
                </a:extLst>
              </p:cNvPr>
              <p:cNvSpPr>
                <a:spLocks noChangeArrowheads="1"/>
              </p:cNvSpPr>
              <p:nvPr/>
            </p:nvSpPr>
            <p:spPr bwMode="auto">
              <a:xfrm>
                <a:off x="7321551" y="1798638"/>
                <a:ext cx="46038" cy="9366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sp>
          <p:nvSpPr>
            <p:cNvPr id="75" name="Freeform 188">
              <a:extLst>
                <a:ext uri="{FF2B5EF4-FFF2-40B4-BE49-F238E27FC236}">
                  <a16:creationId xmlns:a16="http://schemas.microsoft.com/office/drawing/2014/main" id="{A7B30B5B-A1D2-10F3-DDFC-6077C0DDC6A4}"/>
                </a:ext>
              </a:extLst>
            </p:cNvPr>
            <p:cNvSpPr>
              <a:spLocks/>
            </p:cNvSpPr>
            <p:nvPr/>
          </p:nvSpPr>
          <p:spPr bwMode="auto">
            <a:xfrm>
              <a:off x="7968715" y="2629178"/>
              <a:ext cx="176547" cy="145434"/>
            </a:xfrm>
            <a:custGeom>
              <a:avLst/>
              <a:gdLst>
                <a:gd name="T0" fmla="*/ 202 w 244"/>
                <a:gd name="T1" fmla="*/ 0 h 201"/>
                <a:gd name="T2" fmla="*/ 88 w 244"/>
                <a:gd name="T3" fmla="*/ 113 h 201"/>
                <a:gd name="T4" fmla="*/ 45 w 244"/>
                <a:gd name="T5" fmla="*/ 71 h 201"/>
                <a:gd name="T6" fmla="*/ 0 w 244"/>
                <a:gd name="T7" fmla="*/ 116 h 201"/>
                <a:gd name="T8" fmla="*/ 43 w 244"/>
                <a:gd name="T9" fmla="*/ 158 h 201"/>
                <a:gd name="T10" fmla="*/ 88 w 244"/>
                <a:gd name="T11" fmla="*/ 201 h 201"/>
                <a:gd name="T12" fmla="*/ 133 w 244"/>
                <a:gd name="T13" fmla="*/ 158 h 201"/>
                <a:gd name="T14" fmla="*/ 244 w 244"/>
                <a:gd name="T15" fmla="*/ 45 h 201"/>
                <a:gd name="T16" fmla="*/ 202 w 244"/>
                <a:gd name="T17" fmla="*/ 0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4" h="201">
                  <a:moveTo>
                    <a:pt x="202" y="0"/>
                  </a:moveTo>
                  <a:lnTo>
                    <a:pt x="88" y="113"/>
                  </a:lnTo>
                  <a:lnTo>
                    <a:pt x="45" y="71"/>
                  </a:lnTo>
                  <a:lnTo>
                    <a:pt x="0" y="116"/>
                  </a:lnTo>
                  <a:lnTo>
                    <a:pt x="43" y="158"/>
                  </a:lnTo>
                  <a:lnTo>
                    <a:pt x="88" y="201"/>
                  </a:lnTo>
                  <a:lnTo>
                    <a:pt x="133" y="158"/>
                  </a:lnTo>
                  <a:lnTo>
                    <a:pt x="244" y="45"/>
                  </a:lnTo>
                  <a:lnTo>
                    <a:pt x="202" y="0"/>
                  </a:lnTo>
                  <a:close/>
                </a:path>
              </a:pathLst>
            </a:cu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nvGrpSpPr>
            <p:cNvPr id="76" name="Group 75">
              <a:extLst>
                <a:ext uri="{FF2B5EF4-FFF2-40B4-BE49-F238E27FC236}">
                  <a16:creationId xmlns:a16="http://schemas.microsoft.com/office/drawing/2014/main" id="{2BF66D49-F6C8-0A5D-F22F-46F4EC5CE442}"/>
                </a:ext>
              </a:extLst>
            </p:cNvPr>
            <p:cNvGrpSpPr/>
            <p:nvPr/>
          </p:nvGrpSpPr>
          <p:grpSpPr>
            <a:xfrm>
              <a:off x="8078696" y="3605255"/>
              <a:ext cx="157736" cy="186677"/>
              <a:chOff x="8813801" y="3865563"/>
              <a:chExt cx="346075" cy="409574"/>
            </a:xfrm>
            <a:solidFill>
              <a:schemeClr val="bg1">
                <a:lumMod val="50000"/>
              </a:schemeClr>
            </a:solidFill>
          </p:grpSpPr>
          <p:sp>
            <p:nvSpPr>
              <p:cNvPr id="103" name="Freeform 189">
                <a:extLst>
                  <a:ext uri="{FF2B5EF4-FFF2-40B4-BE49-F238E27FC236}">
                    <a16:creationId xmlns:a16="http://schemas.microsoft.com/office/drawing/2014/main" id="{347292D2-4CA1-D9A4-144B-25BBA3ABD243}"/>
                  </a:ext>
                </a:extLst>
              </p:cNvPr>
              <p:cNvSpPr>
                <a:spLocks/>
              </p:cNvSpPr>
              <p:nvPr/>
            </p:nvSpPr>
            <p:spPr bwMode="auto">
              <a:xfrm>
                <a:off x="8813801" y="3940175"/>
                <a:ext cx="346075" cy="334962"/>
              </a:xfrm>
              <a:custGeom>
                <a:avLst/>
                <a:gdLst>
                  <a:gd name="T0" fmla="*/ 46 w 92"/>
                  <a:gd name="T1" fmla="*/ 89 h 89"/>
                  <a:gd name="T2" fmla="*/ 92 w 92"/>
                  <a:gd name="T3" fmla="*/ 43 h 89"/>
                  <a:gd name="T4" fmla="*/ 63 w 92"/>
                  <a:gd name="T5" fmla="*/ 0 h 89"/>
                  <a:gd name="T6" fmla="*/ 57 w 92"/>
                  <a:gd name="T7" fmla="*/ 9 h 89"/>
                  <a:gd name="T8" fmla="*/ 82 w 92"/>
                  <a:gd name="T9" fmla="*/ 43 h 89"/>
                  <a:gd name="T10" fmla="*/ 46 w 92"/>
                  <a:gd name="T11" fmla="*/ 79 h 89"/>
                  <a:gd name="T12" fmla="*/ 10 w 92"/>
                  <a:gd name="T13" fmla="*/ 43 h 89"/>
                  <a:gd name="T14" fmla="*/ 35 w 92"/>
                  <a:gd name="T15" fmla="*/ 9 h 89"/>
                  <a:gd name="T16" fmla="*/ 28 w 92"/>
                  <a:gd name="T17" fmla="*/ 0 h 89"/>
                  <a:gd name="T18" fmla="*/ 0 w 92"/>
                  <a:gd name="T19" fmla="*/ 43 h 89"/>
                  <a:gd name="T20" fmla="*/ 46 w 92"/>
                  <a:gd name="T21" fmla="*/ 8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89">
                    <a:moveTo>
                      <a:pt x="46" y="89"/>
                    </a:moveTo>
                    <a:cubicBezTo>
                      <a:pt x="71" y="89"/>
                      <a:pt x="92" y="68"/>
                      <a:pt x="92" y="43"/>
                    </a:cubicBezTo>
                    <a:cubicBezTo>
                      <a:pt x="92" y="24"/>
                      <a:pt x="80" y="7"/>
                      <a:pt x="63" y="0"/>
                    </a:cubicBezTo>
                    <a:cubicBezTo>
                      <a:pt x="57" y="9"/>
                      <a:pt x="57" y="9"/>
                      <a:pt x="57" y="9"/>
                    </a:cubicBezTo>
                    <a:cubicBezTo>
                      <a:pt x="71" y="13"/>
                      <a:pt x="82" y="27"/>
                      <a:pt x="82" y="43"/>
                    </a:cubicBezTo>
                    <a:cubicBezTo>
                      <a:pt x="82" y="63"/>
                      <a:pt x="66" y="79"/>
                      <a:pt x="46" y="79"/>
                    </a:cubicBezTo>
                    <a:cubicBezTo>
                      <a:pt x="26" y="79"/>
                      <a:pt x="10" y="63"/>
                      <a:pt x="10" y="43"/>
                    </a:cubicBezTo>
                    <a:cubicBezTo>
                      <a:pt x="10" y="27"/>
                      <a:pt x="20" y="13"/>
                      <a:pt x="35" y="9"/>
                    </a:cubicBezTo>
                    <a:cubicBezTo>
                      <a:pt x="28" y="0"/>
                      <a:pt x="28" y="0"/>
                      <a:pt x="28" y="0"/>
                    </a:cubicBezTo>
                    <a:cubicBezTo>
                      <a:pt x="12" y="7"/>
                      <a:pt x="0" y="24"/>
                      <a:pt x="0" y="43"/>
                    </a:cubicBezTo>
                    <a:cubicBezTo>
                      <a:pt x="0" y="68"/>
                      <a:pt x="20" y="89"/>
                      <a:pt x="46" y="8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4" name="Freeform 190">
                <a:extLst>
                  <a:ext uri="{FF2B5EF4-FFF2-40B4-BE49-F238E27FC236}">
                    <a16:creationId xmlns:a16="http://schemas.microsoft.com/office/drawing/2014/main" id="{71419C08-C1A1-0E3C-7406-CEB834C021E8}"/>
                  </a:ext>
                </a:extLst>
              </p:cNvPr>
              <p:cNvSpPr>
                <a:spLocks/>
              </p:cNvSpPr>
              <p:nvPr/>
            </p:nvSpPr>
            <p:spPr bwMode="auto">
              <a:xfrm>
                <a:off x="8904288" y="3865563"/>
                <a:ext cx="160338" cy="120650"/>
              </a:xfrm>
              <a:custGeom>
                <a:avLst/>
                <a:gdLst>
                  <a:gd name="T0" fmla="*/ 33 w 101"/>
                  <a:gd name="T1" fmla="*/ 66 h 76"/>
                  <a:gd name="T2" fmla="*/ 40 w 101"/>
                  <a:gd name="T3" fmla="*/ 76 h 76"/>
                  <a:gd name="T4" fmla="*/ 52 w 101"/>
                  <a:gd name="T5" fmla="*/ 76 h 76"/>
                  <a:gd name="T6" fmla="*/ 61 w 101"/>
                  <a:gd name="T7" fmla="*/ 76 h 76"/>
                  <a:gd name="T8" fmla="*/ 71 w 101"/>
                  <a:gd name="T9" fmla="*/ 66 h 76"/>
                  <a:gd name="T10" fmla="*/ 85 w 101"/>
                  <a:gd name="T11" fmla="*/ 45 h 76"/>
                  <a:gd name="T12" fmla="*/ 101 w 101"/>
                  <a:gd name="T13" fmla="*/ 21 h 76"/>
                  <a:gd name="T14" fmla="*/ 85 w 101"/>
                  <a:gd name="T15" fmla="*/ 0 h 76"/>
                  <a:gd name="T16" fmla="*/ 52 w 101"/>
                  <a:gd name="T17" fmla="*/ 0 h 76"/>
                  <a:gd name="T18" fmla="*/ 16 w 101"/>
                  <a:gd name="T19" fmla="*/ 0 h 76"/>
                  <a:gd name="T20" fmla="*/ 0 w 101"/>
                  <a:gd name="T21" fmla="*/ 21 h 76"/>
                  <a:gd name="T22" fmla="*/ 19 w 101"/>
                  <a:gd name="T23" fmla="*/ 45 h 76"/>
                  <a:gd name="T24" fmla="*/ 33 w 101"/>
                  <a:gd name="T25" fmla="*/ 6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1" h="76">
                    <a:moveTo>
                      <a:pt x="33" y="66"/>
                    </a:moveTo>
                    <a:lnTo>
                      <a:pt x="40" y="76"/>
                    </a:lnTo>
                    <a:lnTo>
                      <a:pt x="52" y="76"/>
                    </a:lnTo>
                    <a:lnTo>
                      <a:pt x="61" y="76"/>
                    </a:lnTo>
                    <a:lnTo>
                      <a:pt x="71" y="66"/>
                    </a:lnTo>
                    <a:lnTo>
                      <a:pt x="85" y="45"/>
                    </a:lnTo>
                    <a:lnTo>
                      <a:pt x="101" y="21"/>
                    </a:lnTo>
                    <a:lnTo>
                      <a:pt x="85" y="0"/>
                    </a:lnTo>
                    <a:lnTo>
                      <a:pt x="52" y="0"/>
                    </a:lnTo>
                    <a:lnTo>
                      <a:pt x="16" y="0"/>
                    </a:lnTo>
                    <a:lnTo>
                      <a:pt x="0" y="21"/>
                    </a:lnTo>
                    <a:lnTo>
                      <a:pt x="19" y="45"/>
                    </a:lnTo>
                    <a:lnTo>
                      <a:pt x="33"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77" name="Group 76">
              <a:extLst>
                <a:ext uri="{FF2B5EF4-FFF2-40B4-BE49-F238E27FC236}">
                  <a16:creationId xmlns:a16="http://schemas.microsoft.com/office/drawing/2014/main" id="{2BCCCCF3-21A6-8AC4-3D32-F16B4A082097}"/>
                </a:ext>
              </a:extLst>
            </p:cNvPr>
            <p:cNvGrpSpPr/>
            <p:nvPr/>
          </p:nvGrpSpPr>
          <p:grpSpPr>
            <a:xfrm>
              <a:off x="5893556" y="2587936"/>
              <a:ext cx="135305" cy="224302"/>
              <a:chOff x="4019551" y="1633538"/>
              <a:chExt cx="296862" cy="492124"/>
            </a:xfrm>
            <a:solidFill>
              <a:schemeClr val="bg1">
                <a:lumMod val="65000"/>
              </a:schemeClr>
            </a:solidFill>
          </p:grpSpPr>
          <p:sp>
            <p:nvSpPr>
              <p:cNvPr id="101" name="Freeform 191">
                <a:extLst>
                  <a:ext uri="{FF2B5EF4-FFF2-40B4-BE49-F238E27FC236}">
                    <a16:creationId xmlns:a16="http://schemas.microsoft.com/office/drawing/2014/main" id="{246816C2-4619-6FF6-F30B-4A7DADECD4A5}"/>
                  </a:ext>
                </a:extLst>
              </p:cNvPr>
              <p:cNvSpPr>
                <a:spLocks/>
              </p:cNvSpPr>
              <p:nvPr/>
            </p:nvSpPr>
            <p:spPr bwMode="auto">
              <a:xfrm>
                <a:off x="4019551" y="1708150"/>
                <a:ext cx="255588" cy="417512"/>
              </a:xfrm>
              <a:custGeom>
                <a:avLst/>
                <a:gdLst>
                  <a:gd name="T0" fmla="*/ 2 w 161"/>
                  <a:gd name="T1" fmla="*/ 263 h 263"/>
                  <a:gd name="T2" fmla="*/ 45 w 161"/>
                  <a:gd name="T3" fmla="*/ 235 h 263"/>
                  <a:gd name="T4" fmla="*/ 132 w 161"/>
                  <a:gd name="T5" fmla="*/ 71 h 263"/>
                  <a:gd name="T6" fmla="*/ 161 w 161"/>
                  <a:gd name="T7" fmla="*/ 19 h 263"/>
                  <a:gd name="T8" fmla="*/ 151 w 161"/>
                  <a:gd name="T9" fmla="*/ 14 h 263"/>
                  <a:gd name="T10" fmla="*/ 144 w 161"/>
                  <a:gd name="T11" fmla="*/ 12 h 263"/>
                  <a:gd name="T12" fmla="*/ 135 w 161"/>
                  <a:gd name="T13" fmla="*/ 7 h 263"/>
                  <a:gd name="T14" fmla="*/ 116 w 161"/>
                  <a:gd name="T15" fmla="*/ 0 h 263"/>
                  <a:gd name="T16" fmla="*/ 106 w 161"/>
                  <a:gd name="T17" fmla="*/ 17 h 263"/>
                  <a:gd name="T18" fmla="*/ 102 w 161"/>
                  <a:gd name="T19" fmla="*/ 26 h 263"/>
                  <a:gd name="T20" fmla="*/ 97 w 161"/>
                  <a:gd name="T21" fmla="*/ 36 h 263"/>
                  <a:gd name="T22" fmla="*/ 64 w 161"/>
                  <a:gd name="T23" fmla="*/ 95 h 263"/>
                  <a:gd name="T24" fmla="*/ 0 w 161"/>
                  <a:gd name="T25" fmla="*/ 216 h 263"/>
                  <a:gd name="T26" fmla="*/ 2 w 161"/>
                  <a:gd name="T27" fmla="*/ 263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1" h="263">
                    <a:moveTo>
                      <a:pt x="2" y="263"/>
                    </a:moveTo>
                    <a:lnTo>
                      <a:pt x="45" y="235"/>
                    </a:lnTo>
                    <a:lnTo>
                      <a:pt x="132" y="71"/>
                    </a:lnTo>
                    <a:lnTo>
                      <a:pt x="161" y="19"/>
                    </a:lnTo>
                    <a:lnTo>
                      <a:pt x="151" y="14"/>
                    </a:lnTo>
                    <a:lnTo>
                      <a:pt x="144" y="12"/>
                    </a:lnTo>
                    <a:lnTo>
                      <a:pt x="135" y="7"/>
                    </a:lnTo>
                    <a:lnTo>
                      <a:pt x="116" y="0"/>
                    </a:lnTo>
                    <a:lnTo>
                      <a:pt x="106" y="17"/>
                    </a:lnTo>
                    <a:lnTo>
                      <a:pt x="102" y="26"/>
                    </a:lnTo>
                    <a:lnTo>
                      <a:pt x="97" y="36"/>
                    </a:lnTo>
                    <a:lnTo>
                      <a:pt x="64" y="95"/>
                    </a:lnTo>
                    <a:lnTo>
                      <a:pt x="0" y="216"/>
                    </a:lnTo>
                    <a:lnTo>
                      <a:pt x="2" y="2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2" name="Freeform 192">
                <a:extLst>
                  <a:ext uri="{FF2B5EF4-FFF2-40B4-BE49-F238E27FC236}">
                    <a16:creationId xmlns:a16="http://schemas.microsoft.com/office/drawing/2014/main" id="{6F828FDB-6C83-C0EA-C749-3A1201D15DFB}"/>
                  </a:ext>
                </a:extLst>
              </p:cNvPr>
              <p:cNvSpPr>
                <a:spLocks/>
              </p:cNvSpPr>
              <p:nvPr/>
            </p:nvSpPr>
            <p:spPr bwMode="auto">
              <a:xfrm>
                <a:off x="4214813" y="1633538"/>
                <a:ext cx="101600" cy="82550"/>
              </a:xfrm>
              <a:custGeom>
                <a:avLst/>
                <a:gdLst>
                  <a:gd name="T0" fmla="*/ 19 w 64"/>
                  <a:gd name="T1" fmla="*/ 0 h 52"/>
                  <a:gd name="T2" fmla="*/ 0 w 64"/>
                  <a:gd name="T3" fmla="*/ 33 h 52"/>
                  <a:gd name="T4" fmla="*/ 33 w 64"/>
                  <a:gd name="T5" fmla="*/ 47 h 52"/>
                  <a:gd name="T6" fmla="*/ 42 w 64"/>
                  <a:gd name="T7" fmla="*/ 52 h 52"/>
                  <a:gd name="T8" fmla="*/ 45 w 64"/>
                  <a:gd name="T9" fmla="*/ 52 h 52"/>
                  <a:gd name="T10" fmla="*/ 47 w 64"/>
                  <a:gd name="T11" fmla="*/ 50 h 52"/>
                  <a:gd name="T12" fmla="*/ 52 w 64"/>
                  <a:gd name="T13" fmla="*/ 40 h 52"/>
                  <a:gd name="T14" fmla="*/ 64 w 64"/>
                  <a:gd name="T15" fmla="*/ 19 h 52"/>
                  <a:gd name="T16" fmla="*/ 19 w 64"/>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52">
                    <a:moveTo>
                      <a:pt x="19" y="0"/>
                    </a:moveTo>
                    <a:lnTo>
                      <a:pt x="0" y="33"/>
                    </a:lnTo>
                    <a:lnTo>
                      <a:pt x="33" y="47"/>
                    </a:lnTo>
                    <a:lnTo>
                      <a:pt x="42" y="52"/>
                    </a:lnTo>
                    <a:lnTo>
                      <a:pt x="45" y="52"/>
                    </a:lnTo>
                    <a:lnTo>
                      <a:pt x="47" y="50"/>
                    </a:lnTo>
                    <a:lnTo>
                      <a:pt x="52" y="40"/>
                    </a:lnTo>
                    <a:lnTo>
                      <a:pt x="64" y="19"/>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sp>
          <p:nvSpPr>
            <p:cNvPr id="78" name="Freeform 193">
              <a:extLst>
                <a:ext uri="{FF2B5EF4-FFF2-40B4-BE49-F238E27FC236}">
                  <a16:creationId xmlns:a16="http://schemas.microsoft.com/office/drawing/2014/main" id="{F694F8B3-B869-9027-CAF3-B3ACEFFFC930}"/>
                </a:ext>
              </a:extLst>
            </p:cNvPr>
            <p:cNvSpPr>
              <a:spLocks noEditPoints="1"/>
            </p:cNvSpPr>
            <p:nvPr/>
          </p:nvSpPr>
          <p:spPr bwMode="auto">
            <a:xfrm>
              <a:off x="7776972" y="4146474"/>
              <a:ext cx="190296" cy="188125"/>
            </a:xfrm>
            <a:custGeom>
              <a:avLst/>
              <a:gdLst>
                <a:gd name="T0" fmla="*/ 75 w 111"/>
                <a:gd name="T1" fmla="*/ 0 h 110"/>
                <a:gd name="T2" fmla="*/ 80 w 111"/>
                <a:gd name="T3" fmla="*/ 0 h 110"/>
                <a:gd name="T4" fmla="*/ 97 w 111"/>
                <a:gd name="T5" fmla="*/ 43 h 110"/>
                <a:gd name="T6" fmla="*/ 66 w 111"/>
                <a:gd name="T7" fmla="*/ 49 h 110"/>
                <a:gd name="T8" fmla="*/ 59 w 111"/>
                <a:gd name="T9" fmla="*/ 55 h 110"/>
                <a:gd name="T10" fmla="*/ 39 w 111"/>
                <a:gd name="T11" fmla="*/ 75 h 110"/>
                <a:gd name="T12" fmla="*/ 48 w 111"/>
                <a:gd name="T13" fmla="*/ 85 h 110"/>
                <a:gd name="T14" fmla="*/ 44 w 111"/>
                <a:gd name="T15" fmla="*/ 91 h 110"/>
                <a:gd name="T16" fmla="*/ 39 w 111"/>
                <a:gd name="T17" fmla="*/ 94 h 110"/>
                <a:gd name="T18" fmla="*/ 29 w 111"/>
                <a:gd name="T19" fmla="*/ 85 h 110"/>
                <a:gd name="T20" fmla="*/ 23 w 111"/>
                <a:gd name="T21" fmla="*/ 90 h 110"/>
                <a:gd name="T22" fmla="*/ 32 w 111"/>
                <a:gd name="T23" fmla="*/ 101 h 110"/>
                <a:gd name="T24" fmla="*/ 29 w 111"/>
                <a:gd name="T25" fmla="*/ 106 h 110"/>
                <a:gd name="T26" fmla="*/ 23 w 111"/>
                <a:gd name="T27" fmla="*/ 110 h 110"/>
                <a:gd name="T28" fmla="*/ 15 w 111"/>
                <a:gd name="T29" fmla="*/ 103 h 110"/>
                <a:gd name="T30" fmla="*/ 13 w 111"/>
                <a:gd name="T31" fmla="*/ 101 h 110"/>
                <a:gd name="T32" fmla="*/ 9 w 111"/>
                <a:gd name="T33" fmla="*/ 103 h 110"/>
                <a:gd name="T34" fmla="*/ 0 w 111"/>
                <a:gd name="T35" fmla="*/ 97 h 110"/>
                <a:gd name="T36" fmla="*/ 0 w 111"/>
                <a:gd name="T37" fmla="*/ 95 h 110"/>
                <a:gd name="T38" fmla="*/ 8 w 111"/>
                <a:gd name="T39" fmla="*/ 85 h 110"/>
                <a:gd name="T40" fmla="*/ 55 w 111"/>
                <a:gd name="T41" fmla="*/ 38 h 110"/>
                <a:gd name="T42" fmla="*/ 52 w 111"/>
                <a:gd name="T43" fmla="*/ 28 h 110"/>
                <a:gd name="T44" fmla="*/ 75 w 111"/>
                <a:gd name="T45" fmla="*/ 0 h 110"/>
                <a:gd name="T46" fmla="*/ 67 w 111"/>
                <a:gd name="T47" fmla="*/ 26 h 110"/>
                <a:gd name="T48" fmla="*/ 88 w 111"/>
                <a:gd name="T49" fmla="*/ 31 h 110"/>
                <a:gd name="T50" fmla="*/ 76 w 111"/>
                <a:gd name="T51" fmla="*/ 15 h 110"/>
                <a:gd name="T52" fmla="*/ 67 w 111"/>
                <a:gd name="T53" fmla="*/ 26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1" h="110">
                  <a:moveTo>
                    <a:pt x="75" y="0"/>
                  </a:moveTo>
                  <a:cubicBezTo>
                    <a:pt x="77" y="0"/>
                    <a:pt x="79" y="0"/>
                    <a:pt x="80" y="0"/>
                  </a:cubicBezTo>
                  <a:cubicBezTo>
                    <a:pt x="100" y="1"/>
                    <a:pt x="111" y="28"/>
                    <a:pt x="97" y="43"/>
                  </a:cubicBezTo>
                  <a:cubicBezTo>
                    <a:pt x="91" y="50"/>
                    <a:pt x="77" y="55"/>
                    <a:pt x="66" y="49"/>
                  </a:cubicBezTo>
                  <a:cubicBezTo>
                    <a:pt x="63" y="50"/>
                    <a:pt x="61" y="52"/>
                    <a:pt x="59" y="55"/>
                  </a:cubicBezTo>
                  <a:cubicBezTo>
                    <a:pt x="53" y="61"/>
                    <a:pt x="46" y="68"/>
                    <a:pt x="39" y="75"/>
                  </a:cubicBezTo>
                  <a:cubicBezTo>
                    <a:pt x="40" y="78"/>
                    <a:pt x="48" y="81"/>
                    <a:pt x="48" y="85"/>
                  </a:cubicBezTo>
                  <a:cubicBezTo>
                    <a:pt x="48" y="88"/>
                    <a:pt x="44" y="91"/>
                    <a:pt x="44" y="91"/>
                  </a:cubicBezTo>
                  <a:cubicBezTo>
                    <a:pt x="44" y="91"/>
                    <a:pt x="41" y="94"/>
                    <a:pt x="39" y="94"/>
                  </a:cubicBezTo>
                  <a:cubicBezTo>
                    <a:pt x="35" y="94"/>
                    <a:pt x="32" y="87"/>
                    <a:pt x="29" y="85"/>
                  </a:cubicBezTo>
                  <a:cubicBezTo>
                    <a:pt x="27" y="87"/>
                    <a:pt x="25" y="89"/>
                    <a:pt x="23" y="90"/>
                  </a:cubicBezTo>
                  <a:cubicBezTo>
                    <a:pt x="25" y="94"/>
                    <a:pt x="32" y="96"/>
                    <a:pt x="32" y="101"/>
                  </a:cubicBezTo>
                  <a:cubicBezTo>
                    <a:pt x="32" y="103"/>
                    <a:pt x="29" y="106"/>
                    <a:pt x="29" y="106"/>
                  </a:cubicBezTo>
                  <a:cubicBezTo>
                    <a:pt x="29" y="106"/>
                    <a:pt x="26" y="110"/>
                    <a:pt x="23" y="110"/>
                  </a:cubicBezTo>
                  <a:cubicBezTo>
                    <a:pt x="20" y="110"/>
                    <a:pt x="15" y="103"/>
                    <a:pt x="15" y="103"/>
                  </a:cubicBezTo>
                  <a:cubicBezTo>
                    <a:pt x="13" y="101"/>
                    <a:pt x="13" y="101"/>
                    <a:pt x="13" y="101"/>
                  </a:cubicBezTo>
                  <a:cubicBezTo>
                    <a:pt x="13" y="101"/>
                    <a:pt x="10" y="103"/>
                    <a:pt x="9" y="103"/>
                  </a:cubicBezTo>
                  <a:cubicBezTo>
                    <a:pt x="4" y="104"/>
                    <a:pt x="1" y="100"/>
                    <a:pt x="0" y="97"/>
                  </a:cubicBezTo>
                  <a:cubicBezTo>
                    <a:pt x="0" y="96"/>
                    <a:pt x="0" y="95"/>
                    <a:pt x="0" y="95"/>
                  </a:cubicBezTo>
                  <a:cubicBezTo>
                    <a:pt x="2" y="91"/>
                    <a:pt x="5" y="88"/>
                    <a:pt x="8" y="85"/>
                  </a:cubicBezTo>
                  <a:cubicBezTo>
                    <a:pt x="24" y="69"/>
                    <a:pt x="40" y="53"/>
                    <a:pt x="55" y="38"/>
                  </a:cubicBezTo>
                  <a:cubicBezTo>
                    <a:pt x="54" y="35"/>
                    <a:pt x="53" y="32"/>
                    <a:pt x="52" y="28"/>
                  </a:cubicBezTo>
                  <a:cubicBezTo>
                    <a:pt x="51" y="12"/>
                    <a:pt x="62" y="3"/>
                    <a:pt x="75" y="0"/>
                  </a:cubicBezTo>
                  <a:close/>
                  <a:moveTo>
                    <a:pt x="67" y="26"/>
                  </a:moveTo>
                  <a:cubicBezTo>
                    <a:pt x="67" y="38"/>
                    <a:pt x="83" y="40"/>
                    <a:pt x="88" y="31"/>
                  </a:cubicBezTo>
                  <a:cubicBezTo>
                    <a:pt x="92" y="22"/>
                    <a:pt x="84" y="14"/>
                    <a:pt x="76" y="15"/>
                  </a:cubicBezTo>
                  <a:cubicBezTo>
                    <a:pt x="71" y="16"/>
                    <a:pt x="67" y="20"/>
                    <a:pt x="67" y="26"/>
                  </a:cubicBezTo>
                  <a:close/>
                </a:path>
              </a:pathLst>
            </a:cu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79" name="Freeform 194">
              <a:extLst>
                <a:ext uri="{FF2B5EF4-FFF2-40B4-BE49-F238E27FC236}">
                  <a16:creationId xmlns:a16="http://schemas.microsoft.com/office/drawing/2014/main" id="{7CDAB0DE-3C61-07E4-0CA7-4F633193780C}"/>
                </a:ext>
              </a:extLst>
            </p:cNvPr>
            <p:cNvSpPr>
              <a:spLocks noEditPoints="1"/>
            </p:cNvSpPr>
            <p:nvPr/>
          </p:nvSpPr>
          <p:spPr bwMode="auto">
            <a:xfrm>
              <a:off x="5620775" y="3185592"/>
              <a:ext cx="217790" cy="172930"/>
            </a:xfrm>
            <a:custGeom>
              <a:avLst/>
              <a:gdLst>
                <a:gd name="T0" fmla="*/ 110 w 127"/>
                <a:gd name="T1" fmla="*/ 9 h 101"/>
                <a:gd name="T2" fmla="*/ 107 w 127"/>
                <a:gd name="T3" fmla="*/ 7 h 101"/>
                <a:gd name="T4" fmla="*/ 57 w 127"/>
                <a:gd name="T5" fmla="*/ 0 h 101"/>
                <a:gd name="T6" fmla="*/ 18 w 127"/>
                <a:gd name="T7" fmla="*/ 15 h 101"/>
                <a:gd name="T8" fmla="*/ 18 w 127"/>
                <a:gd name="T9" fmla="*/ 15 h 101"/>
                <a:gd name="T10" fmla="*/ 17 w 127"/>
                <a:gd name="T11" fmla="*/ 16 h 101"/>
                <a:gd name="T12" fmla="*/ 0 w 127"/>
                <a:gd name="T13" fmla="*/ 38 h 101"/>
                <a:gd name="T14" fmla="*/ 2 w 127"/>
                <a:gd name="T15" fmla="*/ 43 h 101"/>
                <a:gd name="T16" fmla="*/ 16 w 127"/>
                <a:gd name="T17" fmla="*/ 82 h 101"/>
                <a:gd name="T18" fmla="*/ 71 w 127"/>
                <a:gd name="T19" fmla="*/ 101 h 101"/>
                <a:gd name="T20" fmla="*/ 72 w 127"/>
                <a:gd name="T21" fmla="*/ 101 h 101"/>
                <a:gd name="T22" fmla="*/ 72 w 127"/>
                <a:gd name="T23" fmla="*/ 101 h 101"/>
                <a:gd name="T24" fmla="*/ 73 w 127"/>
                <a:gd name="T25" fmla="*/ 101 h 101"/>
                <a:gd name="T26" fmla="*/ 112 w 127"/>
                <a:gd name="T27" fmla="*/ 77 h 101"/>
                <a:gd name="T28" fmla="*/ 125 w 127"/>
                <a:gd name="T29" fmla="*/ 36 h 101"/>
                <a:gd name="T30" fmla="*/ 126 w 127"/>
                <a:gd name="T31" fmla="*/ 31 h 101"/>
                <a:gd name="T32" fmla="*/ 21 w 127"/>
                <a:gd name="T33" fmla="*/ 21 h 101"/>
                <a:gd name="T34" fmla="*/ 53 w 127"/>
                <a:gd name="T35" fmla="*/ 50 h 101"/>
                <a:gd name="T36" fmla="*/ 68 w 127"/>
                <a:gd name="T37" fmla="*/ 93 h 101"/>
                <a:gd name="T38" fmla="*/ 23 w 127"/>
                <a:gd name="T39" fmla="*/ 48 h 101"/>
                <a:gd name="T40" fmla="*/ 54 w 127"/>
                <a:gd name="T41" fmla="*/ 56 h 101"/>
                <a:gd name="T42" fmla="*/ 68 w 127"/>
                <a:gd name="T43" fmla="*/ 38 h 101"/>
                <a:gd name="T44" fmla="*/ 71 w 127"/>
                <a:gd name="T45" fmla="*/ 24 h 101"/>
                <a:gd name="T46" fmla="*/ 58 w 127"/>
                <a:gd name="T47" fmla="*/ 7 h 101"/>
                <a:gd name="T48" fmla="*/ 71 w 127"/>
                <a:gd name="T49" fmla="*/ 24 h 101"/>
                <a:gd name="T50" fmla="*/ 75 w 127"/>
                <a:gd name="T51" fmla="*/ 42 h 101"/>
                <a:gd name="T52" fmla="*/ 82 w 127"/>
                <a:gd name="T53" fmla="*/ 55 h 101"/>
                <a:gd name="T54" fmla="*/ 85 w 127"/>
                <a:gd name="T55" fmla="*/ 55 h 101"/>
                <a:gd name="T56" fmla="*/ 106 w 127"/>
                <a:gd name="T57" fmla="*/ 75 h 101"/>
                <a:gd name="T58" fmla="*/ 75 w 127"/>
                <a:gd name="T59" fmla="*/ 92 h 101"/>
                <a:gd name="T60" fmla="*/ 76 w 127"/>
                <a:gd name="T61" fmla="*/ 29 h 101"/>
                <a:gd name="T62" fmla="*/ 118 w 127"/>
                <a:gd name="T63" fmla="*/ 32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7" h="101">
                  <a:moveTo>
                    <a:pt x="126" y="31"/>
                  </a:moveTo>
                  <a:cubicBezTo>
                    <a:pt x="110" y="9"/>
                    <a:pt x="110" y="9"/>
                    <a:pt x="110" y="9"/>
                  </a:cubicBezTo>
                  <a:cubicBezTo>
                    <a:pt x="109" y="8"/>
                    <a:pt x="108" y="7"/>
                    <a:pt x="107" y="7"/>
                  </a:cubicBezTo>
                  <a:cubicBezTo>
                    <a:pt x="107" y="7"/>
                    <a:pt x="107" y="7"/>
                    <a:pt x="107" y="7"/>
                  </a:cubicBezTo>
                  <a:cubicBezTo>
                    <a:pt x="59" y="0"/>
                    <a:pt x="59" y="0"/>
                    <a:pt x="59" y="0"/>
                  </a:cubicBezTo>
                  <a:cubicBezTo>
                    <a:pt x="58" y="0"/>
                    <a:pt x="57" y="0"/>
                    <a:pt x="57" y="0"/>
                  </a:cubicBezTo>
                  <a:cubicBezTo>
                    <a:pt x="18" y="15"/>
                    <a:pt x="18" y="15"/>
                    <a:pt x="18" y="15"/>
                  </a:cubicBezTo>
                  <a:cubicBezTo>
                    <a:pt x="18" y="15"/>
                    <a:pt x="18" y="15"/>
                    <a:pt x="18" y="15"/>
                  </a:cubicBezTo>
                  <a:cubicBezTo>
                    <a:pt x="18" y="15"/>
                    <a:pt x="18" y="15"/>
                    <a:pt x="18" y="15"/>
                  </a:cubicBezTo>
                  <a:cubicBezTo>
                    <a:pt x="18" y="15"/>
                    <a:pt x="18" y="15"/>
                    <a:pt x="18" y="15"/>
                  </a:cubicBezTo>
                  <a:cubicBezTo>
                    <a:pt x="17" y="15"/>
                    <a:pt x="17" y="15"/>
                    <a:pt x="17" y="15"/>
                  </a:cubicBezTo>
                  <a:cubicBezTo>
                    <a:pt x="17" y="15"/>
                    <a:pt x="17" y="16"/>
                    <a:pt x="17" y="16"/>
                  </a:cubicBezTo>
                  <a:cubicBezTo>
                    <a:pt x="17" y="16"/>
                    <a:pt x="17" y="16"/>
                    <a:pt x="17" y="16"/>
                  </a:cubicBezTo>
                  <a:cubicBezTo>
                    <a:pt x="0" y="38"/>
                    <a:pt x="0" y="38"/>
                    <a:pt x="0" y="38"/>
                  </a:cubicBezTo>
                  <a:cubicBezTo>
                    <a:pt x="0" y="39"/>
                    <a:pt x="0" y="40"/>
                    <a:pt x="0" y="41"/>
                  </a:cubicBezTo>
                  <a:cubicBezTo>
                    <a:pt x="0" y="42"/>
                    <a:pt x="1" y="43"/>
                    <a:pt x="2" y="43"/>
                  </a:cubicBezTo>
                  <a:cubicBezTo>
                    <a:pt x="16" y="47"/>
                    <a:pt x="16" y="47"/>
                    <a:pt x="16" y="47"/>
                  </a:cubicBezTo>
                  <a:cubicBezTo>
                    <a:pt x="16" y="82"/>
                    <a:pt x="16" y="82"/>
                    <a:pt x="16" y="82"/>
                  </a:cubicBezTo>
                  <a:cubicBezTo>
                    <a:pt x="16" y="83"/>
                    <a:pt x="17" y="85"/>
                    <a:pt x="19" y="85"/>
                  </a:cubicBezTo>
                  <a:cubicBezTo>
                    <a:pt x="71" y="101"/>
                    <a:pt x="71" y="101"/>
                    <a:pt x="71" y="101"/>
                  </a:cubicBezTo>
                  <a:cubicBezTo>
                    <a:pt x="71" y="101"/>
                    <a:pt x="71" y="101"/>
                    <a:pt x="71" y="101"/>
                  </a:cubicBezTo>
                  <a:cubicBezTo>
                    <a:pt x="71" y="101"/>
                    <a:pt x="71" y="101"/>
                    <a:pt x="72" y="101"/>
                  </a:cubicBezTo>
                  <a:cubicBezTo>
                    <a:pt x="72" y="101"/>
                    <a:pt x="72" y="101"/>
                    <a:pt x="72" y="101"/>
                  </a:cubicBezTo>
                  <a:cubicBezTo>
                    <a:pt x="72" y="101"/>
                    <a:pt x="72" y="101"/>
                    <a:pt x="72" y="101"/>
                  </a:cubicBezTo>
                  <a:cubicBezTo>
                    <a:pt x="73" y="101"/>
                    <a:pt x="73" y="101"/>
                    <a:pt x="73" y="101"/>
                  </a:cubicBezTo>
                  <a:cubicBezTo>
                    <a:pt x="73" y="101"/>
                    <a:pt x="73" y="101"/>
                    <a:pt x="73" y="101"/>
                  </a:cubicBezTo>
                  <a:cubicBezTo>
                    <a:pt x="110" y="80"/>
                    <a:pt x="110" y="80"/>
                    <a:pt x="110" y="80"/>
                  </a:cubicBezTo>
                  <a:cubicBezTo>
                    <a:pt x="111" y="79"/>
                    <a:pt x="112" y="78"/>
                    <a:pt x="112" y="77"/>
                  </a:cubicBezTo>
                  <a:cubicBezTo>
                    <a:pt x="112" y="42"/>
                    <a:pt x="112" y="42"/>
                    <a:pt x="112" y="42"/>
                  </a:cubicBezTo>
                  <a:cubicBezTo>
                    <a:pt x="125" y="36"/>
                    <a:pt x="125" y="36"/>
                    <a:pt x="125" y="36"/>
                  </a:cubicBezTo>
                  <a:cubicBezTo>
                    <a:pt x="126" y="36"/>
                    <a:pt x="126" y="35"/>
                    <a:pt x="126" y="34"/>
                  </a:cubicBezTo>
                  <a:cubicBezTo>
                    <a:pt x="127" y="33"/>
                    <a:pt x="126" y="32"/>
                    <a:pt x="126" y="31"/>
                  </a:cubicBezTo>
                  <a:close/>
                  <a:moveTo>
                    <a:pt x="8" y="38"/>
                  </a:moveTo>
                  <a:cubicBezTo>
                    <a:pt x="21" y="21"/>
                    <a:pt x="21" y="21"/>
                    <a:pt x="21" y="21"/>
                  </a:cubicBezTo>
                  <a:cubicBezTo>
                    <a:pt x="66" y="30"/>
                    <a:pt x="66" y="30"/>
                    <a:pt x="66" y="30"/>
                  </a:cubicBezTo>
                  <a:cubicBezTo>
                    <a:pt x="53" y="50"/>
                    <a:pt x="53" y="50"/>
                    <a:pt x="53" y="50"/>
                  </a:cubicBezTo>
                  <a:lnTo>
                    <a:pt x="8" y="38"/>
                  </a:lnTo>
                  <a:close/>
                  <a:moveTo>
                    <a:pt x="68" y="93"/>
                  </a:moveTo>
                  <a:cubicBezTo>
                    <a:pt x="23" y="80"/>
                    <a:pt x="23" y="80"/>
                    <a:pt x="23" y="80"/>
                  </a:cubicBezTo>
                  <a:cubicBezTo>
                    <a:pt x="23" y="48"/>
                    <a:pt x="23" y="48"/>
                    <a:pt x="23" y="48"/>
                  </a:cubicBezTo>
                  <a:cubicBezTo>
                    <a:pt x="53" y="56"/>
                    <a:pt x="53" y="56"/>
                    <a:pt x="53" y="56"/>
                  </a:cubicBezTo>
                  <a:cubicBezTo>
                    <a:pt x="54" y="56"/>
                    <a:pt x="54" y="56"/>
                    <a:pt x="54" y="56"/>
                  </a:cubicBezTo>
                  <a:cubicBezTo>
                    <a:pt x="55" y="56"/>
                    <a:pt x="56" y="56"/>
                    <a:pt x="57" y="55"/>
                  </a:cubicBezTo>
                  <a:cubicBezTo>
                    <a:pt x="68" y="38"/>
                    <a:pt x="68" y="38"/>
                    <a:pt x="68" y="38"/>
                  </a:cubicBezTo>
                  <a:lnTo>
                    <a:pt x="68" y="93"/>
                  </a:lnTo>
                  <a:close/>
                  <a:moveTo>
                    <a:pt x="71" y="24"/>
                  </a:moveTo>
                  <a:cubicBezTo>
                    <a:pt x="31" y="17"/>
                    <a:pt x="31" y="17"/>
                    <a:pt x="31" y="17"/>
                  </a:cubicBezTo>
                  <a:cubicBezTo>
                    <a:pt x="58" y="7"/>
                    <a:pt x="58" y="7"/>
                    <a:pt x="58" y="7"/>
                  </a:cubicBezTo>
                  <a:cubicBezTo>
                    <a:pt x="96" y="12"/>
                    <a:pt x="96" y="12"/>
                    <a:pt x="96" y="12"/>
                  </a:cubicBezTo>
                  <a:lnTo>
                    <a:pt x="71" y="24"/>
                  </a:lnTo>
                  <a:close/>
                  <a:moveTo>
                    <a:pt x="75" y="92"/>
                  </a:moveTo>
                  <a:cubicBezTo>
                    <a:pt x="75" y="42"/>
                    <a:pt x="75" y="42"/>
                    <a:pt x="75" y="42"/>
                  </a:cubicBezTo>
                  <a:cubicBezTo>
                    <a:pt x="80" y="54"/>
                    <a:pt x="80" y="54"/>
                    <a:pt x="80" y="54"/>
                  </a:cubicBezTo>
                  <a:cubicBezTo>
                    <a:pt x="81" y="54"/>
                    <a:pt x="81" y="55"/>
                    <a:pt x="82" y="55"/>
                  </a:cubicBezTo>
                  <a:cubicBezTo>
                    <a:pt x="83" y="55"/>
                    <a:pt x="83" y="55"/>
                    <a:pt x="83" y="55"/>
                  </a:cubicBezTo>
                  <a:cubicBezTo>
                    <a:pt x="84" y="55"/>
                    <a:pt x="84" y="55"/>
                    <a:pt x="85" y="55"/>
                  </a:cubicBezTo>
                  <a:cubicBezTo>
                    <a:pt x="106" y="45"/>
                    <a:pt x="106" y="45"/>
                    <a:pt x="106" y="45"/>
                  </a:cubicBezTo>
                  <a:cubicBezTo>
                    <a:pt x="106" y="75"/>
                    <a:pt x="106" y="75"/>
                    <a:pt x="106" y="75"/>
                  </a:cubicBezTo>
                  <a:cubicBezTo>
                    <a:pt x="106" y="75"/>
                    <a:pt x="106" y="75"/>
                    <a:pt x="106" y="75"/>
                  </a:cubicBezTo>
                  <a:lnTo>
                    <a:pt x="75" y="92"/>
                  </a:lnTo>
                  <a:close/>
                  <a:moveTo>
                    <a:pt x="85" y="48"/>
                  </a:moveTo>
                  <a:cubicBezTo>
                    <a:pt x="76" y="29"/>
                    <a:pt x="76" y="29"/>
                    <a:pt x="76" y="29"/>
                  </a:cubicBezTo>
                  <a:cubicBezTo>
                    <a:pt x="106" y="15"/>
                    <a:pt x="106" y="15"/>
                    <a:pt x="106" y="15"/>
                  </a:cubicBezTo>
                  <a:cubicBezTo>
                    <a:pt x="118" y="32"/>
                    <a:pt x="118" y="32"/>
                    <a:pt x="118" y="32"/>
                  </a:cubicBezTo>
                  <a:lnTo>
                    <a:pt x="85" y="48"/>
                  </a:lnTo>
                  <a:close/>
                </a:path>
              </a:pathLst>
            </a:cu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nvGrpSpPr>
            <p:cNvPr id="80" name="Group 79">
              <a:extLst>
                <a:ext uri="{FF2B5EF4-FFF2-40B4-BE49-F238E27FC236}">
                  <a16:creationId xmlns:a16="http://schemas.microsoft.com/office/drawing/2014/main" id="{FED5ACB1-F823-1C49-8731-E1F14A7EB694}"/>
                </a:ext>
              </a:extLst>
            </p:cNvPr>
            <p:cNvGrpSpPr/>
            <p:nvPr/>
          </p:nvGrpSpPr>
          <p:grpSpPr>
            <a:xfrm>
              <a:off x="6227115" y="2243522"/>
              <a:ext cx="219239" cy="220684"/>
              <a:chOff x="4751388" y="877888"/>
              <a:chExt cx="481013" cy="484187"/>
            </a:xfrm>
            <a:solidFill>
              <a:schemeClr val="bg1">
                <a:lumMod val="65000"/>
              </a:schemeClr>
            </a:solidFill>
          </p:grpSpPr>
          <p:sp>
            <p:nvSpPr>
              <p:cNvPr id="84" name="Oval 195">
                <a:extLst>
                  <a:ext uri="{FF2B5EF4-FFF2-40B4-BE49-F238E27FC236}">
                    <a16:creationId xmlns:a16="http://schemas.microsoft.com/office/drawing/2014/main" id="{DA675678-0A5A-7401-56A0-FFCA2F5EA4AC}"/>
                  </a:ext>
                </a:extLst>
              </p:cNvPr>
              <p:cNvSpPr>
                <a:spLocks noChangeArrowheads="1"/>
              </p:cNvSpPr>
              <p:nvPr/>
            </p:nvSpPr>
            <p:spPr bwMode="auto">
              <a:xfrm>
                <a:off x="4830763" y="960438"/>
                <a:ext cx="323850" cy="31908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85" name="Rectangle 196">
                <a:extLst>
                  <a:ext uri="{FF2B5EF4-FFF2-40B4-BE49-F238E27FC236}">
                    <a16:creationId xmlns:a16="http://schemas.microsoft.com/office/drawing/2014/main" id="{ED1F3112-BF8F-DE81-1720-6C697EB27078}"/>
                  </a:ext>
                </a:extLst>
              </p:cNvPr>
              <p:cNvSpPr>
                <a:spLocks noChangeArrowheads="1"/>
              </p:cNvSpPr>
              <p:nvPr/>
            </p:nvSpPr>
            <p:spPr bwMode="auto">
              <a:xfrm>
                <a:off x="4973638" y="877888"/>
                <a:ext cx="41275" cy="603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86" name="Rectangle 197">
                <a:extLst>
                  <a:ext uri="{FF2B5EF4-FFF2-40B4-BE49-F238E27FC236}">
                    <a16:creationId xmlns:a16="http://schemas.microsoft.com/office/drawing/2014/main" id="{02869C0A-36FA-C24E-6C7A-CB512BA0FEFB}"/>
                  </a:ext>
                </a:extLst>
              </p:cNvPr>
              <p:cNvSpPr>
                <a:spLocks noChangeArrowheads="1"/>
              </p:cNvSpPr>
              <p:nvPr/>
            </p:nvSpPr>
            <p:spPr bwMode="auto">
              <a:xfrm>
                <a:off x="5176838" y="1100138"/>
                <a:ext cx="55563"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87" name="Rectangle 198">
                <a:extLst>
                  <a:ext uri="{FF2B5EF4-FFF2-40B4-BE49-F238E27FC236}">
                    <a16:creationId xmlns:a16="http://schemas.microsoft.com/office/drawing/2014/main" id="{BBD696C7-85B1-1072-225D-8EE9219CB82E}"/>
                  </a:ext>
                </a:extLst>
              </p:cNvPr>
              <p:cNvSpPr>
                <a:spLocks noChangeArrowheads="1"/>
              </p:cNvSpPr>
              <p:nvPr/>
            </p:nvSpPr>
            <p:spPr bwMode="auto">
              <a:xfrm>
                <a:off x="4973638" y="1303338"/>
                <a:ext cx="41275" cy="587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88" name="Rectangle 199">
                <a:extLst>
                  <a:ext uri="{FF2B5EF4-FFF2-40B4-BE49-F238E27FC236}">
                    <a16:creationId xmlns:a16="http://schemas.microsoft.com/office/drawing/2014/main" id="{91BEEC0B-C94D-C3B3-639C-B23626C6B9B4}"/>
                  </a:ext>
                </a:extLst>
              </p:cNvPr>
              <p:cNvSpPr>
                <a:spLocks noChangeArrowheads="1"/>
              </p:cNvSpPr>
              <p:nvPr/>
            </p:nvSpPr>
            <p:spPr bwMode="auto">
              <a:xfrm>
                <a:off x="4751388" y="1100138"/>
                <a:ext cx="57150"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89" name="Freeform 200">
                <a:extLst>
                  <a:ext uri="{FF2B5EF4-FFF2-40B4-BE49-F238E27FC236}">
                    <a16:creationId xmlns:a16="http://schemas.microsoft.com/office/drawing/2014/main" id="{ABE4E919-36FB-82B0-E09C-394F735222EF}"/>
                  </a:ext>
                </a:extLst>
              </p:cNvPr>
              <p:cNvSpPr>
                <a:spLocks/>
              </p:cNvSpPr>
              <p:nvPr/>
            </p:nvSpPr>
            <p:spPr bwMode="auto">
              <a:xfrm>
                <a:off x="5108576" y="935038"/>
                <a:ext cx="68263" cy="71437"/>
              </a:xfrm>
              <a:custGeom>
                <a:avLst/>
                <a:gdLst>
                  <a:gd name="T0" fmla="*/ 43 w 43"/>
                  <a:gd name="T1" fmla="*/ 18 h 45"/>
                  <a:gd name="T2" fmla="*/ 19 w 43"/>
                  <a:gd name="T3" fmla="*/ 45 h 45"/>
                  <a:gd name="T4" fmla="*/ 0 w 43"/>
                  <a:gd name="T5" fmla="*/ 26 h 45"/>
                  <a:gd name="T6" fmla="*/ 26 w 43"/>
                  <a:gd name="T7" fmla="*/ 0 h 45"/>
                  <a:gd name="T8" fmla="*/ 43 w 43"/>
                  <a:gd name="T9" fmla="*/ 18 h 45"/>
                </a:gdLst>
                <a:ahLst/>
                <a:cxnLst>
                  <a:cxn ang="0">
                    <a:pos x="T0" y="T1"/>
                  </a:cxn>
                  <a:cxn ang="0">
                    <a:pos x="T2" y="T3"/>
                  </a:cxn>
                  <a:cxn ang="0">
                    <a:pos x="T4" y="T5"/>
                  </a:cxn>
                  <a:cxn ang="0">
                    <a:pos x="T6" y="T7"/>
                  </a:cxn>
                  <a:cxn ang="0">
                    <a:pos x="T8" y="T9"/>
                  </a:cxn>
                </a:cxnLst>
                <a:rect l="0" t="0" r="r" b="b"/>
                <a:pathLst>
                  <a:path w="43" h="45">
                    <a:moveTo>
                      <a:pt x="43" y="18"/>
                    </a:moveTo>
                    <a:lnTo>
                      <a:pt x="19" y="45"/>
                    </a:lnTo>
                    <a:lnTo>
                      <a:pt x="0" y="26"/>
                    </a:lnTo>
                    <a:lnTo>
                      <a:pt x="26" y="0"/>
                    </a:lnTo>
                    <a:lnTo>
                      <a:pt x="43"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0" name="Freeform 201">
                <a:extLst>
                  <a:ext uri="{FF2B5EF4-FFF2-40B4-BE49-F238E27FC236}">
                    <a16:creationId xmlns:a16="http://schemas.microsoft.com/office/drawing/2014/main" id="{BD0C13F2-84C5-D3D0-B498-FC78EA0BB9CF}"/>
                  </a:ext>
                </a:extLst>
              </p:cNvPr>
              <p:cNvSpPr>
                <a:spLocks/>
              </p:cNvSpPr>
              <p:nvPr/>
            </p:nvSpPr>
            <p:spPr bwMode="auto">
              <a:xfrm>
                <a:off x="5108576" y="1235075"/>
                <a:ext cx="68263" cy="71437"/>
              </a:xfrm>
              <a:custGeom>
                <a:avLst/>
                <a:gdLst>
                  <a:gd name="T0" fmla="*/ 19 w 43"/>
                  <a:gd name="T1" fmla="*/ 0 h 45"/>
                  <a:gd name="T2" fmla="*/ 43 w 43"/>
                  <a:gd name="T3" fmla="*/ 26 h 45"/>
                  <a:gd name="T4" fmla="*/ 26 w 43"/>
                  <a:gd name="T5" fmla="*/ 45 h 45"/>
                  <a:gd name="T6" fmla="*/ 0 w 43"/>
                  <a:gd name="T7" fmla="*/ 19 h 45"/>
                  <a:gd name="T8" fmla="*/ 19 w 43"/>
                  <a:gd name="T9" fmla="*/ 0 h 45"/>
                </a:gdLst>
                <a:ahLst/>
                <a:cxnLst>
                  <a:cxn ang="0">
                    <a:pos x="T0" y="T1"/>
                  </a:cxn>
                  <a:cxn ang="0">
                    <a:pos x="T2" y="T3"/>
                  </a:cxn>
                  <a:cxn ang="0">
                    <a:pos x="T4" y="T5"/>
                  </a:cxn>
                  <a:cxn ang="0">
                    <a:pos x="T6" y="T7"/>
                  </a:cxn>
                  <a:cxn ang="0">
                    <a:pos x="T8" y="T9"/>
                  </a:cxn>
                </a:cxnLst>
                <a:rect l="0" t="0" r="r" b="b"/>
                <a:pathLst>
                  <a:path w="43" h="45">
                    <a:moveTo>
                      <a:pt x="19" y="0"/>
                    </a:moveTo>
                    <a:lnTo>
                      <a:pt x="43" y="26"/>
                    </a:lnTo>
                    <a:lnTo>
                      <a:pt x="26" y="45"/>
                    </a:lnTo>
                    <a:lnTo>
                      <a:pt x="0" y="19"/>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1" name="Freeform 202">
                <a:extLst>
                  <a:ext uri="{FF2B5EF4-FFF2-40B4-BE49-F238E27FC236}">
                    <a16:creationId xmlns:a16="http://schemas.microsoft.com/office/drawing/2014/main" id="{B1C26C28-696D-F5F6-85A5-2DFB2A3B5C71}"/>
                  </a:ext>
                </a:extLst>
              </p:cNvPr>
              <p:cNvSpPr>
                <a:spLocks/>
              </p:cNvSpPr>
              <p:nvPr/>
            </p:nvSpPr>
            <p:spPr bwMode="auto">
              <a:xfrm>
                <a:off x="4808538" y="1235075"/>
                <a:ext cx="66675" cy="71437"/>
              </a:xfrm>
              <a:custGeom>
                <a:avLst/>
                <a:gdLst>
                  <a:gd name="T0" fmla="*/ 26 w 42"/>
                  <a:gd name="T1" fmla="*/ 0 h 45"/>
                  <a:gd name="T2" fmla="*/ 42 w 42"/>
                  <a:gd name="T3" fmla="*/ 19 h 45"/>
                  <a:gd name="T4" fmla="*/ 19 w 42"/>
                  <a:gd name="T5" fmla="*/ 45 h 45"/>
                  <a:gd name="T6" fmla="*/ 0 w 42"/>
                  <a:gd name="T7" fmla="*/ 26 h 45"/>
                  <a:gd name="T8" fmla="*/ 26 w 42"/>
                  <a:gd name="T9" fmla="*/ 0 h 45"/>
                </a:gdLst>
                <a:ahLst/>
                <a:cxnLst>
                  <a:cxn ang="0">
                    <a:pos x="T0" y="T1"/>
                  </a:cxn>
                  <a:cxn ang="0">
                    <a:pos x="T2" y="T3"/>
                  </a:cxn>
                  <a:cxn ang="0">
                    <a:pos x="T4" y="T5"/>
                  </a:cxn>
                  <a:cxn ang="0">
                    <a:pos x="T6" y="T7"/>
                  </a:cxn>
                  <a:cxn ang="0">
                    <a:pos x="T8" y="T9"/>
                  </a:cxn>
                </a:cxnLst>
                <a:rect l="0" t="0" r="r" b="b"/>
                <a:pathLst>
                  <a:path w="42" h="45">
                    <a:moveTo>
                      <a:pt x="26" y="0"/>
                    </a:moveTo>
                    <a:lnTo>
                      <a:pt x="42" y="19"/>
                    </a:lnTo>
                    <a:lnTo>
                      <a:pt x="19" y="45"/>
                    </a:lnTo>
                    <a:lnTo>
                      <a:pt x="0" y="26"/>
                    </a:lnTo>
                    <a:lnTo>
                      <a:pt x="2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2" name="Freeform 203">
                <a:extLst>
                  <a:ext uri="{FF2B5EF4-FFF2-40B4-BE49-F238E27FC236}">
                    <a16:creationId xmlns:a16="http://schemas.microsoft.com/office/drawing/2014/main" id="{7C67F880-90F5-DC26-B6D0-EA2D19CEDC94}"/>
                  </a:ext>
                </a:extLst>
              </p:cNvPr>
              <p:cNvSpPr>
                <a:spLocks/>
              </p:cNvSpPr>
              <p:nvPr/>
            </p:nvSpPr>
            <p:spPr bwMode="auto">
              <a:xfrm>
                <a:off x="4808538" y="935038"/>
                <a:ext cx="66675" cy="71437"/>
              </a:xfrm>
              <a:custGeom>
                <a:avLst/>
                <a:gdLst>
                  <a:gd name="T0" fmla="*/ 42 w 42"/>
                  <a:gd name="T1" fmla="*/ 26 h 45"/>
                  <a:gd name="T2" fmla="*/ 26 w 42"/>
                  <a:gd name="T3" fmla="*/ 45 h 45"/>
                  <a:gd name="T4" fmla="*/ 0 w 42"/>
                  <a:gd name="T5" fmla="*/ 18 h 45"/>
                  <a:gd name="T6" fmla="*/ 19 w 42"/>
                  <a:gd name="T7" fmla="*/ 0 h 45"/>
                  <a:gd name="T8" fmla="*/ 42 w 42"/>
                  <a:gd name="T9" fmla="*/ 26 h 45"/>
                </a:gdLst>
                <a:ahLst/>
                <a:cxnLst>
                  <a:cxn ang="0">
                    <a:pos x="T0" y="T1"/>
                  </a:cxn>
                  <a:cxn ang="0">
                    <a:pos x="T2" y="T3"/>
                  </a:cxn>
                  <a:cxn ang="0">
                    <a:pos x="T4" y="T5"/>
                  </a:cxn>
                  <a:cxn ang="0">
                    <a:pos x="T6" y="T7"/>
                  </a:cxn>
                  <a:cxn ang="0">
                    <a:pos x="T8" y="T9"/>
                  </a:cxn>
                </a:cxnLst>
                <a:rect l="0" t="0" r="r" b="b"/>
                <a:pathLst>
                  <a:path w="42" h="45">
                    <a:moveTo>
                      <a:pt x="42" y="26"/>
                    </a:moveTo>
                    <a:lnTo>
                      <a:pt x="26" y="45"/>
                    </a:lnTo>
                    <a:lnTo>
                      <a:pt x="0" y="18"/>
                    </a:lnTo>
                    <a:lnTo>
                      <a:pt x="19" y="0"/>
                    </a:lnTo>
                    <a:lnTo>
                      <a:pt x="42"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3" name="Freeform 204">
                <a:extLst>
                  <a:ext uri="{FF2B5EF4-FFF2-40B4-BE49-F238E27FC236}">
                    <a16:creationId xmlns:a16="http://schemas.microsoft.com/office/drawing/2014/main" id="{A25D983D-E7B1-71B9-FAAC-17CEF87B3803}"/>
                  </a:ext>
                </a:extLst>
              </p:cNvPr>
              <p:cNvSpPr>
                <a:spLocks/>
              </p:cNvSpPr>
              <p:nvPr/>
            </p:nvSpPr>
            <p:spPr bwMode="auto">
              <a:xfrm>
                <a:off x="5045076" y="889000"/>
                <a:ext cx="60325" cy="68262"/>
              </a:xfrm>
              <a:custGeom>
                <a:avLst/>
                <a:gdLst>
                  <a:gd name="T0" fmla="*/ 38 w 38"/>
                  <a:gd name="T1" fmla="*/ 10 h 43"/>
                  <a:gd name="T2" fmla="*/ 24 w 38"/>
                  <a:gd name="T3" fmla="*/ 43 h 43"/>
                  <a:gd name="T4" fmla="*/ 0 w 38"/>
                  <a:gd name="T5" fmla="*/ 33 h 43"/>
                  <a:gd name="T6" fmla="*/ 12 w 38"/>
                  <a:gd name="T7" fmla="*/ 0 h 43"/>
                  <a:gd name="T8" fmla="*/ 38 w 38"/>
                  <a:gd name="T9" fmla="*/ 10 h 43"/>
                </a:gdLst>
                <a:ahLst/>
                <a:cxnLst>
                  <a:cxn ang="0">
                    <a:pos x="T0" y="T1"/>
                  </a:cxn>
                  <a:cxn ang="0">
                    <a:pos x="T2" y="T3"/>
                  </a:cxn>
                  <a:cxn ang="0">
                    <a:pos x="T4" y="T5"/>
                  </a:cxn>
                  <a:cxn ang="0">
                    <a:pos x="T6" y="T7"/>
                  </a:cxn>
                  <a:cxn ang="0">
                    <a:pos x="T8" y="T9"/>
                  </a:cxn>
                </a:cxnLst>
                <a:rect l="0" t="0" r="r" b="b"/>
                <a:pathLst>
                  <a:path w="38" h="43">
                    <a:moveTo>
                      <a:pt x="38" y="10"/>
                    </a:moveTo>
                    <a:lnTo>
                      <a:pt x="24" y="43"/>
                    </a:lnTo>
                    <a:lnTo>
                      <a:pt x="0" y="33"/>
                    </a:lnTo>
                    <a:lnTo>
                      <a:pt x="12" y="0"/>
                    </a:lnTo>
                    <a:lnTo>
                      <a:pt x="38"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4" name="Freeform 205">
                <a:extLst>
                  <a:ext uri="{FF2B5EF4-FFF2-40B4-BE49-F238E27FC236}">
                    <a16:creationId xmlns:a16="http://schemas.microsoft.com/office/drawing/2014/main" id="{F07D559D-12D8-95DE-3BA7-778748511506}"/>
                  </a:ext>
                </a:extLst>
              </p:cNvPr>
              <p:cNvSpPr>
                <a:spLocks/>
              </p:cNvSpPr>
              <p:nvPr/>
            </p:nvSpPr>
            <p:spPr bwMode="auto">
              <a:xfrm>
                <a:off x="5154613" y="1171575"/>
                <a:ext cx="71438" cy="60325"/>
              </a:xfrm>
              <a:custGeom>
                <a:avLst/>
                <a:gdLst>
                  <a:gd name="T0" fmla="*/ 9 w 45"/>
                  <a:gd name="T1" fmla="*/ 0 h 38"/>
                  <a:gd name="T2" fmla="*/ 45 w 45"/>
                  <a:gd name="T3" fmla="*/ 14 h 38"/>
                  <a:gd name="T4" fmla="*/ 33 w 45"/>
                  <a:gd name="T5" fmla="*/ 38 h 38"/>
                  <a:gd name="T6" fmla="*/ 0 w 45"/>
                  <a:gd name="T7" fmla="*/ 23 h 38"/>
                  <a:gd name="T8" fmla="*/ 9 w 45"/>
                  <a:gd name="T9" fmla="*/ 0 h 38"/>
                </a:gdLst>
                <a:ahLst/>
                <a:cxnLst>
                  <a:cxn ang="0">
                    <a:pos x="T0" y="T1"/>
                  </a:cxn>
                  <a:cxn ang="0">
                    <a:pos x="T2" y="T3"/>
                  </a:cxn>
                  <a:cxn ang="0">
                    <a:pos x="T4" y="T5"/>
                  </a:cxn>
                  <a:cxn ang="0">
                    <a:pos x="T6" y="T7"/>
                  </a:cxn>
                  <a:cxn ang="0">
                    <a:pos x="T8" y="T9"/>
                  </a:cxn>
                </a:cxnLst>
                <a:rect l="0" t="0" r="r" b="b"/>
                <a:pathLst>
                  <a:path w="45" h="38">
                    <a:moveTo>
                      <a:pt x="9" y="0"/>
                    </a:moveTo>
                    <a:lnTo>
                      <a:pt x="45" y="14"/>
                    </a:lnTo>
                    <a:lnTo>
                      <a:pt x="33" y="38"/>
                    </a:lnTo>
                    <a:lnTo>
                      <a:pt x="0" y="23"/>
                    </a:lnTo>
                    <a:lnTo>
                      <a:pt x="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5" name="Freeform 206">
                <a:extLst>
                  <a:ext uri="{FF2B5EF4-FFF2-40B4-BE49-F238E27FC236}">
                    <a16:creationId xmlns:a16="http://schemas.microsoft.com/office/drawing/2014/main" id="{52EBD1ED-822F-84B6-BE12-CD76DCF98542}"/>
                  </a:ext>
                </a:extLst>
              </p:cNvPr>
              <p:cNvSpPr>
                <a:spLocks/>
              </p:cNvSpPr>
              <p:nvPr/>
            </p:nvSpPr>
            <p:spPr bwMode="auto">
              <a:xfrm>
                <a:off x="4883151" y="1284288"/>
                <a:ext cx="60325" cy="66675"/>
              </a:xfrm>
              <a:custGeom>
                <a:avLst/>
                <a:gdLst>
                  <a:gd name="T0" fmla="*/ 38 w 38"/>
                  <a:gd name="T1" fmla="*/ 9 h 42"/>
                  <a:gd name="T2" fmla="*/ 24 w 38"/>
                  <a:gd name="T3" fmla="*/ 42 h 42"/>
                  <a:gd name="T4" fmla="*/ 0 w 38"/>
                  <a:gd name="T5" fmla="*/ 33 h 42"/>
                  <a:gd name="T6" fmla="*/ 14 w 38"/>
                  <a:gd name="T7" fmla="*/ 0 h 42"/>
                  <a:gd name="T8" fmla="*/ 38 w 38"/>
                  <a:gd name="T9" fmla="*/ 9 h 42"/>
                </a:gdLst>
                <a:ahLst/>
                <a:cxnLst>
                  <a:cxn ang="0">
                    <a:pos x="T0" y="T1"/>
                  </a:cxn>
                  <a:cxn ang="0">
                    <a:pos x="T2" y="T3"/>
                  </a:cxn>
                  <a:cxn ang="0">
                    <a:pos x="T4" y="T5"/>
                  </a:cxn>
                  <a:cxn ang="0">
                    <a:pos x="T6" y="T7"/>
                  </a:cxn>
                  <a:cxn ang="0">
                    <a:pos x="T8" y="T9"/>
                  </a:cxn>
                </a:cxnLst>
                <a:rect l="0" t="0" r="r" b="b"/>
                <a:pathLst>
                  <a:path w="38" h="42">
                    <a:moveTo>
                      <a:pt x="38" y="9"/>
                    </a:moveTo>
                    <a:lnTo>
                      <a:pt x="24" y="42"/>
                    </a:lnTo>
                    <a:lnTo>
                      <a:pt x="0" y="33"/>
                    </a:lnTo>
                    <a:lnTo>
                      <a:pt x="14" y="0"/>
                    </a:lnTo>
                    <a:lnTo>
                      <a:pt x="3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6" name="Freeform 207">
                <a:extLst>
                  <a:ext uri="{FF2B5EF4-FFF2-40B4-BE49-F238E27FC236}">
                    <a16:creationId xmlns:a16="http://schemas.microsoft.com/office/drawing/2014/main" id="{558A1D86-5DDE-F977-9F22-5A89B73CAD87}"/>
                  </a:ext>
                </a:extLst>
              </p:cNvPr>
              <p:cNvSpPr>
                <a:spLocks/>
              </p:cNvSpPr>
              <p:nvPr/>
            </p:nvSpPr>
            <p:spPr bwMode="auto">
              <a:xfrm>
                <a:off x="4762501" y="1009650"/>
                <a:ext cx="68263" cy="60325"/>
              </a:xfrm>
              <a:custGeom>
                <a:avLst/>
                <a:gdLst>
                  <a:gd name="T0" fmla="*/ 34 w 43"/>
                  <a:gd name="T1" fmla="*/ 38 h 38"/>
                  <a:gd name="T2" fmla="*/ 0 w 43"/>
                  <a:gd name="T3" fmla="*/ 24 h 38"/>
                  <a:gd name="T4" fmla="*/ 10 w 43"/>
                  <a:gd name="T5" fmla="*/ 0 h 38"/>
                  <a:gd name="T6" fmla="*/ 43 w 43"/>
                  <a:gd name="T7" fmla="*/ 14 h 38"/>
                  <a:gd name="T8" fmla="*/ 34 w 43"/>
                  <a:gd name="T9" fmla="*/ 38 h 38"/>
                </a:gdLst>
                <a:ahLst/>
                <a:cxnLst>
                  <a:cxn ang="0">
                    <a:pos x="T0" y="T1"/>
                  </a:cxn>
                  <a:cxn ang="0">
                    <a:pos x="T2" y="T3"/>
                  </a:cxn>
                  <a:cxn ang="0">
                    <a:pos x="T4" y="T5"/>
                  </a:cxn>
                  <a:cxn ang="0">
                    <a:pos x="T6" y="T7"/>
                  </a:cxn>
                  <a:cxn ang="0">
                    <a:pos x="T8" y="T9"/>
                  </a:cxn>
                </a:cxnLst>
                <a:rect l="0" t="0" r="r" b="b"/>
                <a:pathLst>
                  <a:path w="43" h="38">
                    <a:moveTo>
                      <a:pt x="34" y="38"/>
                    </a:moveTo>
                    <a:lnTo>
                      <a:pt x="0" y="24"/>
                    </a:lnTo>
                    <a:lnTo>
                      <a:pt x="10" y="0"/>
                    </a:lnTo>
                    <a:lnTo>
                      <a:pt x="43" y="14"/>
                    </a:lnTo>
                    <a:lnTo>
                      <a:pt x="34"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7" name="Freeform 208">
                <a:extLst>
                  <a:ext uri="{FF2B5EF4-FFF2-40B4-BE49-F238E27FC236}">
                    <a16:creationId xmlns:a16="http://schemas.microsoft.com/office/drawing/2014/main" id="{DEA76B4A-E0EE-2A19-4FF5-08FB9221A268}"/>
                  </a:ext>
                </a:extLst>
              </p:cNvPr>
              <p:cNvSpPr>
                <a:spLocks/>
              </p:cNvSpPr>
              <p:nvPr/>
            </p:nvSpPr>
            <p:spPr bwMode="auto">
              <a:xfrm>
                <a:off x="5154613" y="1009650"/>
                <a:ext cx="66675" cy="60325"/>
              </a:xfrm>
              <a:custGeom>
                <a:avLst/>
                <a:gdLst>
                  <a:gd name="T0" fmla="*/ 0 w 42"/>
                  <a:gd name="T1" fmla="*/ 14 h 38"/>
                  <a:gd name="T2" fmla="*/ 33 w 42"/>
                  <a:gd name="T3" fmla="*/ 0 h 38"/>
                  <a:gd name="T4" fmla="*/ 42 w 42"/>
                  <a:gd name="T5" fmla="*/ 24 h 38"/>
                  <a:gd name="T6" fmla="*/ 9 w 42"/>
                  <a:gd name="T7" fmla="*/ 38 h 38"/>
                  <a:gd name="T8" fmla="*/ 0 w 42"/>
                  <a:gd name="T9" fmla="*/ 14 h 38"/>
                </a:gdLst>
                <a:ahLst/>
                <a:cxnLst>
                  <a:cxn ang="0">
                    <a:pos x="T0" y="T1"/>
                  </a:cxn>
                  <a:cxn ang="0">
                    <a:pos x="T2" y="T3"/>
                  </a:cxn>
                  <a:cxn ang="0">
                    <a:pos x="T4" y="T5"/>
                  </a:cxn>
                  <a:cxn ang="0">
                    <a:pos x="T6" y="T7"/>
                  </a:cxn>
                  <a:cxn ang="0">
                    <a:pos x="T8" y="T9"/>
                  </a:cxn>
                </a:cxnLst>
                <a:rect l="0" t="0" r="r" b="b"/>
                <a:pathLst>
                  <a:path w="42" h="38">
                    <a:moveTo>
                      <a:pt x="0" y="14"/>
                    </a:moveTo>
                    <a:lnTo>
                      <a:pt x="33" y="0"/>
                    </a:lnTo>
                    <a:lnTo>
                      <a:pt x="42" y="24"/>
                    </a:lnTo>
                    <a:lnTo>
                      <a:pt x="9" y="38"/>
                    </a:lnTo>
                    <a:lnTo>
                      <a:pt x="0"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8" name="Freeform 209">
                <a:extLst>
                  <a:ext uri="{FF2B5EF4-FFF2-40B4-BE49-F238E27FC236}">
                    <a16:creationId xmlns:a16="http://schemas.microsoft.com/office/drawing/2014/main" id="{9B260C95-07C5-48C5-2457-353CF1DF9E21}"/>
                  </a:ext>
                </a:extLst>
              </p:cNvPr>
              <p:cNvSpPr>
                <a:spLocks/>
              </p:cNvSpPr>
              <p:nvPr/>
            </p:nvSpPr>
            <p:spPr bwMode="auto">
              <a:xfrm>
                <a:off x="5045076" y="1279525"/>
                <a:ext cx="60325" cy="71437"/>
              </a:xfrm>
              <a:custGeom>
                <a:avLst/>
                <a:gdLst>
                  <a:gd name="T0" fmla="*/ 38 w 38"/>
                  <a:gd name="T1" fmla="*/ 33 h 45"/>
                  <a:gd name="T2" fmla="*/ 14 w 38"/>
                  <a:gd name="T3" fmla="*/ 45 h 45"/>
                  <a:gd name="T4" fmla="*/ 0 w 38"/>
                  <a:gd name="T5" fmla="*/ 12 h 45"/>
                  <a:gd name="T6" fmla="*/ 24 w 38"/>
                  <a:gd name="T7" fmla="*/ 0 h 45"/>
                  <a:gd name="T8" fmla="*/ 38 w 38"/>
                  <a:gd name="T9" fmla="*/ 33 h 45"/>
                </a:gdLst>
                <a:ahLst/>
                <a:cxnLst>
                  <a:cxn ang="0">
                    <a:pos x="T0" y="T1"/>
                  </a:cxn>
                  <a:cxn ang="0">
                    <a:pos x="T2" y="T3"/>
                  </a:cxn>
                  <a:cxn ang="0">
                    <a:pos x="T4" y="T5"/>
                  </a:cxn>
                  <a:cxn ang="0">
                    <a:pos x="T6" y="T7"/>
                  </a:cxn>
                  <a:cxn ang="0">
                    <a:pos x="T8" y="T9"/>
                  </a:cxn>
                </a:cxnLst>
                <a:rect l="0" t="0" r="r" b="b"/>
                <a:pathLst>
                  <a:path w="38" h="45">
                    <a:moveTo>
                      <a:pt x="38" y="33"/>
                    </a:moveTo>
                    <a:lnTo>
                      <a:pt x="14" y="45"/>
                    </a:lnTo>
                    <a:lnTo>
                      <a:pt x="0" y="12"/>
                    </a:lnTo>
                    <a:lnTo>
                      <a:pt x="24" y="0"/>
                    </a:lnTo>
                    <a:lnTo>
                      <a:pt x="38"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9" name="Freeform 210">
                <a:extLst>
                  <a:ext uri="{FF2B5EF4-FFF2-40B4-BE49-F238E27FC236}">
                    <a16:creationId xmlns:a16="http://schemas.microsoft.com/office/drawing/2014/main" id="{191E8F4D-A2DE-110F-26DC-B6E4AEB00604}"/>
                  </a:ext>
                </a:extLst>
              </p:cNvPr>
              <p:cNvSpPr>
                <a:spLocks/>
              </p:cNvSpPr>
              <p:nvPr/>
            </p:nvSpPr>
            <p:spPr bwMode="auto">
              <a:xfrm>
                <a:off x="4762501" y="1171575"/>
                <a:ext cx="68263" cy="60325"/>
              </a:xfrm>
              <a:custGeom>
                <a:avLst/>
                <a:gdLst>
                  <a:gd name="T0" fmla="*/ 43 w 43"/>
                  <a:gd name="T1" fmla="*/ 23 h 38"/>
                  <a:gd name="T2" fmla="*/ 10 w 43"/>
                  <a:gd name="T3" fmla="*/ 38 h 38"/>
                  <a:gd name="T4" fmla="*/ 0 w 43"/>
                  <a:gd name="T5" fmla="*/ 14 h 38"/>
                  <a:gd name="T6" fmla="*/ 34 w 43"/>
                  <a:gd name="T7" fmla="*/ 0 h 38"/>
                  <a:gd name="T8" fmla="*/ 43 w 43"/>
                  <a:gd name="T9" fmla="*/ 23 h 38"/>
                </a:gdLst>
                <a:ahLst/>
                <a:cxnLst>
                  <a:cxn ang="0">
                    <a:pos x="T0" y="T1"/>
                  </a:cxn>
                  <a:cxn ang="0">
                    <a:pos x="T2" y="T3"/>
                  </a:cxn>
                  <a:cxn ang="0">
                    <a:pos x="T4" y="T5"/>
                  </a:cxn>
                  <a:cxn ang="0">
                    <a:pos x="T6" y="T7"/>
                  </a:cxn>
                  <a:cxn ang="0">
                    <a:pos x="T8" y="T9"/>
                  </a:cxn>
                </a:cxnLst>
                <a:rect l="0" t="0" r="r" b="b"/>
                <a:pathLst>
                  <a:path w="43" h="38">
                    <a:moveTo>
                      <a:pt x="43" y="23"/>
                    </a:moveTo>
                    <a:lnTo>
                      <a:pt x="10" y="38"/>
                    </a:lnTo>
                    <a:lnTo>
                      <a:pt x="0" y="14"/>
                    </a:lnTo>
                    <a:lnTo>
                      <a:pt x="34" y="0"/>
                    </a:lnTo>
                    <a:lnTo>
                      <a:pt x="43"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0" name="Freeform 211">
                <a:extLst>
                  <a:ext uri="{FF2B5EF4-FFF2-40B4-BE49-F238E27FC236}">
                    <a16:creationId xmlns:a16="http://schemas.microsoft.com/office/drawing/2014/main" id="{A9DC6249-F028-79F2-732C-7DA5C6870A13}"/>
                  </a:ext>
                </a:extLst>
              </p:cNvPr>
              <p:cNvSpPr>
                <a:spLocks/>
              </p:cNvSpPr>
              <p:nvPr/>
            </p:nvSpPr>
            <p:spPr bwMode="auto">
              <a:xfrm>
                <a:off x="4879976" y="889000"/>
                <a:ext cx="60325" cy="68262"/>
              </a:xfrm>
              <a:custGeom>
                <a:avLst/>
                <a:gdLst>
                  <a:gd name="T0" fmla="*/ 38 w 38"/>
                  <a:gd name="T1" fmla="*/ 33 h 43"/>
                  <a:gd name="T2" fmla="*/ 14 w 38"/>
                  <a:gd name="T3" fmla="*/ 43 h 43"/>
                  <a:gd name="T4" fmla="*/ 0 w 38"/>
                  <a:gd name="T5" fmla="*/ 10 h 43"/>
                  <a:gd name="T6" fmla="*/ 23 w 38"/>
                  <a:gd name="T7" fmla="*/ 0 h 43"/>
                  <a:gd name="T8" fmla="*/ 38 w 38"/>
                  <a:gd name="T9" fmla="*/ 33 h 43"/>
                </a:gdLst>
                <a:ahLst/>
                <a:cxnLst>
                  <a:cxn ang="0">
                    <a:pos x="T0" y="T1"/>
                  </a:cxn>
                  <a:cxn ang="0">
                    <a:pos x="T2" y="T3"/>
                  </a:cxn>
                  <a:cxn ang="0">
                    <a:pos x="T4" y="T5"/>
                  </a:cxn>
                  <a:cxn ang="0">
                    <a:pos x="T6" y="T7"/>
                  </a:cxn>
                  <a:cxn ang="0">
                    <a:pos x="T8" y="T9"/>
                  </a:cxn>
                </a:cxnLst>
                <a:rect l="0" t="0" r="r" b="b"/>
                <a:pathLst>
                  <a:path w="38" h="43">
                    <a:moveTo>
                      <a:pt x="38" y="33"/>
                    </a:moveTo>
                    <a:lnTo>
                      <a:pt x="14" y="43"/>
                    </a:lnTo>
                    <a:lnTo>
                      <a:pt x="0" y="10"/>
                    </a:lnTo>
                    <a:lnTo>
                      <a:pt x="23" y="0"/>
                    </a:lnTo>
                    <a:lnTo>
                      <a:pt x="38"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sp>
          <p:nvSpPr>
            <p:cNvPr id="81" name="Freeform 212">
              <a:extLst>
                <a:ext uri="{FF2B5EF4-FFF2-40B4-BE49-F238E27FC236}">
                  <a16:creationId xmlns:a16="http://schemas.microsoft.com/office/drawing/2014/main" id="{E512A9D6-9E8D-D949-0B4C-0BADAAFBA553}"/>
                </a:ext>
              </a:extLst>
            </p:cNvPr>
            <p:cNvSpPr>
              <a:spLocks/>
            </p:cNvSpPr>
            <p:nvPr/>
          </p:nvSpPr>
          <p:spPr bwMode="auto">
            <a:xfrm>
              <a:off x="8203871" y="3119025"/>
              <a:ext cx="51372" cy="52820"/>
            </a:xfrm>
            <a:custGeom>
              <a:avLst/>
              <a:gdLst>
                <a:gd name="T0" fmla="*/ 27 w 30"/>
                <a:gd name="T1" fmla="*/ 25 h 31"/>
                <a:gd name="T2" fmla="*/ 7 w 30"/>
                <a:gd name="T3" fmla="*/ 1 h 31"/>
                <a:gd name="T4" fmla="*/ 7 w 30"/>
                <a:gd name="T5" fmla="*/ 12 h 31"/>
                <a:gd name="T6" fmla="*/ 17 w 30"/>
                <a:gd name="T7" fmla="*/ 22 h 31"/>
                <a:gd name="T8" fmla="*/ 27 w 30"/>
                <a:gd name="T9" fmla="*/ 25 h 31"/>
              </a:gdLst>
              <a:ahLst/>
              <a:cxnLst>
                <a:cxn ang="0">
                  <a:pos x="T0" y="T1"/>
                </a:cxn>
                <a:cxn ang="0">
                  <a:pos x="T2" y="T3"/>
                </a:cxn>
                <a:cxn ang="0">
                  <a:pos x="T4" y="T5"/>
                </a:cxn>
                <a:cxn ang="0">
                  <a:pos x="T6" y="T7"/>
                </a:cxn>
                <a:cxn ang="0">
                  <a:pos x="T8" y="T9"/>
                </a:cxn>
              </a:cxnLst>
              <a:rect l="0" t="0" r="r" b="b"/>
              <a:pathLst>
                <a:path w="30" h="31">
                  <a:moveTo>
                    <a:pt x="27" y="25"/>
                  </a:moveTo>
                  <a:cubicBezTo>
                    <a:pt x="30" y="12"/>
                    <a:pt x="20" y="0"/>
                    <a:pt x="7" y="1"/>
                  </a:cubicBezTo>
                  <a:cubicBezTo>
                    <a:pt x="0" y="2"/>
                    <a:pt x="0" y="12"/>
                    <a:pt x="7" y="12"/>
                  </a:cubicBezTo>
                  <a:cubicBezTo>
                    <a:pt x="13" y="11"/>
                    <a:pt x="18" y="15"/>
                    <a:pt x="17" y="22"/>
                  </a:cubicBezTo>
                  <a:cubicBezTo>
                    <a:pt x="16" y="29"/>
                    <a:pt x="26" y="31"/>
                    <a:pt x="27" y="25"/>
                  </a:cubicBezTo>
                </a:path>
              </a:pathLst>
            </a:cu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82" name="Freeform 213">
              <a:extLst>
                <a:ext uri="{FF2B5EF4-FFF2-40B4-BE49-F238E27FC236}">
                  <a16:creationId xmlns:a16="http://schemas.microsoft.com/office/drawing/2014/main" id="{E13FD08F-8A2D-7A60-733D-C3F95F5C1134}"/>
                </a:ext>
              </a:extLst>
            </p:cNvPr>
            <p:cNvSpPr>
              <a:spLocks/>
            </p:cNvSpPr>
            <p:nvPr/>
          </p:nvSpPr>
          <p:spPr bwMode="auto">
            <a:xfrm>
              <a:off x="8157562" y="3168228"/>
              <a:ext cx="184508" cy="149052"/>
            </a:xfrm>
            <a:custGeom>
              <a:avLst/>
              <a:gdLst>
                <a:gd name="T0" fmla="*/ 3 w 108"/>
                <a:gd name="T1" fmla="*/ 15 h 87"/>
                <a:gd name="T2" fmla="*/ 2 w 108"/>
                <a:gd name="T3" fmla="*/ 41 h 87"/>
                <a:gd name="T4" fmla="*/ 31 w 108"/>
                <a:gd name="T5" fmla="*/ 87 h 87"/>
                <a:gd name="T6" fmla="*/ 35 w 108"/>
                <a:gd name="T7" fmla="*/ 87 h 87"/>
                <a:gd name="T8" fmla="*/ 50 w 108"/>
                <a:gd name="T9" fmla="*/ 82 h 87"/>
                <a:gd name="T10" fmla="*/ 64 w 108"/>
                <a:gd name="T11" fmla="*/ 87 h 87"/>
                <a:gd name="T12" fmla="*/ 94 w 108"/>
                <a:gd name="T13" fmla="*/ 10 h 87"/>
                <a:gd name="T14" fmla="*/ 91 w 108"/>
                <a:gd name="T15" fmla="*/ 7 h 87"/>
                <a:gd name="T16" fmla="*/ 70 w 108"/>
                <a:gd name="T17" fmla="*/ 0 h 87"/>
                <a:gd name="T18" fmla="*/ 50 w 108"/>
                <a:gd name="T19" fmla="*/ 4 h 87"/>
                <a:gd name="T20" fmla="*/ 50 w 108"/>
                <a:gd name="T21" fmla="*/ 4 h 87"/>
                <a:gd name="T22" fmla="*/ 45 w 108"/>
                <a:gd name="T23" fmla="*/ 2 h 87"/>
                <a:gd name="T24" fmla="*/ 31 w 108"/>
                <a:gd name="T25" fmla="*/ 0 h 87"/>
                <a:gd name="T26" fmla="*/ 30 w 108"/>
                <a:gd name="T27" fmla="*/ 0 h 87"/>
                <a:gd name="T28" fmla="*/ 3 w 108"/>
                <a:gd name="T29" fmla="*/ 15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8" h="87">
                  <a:moveTo>
                    <a:pt x="3" y="15"/>
                  </a:moveTo>
                  <a:cubicBezTo>
                    <a:pt x="0" y="23"/>
                    <a:pt x="1" y="33"/>
                    <a:pt x="2" y="41"/>
                  </a:cubicBezTo>
                  <a:cubicBezTo>
                    <a:pt x="5" y="57"/>
                    <a:pt x="13" y="82"/>
                    <a:pt x="31" y="87"/>
                  </a:cubicBezTo>
                  <a:cubicBezTo>
                    <a:pt x="32" y="87"/>
                    <a:pt x="34" y="87"/>
                    <a:pt x="35" y="87"/>
                  </a:cubicBezTo>
                  <a:cubicBezTo>
                    <a:pt x="40" y="87"/>
                    <a:pt x="45" y="85"/>
                    <a:pt x="50" y="82"/>
                  </a:cubicBezTo>
                  <a:cubicBezTo>
                    <a:pt x="54" y="86"/>
                    <a:pt x="59" y="87"/>
                    <a:pt x="64" y="87"/>
                  </a:cubicBezTo>
                  <a:cubicBezTo>
                    <a:pt x="90" y="87"/>
                    <a:pt x="108" y="29"/>
                    <a:pt x="94" y="10"/>
                  </a:cubicBezTo>
                  <a:cubicBezTo>
                    <a:pt x="93" y="9"/>
                    <a:pt x="92" y="8"/>
                    <a:pt x="91" y="7"/>
                  </a:cubicBezTo>
                  <a:cubicBezTo>
                    <a:pt x="86" y="2"/>
                    <a:pt x="78" y="0"/>
                    <a:pt x="70" y="0"/>
                  </a:cubicBezTo>
                  <a:cubicBezTo>
                    <a:pt x="63" y="0"/>
                    <a:pt x="55" y="2"/>
                    <a:pt x="50" y="4"/>
                  </a:cubicBezTo>
                  <a:cubicBezTo>
                    <a:pt x="50" y="4"/>
                    <a:pt x="50" y="4"/>
                    <a:pt x="50" y="4"/>
                  </a:cubicBezTo>
                  <a:cubicBezTo>
                    <a:pt x="49" y="4"/>
                    <a:pt x="45" y="3"/>
                    <a:pt x="45" y="2"/>
                  </a:cubicBezTo>
                  <a:cubicBezTo>
                    <a:pt x="40" y="1"/>
                    <a:pt x="36" y="0"/>
                    <a:pt x="31" y="0"/>
                  </a:cubicBezTo>
                  <a:cubicBezTo>
                    <a:pt x="31" y="0"/>
                    <a:pt x="30" y="0"/>
                    <a:pt x="30" y="0"/>
                  </a:cubicBezTo>
                  <a:cubicBezTo>
                    <a:pt x="19" y="0"/>
                    <a:pt x="7" y="4"/>
                    <a:pt x="3" y="15"/>
                  </a:cubicBezTo>
                </a:path>
              </a:pathLst>
            </a:cu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83" name="Freeform 6">
              <a:extLst>
                <a:ext uri="{FF2B5EF4-FFF2-40B4-BE49-F238E27FC236}">
                  <a16:creationId xmlns:a16="http://schemas.microsoft.com/office/drawing/2014/main" id="{3543FE10-E2A1-3007-7030-571C5B8E78D4}"/>
                </a:ext>
              </a:extLst>
            </p:cNvPr>
            <p:cNvSpPr>
              <a:spLocks noEditPoints="1"/>
            </p:cNvSpPr>
            <p:nvPr/>
          </p:nvSpPr>
          <p:spPr bwMode="auto">
            <a:xfrm>
              <a:off x="6393588" y="4079166"/>
              <a:ext cx="1199294" cy="1278118"/>
            </a:xfrm>
            <a:custGeom>
              <a:avLst/>
              <a:gdLst>
                <a:gd name="T0" fmla="*/ 743 w 957"/>
                <a:gd name="T1" fmla="*/ 313 h 1020"/>
                <a:gd name="T2" fmla="*/ 756 w 957"/>
                <a:gd name="T3" fmla="*/ 428 h 1020"/>
                <a:gd name="T4" fmla="*/ 704 w 957"/>
                <a:gd name="T5" fmla="*/ 513 h 1020"/>
                <a:gd name="T6" fmla="*/ 724 w 957"/>
                <a:gd name="T7" fmla="*/ 341 h 1020"/>
                <a:gd name="T8" fmla="*/ 704 w 957"/>
                <a:gd name="T9" fmla="*/ 152 h 1020"/>
                <a:gd name="T10" fmla="*/ 953 w 957"/>
                <a:gd name="T11" fmla="*/ 925 h 1020"/>
                <a:gd name="T12" fmla="*/ 704 w 957"/>
                <a:gd name="T13" fmla="*/ 1020 h 1020"/>
                <a:gd name="T14" fmla="*/ 478 w 957"/>
                <a:gd name="T15" fmla="*/ 16 h 1020"/>
                <a:gd name="T16" fmla="*/ 704 w 957"/>
                <a:gd name="T17" fmla="*/ 308 h 1020"/>
                <a:gd name="T18" fmla="*/ 679 w 957"/>
                <a:gd name="T19" fmla="*/ 494 h 1020"/>
                <a:gd name="T20" fmla="*/ 704 w 957"/>
                <a:gd name="T21" fmla="*/ 513 h 1020"/>
                <a:gd name="T22" fmla="*/ 665 w 957"/>
                <a:gd name="T23" fmla="*/ 566 h 1020"/>
                <a:gd name="T24" fmla="*/ 684 w 957"/>
                <a:gd name="T25" fmla="*/ 723 h 1020"/>
                <a:gd name="T26" fmla="*/ 704 w 957"/>
                <a:gd name="T27" fmla="*/ 1020 h 1020"/>
                <a:gd name="T28" fmla="*/ 478 w 957"/>
                <a:gd name="T29" fmla="*/ 984 h 1020"/>
                <a:gd name="T30" fmla="*/ 493 w 957"/>
                <a:gd name="T31" fmla="*/ 969 h 1020"/>
                <a:gd name="T32" fmla="*/ 478 w 957"/>
                <a:gd name="T33" fmla="*/ 955 h 1020"/>
                <a:gd name="T34" fmla="*/ 480 w 957"/>
                <a:gd name="T35" fmla="*/ 945 h 1020"/>
                <a:gd name="T36" fmla="*/ 480 w 957"/>
                <a:gd name="T37" fmla="*/ 916 h 1020"/>
                <a:gd name="T38" fmla="*/ 478 w 957"/>
                <a:gd name="T39" fmla="*/ 901 h 1020"/>
                <a:gd name="T40" fmla="*/ 589 w 957"/>
                <a:gd name="T41" fmla="*/ 663 h 1020"/>
                <a:gd name="T42" fmla="*/ 479 w 957"/>
                <a:gd name="T43" fmla="*/ 709 h 1020"/>
                <a:gd name="T44" fmla="*/ 478 w 957"/>
                <a:gd name="T45" fmla="*/ 613 h 1020"/>
                <a:gd name="T46" fmla="*/ 519 w 957"/>
                <a:gd name="T47" fmla="*/ 628 h 1020"/>
                <a:gd name="T48" fmla="*/ 478 w 957"/>
                <a:gd name="T49" fmla="*/ 512 h 1020"/>
                <a:gd name="T50" fmla="*/ 587 w 957"/>
                <a:gd name="T51" fmla="*/ 502 h 1020"/>
                <a:gd name="T52" fmla="*/ 664 w 957"/>
                <a:gd name="T53" fmla="*/ 319 h 1020"/>
                <a:gd name="T54" fmla="*/ 478 w 957"/>
                <a:gd name="T55" fmla="*/ 16 h 1020"/>
                <a:gd name="T56" fmla="*/ 395 w 957"/>
                <a:gd name="T57" fmla="*/ 35 h 1020"/>
                <a:gd name="T58" fmla="*/ 478 w 957"/>
                <a:gd name="T59" fmla="*/ 16 h 1020"/>
                <a:gd name="T60" fmla="*/ 425 w 957"/>
                <a:gd name="T61" fmla="*/ 204 h 1020"/>
                <a:gd name="T62" fmla="*/ 294 w 957"/>
                <a:gd name="T63" fmla="*/ 284 h 1020"/>
                <a:gd name="T64" fmla="*/ 362 w 957"/>
                <a:gd name="T65" fmla="*/ 506 h 1020"/>
                <a:gd name="T66" fmla="*/ 477 w 957"/>
                <a:gd name="T67" fmla="*/ 478 h 1020"/>
                <a:gd name="T68" fmla="*/ 478 w 957"/>
                <a:gd name="T69" fmla="*/ 512 h 1020"/>
                <a:gd name="T70" fmla="*/ 438 w 957"/>
                <a:gd name="T71" fmla="*/ 628 h 1020"/>
                <a:gd name="T72" fmla="*/ 478 w 957"/>
                <a:gd name="T73" fmla="*/ 709 h 1020"/>
                <a:gd name="T74" fmla="*/ 370 w 957"/>
                <a:gd name="T75" fmla="*/ 665 h 1020"/>
                <a:gd name="T76" fmla="*/ 478 w 957"/>
                <a:gd name="T77" fmla="*/ 901 h 1020"/>
                <a:gd name="T78" fmla="*/ 478 w 957"/>
                <a:gd name="T79" fmla="*/ 916 h 1020"/>
                <a:gd name="T80" fmla="*/ 478 w 957"/>
                <a:gd name="T81" fmla="*/ 945 h 1020"/>
                <a:gd name="T82" fmla="*/ 466 w 957"/>
                <a:gd name="T83" fmla="*/ 969 h 1020"/>
                <a:gd name="T84" fmla="*/ 478 w 957"/>
                <a:gd name="T85" fmla="*/ 1020 h 1020"/>
                <a:gd name="T86" fmla="*/ 253 w 957"/>
                <a:gd name="T87" fmla="*/ 730 h 1020"/>
                <a:gd name="T88" fmla="*/ 342 w 957"/>
                <a:gd name="T89" fmla="*/ 640 h 1020"/>
                <a:gd name="T90" fmla="*/ 265 w 957"/>
                <a:gd name="T91" fmla="*/ 519 h 1020"/>
                <a:gd name="T92" fmla="*/ 253 w 957"/>
                <a:gd name="T93" fmla="*/ 477 h 1020"/>
                <a:gd name="T94" fmla="*/ 276 w 957"/>
                <a:gd name="T95" fmla="*/ 341 h 1020"/>
                <a:gd name="T96" fmla="*/ 253 w 957"/>
                <a:gd name="T97" fmla="*/ 143 h 1020"/>
                <a:gd name="T98" fmla="*/ 214 w 957"/>
                <a:gd name="T99" fmla="*/ 313 h 1020"/>
                <a:gd name="T100" fmla="*/ 253 w 957"/>
                <a:gd name="T101" fmla="*/ 310 h 1020"/>
                <a:gd name="T102" fmla="*/ 253 w 957"/>
                <a:gd name="T103" fmla="*/ 477 h 1020"/>
                <a:gd name="T104" fmla="*/ 227 w 957"/>
                <a:gd name="T105" fmla="*/ 490 h 1020"/>
                <a:gd name="T106" fmla="*/ 199 w 957"/>
                <a:gd name="T107" fmla="*/ 359 h 1020"/>
                <a:gd name="T108" fmla="*/ 253 w 957"/>
                <a:gd name="T109" fmla="*/ 1020 h 1020"/>
                <a:gd name="T110" fmla="*/ 3 w 957"/>
                <a:gd name="T111" fmla="*/ 925 h 1020"/>
                <a:gd name="T112" fmla="*/ 253 w 957"/>
                <a:gd name="T113" fmla="*/ 1020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57" h="1020">
                  <a:moveTo>
                    <a:pt x="704" y="152"/>
                  </a:moveTo>
                  <a:cubicBezTo>
                    <a:pt x="723" y="197"/>
                    <a:pt x="736" y="251"/>
                    <a:pt x="743" y="313"/>
                  </a:cubicBezTo>
                  <a:cubicBezTo>
                    <a:pt x="750" y="327"/>
                    <a:pt x="755" y="342"/>
                    <a:pt x="757" y="359"/>
                  </a:cubicBezTo>
                  <a:cubicBezTo>
                    <a:pt x="761" y="381"/>
                    <a:pt x="760" y="406"/>
                    <a:pt x="756" y="428"/>
                  </a:cubicBezTo>
                  <a:cubicBezTo>
                    <a:pt x="751" y="452"/>
                    <a:pt x="742" y="473"/>
                    <a:pt x="729" y="490"/>
                  </a:cubicBezTo>
                  <a:cubicBezTo>
                    <a:pt x="722" y="500"/>
                    <a:pt x="713" y="508"/>
                    <a:pt x="704" y="513"/>
                  </a:cubicBezTo>
                  <a:cubicBezTo>
                    <a:pt x="704" y="476"/>
                    <a:pt x="704" y="476"/>
                    <a:pt x="704" y="476"/>
                  </a:cubicBezTo>
                  <a:cubicBezTo>
                    <a:pt x="730" y="445"/>
                    <a:pt x="739" y="384"/>
                    <a:pt x="724" y="341"/>
                  </a:cubicBezTo>
                  <a:cubicBezTo>
                    <a:pt x="718" y="320"/>
                    <a:pt x="710" y="310"/>
                    <a:pt x="704" y="308"/>
                  </a:cubicBezTo>
                  <a:lnTo>
                    <a:pt x="704" y="152"/>
                  </a:lnTo>
                  <a:close/>
                  <a:moveTo>
                    <a:pt x="704" y="731"/>
                  </a:moveTo>
                  <a:cubicBezTo>
                    <a:pt x="815" y="772"/>
                    <a:pt x="957" y="791"/>
                    <a:pt x="953" y="925"/>
                  </a:cubicBezTo>
                  <a:cubicBezTo>
                    <a:pt x="952" y="956"/>
                    <a:pt x="940" y="988"/>
                    <a:pt x="921" y="1020"/>
                  </a:cubicBezTo>
                  <a:cubicBezTo>
                    <a:pt x="704" y="1020"/>
                    <a:pt x="704" y="1020"/>
                    <a:pt x="704" y="1020"/>
                  </a:cubicBezTo>
                  <a:lnTo>
                    <a:pt x="704" y="731"/>
                  </a:lnTo>
                  <a:close/>
                  <a:moveTo>
                    <a:pt x="478" y="16"/>
                  </a:moveTo>
                  <a:cubicBezTo>
                    <a:pt x="588" y="0"/>
                    <a:pt x="661" y="52"/>
                    <a:pt x="704" y="152"/>
                  </a:cubicBezTo>
                  <a:cubicBezTo>
                    <a:pt x="704" y="308"/>
                    <a:pt x="704" y="308"/>
                    <a:pt x="704" y="308"/>
                  </a:cubicBezTo>
                  <a:cubicBezTo>
                    <a:pt x="693" y="305"/>
                    <a:pt x="684" y="321"/>
                    <a:pt x="680" y="350"/>
                  </a:cubicBezTo>
                  <a:cubicBezTo>
                    <a:pt x="675" y="381"/>
                    <a:pt x="674" y="429"/>
                    <a:pt x="679" y="494"/>
                  </a:cubicBezTo>
                  <a:cubicBezTo>
                    <a:pt x="688" y="491"/>
                    <a:pt x="697" y="484"/>
                    <a:pt x="704" y="476"/>
                  </a:cubicBezTo>
                  <a:cubicBezTo>
                    <a:pt x="704" y="513"/>
                    <a:pt x="704" y="513"/>
                    <a:pt x="704" y="513"/>
                  </a:cubicBezTo>
                  <a:cubicBezTo>
                    <a:pt x="700" y="515"/>
                    <a:pt x="696" y="517"/>
                    <a:pt x="692" y="519"/>
                  </a:cubicBezTo>
                  <a:cubicBezTo>
                    <a:pt x="684" y="535"/>
                    <a:pt x="675" y="552"/>
                    <a:pt x="665" y="566"/>
                  </a:cubicBezTo>
                  <a:cubicBezTo>
                    <a:pt x="654" y="594"/>
                    <a:pt x="635" y="619"/>
                    <a:pt x="614" y="640"/>
                  </a:cubicBezTo>
                  <a:cubicBezTo>
                    <a:pt x="621" y="675"/>
                    <a:pt x="640" y="705"/>
                    <a:pt x="684" y="723"/>
                  </a:cubicBezTo>
                  <a:cubicBezTo>
                    <a:pt x="690" y="726"/>
                    <a:pt x="697" y="728"/>
                    <a:pt x="704" y="731"/>
                  </a:cubicBezTo>
                  <a:cubicBezTo>
                    <a:pt x="704" y="1020"/>
                    <a:pt x="704" y="1020"/>
                    <a:pt x="704" y="1020"/>
                  </a:cubicBezTo>
                  <a:cubicBezTo>
                    <a:pt x="478" y="1020"/>
                    <a:pt x="478" y="1020"/>
                    <a:pt x="478" y="1020"/>
                  </a:cubicBezTo>
                  <a:cubicBezTo>
                    <a:pt x="478" y="984"/>
                    <a:pt x="478" y="984"/>
                    <a:pt x="478" y="984"/>
                  </a:cubicBezTo>
                  <a:cubicBezTo>
                    <a:pt x="479" y="984"/>
                    <a:pt x="479" y="984"/>
                    <a:pt x="480" y="984"/>
                  </a:cubicBezTo>
                  <a:cubicBezTo>
                    <a:pt x="487" y="984"/>
                    <a:pt x="493" y="977"/>
                    <a:pt x="493" y="969"/>
                  </a:cubicBezTo>
                  <a:cubicBezTo>
                    <a:pt x="493" y="961"/>
                    <a:pt x="487" y="955"/>
                    <a:pt x="480" y="955"/>
                  </a:cubicBezTo>
                  <a:cubicBezTo>
                    <a:pt x="479" y="955"/>
                    <a:pt x="479" y="955"/>
                    <a:pt x="478" y="955"/>
                  </a:cubicBezTo>
                  <a:cubicBezTo>
                    <a:pt x="478" y="945"/>
                    <a:pt x="478" y="945"/>
                    <a:pt x="478" y="945"/>
                  </a:cubicBezTo>
                  <a:cubicBezTo>
                    <a:pt x="479" y="945"/>
                    <a:pt x="479" y="945"/>
                    <a:pt x="480" y="945"/>
                  </a:cubicBezTo>
                  <a:cubicBezTo>
                    <a:pt x="487" y="945"/>
                    <a:pt x="493" y="938"/>
                    <a:pt x="493" y="930"/>
                  </a:cubicBezTo>
                  <a:cubicBezTo>
                    <a:pt x="493" y="922"/>
                    <a:pt x="487" y="916"/>
                    <a:pt x="480" y="916"/>
                  </a:cubicBezTo>
                  <a:cubicBezTo>
                    <a:pt x="479" y="916"/>
                    <a:pt x="479" y="916"/>
                    <a:pt x="478" y="916"/>
                  </a:cubicBezTo>
                  <a:cubicBezTo>
                    <a:pt x="478" y="901"/>
                    <a:pt x="478" y="901"/>
                    <a:pt x="478" y="901"/>
                  </a:cubicBezTo>
                  <a:cubicBezTo>
                    <a:pt x="556" y="871"/>
                    <a:pt x="598" y="831"/>
                    <a:pt x="661" y="751"/>
                  </a:cubicBezTo>
                  <a:cubicBezTo>
                    <a:pt x="625" y="737"/>
                    <a:pt x="602" y="703"/>
                    <a:pt x="589" y="663"/>
                  </a:cubicBezTo>
                  <a:cubicBezTo>
                    <a:pt x="553" y="691"/>
                    <a:pt x="514" y="709"/>
                    <a:pt x="485" y="709"/>
                  </a:cubicBezTo>
                  <a:cubicBezTo>
                    <a:pt x="483" y="709"/>
                    <a:pt x="481" y="709"/>
                    <a:pt x="479" y="709"/>
                  </a:cubicBezTo>
                  <a:cubicBezTo>
                    <a:pt x="478" y="709"/>
                    <a:pt x="478" y="709"/>
                    <a:pt x="478" y="709"/>
                  </a:cubicBezTo>
                  <a:cubicBezTo>
                    <a:pt x="478" y="613"/>
                    <a:pt x="478" y="613"/>
                    <a:pt x="478" y="613"/>
                  </a:cubicBezTo>
                  <a:cubicBezTo>
                    <a:pt x="479" y="613"/>
                    <a:pt x="479" y="613"/>
                    <a:pt x="479" y="613"/>
                  </a:cubicBezTo>
                  <a:cubicBezTo>
                    <a:pt x="493" y="613"/>
                    <a:pt x="503" y="634"/>
                    <a:pt x="519" y="628"/>
                  </a:cubicBezTo>
                  <a:cubicBezTo>
                    <a:pt x="555" y="615"/>
                    <a:pt x="571" y="591"/>
                    <a:pt x="571" y="565"/>
                  </a:cubicBezTo>
                  <a:cubicBezTo>
                    <a:pt x="571" y="529"/>
                    <a:pt x="525" y="512"/>
                    <a:pt x="478" y="512"/>
                  </a:cubicBezTo>
                  <a:cubicBezTo>
                    <a:pt x="478" y="478"/>
                    <a:pt x="478" y="478"/>
                    <a:pt x="478" y="478"/>
                  </a:cubicBezTo>
                  <a:cubicBezTo>
                    <a:pt x="531" y="470"/>
                    <a:pt x="566" y="485"/>
                    <a:pt x="587" y="502"/>
                  </a:cubicBezTo>
                  <a:cubicBezTo>
                    <a:pt x="588" y="503"/>
                    <a:pt x="590" y="504"/>
                    <a:pt x="591" y="506"/>
                  </a:cubicBezTo>
                  <a:cubicBezTo>
                    <a:pt x="644" y="538"/>
                    <a:pt x="663" y="405"/>
                    <a:pt x="664" y="319"/>
                  </a:cubicBezTo>
                  <a:cubicBezTo>
                    <a:pt x="580" y="314"/>
                    <a:pt x="531" y="271"/>
                    <a:pt x="478" y="235"/>
                  </a:cubicBezTo>
                  <a:lnTo>
                    <a:pt x="478" y="16"/>
                  </a:lnTo>
                  <a:close/>
                  <a:moveTo>
                    <a:pt x="253" y="143"/>
                  </a:moveTo>
                  <a:cubicBezTo>
                    <a:pt x="281" y="83"/>
                    <a:pt x="325" y="38"/>
                    <a:pt x="395" y="35"/>
                  </a:cubicBezTo>
                  <a:cubicBezTo>
                    <a:pt x="408" y="31"/>
                    <a:pt x="422" y="27"/>
                    <a:pt x="437" y="25"/>
                  </a:cubicBezTo>
                  <a:cubicBezTo>
                    <a:pt x="451" y="21"/>
                    <a:pt x="465" y="18"/>
                    <a:pt x="478" y="16"/>
                  </a:cubicBezTo>
                  <a:cubicBezTo>
                    <a:pt x="478" y="235"/>
                    <a:pt x="478" y="235"/>
                    <a:pt x="478" y="235"/>
                  </a:cubicBezTo>
                  <a:cubicBezTo>
                    <a:pt x="461" y="223"/>
                    <a:pt x="444" y="212"/>
                    <a:pt x="425" y="204"/>
                  </a:cubicBezTo>
                  <a:cubicBezTo>
                    <a:pt x="378" y="183"/>
                    <a:pt x="333" y="179"/>
                    <a:pt x="316" y="207"/>
                  </a:cubicBezTo>
                  <a:cubicBezTo>
                    <a:pt x="303" y="228"/>
                    <a:pt x="296" y="254"/>
                    <a:pt x="294" y="284"/>
                  </a:cubicBezTo>
                  <a:cubicBezTo>
                    <a:pt x="294" y="285"/>
                    <a:pt x="294" y="287"/>
                    <a:pt x="294" y="289"/>
                  </a:cubicBezTo>
                  <a:cubicBezTo>
                    <a:pt x="290" y="370"/>
                    <a:pt x="303" y="542"/>
                    <a:pt x="362" y="506"/>
                  </a:cubicBezTo>
                  <a:cubicBezTo>
                    <a:pt x="364" y="504"/>
                    <a:pt x="365" y="503"/>
                    <a:pt x="367" y="502"/>
                  </a:cubicBezTo>
                  <a:cubicBezTo>
                    <a:pt x="388" y="485"/>
                    <a:pt x="423" y="469"/>
                    <a:pt x="477" y="478"/>
                  </a:cubicBezTo>
                  <a:cubicBezTo>
                    <a:pt x="478" y="478"/>
                    <a:pt x="478" y="478"/>
                    <a:pt x="478" y="478"/>
                  </a:cubicBezTo>
                  <a:cubicBezTo>
                    <a:pt x="478" y="512"/>
                    <a:pt x="478" y="512"/>
                    <a:pt x="478" y="512"/>
                  </a:cubicBezTo>
                  <a:cubicBezTo>
                    <a:pt x="432" y="512"/>
                    <a:pt x="384" y="529"/>
                    <a:pt x="382" y="561"/>
                  </a:cubicBezTo>
                  <a:cubicBezTo>
                    <a:pt x="380" y="588"/>
                    <a:pt x="400" y="615"/>
                    <a:pt x="438" y="628"/>
                  </a:cubicBezTo>
                  <a:cubicBezTo>
                    <a:pt x="454" y="634"/>
                    <a:pt x="464" y="613"/>
                    <a:pt x="478" y="613"/>
                  </a:cubicBezTo>
                  <a:cubicBezTo>
                    <a:pt x="478" y="709"/>
                    <a:pt x="478" y="709"/>
                    <a:pt x="478" y="709"/>
                  </a:cubicBezTo>
                  <a:cubicBezTo>
                    <a:pt x="477" y="709"/>
                    <a:pt x="475" y="709"/>
                    <a:pt x="472" y="709"/>
                  </a:cubicBezTo>
                  <a:cubicBezTo>
                    <a:pt x="444" y="709"/>
                    <a:pt x="405" y="692"/>
                    <a:pt x="370" y="665"/>
                  </a:cubicBezTo>
                  <a:cubicBezTo>
                    <a:pt x="357" y="704"/>
                    <a:pt x="334" y="737"/>
                    <a:pt x="298" y="751"/>
                  </a:cubicBezTo>
                  <a:cubicBezTo>
                    <a:pt x="358" y="841"/>
                    <a:pt x="407" y="878"/>
                    <a:pt x="478" y="901"/>
                  </a:cubicBezTo>
                  <a:cubicBezTo>
                    <a:pt x="478" y="901"/>
                    <a:pt x="478" y="901"/>
                    <a:pt x="478" y="901"/>
                  </a:cubicBezTo>
                  <a:cubicBezTo>
                    <a:pt x="478" y="916"/>
                    <a:pt x="478" y="916"/>
                    <a:pt x="478" y="916"/>
                  </a:cubicBezTo>
                  <a:cubicBezTo>
                    <a:pt x="471" y="916"/>
                    <a:pt x="466" y="923"/>
                    <a:pt x="466" y="930"/>
                  </a:cubicBezTo>
                  <a:cubicBezTo>
                    <a:pt x="466" y="938"/>
                    <a:pt x="471" y="944"/>
                    <a:pt x="478" y="945"/>
                  </a:cubicBezTo>
                  <a:cubicBezTo>
                    <a:pt x="478" y="955"/>
                    <a:pt x="478" y="955"/>
                    <a:pt x="478" y="955"/>
                  </a:cubicBezTo>
                  <a:cubicBezTo>
                    <a:pt x="471" y="956"/>
                    <a:pt x="466" y="962"/>
                    <a:pt x="466" y="969"/>
                  </a:cubicBezTo>
                  <a:cubicBezTo>
                    <a:pt x="466" y="977"/>
                    <a:pt x="471" y="983"/>
                    <a:pt x="478" y="984"/>
                  </a:cubicBezTo>
                  <a:cubicBezTo>
                    <a:pt x="478" y="1020"/>
                    <a:pt x="478" y="1020"/>
                    <a:pt x="478" y="1020"/>
                  </a:cubicBezTo>
                  <a:cubicBezTo>
                    <a:pt x="253" y="1020"/>
                    <a:pt x="253" y="1020"/>
                    <a:pt x="253" y="1020"/>
                  </a:cubicBezTo>
                  <a:cubicBezTo>
                    <a:pt x="253" y="730"/>
                    <a:pt x="253" y="730"/>
                    <a:pt x="253" y="730"/>
                  </a:cubicBezTo>
                  <a:cubicBezTo>
                    <a:pt x="260" y="728"/>
                    <a:pt x="266" y="726"/>
                    <a:pt x="272" y="723"/>
                  </a:cubicBezTo>
                  <a:cubicBezTo>
                    <a:pt x="317" y="704"/>
                    <a:pt x="336" y="675"/>
                    <a:pt x="342" y="640"/>
                  </a:cubicBezTo>
                  <a:cubicBezTo>
                    <a:pt x="322" y="619"/>
                    <a:pt x="304" y="595"/>
                    <a:pt x="293" y="569"/>
                  </a:cubicBezTo>
                  <a:cubicBezTo>
                    <a:pt x="282" y="554"/>
                    <a:pt x="273" y="537"/>
                    <a:pt x="265" y="519"/>
                  </a:cubicBezTo>
                  <a:cubicBezTo>
                    <a:pt x="261" y="517"/>
                    <a:pt x="257" y="516"/>
                    <a:pt x="253" y="513"/>
                  </a:cubicBezTo>
                  <a:cubicBezTo>
                    <a:pt x="253" y="477"/>
                    <a:pt x="253" y="477"/>
                    <a:pt x="253" y="477"/>
                  </a:cubicBezTo>
                  <a:cubicBezTo>
                    <a:pt x="260" y="485"/>
                    <a:pt x="269" y="491"/>
                    <a:pt x="278" y="494"/>
                  </a:cubicBezTo>
                  <a:cubicBezTo>
                    <a:pt x="283" y="431"/>
                    <a:pt x="283" y="374"/>
                    <a:pt x="276" y="341"/>
                  </a:cubicBezTo>
                  <a:cubicBezTo>
                    <a:pt x="271" y="317"/>
                    <a:pt x="262" y="308"/>
                    <a:pt x="253" y="310"/>
                  </a:cubicBezTo>
                  <a:lnTo>
                    <a:pt x="253" y="143"/>
                  </a:lnTo>
                  <a:close/>
                  <a:moveTo>
                    <a:pt x="214" y="313"/>
                  </a:moveTo>
                  <a:cubicBezTo>
                    <a:pt x="214" y="313"/>
                    <a:pt x="214" y="313"/>
                    <a:pt x="214" y="313"/>
                  </a:cubicBezTo>
                  <a:cubicBezTo>
                    <a:pt x="218" y="258"/>
                    <a:pt x="229" y="195"/>
                    <a:pt x="253" y="143"/>
                  </a:cubicBezTo>
                  <a:cubicBezTo>
                    <a:pt x="253" y="310"/>
                    <a:pt x="253" y="310"/>
                    <a:pt x="253" y="310"/>
                  </a:cubicBezTo>
                  <a:cubicBezTo>
                    <a:pt x="246" y="312"/>
                    <a:pt x="238" y="323"/>
                    <a:pt x="233" y="339"/>
                  </a:cubicBezTo>
                  <a:cubicBezTo>
                    <a:pt x="217" y="383"/>
                    <a:pt x="226" y="445"/>
                    <a:pt x="253" y="477"/>
                  </a:cubicBezTo>
                  <a:cubicBezTo>
                    <a:pt x="253" y="513"/>
                    <a:pt x="253" y="513"/>
                    <a:pt x="253" y="513"/>
                  </a:cubicBezTo>
                  <a:cubicBezTo>
                    <a:pt x="243" y="508"/>
                    <a:pt x="235" y="500"/>
                    <a:pt x="227" y="490"/>
                  </a:cubicBezTo>
                  <a:cubicBezTo>
                    <a:pt x="214" y="473"/>
                    <a:pt x="206" y="452"/>
                    <a:pt x="201" y="428"/>
                  </a:cubicBezTo>
                  <a:cubicBezTo>
                    <a:pt x="196" y="406"/>
                    <a:pt x="195" y="381"/>
                    <a:pt x="199" y="359"/>
                  </a:cubicBezTo>
                  <a:cubicBezTo>
                    <a:pt x="202" y="342"/>
                    <a:pt x="206" y="326"/>
                    <a:pt x="214" y="313"/>
                  </a:cubicBezTo>
                  <a:moveTo>
                    <a:pt x="253" y="1020"/>
                  </a:moveTo>
                  <a:cubicBezTo>
                    <a:pt x="35" y="1020"/>
                    <a:pt x="35" y="1020"/>
                    <a:pt x="35" y="1020"/>
                  </a:cubicBezTo>
                  <a:cubicBezTo>
                    <a:pt x="16" y="988"/>
                    <a:pt x="4" y="956"/>
                    <a:pt x="3" y="925"/>
                  </a:cubicBezTo>
                  <a:cubicBezTo>
                    <a:pt x="0" y="791"/>
                    <a:pt x="142" y="772"/>
                    <a:pt x="253" y="730"/>
                  </a:cubicBezTo>
                  <a:lnTo>
                    <a:pt x="253" y="1020"/>
                  </a:lnTo>
                  <a:close/>
                </a:path>
              </a:pathLst>
            </a:custGeom>
            <a:solidFill>
              <a:srgbClr val="CE003D"/>
            </a:solidFill>
            <a:ln>
              <a:noFill/>
            </a:ln>
          </p:spPr>
          <p:txBody>
            <a:bodyPr vert="horz" wrap="square" lIns="91440" tIns="45720" rIns="91440" bIns="45720" numCol="1" anchor="t" anchorCtr="0" compatLnSpc="1">
              <a:prstTxWarp prst="textNoShape">
                <a:avLst/>
              </a:prstTxWarp>
            </a:bodyPr>
            <a:lstStyle/>
            <a:p>
              <a:endParaRPr lang="id-ID" dirty="0">
                <a:latin typeface="Raleway" panose="020B0003030101060003" pitchFamily="34" charset="0"/>
              </a:endParaRPr>
            </a:p>
          </p:txBody>
        </p:sp>
      </p:grpSp>
    </p:spTree>
    <p:extLst>
      <p:ext uri="{BB962C8B-B14F-4D97-AF65-F5344CB8AC3E}">
        <p14:creationId xmlns:p14="http://schemas.microsoft.com/office/powerpoint/2010/main" val="1577717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ight Brace 56"/>
          <p:cNvSpPr/>
          <p:nvPr/>
        </p:nvSpPr>
        <p:spPr>
          <a:xfrm>
            <a:off x="3300443" y="994952"/>
            <a:ext cx="353766" cy="5559579"/>
          </a:xfrm>
          <a:prstGeom prst="rightBrace">
            <a:avLst/>
          </a:prstGeom>
          <a:solidFill>
            <a:schemeClr val="bg1"/>
          </a:solidFill>
          <a:ln w="12700">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hr-HR"/>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34551" b="22206"/>
          <a:stretch/>
        </p:blipFill>
        <p:spPr>
          <a:xfrm>
            <a:off x="10886889" y="5084"/>
            <a:ext cx="1305111" cy="1031438"/>
          </a:xfrm>
          <a:prstGeom prst="rect">
            <a:avLst/>
          </a:prstGeom>
        </p:spPr>
      </p:pic>
      <p:sp>
        <p:nvSpPr>
          <p:cNvPr id="4" name="Title 3"/>
          <p:cNvSpPr>
            <a:spLocks noGrp="1"/>
          </p:cNvSpPr>
          <p:nvPr/>
        </p:nvSpPr>
        <p:spPr bwMode="gray">
          <a:xfrm>
            <a:off x="314263" y="288188"/>
            <a:ext cx="11252200"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r>
              <a:rPr lang="hr-HR" dirty="0">
                <a:solidFill>
                  <a:schemeClr val="accent6">
                    <a:lumMod val="50000"/>
                  </a:schemeClr>
                </a:solidFill>
                <a:latin typeface="Verdana" charset="0"/>
                <a:ea typeface="Verdana" charset="0"/>
                <a:cs typeface="Verdana" charset="0"/>
              </a:rPr>
              <a:t>preIncubation</a:t>
            </a:r>
            <a:r>
              <a:rPr lang="hr-HR" dirty="0"/>
              <a:t> :: Predinkubacija u sklopu ovog projekta</a:t>
            </a:r>
          </a:p>
        </p:txBody>
      </p:sp>
      <p:cxnSp>
        <p:nvCxnSpPr>
          <p:cNvPr id="5" name="Straight Connector 4"/>
          <p:cNvCxnSpPr/>
          <p:nvPr/>
        </p:nvCxnSpPr>
        <p:spPr>
          <a:xfrm>
            <a:off x="134520" y="704743"/>
            <a:ext cx="10826991" cy="2371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bwMode="gray">
          <a:xfrm>
            <a:off x="736246" y="905393"/>
            <a:ext cx="1748978" cy="4775701"/>
          </a:xfrm>
          <a:prstGeom prst="rect">
            <a:avLst/>
          </a:prstGeom>
          <a:noFill/>
          <a:ln w="19050" algn="ctr">
            <a:solidFill>
              <a:schemeClr val="accent3"/>
            </a:solidFill>
            <a:prstDash val="dash"/>
            <a:miter lim="800000"/>
            <a:headEnd/>
            <a:tailEnd/>
          </a:ln>
        </p:spPr>
        <p:txBody>
          <a:bodyPr wrap="square" lIns="88900" tIns="88900" rIns="88900" bIns="8890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lnSpc>
                <a:spcPct val="106000"/>
              </a:lnSpc>
              <a:buFont typeface="Wingdings 2" pitchFamily="18" charset="2"/>
              <a:buNone/>
            </a:pPr>
            <a:endParaRPr lang="en-US" sz="1600" b="1" dirty="0">
              <a:solidFill>
                <a:schemeClr val="bg1"/>
              </a:solidFill>
            </a:endParaRPr>
          </a:p>
        </p:txBody>
      </p:sp>
      <p:grpSp>
        <p:nvGrpSpPr>
          <p:cNvPr id="11" name="Group 10"/>
          <p:cNvGrpSpPr/>
          <p:nvPr/>
        </p:nvGrpSpPr>
        <p:grpSpPr>
          <a:xfrm>
            <a:off x="300091" y="3700822"/>
            <a:ext cx="1782966" cy="432000"/>
            <a:chOff x="371" y="2159971"/>
            <a:chExt cx="1185787" cy="948630"/>
          </a:xfrm>
        </p:grpSpPr>
        <p:sp>
          <p:nvSpPr>
            <p:cNvPr id="12" name="Rounded Rectangle 11"/>
            <p:cNvSpPr/>
            <p:nvPr/>
          </p:nvSpPr>
          <p:spPr>
            <a:xfrm>
              <a:off x="371" y="2159971"/>
              <a:ext cx="1185787"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3" name="Rounded Rectangle 7"/>
            <p:cNvSpPr/>
            <p:nvPr/>
          </p:nvSpPr>
          <p:spPr>
            <a:xfrm>
              <a:off x="28155" y="2187755"/>
              <a:ext cx="1130219"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lvl="0" algn="ctr" defTabSz="444500">
                <a:lnSpc>
                  <a:spcPct val="90000"/>
                </a:lnSpc>
                <a:spcBef>
                  <a:spcPct val="0"/>
                </a:spcBef>
                <a:spcAft>
                  <a:spcPct val="35000"/>
                </a:spcAft>
              </a:pPr>
              <a:r>
                <a:rPr lang="hr-HR" sz="1000" kern="1200" dirty="0">
                  <a:solidFill>
                    <a:schemeClr val="tx1"/>
                  </a:solidFill>
                </a:rPr>
                <a:t>LTR Ludbreg</a:t>
              </a:r>
              <a:endParaRPr lang="en-US" sz="1000" kern="1200" dirty="0">
                <a:solidFill>
                  <a:schemeClr val="tx1"/>
                </a:solidFill>
              </a:endParaRPr>
            </a:p>
          </p:txBody>
        </p:sp>
      </p:grpSp>
      <p:grpSp>
        <p:nvGrpSpPr>
          <p:cNvPr id="14" name="Group 13"/>
          <p:cNvGrpSpPr/>
          <p:nvPr/>
        </p:nvGrpSpPr>
        <p:grpSpPr>
          <a:xfrm>
            <a:off x="312026" y="2082525"/>
            <a:ext cx="1771031" cy="432000"/>
            <a:chOff x="393967" y="864628"/>
            <a:chExt cx="1471692" cy="948630"/>
          </a:xfrm>
        </p:grpSpPr>
        <p:sp>
          <p:nvSpPr>
            <p:cNvPr id="15" name="Rounded Rectangle 14"/>
            <p:cNvSpPr/>
            <p:nvPr/>
          </p:nvSpPr>
          <p:spPr>
            <a:xfrm>
              <a:off x="393967" y="864628"/>
              <a:ext cx="1471692"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6" name="Rounded Rectangle 10"/>
            <p:cNvSpPr/>
            <p:nvPr/>
          </p:nvSpPr>
          <p:spPr>
            <a:xfrm>
              <a:off x="421751" y="892412"/>
              <a:ext cx="1416124"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kern="1200" dirty="0">
                  <a:solidFill>
                    <a:schemeClr val="tx1"/>
                  </a:solidFill>
                </a:rPr>
                <a:t>LTR Sveti Ilija</a:t>
              </a:r>
              <a:endParaRPr lang="en-US" sz="1000" kern="1200" dirty="0">
                <a:solidFill>
                  <a:schemeClr val="tx1"/>
                </a:solidFill>
              </a:endParaRPr>
            </a:p>
          </p:txBody>
        </p:sp>
      </p:grpSp>
      <p:grpSp>
        <p:nvGrpSpPr>
          <p:cNvPr id="17" name="Group 16"/>
          <p:cNvGrpSpPr/>
          <p:nvPr/>
        </p:nvGrpSpPr>
        <p:grpSpPr>
          <a:xfrm>
            <a:off x="312027" y="1537575"/>
            <a:ext cx="1771030" cy="432000"/>
            <a:chOff x="1993813" y="294106"/>
            <a:chExt cx="1496665" cy="948630"/>
          </a:xfrm>
        </p:grpSpPr>
        <p:sp>
          <p:nvSpPr>
            <p:cNvPr id="18" name="Rounded Rectangle 17"/>
            <p:cNvSpPr/>
            <p:nvPr/>
          </p:nvSpPr>
          <p:spPr>
            <a:xfrm>
              <a:off x="1993813" y="294106"/>
              <a:ext cx="1496665"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9" name="Rounded Rectangle 13"/>
            <p:cNvSpPr/>
            <p:nvPr/>
          </p:nvSpPr>
          <p:spPr>
            <a:xfrm>
              <a:off x="2021597" y="321890"/>
              <a:ext cx="1441097"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lvl="0" algn="ctr" defTabSz="444500">
                <a:lnSpc>
                  <a:spcPct val="90000"/>
                </a:lnSpc>
                <a:spcBef>
                  <a:spcPct val="0"/>
                </a:spcBef>
                <a:spcAft>
                  <a:spcPct val="35000"/>
                </a:spcAft>
              </a:pPr>
              <a:r>
                <a:rPr lang="hr-HR" sz="1000" kern="1200" dirty="0">
                  <a:solidFill>
                    <a:schemeClr val="tx1"/>
                  </a:solidFill>
                </a:rPr>
                <a:t>LTR </a:t>
              </a:r>
              <a:r>
                <a:rPr lang="hr-HR" sz="1000" kern="1200" dirty="0" err="1">
                  <a:solidFill>
                    <a:schemeClr val="tx1"/>
                  </a:solidFill>
                </a:rPr>
                <a:t>Kneginec</a:t>
              </a:r>
              <a:endParaRPr lang="en-US" sz="1000" kern="1200" dirty="0">
                <a:solidFill>
                  <a:schemeClr val="tx1"/>
                </a:solidFill>
              </a:endParaRPr>
            </a:p>
          </p:txBody>
        </p:sp>
      </p:grpSp>
      <p:grpSp>
        <p:nvGrpSpPr>
          <p:cNvPr id="20" name="Group 19"/>
          <p:cNvGrpSpPr/>
          <p:nvPr/>
        </p:nvGrpSpPr>
        <p:grpSpPr>
          <a:xfrm>
            <a:off x="312027" y="2623632"/>
            <a:ext cx="1771030" cy="432000"/>
            <a:chOff x="3546413" y="1013755"/>
            <a:chExt cx="1185787" cy="948630"/>
          </a:xfrm>
        </p:grpSpPr>
        <p:sp>
          <p:nvSpPr>
            <p:cNvPr id="21" name="Rounded Rectangle 20"/>
            <p:cNvSpPr/>
            <p:nvPr/>
          </p:nvSpPr>
          <p:spPr>
            <a:xfrm>
              <a:off x="3546413" y="1013755"/>
              <a:ext cx="1185787"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2" name="Rounded Rectangle 16"/>
            <p:cNvSpPr/>
            <p:nvPr/>
          </p:nvSpPr>
          <p:spPr>
            <a:xfrm>
              <a:off x="3574197" y="1041539"/>
              <a:ext cx="1130219"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lvl="0" algn="ctr" defTabSz="444500">
                <a:lnSpc>
                  <a:spcPct val="90000"/>
                </a:lnSpc>
                <a:spcBef>
                  <a:spcPct val="0"/>
                </a:spcBef>
                <a:spcAft>
                  <a:spcPct val="35000"/>
                </a:spcAft>
              </a:pPr>
              <a:r>
                <a:rPr lang="hr-HR" sz="1000" dirty="0">
                  <a:solidFill>
                    <a:schemeClr val="tx1"/>
                  </a:solidFill>
                </a:rPr>
                <a:t>LTR </a:t>
              </a:r>
              <a:r>
                <a:rPr lang="hr-HR" sz="1000" dirty="0" err="1">
                  <a:solidFill>
                    <a:schemeClr val="tx1"/>
                  </a:solidFill>
                </a:rPr>
                <a:t>Vidovec</a:t>
              </a:r>
              <a:endParaRPr lang="en-US" sz="1000" kern="1200" dirty="0">
                <a:solidFill>
                  <a:schemeClr val="tx1"/>
                </a:solidFill>
              </a:endParaRPr>
            </a:p>
          </p:txBody>
        </p:sp>
      </p:grpSp>
      <p:grpSp>
        <p:nvGrpSpPr>
          <p:cNvPr id="26" name="Group 25"/>
          <p:cNvGrpSpPr/>
          <p:nvPr/>
        </p:nvGrpSpPr>
        <p:grpSpPr>
          <a:xfrm>
            <a:off x="312027" y="3162805"/>
            <a:ext cx="1771030" cy="432000"/>
            <a:chOff x="393967" y="864628"/>
            <a:chExt cx="1471692" cy="948630"/>
          </a:xfrm>
        </p:grpSpPr>
        <p:sp>
          <p:nvSpPr>
            <p:cNvPr id="27" name="Rounded Rectangle 26"/>
            <p:cNvSpPr/>
            <p:nvPr/>
          </p:nvSpPr>
          <p:spPr>
            <a:xfrm>
              <a:off x="393967" y="864628"/>
              <a:ext cx="1471692"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8" name="Rounded Rectangle 10"/>
            <p:cNvSpPr/>
            <p:nvPr/>
          </p:nvSpPr>
          <p:spPr>
            <a:xfrm>
              <a:off x="421751" y="892412"/>
              <a:ext cx="1416124"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LTR </a:t>
              </a:r>
              <a:r>
                <a:rPr lang="hr-HR" sz="1000" dirty="0" err="1">
                  <a:solidFill>
                    <a:schemeClr val="tx1"/>
                  </a:solidFill>
                </a:rPr>
                <a:t>Sračinec</a:t>
              </a:r>
              <a:endParaRPr lang="en-US" sz="1000" kern="1200" dirty="0">
                <a:solidFill>
                  <a:schemeClr val="tx1"/>
                </a:solidFill>
              </a:endParaRPr>
            </a:p>
          </p:txBody>
        </p:sp>
      </p:grpSp>
      <p:grpSp>
        <p:nvGrpSpPr>
          <p:cNvPr id="29" name="Group 28"/>
          <p:cNvGrpSpPr/>
          <p:nvPr/>
        </p:nvGrpSpPr>
        <p:grpSpPr>
          <a:xfrm>
            <a:off x="277948" y="994952"/>
            <a:ext cx="1805109" cy="432000"/>
            <a:chOff x="393967" y="864628"/>
            <a:chExt cx="1471692" cy="948630"/>
          </a:xfrm>
        </p:grpSpPr>
        <p:sp>
          <p:nvSpPr>
            <p:cNvPr id="30" name="Rounded Rectangle 29"/>
            <p:cNvSpPr/>
            <p:nvPr/>
          </p:nvSpPr>
          <p:spPr>
            <a:xfrm>
              <a:off x="393967" y="864628"/>
              <a:ext cx="1471692"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31" name="Rounded Rectangle 10"/>
            <p:cNvSpPr/>
            <p:nvPr/>
          </p:nvSpPr>
          <p:spPr>
            <a:xfrm>
              <a:off x="421751" y="892412"/>
              <a:ext cx="1416124"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kern="1200" dirty="0">
                  <a:solidFill>
                    <a:schemeClr val="tx1"/>
                  </a:solidFill>
                </a:rPr>
                <a:t>LTR Novi Marof</a:t>
              </a:r>
              <a:endParaRPr lang="en-US" sz="1000" kern="1200" dirty="0">
                <a:solidFill>
                  <a:schemeClr val="tx1"/>
                </a:solidFill>
              </a:endParaRPr>
            </a:p>
          </p:txBody>
        </p:sp>
      </p:grpSp>
      <p:sp>
        <p:nvSpPr>
          <p:cNvPr id="32" name="Rounded Rectangle 31"/>
          <p:cNvSpPr/>
          <p:nvPr/>
        </p:nvSpPr>
        <p:spPr bwMode="gray">
          <a:xfrm>
            <a:off x="2152044" y="951076"/>
            <a:ext cx="1259954" cy="5393279"/>
          </a:xfrm>
          <a:prstGeom prst="roundRect">
            <a:avLst/>
          </a:prstGeom>
          <a:solidFill>
            <a:srgbClr val="C00000"/>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prstClr val="white"/>
                </a:solidFill>
                <a:latin typeface="Verdana" charset="0"/>
                <a:ea typeface="Verdana" charset="0"/>
                <a:cs typeface="Verdana" charset="0"/>
              </a:rPr>
              <a:t>Programi</a:t>
            </a:r>
          </a:p>
        </p:txBody>
      </p:sp>
      <p:sp>
        <p:nvSpPr>
          <p:cNvPr id="41" name="Rounded Rectangle 40"/>
          <p:cNvSpPr/>
          <p:nvPr/>
        </p:nvSpPr>
        <p:spPr>
          <a:xfrm>
            <a:off x="351361" y="4711012"/>
            <a:ext cx="294309" cy="231896"/>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nvGrpSpPr>
          <p:cNvPr id="8" name="Group 7"/>
          <p:cNvGrpSpPr/>
          <p:nvPr/>
        </p:nvGrpSpPr>
        <p:grpSpPr>
          <a:xfrm>
            <a:off x="345899" y="4259097"/>
            <a:ext cx="844499" cy="900324"/>
            <a:chOff x="1948069" y="994952"/>
            <a:chExt cx="1020631" cy="1270640"/>
          </a:xfrm>
        </p:grpSpPr>
        <p:sp>
          <p:nvSpPr>
            <p:cNvPr id="33" name="Oval 32"/>
            <p:cNvSpPr/>
            <p:nvPr/>
          </p:nvSpPr>
          <p:spPr>
            <a:xfrm>
              <a:off x="2520176" y="1414300"/>
              <a:ext cx="448524" cy="410642"/>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36" name="Oval 35"/>
            <p:cNvSpPr/>
            <p:nvPr/>
          </p:nvSpPr>
          <p:spPr>
            <a:xfrm>
              <a:off x="1948069" y="994952"/>
              <a:ext cx="448524" cy="410642"/>
            </a:xfrm>
            <a:prstGeom prst="ellipse">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4" name="Rounded Rectangle 43"/>
            <p:cNvSpPr/>
            <p:nvPr/>
          </p:nvSpPr>
          <p:spPr>
            <a:xfrm>
              <a:off x="2520176" y="2033696"/>
              <a:ext cx="294309" cy="231896"/>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6" name="Rounded Rectangle 45"/>
            <p:cNvSpPr/>
            <p:nvPr/>
          </p:nvSpPr>
          <p:spPr>
            <a:xfrm>
              <a:off x="2491837" y="1012249"/>
              <a:ext cx="294309" cy="2318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8" name="Rounded Rectangle 47"/>
            <p:cNvSpPr/>
            <p:nvPr/>
          </p:nvSpPr>
          <p:spPr>
            <a:xfrm>
              <a:off x="2159141" y="1571789"/>
              <a:ext cx="294309" cy="231896"/>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51" name="Triangle 50"/>
            <p:cNvSpPr/>
            <p:nvPr/>
          </p:nvSpPr>
          <p:spPr>
            <a:xfrm>
              <a:off x="2166576" y="1857229"/>
              <a:ext cx="345688" cy="331462"/>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sp>
        <p:nvSpPr>
          <p:cNvPr id="53" name="Triangle 52"/>
          <p:cNvSpPr/>
          <p:nvPr/>
        </p:nvSpPr>
        <p:spPr>
          <a:xfrm>
            <a:off x="360048" y="4878131"/>
            <a:ext cx="345688" cy="33146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55" name="Rectangle 54"/>
          <p:cNvSpPr/>
          <p:nvPr/>
        </p:nvSpPr>
        <p:spPr bwMode="gray">
          <a:xfrm>
            <a:off x="3869156" y="951077"/>
            <a:ext cx="1234394" cy="5647328"/>
          </a:xfrm>
          <a:prstGeom prst="rect">
            <a:avLst/>
          </a:prstGeom>
          <a:noFill/>
          <a:ln w="19050" algn="ctr">
            <a:solidFill>
              <a:schemeClr val="accent3"/>
            </a:solidFill>
            <a:prstDash val="dash"/>
            <a:miter lim="800000"/>
            <a:headEnd/>
            <a:tailEnd/>
          </a:ln>
        </p:spPr>
        <p:txBody>
          <a:bodyPr wrap="square" lIns="88900" tIns="88900" rIns="88900" bIns="8890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lnSpc>
                <a:spcPct val="106000"/>
              </a:lnSpc>
              <a:buFont typeface="Wingdings 2" pitchFamily="18" charset="2"/>
              <a:buNone/>
            </a:pPr>
            <a:endParaRPr lang="en-US" sz="1600" b="1" dirty="0">
              <a:solidFill>
                <a:schemeClr val="bg1"/>
              </a:solidFill>
            </a:endParaRPr>
          </a:p>
        </p:txBody>
      </p:sp>
      <p:sp>
        <p:nvSpPr>
          <p:cNvPr id="56" name="Right Arrow 55"/>
          <p:cNvSpPr/>
          <p:nvPr/>
        </p:nvSpPr>
        <p:spPr bwMode="gray">
          <a:xfrm>
            <a:off x="312026" y="5829009"/>
            <a:ext cx="3427481" cy="430260"/>
          </a:xfrm>
          <a:prstGeom prst="rightArrow">
            <a:avLst/>
          </a:prstGeom>
          <a:solidFill>
            <a:schemeClr val="bg1"/>
          </a:solidFill>
          <a:ln w="19050" algn="ctr">
            <a:solidFill>
              <a:schemeClr val="accent1">
                <a:shade val="50000"/>
              </a:schemeClr>
            </a:solidFill>
            <a:miter lim="800000"/>
            <a:headEnd/>
            <a:tailEnd/>
          </a:ln>
        </p:spPr>
        <p:txBody>
          <a:bodyPr wrap="square" lIns="88900" tIns="88900" rIns="88900" bIns="88900" rtlCol="0" anchor="ctr"/>
          <a:lstStyle/>
          <a:p>
            <a:pPr algn="ctr">
              <a:lnSpc>
                <a:spcPct val="106000"/>
              </a:lnSpc>
            </a:pPr>
            <a:r>
              <a:rPr lang="hr-HR" sz="900" dirty="0">
                <a:latin typeface="Verdana" charset="0"/>
                <a:ea typeface="Verdana" charset="0"/>
                <a:cs typeface="Verdana" charset="0"/>
              </a:rPr>
              <a:t>Pojedinačni Projekti</a:t>
            </a:r>
          </a:p>
        </p:txBody>
      </p:sp>
      <p:sp>
        <p:nvSpPr>
          <p:cNvPr id="58" name="Rounded Rectangle 57"/>
          <p:cNvSpPr/>
          <p:nvPr/>
        </p:nvSpPr>
        <p:spPr bwMode="gray">
          <a:xfrm>
            <a:off x="3934800" y="1082826"/>
            <a:ext cx="1081883" cy="1224000"/>
          </a:xfrm>
          <a:prstGeom prst="roundRect">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schemeClr val="tx1"/>
                </a:solidFill>
                <a:latin typeface="Verdana" charset="0"/>
                <a:ea typeface="Verdana" charset="0"/>
                <a:cs typeface="Verdana" charset="0"/>
              </a:rPr>
              <a:t>Think Tank</a:t>
            </a:r>
          </a:p>
        </p:txBody>
      </p:sp>
      <p:sp>
        <p:nvSpPr>
          <p:cNvPr id="59" name="Rounded Rectangle 58"/>
          <p:cNvSpPr/>
          <p:nvPr/>
        </p:nvSpPr>
        <p:spPr bwMode="gray">
          <a:xfrm>
            <a:off x="3934800" y="2476822"/>
            <a:ext cx="1081883" cy="1224000"/>
          </a:xfrm>
          <a:prstGeom prst="roundRect">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a:solidFill>
                  <a:schemeClr val="tx1"/>
                </a:solidFill>
                <a:latin typeface="Verdana" charset="0"/>
                <a:ea typeface="Verdana" charset="0"/>
                <a:cs typeface="Verdana" charset="0"/>
              </a:rPr>
              <a:t>Mentori</a:t>
            </a:r>
            <a:endParaRPr lang="hr-HR" sz="900" dirty="0">
              <a:solidFill>
                <a:schemeClr val="tx1"/>
              </a:solidFill>
              <a:latin typeface="Verdana" charset="0"/>
              <a:ea typeface="Verdana" charset="0"/>
              <a:cs typeface="Verdana" charset="0"/>
            </a:endParaRPr>
          </a:p>
        </p:txBody>
      </p:sp>
      <p:sp>
        <p:nvSpPr>
          <p:cNvPr id="60" name="Rounded Rectangle 59"/>
          <p:cNvSpPr/>
          <p:nvPr/>
        </p:nvSpPr>
        <p:spPr bwMode="gray">
          <a:xfrm>
            <a:off x="3934800" y="3870818"/>
            <a:ext cx="1081883" cy="1224000"/>
          </a:xfrm>
          <a:prstGeom prst="roundRect">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schemeClr val="tx1"/>
                </a:solidFill>
                <a:latin typeface="Verdana" charset="0"/>
                <a:ea typeface="Verdana" charset="0"/>
                <a:cs typeface="Verdana" charset="0"/>
              </a:rPr>
              <a:t>Tvrtke</a:t>
            </a:r>
          </a:p>
          <a:p>
            <a:pPr algn="ctr">
              <a:lnSpc>
                <a:spcPct val="106000"/>
              </a:lnSpc>
              <a:buFont typeface="Wingdings 2" pitchFamily="18" charset="2"/>
              <a:buNone/>
            </a:pPr>
            <a:r>
              <a:rPr lang="hr-HR" sz="900" dirty="0">
                <a:solidFill>
                  <a:schemeClr val="tx1"/>
                </a:solidFill>
                <a:latin typeface="Verdana" charset="0"/>
                <a:ea typeface="Verdana" charset="0"/>
                <a:cs typeface="Verdana" charset="0"/>
              </a:rPr>
              <a:t>Partneri</a:t>
            </a:r>
          </a:p>
        </p:txBody>
      </p:sp>
      <p:sp>
        <p:nvSpPr>
          <p:cNvPr id="61" name="Rounded Rectangle 60"/>
          <p:cNvSpPr/>
          <p:nvPr/>
        </p:nvSpPr>
        <p:spPr bwMode="gray">
          <a:xfrm>
            <a:off x="3934800" y="5264815"/>
            <a:ext cx="1081883" cy="1224000"/>
          </a:xfrm>
          <a:prstGeom prst="roundRect">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schemeClr val="tx1"/>
                </a:solidFill>
                <a:latin typeface="Verdana" charset="0"/>
                <a:ea typeface="Verdana" charset="0"/>
                <a:cs typeface="Verdana" charset="0"/>
              </a:rPr>
              <a:t>Uprava</a:t>
            </a:r>
          </a:p>
          <a:p>
            <a:pPr algn="ctr">
              <a:lnSpc>
                <a:spcPct val="106000"/>
              </a:lnSpc>
              <a:buFont typeface="Wingdings 2" pitchFamily="18" charset="2"/>
              <a:buNone/>
            </a:pPr>
            <a:r>
              <a:rPr lang="hr-HR" sz="900" dirty="0">
                <a:solidFill>
                  <a:schemeClr val="tx1"/>
                </a:solidFill>
                <a:latin typeface="Verdana" charset="0"/>
                <a:ea typeface="Verdana" charset="0"/>
                <a:cs typeface="Verdana" charset="0"/>
              </a:rPr>
              <a:t>Projekta</a:t>
            </a:r>
          </a:p>
        </p:txBody>
      </p:sp>
      <p:sp>
        <p:nvSpPr>
          <p:cNvPr id="62" name="Right Brace 61"/>
          <p:cNvSpPr/>
          <p:nvPr/>
        </p:nvSpPr>
        <p:spPr>
          <a:xfrm>
            <a:off x="5181187" y="967625"/>
            <a:ext cx="353766" cy="5559579"/>
          </a:xfrm>
          <a:prstGeom prst="rightBrace">
            <a:avLst/>
          </a:prstGeom>
          <a:solidFill>
            <a:schemeClr val="bg1"/>
          </a:solidFill>
          <a:ln w="12700">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hr-HR"/>
          </a:p>
        </p:txBody>
      </p:sp>
      <p:sp>
        <p:nvSpPr>
          <p:cNvPr id="63" name="Rounded Rectangle 62"/>
          <p:cNvSpPr/>
          <p:nvPr/>
        </p:nvSpPr>
        <p:spPr bwMode="gray">
          <a:xfrm>
            <a:off x="5504310" y="1909852"/>
            <a:ext cx="1081883" cy="1224000"/>
          </a:xfrm>
          <a:prstGeom prst="roundRect">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schemeClr val="tx1"/>
                </a:solidFill>
                <a:latin typeface="Verdana" charset="0"/>
                <a:ea typeface="Verdana" charset="0"/>
                <a:cs typeface="Verdana" charset="0"/>
              </a:rPr>
              <a:t>Sastanci s Mentorima</a:t>
            </a:r>
          </a:p>
        </p:txBody>
      </p:sp>
      <p:sp>
        <p:nvSpPr>
          <p:cNvPr id="64" name="Oval 63"/>
          <p:cNvSpPr/>
          <p:nvPr/>
        </p:nvSpPr>
        <p:spPr>
          <a:xfrm>
            <a:off x="5664602" y="3524161"/>
            <a:ext cx="448524" cy="41064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65" name="Oval 64"/>
          <p:cNvSpPr/>
          <p:nvPr/>
        </p:nvSpPr>
        <p:spPr>
          <a:xfrm>
            <a:off x="6208470" y="3524161"/>
            <a:ext cx="448524" cy="410642"/>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66" name="Oval 65"/>
          <p:cNvSpPr/>
          <p:nvPr/>
        </p:nvSpPr>
        <p:spPr>
          <a:xfrm>
            <a:off x="6752338" y="3524161"/>
            <a:ext cx="448524" cy="410642"/>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67" name="Oval 66"/>
          <p:cNvSpPr/>
          <p:nvPr/>
        </p:nvSpPr>
        <p:spPr>
          <a:xfrm>
            <a:off x="7296206" y="3524161"/>
            <a:ext cx="448524" cy="410642"/>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68" name="Oval 67"/>
          <p:cNvSpPr/>
          <p:nvPr/>
        </p:nvSpPr>
        <p:spPr>
          <a:xfrm>
            <a:off x="7840074" y="3524161"/>
            <a:ext cx="448524" cy="410642"/>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69" name="Oval 68"/>
          <p:cNvSpPr/>
          <p:nvPr/>
        </p:nvSpPr>
        <p:spPr>
          <a:xfrm>
            <a:off x="8383942" y="3524161"/>
            <a:ext cx="448524" cy="410642"/>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70" name="Oval 69"/>
          <p:cNvSpPr/>
          <p:nvPr/>
        </p:nvSpPr>
        <p:spPr>
          <a:xfrm>
            <a:off x="8927810" y="3524161"/>
            <a:ext cx="448524" cy="410642"/>
          </a:xfrm>
          <a:prstGeom prst="ellips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71" name="Oval 70"/>
          <p:cNvSpPr/>
          <p:nvPr/>
        </p:nvSpPr>
        <p:spPr>
          <a:xfrm>
            <a:off x="9471678" y="3524161"/>
            <a:ext cx="448524" cy="410642"/>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72" name="Oval 71"/>
          <p:cNvSpPr/>
          <p:nvPr/>
        </p:nvSpPr>
        <p:spPr>
          <a:xfrm>
            <a:off x="10015546" y="3524161"/>
            <a:ext cx="448524" cy="410642"/>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73" name="Oval 72"/>
          <p:cNvSpPr/>
          <p:nvPr/>
        </p:nvSpPr>
        <p:spPr>
          <a:xfrm>
            <a:off x="10559414" y="3524161"/>
            <a:ext cx="448524" cy="41064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74" name="Oval 73"/>
          <p:cNvSpPr/>
          <p:nvPr/>
        </p:nvSpPr>
        <p:spPr>
          <a:xfrm>
            <a:off x="11103282" y="3524161"/>
            <a:ext cx="448524" cy="41064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75" name="Oval 74"/>
          <p:cNvSpPr/>
          <p:nvPr/>
        </p:nvSpPr>
        <p:spPr>
          <a:xfrm>
            <a:off x="11647149" y="3524161"/>
            <a:ext cx="448524" cy="410642"/>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76" name="Rounded Rectangle 75"/>
          <p:cNvSpPr/>
          <p:nvPr/>
        </p:nvSpPr>
        <p:spPr bwMode="gray">
          <a:xfrm>
            <a:off x="5548015" y="4291135"/>
            <a:ext cx="1081883" cy="1224000"/>
          </a:xfrm>
          <a:prstGeom prst="roundRect">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schemeClr val="tx1"/>
                </a:solidFill>
                <a:latin typeface="Verdana" charset="0"/>
                <a:ea typeface="Verdana" charset="0"/>
                <a:cs typeface="Verdana" charset="0"/>
              </a:rPr>
              <a:t>Analiza Istraživanje Umrežavanje</a:t>
            </a:r>
          </a:p>
        </p:txBody>
      </p:sp>
      <p:sp>
        <p:nvSpPr>
          <p:cNvPr id="77" name="Rounded Rectangle 76"/>
          <p:cNvSpPr/>
          <p:nvPr/>
        </p:nvSpPr>
        <p:spPr bwMode="gray">
          <a:xfrm>
            <a:off x="6670445" y="1909852"/>
            <a:ext cx="1081883" cy="1224000"/>
          </a:xfrm>
          <a:prstGeom prst="roundRect">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schemeClr val="tx1"/>
                </a:solidFill>
                <a:latin typeface="Verdana" charset="0"/>
                <a:ea typeface="Verdana" charset="0"/>
                <a:cs typeface="Verdana" charset="0"/>
              </a:rPr>
              <a:t>Tehnologija</a:t>
            </a:r>
          </a:p>
          <a:p>
            <a:pPr algn="ctr">
              <a:lnSpc>
                <a:spcPct val="106000"/>
              </a:lnSpc>
              <a:buFont typeface="Wingdings 2" pitchFamily="18" charset="2"/>
              <a:buNone/>
            </a:pPr>
            <a:r>
              <a:rPr lang="hr-HR" sz="900" dirty="0">
                <a:solidFill>
                  <a:schemeClr val="tx1"/>
                </a:solidFill>
                <a:latin typeface="Verdana" charset="0"/>
                <a:ea typeface="Verdana" charset="0"/>
                <a:cs typeface="Verdana" charset="0"/>
              </a:rPr>
              <a:t>Testiranje</a:t>
            </a:r>
          </a:p>
        </p:txBody>
      </p:sp>
      <p:sp>
        <p:nvSpPr>
          <p:cNvPr id="78" name="Rounded Rectangle 77"/>
          <p:cNvSpPr/>
          <p:nvPr/>
        </p:nvSpPr>
        <p:spPr bwMode="gray">
          <a:xfrm>
            <a:off x="6734021" y="4313756"/>
            <a:ext cx="1081883" cy="1224000"/>
          </a:xfrm>
          <a:prstGeom prst="roundRect">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schemeClr val="tx1"/>
                </a:solidFill>
                <a:latin typeface="Verdana" charset="0"/>
                <a:ea typeface="Verdana" charset="0"/>
                <a:cs typeface="Verdana" charset="0"/>
              </a:rPr>
              <a:t>Tvrtke Partneri</a:t>
            </a:r>
          </a:p>
        </p:txBody>
      </p:sp>
      <p:sp>
        <p:nvSpPr>
          <p:cNvPr id="79" name="Rounded Rectangle 78"/>
          <p:cNvSpPr/>
          <p:nvPr/>
        </p:nvSpPr>
        <p:spPr bwMode="gray">
          <a:xfrm>
            <a:off x="6663368" y="874604"/>
            <a:ext cx="1081883" cy="905913"/>
          </a:xfrm>
          <a:prstGeom prst="roundRect">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schemeClr val="tx1"/>
                </a:solidFill>
                <a:latin typeface="Verdana" charset="0"/>
                <a:ea typeface="Verdana" charset="0"/>
                <a:cs typeface="Verdana" charset="0"/>
              </a:rPr>
              <a:t>Laboratoriji</a:t>
            </a:r>
          </a:p>
        </p:txBody>
      </p:sp>
      <p:sp>
        <p:nvSpPr>
          <p:cNvPr id="80" name="Rounded Rectangle 79"/>
          <p:cNvSpPr/>
          <p:nvPr/>
        </p:nvSpPr>
        <p:spPr bwMode="gray">
          <a:xfrm>
            <a:off x="7914632" y="4313756"/>
            <a:ext cx="1081883" cy="1224000"/>
          </a:xfrm>
          <a:prstGeom prst="roundRect">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schemeClr val="tx1"/>
                </a:solidFill>
                <a:latin typeface="Verdana" charset="0"/>
                <a:ea typeface="Verdana" charset="0"/>
                <a:cs typeface="Verdana" charset="0"/>
              </a:rPr>
              <a:t>Intelektualno Vlasništvo</a:t>
            </a:r>
          </a:p>
        </p:txBody>
      </p:sp>
      <p:sp>
        <p:nvSpPr>
          <p:cNvPr id="81" name="Rounded Rectangle 80"/>
          <p:cNvSpPr/>
          <p:nvPr/>
        </p:nvSpPr>
        <p:spPr bwMode="gray">
          <a:xfrm>
            <a:off x="9025766" y="1917720"/>
            <a:ext cx="1081883" cy="1224000"/>
          </a:xfrm>
          <a:prstGeom prst="roundRect">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schemeClr val="tx1"/>
                </a:solidFill>
                <a:latin typeface="Verdana" charset="0"/>
                <a:ea typeface="Verdana" charset="0"/>
                <a:cs typeface="Verdana" charset="0"/>
              </a:rPr>
              <a:t>Priprema Poslovnog Plana</a:t>
            </a:r>
          </a:p>
        </p:txBody>
      </p:sp>
      <p:sp>
        <p:nvSpPr>
          <p:cNvPr id="82" name="Rounded Rectangle 81"/>
          <p:cNvSpPr/>
          <p:nvPr/>
        </p:nvSpPr>
        <p:spPr bwMode="gray">
          <a:xfrm>
            <a:off x="9080500" y="4313756"/>
            <a:ext cx="1081883" cy="1224000"/>
          </a:xfrm>
          <a:prstGeom prst="roundRect">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schemeClr val="tx1"/>
                </a:solidFill>
                <a:latin typeface="Verdana" charset="0"/>
                <a:ea typeface="Verdana" charset="0"/>
                <a:cs typeface="Verdana" charset="0"/>
              </a:rPr>
              <a:t>Zatvaranje Financijske Konstrukcije</a:t>
            </a:r>
          </a:p>
        </p:txBody>
      </p:sp>
      <p:cxnSp>
        <p:nvCxnSpPr>
          <p:cNvPr id="83" name="Straight Connector 82"/>
          <p:cNvCxnSpPr/>
          <p:nvPr/>
        </p:nvCxnSpPr>
        <p:spPr>
          <a:xfrm>
            <a:off x="11586110" y="3397070"/>
            <a:ext cx="7770" cy="67747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85" name="Rounded Rectangle 84"/>
          <p:cNvSpPr/>
          <p:nvPr/>
        </p:nvSpPr>
        <p:spPr bwMode="gray">
          <a:xfrm>
            <a:off x="10190493" y="1917720"/>
            <a:ext cx="1081883" cy="1224000"/>
          </a:xfrm>
          <a:prstGeom prst="roundRect">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schemeClr val="tx1"/>
                </a:solidFill>
                <a:latin typeface="Verdana" charset="0"/>
                <a:ea typeface="Verdana" charset="0"/>
                <a:cs typeface="Verdana" charset="0"/>
              </a:rPr>
              <a:t>Puštanje u Inkubaciju</a:t>
            </a:r>
          </a:p>
        </p:txBody>
      </p:sp>
      <p:sp>
        <p:nvSpPr>
          <p:cNvPr id="86" name="Rounded Rectangle 85"/>
          <p:cNvSpPr/>
          <p:nvPr/>
        </p:nvSpPr>
        <p:spPr bwMode="gray">
          <a:xfrm>
            <a:off x="7855449" y="1917720"/>
            <a:ext cx="1081883" cy="1224000"/>
          </a:xfrm>
          <a:prstGeom prst="roundRect">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a:solidFill>
                  <a:schemeClr val="tx1"/>
                </a:solidFill>
                <a:latin typeface="Verdana" charset="0"/>
                <a:ea typeface="Verdana" charset="0"/>
                <a:cs typeface="Verdana" charset="0"/>
              </a:rPr>
              <a:t>Osnove Budućeg </a:t>
            </a:r>
            <a:r>
              <a:rPr lang="hr-HR" sz="900" dirty="0" err="1">
                <a:solidFill>
                  <a:schemeClr val="tx1"/>
                </a:solidFill>
                <a:latin typeface="Verdana" charset="0"/>
                <a:ea typeface="Verdana" charset="0"/>
                <a:cs typeface="Verdana" charset="0"/>
              </a:rPr>
              <a:t>StartUp</a:t>
            </a:r>
            <a:r>
              <a:rPr lang="hr-HR" sz="900" dirty="0">
                <a:solidFill>
                  <a:schemeClr val="tx1"/>
                </a:solidFill>
                <a:latin typeface="Verdana" charset="0"/>
                <a:ea typeface="Verdana" charset="0"/>
                <a:cs typeface="Verdana" charset="0"/>
              </a:rPr>
              <a:t>-a</a:t>
            </a:r>
          </a:p>
        </p:txBody>
      </p:sp>
      <p:sp>
        <p:nvSpPr>
          <p:cNvPr id="87" name="Down Arrow 86"/>
          <p:cNvSpPr/>
          <p:nvPr/>
        </p:nvSpPr>
        <p:spPr>
          <a:xfrm>
            <a:off x="5889703" y="3173644"/>
            <a:ext cx="319606" cy="151372"/>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88" name="Down Arrow 87"/>
          <p:cNvSpPr/>
          <p:nvPr/>
        </p:nvSpPr>
        <p:spPr>
          <a:xfrm>
            <a:off x="7024528" y="3173644"/>
            <a:ext cx="319606" cy="151372"/>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89" name="Down Arrow 88"/>
          <p:cNvSpPr/>
          <p:nvPr/>
        </p:nvSpPr>
        <p:spPr>
          <a:xfrm>
            <a:off x="8236587" y="3173644"/>
            <a:ext cx="319606" cy="151372"/>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90" name="Down Arrow 89"/>
          <p:cNvSpPr/>
          <p:nvPr/>
        </p:nvSpPr>
        <p:spPr>
          <a:xfrm>
            <a:off x="9437013" y="3170272"/>
            <a:ext cx="319606" cy="151372"/>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91" name="Down Arrow 90"/>
          <p:cNvSpPr/>
          <p:nvPr/>
        </p:nvSpPr>
        <p:spPr>
          <a:xfrm>
            <a:off x="10556484" y="3168901"/>
            <a:ext cx="319606" cy="151372"/>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93" name="Down Arrow 92"/>
          <p:cNvSpPr/>
          <p:nvPr/>
        </p:nvSpPr>
        <p:spPr>
          <a:xfrm rot="10800000">
            <a:off x="5899708" y="4079498"/>
            <a:ext cx="319606" cy="151372"/>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94" name="Down Arrow 93"/>
          <p:cNvSpPr/>
          <p:nvPr/>
        </p:nvSpPr>
        <p:spPr>
          <a:xfrm rot="10800000">
            <a:off x="7069088" y="4107725"/>
            <a:ext cx="319606" cy="151372"/>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95" name="Down Arrow 94"/>
          <p:cNvSpPr/>
          <p:nvPr/>
        </p:nvSpPr>
        <p:spPr>
          <a:xfrm rot="10800000">
            <a:off x="8324520" y="4107725"/>
            <a:ext cx="319606" cy="151372"/>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96" name="Down Arrow 95"/>
          <p:cNvSpPr/>
          <p:nvPr/>
        </p:nvSpPr>
        <p:spPr>
          <a:xfrm rot="10800000">
            <a:off x="9496458" y="4127110"/>
            <a:ext cx="319606" cy="151372"/>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97" name="Down Arrow 96"/>
          <p:cNvSpPr/>
          <p:nvPr/>
        </p:nvSpPr>
        <p:spPr>
          <a:xfrm>
            <a:off x="7072525" y="1729130"/>
            <a:ext cx="319606" cy="151372"/>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00" name="Down Arrow 99"/>
          <p:cNvSpPr/>
          <p:nvPr/>
        </p:nvSpPr>
        <p:spPr>
          <a:xfrm rot="10800000">
            <a:off x="10629828" y="4107725"/>
            <a:ext cx="319606" cy="151372"/>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01" name="Rounded Rectangle 100"/>
          <p:cNvSpPr/>
          <p:nvPr/>
        </p:nvSpPr>
        <p:spPr bwMode="gray">
          <a:xfrm>
            <a:off x="10238222" y="4294311"/>
            <a:ext cx="1081883" cy="1224000"/>
          </a:xfrm>
          <a:prstGeom prst="roundRect">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gn="ctr">
              <a:lnSpc>
                <a:spcPct val="106000"/>
              </a:lnSpc>
              <a:buFont typeface="Wingdings 2" pitchFamily="18" charset="2"/>
              <a:buNone/>
            </a:pPr>
            <a:r>
              <a:rPr lang="hr-HR" sz="900" dirty="0" err="1">
                <a:solidFill>
                  <a:schemeClr val="tx1"/>
                </a:solidFill>
                <a:latin typeface="Verdana" charset="0"/>
                <a:ea typeface="Verdana" charset="0"/>
                <a:cs typeface="Verdana" charset="0"/>
              </a:rPr>
              <a:t>Sustainability</a:t>
            </a:r>
            <a:r>
              <a:rPr lang="hr-HR" sz="900" dirty="0">
                <a:solidFill>
                  <a:schemeClr val="tx1"/>
                </a:solidFill>
                <a:latin typeface="Verdana" charset="0"/>
                <a:ea typeface="Verdana" charset="0"/>
                <a:cs typeface="Verdana" charset="0"/>
              </a:rPr>
              <a:t> test</a:t>
            </a:r>
          </a:p>
        </p:txBody>
      </p:sp>
      <p:sp>
        <p:nvSpPr>
          <p:cNvPr id="103" name="Right Arrow 102"/>
          <p:cNvSpPr/>
          <p:nvPr/>
        </p:nvSpPr>
        <p:spPr bwMode="gray">
          <a:xfrm>
            <a:off x="5125978" y="3586927"/>
            <a:ext cx="463549" cy="323309"/>
          </a:xfrm>
          <a:prstGeom prst="rightArrow">
            <a:avLst/>
          </a:prstGeom>
          <a:solidFill>
            <a:schemeClr val="bg1"/>
          </a:solidFill>
          <a:ln w="19050" algn="ctr">
            <a:solidFill>
              <a:schemeClr val="accent1">
                <a:shade val="50000"/>
              </a:schemeClr>
            </a:solidFill>
            <a:miter lim="800000"/>
            <a:headEnd/>
            <a:tailEnd/>
          </a:ln>
        </p:spPr>
        <p:txBody>
          <a:bodyPr wrap="square" lIns="88900" tIns="88900" rIns="88900" bIns="88900" rtlCol="0" anchor="ctr"/>
          <a:lstStyle/>
          <a:p>
            <a:pPr algn="ctr">
              <a:lnSpc>
                <a:spcPct val="106000"/>
              </a:lnSpc>
            </a:pPr>
            <a:endParaRPr lang="hr-HR" sz="900" dirty="0">
              <a:latin typeface="Verdana" charset="0"/>
              <a:ea typeface="Verdana" charset="0"/>
              <a:cs typeface="Verdana" charset="0"/>
            </a:endParaRPr>
          </a:p>
        </p:txBody>
      </p:sp>
      <p:sp>
        <p:nvSpPr>
          <p:cNvPr id="104" name="Right Arrow 103"/>
          <p:cNvSpPr/>
          <p:nvPr/>
        </p:nvSpPr>
        <p:spPr bwMode="gray">
          <a:xfrm>
            <a:off x="3330952" y="3634429"/>
            <a:ext cx="463549" cy="323309"/>
          </a:xfrm>
          <a:prstGeom prst="rightArrow">
            <a:avLst/>
          </a:prstGeom>
          <a:solidFill>
            <a:schemeClr val="bg1"/>
          </a:solidFill>
          <a:ln w="19050" algn="ctr">
            <a:solidFill>
              <a:schemeClr val="accent1">
                <a:shade val="50000"/>
              </a:schemeClr>
            </a:solidFill>
            <a:miter lim="800000"/>
            <a:headEnd/>
            <a:tailEnd/>
          </a:ln>
        </p:spPr>
        <p:txBody>
          <a:bodyPr wrap="square" lIns="88900" tIns="88900" rIns="88900" bIns="88900" rtlCol="0" anchor="ctr"/>
          <a:lstStyle/>
          <a:p>
            <a:pPr algn="ctr">
              <a:lnSpc>
                <a:spcPct val="106000"/>
              </a:lnSpc>
            </a:pPr>
            <a:endParaRPr lang="hr-HR" sz="900" dirty="0">
              <a:latin typeface="Verdana" charset="0"/>
              <a:ea typeface="Verdana" charset="0"/>
              <a:cs typeface="Verdana" charset="0"/>
            </a:endParaRPr>
          </a:p>
        </p:txBody>
      </p:sp>
      <p:sp>
        <p:nvSpPr>
          <p:cNvPr id="2" name="Rectangle 1"/>
          <p:cNvSpPr/>
          <p:nvPr/>
        </p:nvSpPr>
        <p:spPr>
          <a:xfrm>
            <a:off x="5534953" y="5675586"/>
            <a:ext cx="5785152" cy="8516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1600" b="1" dirty="0">
                <a:solidFill>
                  <a:srgbClr val="C00000"/>
                </a:solidFill>
              </a:rPr>
              <a:t>Osnovna zadaća svih koji sudjeluju u razvoju predložene poduzetničke ideje jest prepoznati mjesto za implementaciju pametne tehnologije</a:t>
            </a:r>
          </a:p>
        </p:txBody>
      </p:sp>
      <p:grpSp>
        <p:nvGrpSpPr>
          <p:cNvPr id="98" name="Group 97"/>
          <p:cNvGrpSpPr/>
          <p:nvPr/>
        </p:nvGrpSpPr>
        <p:grpSpPr>
          <a:xfrm>
            <a:off x="1070061" y="4285913"/>
            <a:ext cx="862138" cy="1092437"/>
            <a:chOff x="1948069" y="994952"/>
            <a:chExt cx="1020631" cy="1270640"/>
          </a:xfrm>
        </p:grpSpPr>
        <p:sp>
          <p:nvSpPr>
            <p:cNvPr id="99" name="Oval 98"/>
            <p:cNvSpPr/>
            <p:nvPr/>
          </p:nvSpPr>
          <p:spPr>
            <a:xfrm>
              <a:off x="2520176" y="1414300"/>
              <a:ext cx="448524" cy="410642"/>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02" name="Oval 101"/>
            <p:cNvSpPr/>
            <p:nvPr/>
          </p:nvSpPr>
          <p:spPr>
            <a:xfrm>
              <a:off x="1948069" y="994952"/>
              <a:ext cx="448524" cy="410642"/>
            </a:xfrm>
            <a:prstGeom prst="ellipse">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05" name="Rounded Rectangle 104"/>
            <p:cNvSpPr/>
            <p:nvPr/>
          </p:nvSpPr>
          <p:spPr>
            <a:xfrm>
              <a:off x="2520176" y="2033696"/>
              <a:ext cx="294309" cy="231896"/>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06" name="Rounded Rectangle 105"/>
            <p:cNvSpPr/>
            <p:nvPr/>
          </p:nvSpPr>
          <p:spPr>
            <a:xfrm>
              <a:off x="2491837" y="1012249"/>
              <a:ext cx="294309" cy="2318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07" name="Rounded Rectangle 106"/>
            <p:cNvSpPr/>
            <p:nvPr/>
          </p:nvSpPr>
          <p:spPr>
            <a:xfrm>
              <a:off x="2159141" y="1571789"/>
              <a:ext cx="294309" cy="231896"/>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08" name="Triangle 107"/>
            <p:cNvSpPr/>
            <p:nvPr/>
          </p:nvSpPr>
          <p:spPr>
            <a:xfrm>
              <a:off x="2166576" y="1857229"/>
              <a:ext cx="345688" cy="331462"/>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sp>
        <p:nvSpPr>
          <p:cNvPr id="109" name="Right Arrow 108"/>
          <p:cNvSpPr/>
          <p:nvPr/>
        </p:nvSpPr>
        <p:spPr bwMode="gray">
          <a:xfrm>
            <a:off x="1971436" y="1087475"/>
            <a:ext cx="463549" cy="323309"/>
          </a:xfrm>
          <a:prstGeom prst="rightArrow">
            <a:avLst/>
          </a:prstGeom>
          <a:solidFill>
            <a:schemeClr val="bg1"/>
          </a:solidFill>
          <a:ln w="19050" algn="ctr">
            <a:solidFill>
              <a:schemeClr val="accent1">
                <a:shade val="50000"/>
              </a:schemeClr>
            </a:solidFill>
            <a:miter lim="800000"/>
            <a:headEnd/>
            <a:tailEnd/>
          </a:ln>
        </p:spPr>
        <p:txBody>
          <a:bodyPr wrap="square" lIns="88900" tIns="88900" rIns="88900" bIns="88900" rtlCol="0" anchor="ctr"/>
          <a:lstStyle/>
          <a:p>
            <a:pPr algn="ctr">
              <a:lnSpc>
                <a:spcPct val="106000"/>
              </a:lnSpc>
            </a:pPr>
            <a:endParaRPr lang="hr-HR" sz="900" dirty="0">
              <a:latin typeface="Verdana" charset="0"/>
              <a:ea typeface="Verdana" charset="0"/>
              <a:cs typeface="Verdana" charset="0"/>
            </a:endParaRPr>
          </a:p>
        </p:txBody>
      </p:sp>
      <p:sp>
        <p:nvSpPr>
          <p:cNvPr id="110" name="Right Arrow 109"/>
          <p:cNvSpPr/>
          <p:nvPr/>
        </p:nvSpPr>
        <p:spPr bwMode="gray">
          <a:xfrm>
            <a:off x="1988209" y="1646932"/>
            <a:ext cx="463549" cy="323309"/>
          </a:xfrm>
          <a:prstGeom prst="rightArrow">
            <a:avLst/>
          </a:prstGeom>
          <a:solidFill>
            <a:schemeClr val="bg1"/>
          </a:solidFill>
          <a:ln w="19050" algn="ctr">
            <a:solidFill>
              <a:schemeClr val="accent1">
                <a:shade val="50000"/>
              </a:schemeClr>
            </a:solidFill>
            <a:miter lim="800000"/>
            <a:headEnd/>
            <a:tailEnd/>
          </a:ln>
        </p:spPr>
        <p:txBody>
          <a:bodyPr wrap="square" lIns="88900" tIns="88900" rIns="88900" bIns="88900" rtlCol="0" anchor="ctr"/>
          <a:lstStyle/>
          <a:p>
            <a:pPr algn="ctr">
              <a:lnSpc>
                <a:spcPct val="106000"/>
              </a:lnSpc>
            </a:pPr>
            <a:endParaRPr lang="hr-HR" sz="900" dirty="0">
              <a:latin typeface="Verdana" charset="0"/>
              <a:ea typeface="Verdana" charset="0"/>
              <a:cs typeface="Verdana" charset="0"/>
            </a:endParaRPr>
          </a:p>
        </p:txBody>
      </p:sp>
      <p:sp>
        <p:nvSpPr>
          <p:cNvPr id="111" name="Right Arrow 110"/>
          <p:cNvSpPr/>
          <p:nvPr/>
        </p:nvSpPr>
        <p:spPr bwMode="gray">
          <a:xfrm>
            <a:off x="1976857" y="2131836"/>
            <a:ext cx="463549" cy="323309"/>
          </a:xfrm>
          <a:prstGeom prst="rightArrow">
            <a:avLst/>
          </a:prstGeom>
          <a:solidFill>
            <a:schemeClr val="bg1"/>
          </a:solidFill>
          <a:ln w="19050" algn="ctr">
            <a:solidFill>
              <a:schemeClr val="accent1">
                <a:shade val="50000"/>
              </a:schemeClr>
            </a:solidFill>
            <a:miter lim="800000"/>
            <a:headEnd/>
            <a:tailEnd/>
          </a:ln>
        </p:spPr>
        <p:txBody>
          <a:bodyPr wrap="square" lIns="88900" tIns="88900" rIns="88900" bIns="88900" rtlCol="0" anchor="ctr"/>
          <a:lstStyle/>
          <a:p>
            <a:pPr algn="ctr">
              <a:lnSpc>
                <a:spcPct val="106000"/>
              </a:lnSpc>
            </a:pPr>
            <a:endParaRPr lang="hr-HR" sz="900" dirty="0">
              <a:latin typeface="Verdana" charset="0"/>
              <a:ea typeface="Verdana" charset="0"/>
              <a:cs typeface="Verdana" charset="0"/>
            </a:endParaRPr>
          </a:p>
        </p:txBody>
      </p:sp>
      <p:sp>
        <p:nvSpPr>
          <p:cNvPr id="112" name="Right Arrow 111"/>
          <p:cNvSpPr/>
          <p:nvPr/>
        </p:nvSpPr>
        <p:spPr bwMode="gray">
          <a:xfrm>
            <a:off x="1960734" y="2689088"/>
            <a:ext cx="463549" cy="323309"/>
          </a:xfrm>
          <a:prstGeom prst="rightArrow">
            <a:avLst/>
          </a:prstGeom>
          <a:solidFill>
            <a:schemeClr val="bg1"/>
          </a:solidFill>
          <a:ln w="19050" algn="ctr">
            <a:solidFill>
              <a:schemeClr val="accent1">
                <a:shade val="50000"/>
              </a:schemeClr>
            </a:solidFill>
            <a:miter lim="800000"/>
            <a:headEnd/>
            <a:tailEnd/>
          </a:ln>
        </p:spPr>
        <p:txBody>
          <a:bodyPr wrap="square" lIns="88900" tIns="88900" rIns="88900" bIns="88900" rtlCol="0" anchor="ctr"/>
          <a:lstStyle/>
          <a:p>
            <a:pPr algn="ctr">
              <a:lnSpc>
                <a:spcPct val="106000"/>
              </a:lnSpc>
            </a:pPr>
            <a:endParaRPr lang="hr-HR" sz="900" dirty="0">
              <a:latin typeface="Verdana" charset="0"/>
              <a:ea typeface="Verdana" charset="0"/>
              <a:cs typeface="Verdana" charset="0"/>
            </a:endParaRPr>
          </a:p>
        </p:txBody>
      </p:sp>
      <p:sp>
        <p:nvSpPr>
          <p:cNvPr id="113" name="Right Arrow 112"/>
          <p:cNvSpPr/>
          <p:nvPr/>
        </p:nvSpPr>
        <p:spPr bwMode="gray">
          <a:xfrm>
            <a:off x="1977809" y="3235415"/>
            <a:ext cx="463549" cy="323309"/>
          </a:xfrm>
          <a:prstGeom prst="rightArrow">
            <a:avLst/>
          </a:prstGeom>
          <a:solidFill>
            <a:schemeClr val="bg1"/>
          </a:solidFill>
          <a:ln w="19050" algn="ctr">
            <a:solidFill>
              <a:schemeClr val="accent1">
                <a:shade val="50000"/>
              </a:schemeClr>
            </a:solidFill>
            <a:miter lim="800000"/>
            <a:headEnd/>
            <a:tailEnd/>
          </a:ln>
        </p:spPr>
        <p:txBody>
          <a:bodyPr wrap="square" lIns="88900" tIns="88900" rIns="88900" bIns="88900" rtlCol="0" anchor="ctr"/>
          <a:lstStyle/>
          <a:p>
            <a:pPr algn="ctr">
              <a:lnSpc>
                <a:spcPct val="106000"/>
              </a:lnSpc>
            </a:pPr>
            <a:endParaRPr lang="hr-HR" sz="900" dirty="0">
              <a:latin typeface="Verdana" charset="0"/>
              <a:ea typeface="Verdana" charset="0"/>
              <a:cs typeface="Verdana" charset="0"/>
            </a:endParaRPr>
          </a:p>
        </p:txBody>
      </p:sp>
      <p:sp>
        <p:nvSpPr>
          <p:cNvPr id="114" name="Right Arrow 113"/>
          <p:cNvSpPr/>
          <p:nvPr/>
        </p:nvSpPr>
        <p:spPr bwMode="gray">
          <a:xfrm>
            <a:off x="1960453" y="3759900"/>
            <a:ext cx="463549" cy="323309"/>
          </a:xfrm>
          <a:prstGeom prst="rightArrow">
            <a:avLst/>
          </a:prstGeom>
          <a:solidFill>
            <a:schemeClr val="bg1"/>
          </a:solidFill>
          <a:ln w="19050" algn="ctr">
            <a:solidFill>
              <a:schemeClr val="accent1">
                <a:shade val="50000"/>
              </a:schemeClr>
            </a:solidFill>
            <a:miter lim="800000"/>
            <a:headEnd/>
            <a:tailEnd/>
          </a:ln>
        </p:spPr>
        <p:txBody>
          <a:bodyPr wrap="square" lIns="88900" tIns="88900" rIns="88900" bIns="88900" rtlCol="0" anchor="ctr"/>
          <a:lstStyle/>
          <a:p>
            <a:pPr algn="ctr">
              <a:lnSpc>
                <a:spcPct val="106000"/>
              </a:lnSpc>
            </a:pPr>
            <a:endParaRPr lang="hr-HR" sz="900" dirty="0">
              <a:latin typeface="Verdana" charset="0"/>
              <a:ea typeface="Verdana" charset="0"/>
              <a:cs typeface="Verdana" charset="0"/>
            </a:endParaRPr>
          </a:p>
        </p:txBody>
      </p:sp>
      <p:grpSp>
        <p:nvGrpSpPr>
          <p:cNvPr id="115" name="Group 114"/>
          <p:cNvGrpSpPr/>
          <p:nvPr/>
        </p:nvGrpSpPr>
        <p:grpSpPr>
          <a:xfrm>
            <a:off x="365632" y="4908168"/>
            <a:ext cx="844499" cy="900324"/>
            <a:chOff x="1948069" y="994952"/>
            <a:chExt cx="1020631" cy="1270640"/>
          </a:xfrm>
        </p:grpSpPr>
        <p:sp>
          <p:nvSpPr>
            <p:cNvPr id="116" name="Oval 115"/>
            <p:cNvSpPr/>
            <p:nvPr/>
          </p:nvSpPr>
          <p:spPr>
            <a:xfrm>
              <a:off x="2520176" y="1414300"/>
              <a:ext cx="448524" cy="410642"/>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17" name="Oval 116"/>
            <p:cNvSpPr/>
            <p:nvPr/>
          </p:nvSpPr>
          <p:spPr>
            <a:xfrm>
              <a:off x="1948069" y="994952"/>
              <a:ext cx="448524" cy="410642"/>
            </a:xfrm>
            <a:prstGeom prst="ellipse">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18" name="Rounded Rectangle 117"/>
            <p:cNvSpPr/>
            <p:nvPr/>
          </p:nvSpPr>
          <p:spPr>
            <a:xfrm>
              <a:off x="2520176" y="2033696"/>
              <a:ext cx="294309" cy="231896"/>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19" name="Rounded Rectangle 118"/>
            <p:cNvSpPr/>
            <p:nvPr/>
          </p:nvSpPr>
          <p:spPr>
            <a:xfrm>
              <a:off x="2491837" y="1012249"/>
              <a:ext cx="294309" cy="2318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20" name="Rounded Rectangle 119"/>
            <p:cNvSpPr/>
            <p:nvPr/>
          </p:nvSpPr>
          <p:spPr>
            <a:xfrm>
              <a:off x="2159141" y="1571789"/>
              <a:ext cx="294309" cy="231896"/>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21" name="Triangle 120"/>
            <p:cNvSpPr/>
            <p:nvPr/>
          </p:nvSpPr>
          <p:spPr>
            <a:xfrm>
              <a:off x="2166576" y="1857229"/>
              <a:ext cx="345688" cy="331462"/>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sp>
        <p:nvSpPr>
          <p:cNvPr id="122" name="Right Arrow 121"/>
          <p:cNvSpPr/>
          <p:nvPr/>
        </p:nvSpPr>
        <p:spPr bwMode="gray">
          <a:xfrm>
            <a:off x="1977809" y="4689128"/>
            <a:ext cx="463549" cy="323309"/>
          </a:xfrm>
          <a:prstGeom prst="rightArrow">
            <a:avLst/>
          </a:prstGeom>
          <a:solidFill>
            <a:schemeClr val="bg1"/>
          </a:solidFill>
          <a:ln w="19050" algn="ctr">
            <a:solidFill>
              <a:schemeClr val="accent1">
                <a:shade val="50000"/>
              </a:schemeClr>
            </a:solidFill>
            <a:miter lim="800000"/>
            <a:headEnd/>
            <a:tailEnd/>
          </a:ln>
        </p:spPr>
        <p:txBody>
          <a:bodyPr wrap="square" lIns="88900" tIns="88900" rIns="88900" bIns="88900" rtlCol="0" anchor="ctr"/>
          <a:lstStyle/>
          <a:p>
            <a:pPr algn="ctr">
              <a:lnSpc>
                <a:spcPct val="106000"/>
              </a:lnSpc>
            </a:pPr>
            <a:endParaRPr lang="hr-HR" sz="900" dirty="0">
              <a:latin typeface="Verdana" charset="0"/>
              <a:ea typeface="Verdana" charset="0"/>
              <a:cs typeface="Verdana" charset="0"/>
            </a:endParaRPr>
          </a:p>
        </p:txBody>
      </p:sp>
    </p:spTree>
    <p:extLst>
      <p:ext uri="{BB962C8B-B14F-4D97-AF65-F5344CB8AC3E}">
        <p14:creationId xmlns:p14="http://schemas.microsoft.com/office/powerpoint/2010/main" val="1903106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34551" b="22206"/>
          <a:stretch/>
        </p:blipFill>
        <p:spPr>
          <a:xfrm>
            <a:off x="10886889" y="5084"/>
            <a:ext cx="1305111" cy="1031438"/>
          </a:xfrm>
          <a:prstGeom prst="rect">
            <a:avLst/>
          </a:prstGeom>
        </p:spPr>
      </p:pic>
      <p:sp>
        <p:nvSpPr>
          <p:cNvPr id="4" name="Title 3"/>
          <p:cNvSpPr>
            <a:spLocks noGrp="1"/>
          </p:cNvSpPr>
          <p:nvPr/>
        </p:nvSpPr>
        <p:spPr bwMode="gray">
          <a:xfrm>
            <a:off x="314263" y="288188"/>
            <a:ext cx="11252200"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r>
              <a:rPr lang="hr-HR" dirty="0">
                <a:solidFill>
                  <a:schemeClr val="accent6">
                    <a:lumMod val="50000"/>
                  </a:schemeClr>
                </a:solidFill>
                <a:latin typeface="Verdana" charset="0"/>
                <a:ea typeface="Verdana" charset="0"/>
                <a:cs typeface="Verdana" charset="0"/>
              </a:rPr>
              <a:t>preIncubation</a:t>
            </a:r>
            <a:r>
              <a:rPr lang="hr-HR" dirty="0"/>
              <a:t> :: Lokalne Točke Razvoja / LTR </a:t>
            </a:r>
          </a:p>
        </p:txBody>
      </p:sp>
      <p:cxnSp>
        <p:nvCxnSpPr>
          <p:cNvPr id="5" name="Straight Connector 4"/>
          <p:cNvCxnSpPr/>
          <p:nvPr/>
        </p:nvCxnSpPr>
        <p:spPr>
          <a:xfrm>
            <a:off x="134520" y="704743"/>
            <a:ext cx="10826991" cy="2371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1" name="Group 10"/>
          <p:cNvGrpSpPr/>
          <p:nvPr/>
        </p:nvGrpSpPr>
        <p:grpSpPr>
          <a:xfrm>
            <a:off x="10136566" y="1864861"/>
            <a:ext cx="1260000" cy="432000"/>
            <a:chOff x="371" y="2159971"/>
            <a:chExt cx="1185787" cy="948630"/>
          </a:xfrm>
        </p:grpSpPr>
        <p:sp>
          <p:nvSpPr>
            <p:cNvPr id="12" name="Rounded Rectangle 11"/>
            <p:cNvSpPr/>
            <p:nvPr/>
          </p:nvSpPr>
          <p:spPr>
            <a:xfrm>
              <a:off x="371" y="2159971"/>
              <a:ext cx="1185787"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3" name="Rounded Rectangle 7"/>
            <p:cNvSpPr/>
            <p:nvPr/>
          </p:nvSpPr>
          <p:spPr>
            <a:xfrm>
              <a:off x="28155" y="2187755"/>
              <a:ext cx="1130219"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lvl="0" algn="ctr" defTabSz="444500">
                <a:lnSpc>
                  <a:spcPct val="90000"/>
                </a:lnSpc>
                <a:spcBef>
                  <a:spcPct val="0"/>
                </a:spcBef>
                <a:spcAft>
                  <a:spcPct val="35000"/>
                </a:spcAft>
              </a:pPr>
              <a:r>
                <a:rPr lang="hr-HR" sz="1000" kern="1200" dirty="0">
                  <a:solidFill>
                    <a:schemeClr val="tx1"/>
                  </a:solidFill>
                </a:rPr>
                <a:t>LTR Ludbreg</a:t>
              </a:r>
              <a:endParaRPr lang="en-US" sz="1000" kern="1200" dirty="0">
                <a:solidFill>
                  <a:schemeClr val="tx1"/>
                </a:solidFill>
              </a:endParaRPr>
            </a:p>
          </p:txBody>
        </p:sp>
      </p:grpSp>
      <p:grpSp>
        <p:nvGrpSpPr>
          <p:cNvPr id="14" name="Group 13"/>
          <p:cNvGrpSpPr/>
          <p:nvPr/>
        </p:nvGrpSpPr>
        <p:grpSpPr>
          <a:xfrm>
            <a:off x="5436938" y="1856678"/>
            <a:ext cx="1260000" cy="432000"/>
            <a:chOff x="393967" y="864628"/>
            <a:chExt cx="1471692" cy="948630"/>
          </a:xfrm>
        </p:grpSpPr>
        <p:sp>
          <p:nvSpPr>
            <p:cNvPr id="15" name="Rounded Rectangle 14"/>
            <p:cNvSpPr/>
            <p:nvPr/>
          </p:nvSpPr>
          <p:spPr>
            <a:xfrm>
              <a:off x="393967" y="864628"/>
              <a:ext cx="1471692"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6" name="Rounded Rectangle 10"/>
            <p:cNvSpPr/>
            <p:nvPr/>
          </p:nvSpPr>
          <p:spPr>
            <a:xfrm>
              <a:off x="421751" y="892412"/>
              <a:ext cx="1416124"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kern="1200" dirty="0">
                  <a:solidFill>
                    <a:schemeClr val="tx1"/>
                  </a:solidFill>
                </a:rPr>
                <a:t>LTR Sveti Ilija</a:t>
              </a:r>
              <a:endParaRPr lang="en-US" sz="1000" kern="1200" dirty="0">
                <a:solidFill>
                  <a:schemeClr val="tx1"/>
                </a:solidFill>
              </a:endParaRPr>
            </a:p>
          </p:txBody>
        </p:sp>
      </p:grpSp>
      <p:grpSp>
        <p:nvGrpSpPr>
          <p:cNvPr id="17" name="Group 16"/>
          <p:cNvGrpSpPr/>
          <p:nvPr/>
        </p:nvGrpSpPr>
        <p:grpSpPr>
          <a:xfrm>
            <a:off x="3870396" y="1862097"/>
            <a:ext cx="1260000" cy="432000"/>
            <a:chOff x="1993813" y="294106"/>
            <a:chExt cx="1496665" cy="948630"/>
          </a:xfrm>
        </p:grpSpPr>
        <p:sp>
          <p:nvSpPr>
            <p:cNvPr id="18" name="Rounded Rectangle 17"/>
            <p:cNvSpPr/>
            <p:nvPr/>
          </p:nvSpPr>
          <p:spPr>
            <a:xfrm>
              <a:off x="1993813" y="294106"/>
              <a:ext cx="1496665"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9" name="Rounded Rectangle 13"/>
            <p:cNvSpPr/>
            <p:nvPr/>
          </p:nvSpPr>
          <p:spPr>
            <a:xfrm>
              <a:off x="2021597" y="321890"/>
              <a:ext cx="1441097"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lvl="0" algn="ctr" defTabSz="444500">
                <a:lnSpc>
                  <a:spcPct val="90000"/>
                </a:lnSpc>
                <a:spcBef>
                  <a:spcPct val="0"/>
                </a:spcBef>
                <a:spcAft>
                  <a:spcPct val="35000"/>
                </a:spcAft>
              </a:pPr>
              <a:r>
                <a:rPr lang="hr-HR" sz="1000" kern="1200" dirty="0">
                  <a:solidFill>
                    <a:schemeClr val="tx1"/>
                  </a:solidFill>
                </a:rPr>
                <a:t>LTR </a:t>
              </a:r>
              <a:r>
                <a:rPr lang="hr-HR" sz="1000" kern="1200" dirty="0" err="1">
                  <a:solidFill>
                    <a:schemeClr val="tx1"/>
                  </a:solidFill>
                </a:rPr>
                <a:t>Kneginec</a:t>
              </a:r>
              <a:endParaRPr lang="en-US" sz="1000" kern="1200" dirty="0">
                <a:solidFill>
                  <a:schemeClr val="tx1"/>
                </a:solidFill>
              </a:endParaRPr>
            </a:p>
          </p:txBody>
        </p:sp>
      </p:grpSp>
      <p:grpSp>
        <p:nvGrpSpPr>
          <p:cNvPr id="20" name="Group 19"/>
          <p:cNvGrpSpPr/>
          <p:nvPr/>
        </p:nvGrpSpPr>
        <p:grpSpPr>
          <a:xfrm>
            <a:off x="7003480" y="1854804"/>
            <a:ext cx="1260000" cy="432000"/>
            <a:chOff x="3546413" y="1013755"/>
            <a:chExt cx="1185787" cy="948630"/>
          </a:xfrm>
        </p:grpSpPr>
        <p:sp>
          <p:nvSpPr>
            <p:cNvPr id="21" name="Rounded Rectangle 20"/>
            <p:cNvSpPr/>
            <p:nvPr/>
          </p:nvSpPr>
          <p:spPr>
            <a:xfrm>
              <a:off x="3546413" y="1013755"/>
              <a:ext cx="1185787"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2" name="Rounded Rectangle 16"/>
            <p:cNvSpPr/>
            <p:nvPr/>
          </p:nvSpPr>
          <p:spPr>
            <a:xfrm>
              <a:off x="3574197" y="1041539"/>
              <a:ext cx="1130219"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lvl="0" algn="ctr" defTabSz="444500">
                <a:lnSpc>
                  <a:spcPct val="90000"/>
                </a:lnSpc>
                <a:spcBef>
                  <a:spcPct val="0"/>
                </a:spcBef>
                <a:spcAft>
                  <a:spcPct val="35000"/>
                </a:spcAft>
              </a:pPr>
              <a:r>
                <a:rPr lang="hr-HR" sz="1000" dirty="0">
                  <a:solidFill>
                    <a:schemeClr val="tx1"/>
                  </a:solidFill>
                </a:rPr>
                <a:t>LTR </a:t>
              </a:r>
              <a:r>
                <a:rPr lang="hr-HR" sz="1000" dirty="0" err="1">
                  <a:solidFill>
                    <a:schemeClr val="tx1"/>
                  </a:solidFill>
                </a:rPr>
                <a:t>Vidovec</a:t>
              </a:r>
              <a:endParaRPr lang="en-US" sz="1000" kern="1200" dirty="0">
                <a:solidFill>
                  <a:schemeClr val="tx1"/>
                </a:solidFill>
              </a:endParaRPr>
            </a:p>
          </p:txBody>
        </p:sp>
      </p:grpSp>
      <p:grpSp>
        <p:nvGrpSpPr>
          <p:cNvPr id="26" name="Group 25"/>
          <p:cNvGrpSpPr/>
          <p:nvPr/>
        </p:nvGrpSpPr>
        <p:grpSpPr>
          <a:xfrm>
            <a:off x="8570022" y="1864861"/>
            <a:ext cx="1260000" cy="432000"/>
            <a:chOff x="393967" y="864628"/>
            <a:chExt cx="1471692" cy="948630"/>
          </a:xfrm>
        </p:grpSpPr>
        <p:sp>
          <p:nvSpPr>
            <p:cNvPr id="27" name="Rounded Rectangle 26"/>
            <p:cNvSpPr/>
            <p:nvPr/>
          </p:nvSpPr>
          <p:spPr>
            <a:xfrm>
              <a:off x="393967" y="864628"/>
              <a:ext cx="1471692"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8" name="Rounded Rectangle 10"/>
            <p:cNvSpPr/>
            <p:nvPr/>
          </p:nvSpPr>
          <p:spPr>
            <a:xfrm>
              <a:off x="421751" y="892412"/>
              <a:ext cx="1416124"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dirty="0">
                  <a:solidFill>
                    <a:schemeClr val="tx1"/>
                  </a:solidFill>
                </a:rPr>
                <a:t>LTR </a:t>
              </a:r>
              <a:r>
                <a:rPr lang="hr-HR" sz="1000" dirty="0" err="1">
                  <a:solidFill>
                    <a:schemeClr val="tx1"/>
                  </a:solidFill>
                </a:rPr>
                <a:t>Sračinec</a:t>
              </a:r>
              <a:endParaRPr lang="en-US" sz="1000" kern="1200" dirty="0">
                <a:solidFill>
                  <a:schemeClr val="tx1"/>
                </a:solidFill>
              </a:endParaRPr>
            </a:p>
          </p:txBody>
        </p:sp>
      </p:grpSp>
      <p:grpSp>
        <p:nvGrpSpPr>
          <p:cNvPr id="29" name="Group 28"/>
          <p:cNvGrpSpPr/>
          <p:nvPr/>
        </p:nvGrpSpPr>
        <p:grpSpPr>
          <a:xfrm>
            <a:off x="2303854" y="1862097"/>
            <a:ext cx="1260000" cy="432000"/>
            <a:chOff x="393967" y="864628"/>
            <a:chExt cx="1471692" cy="948630"/>
          </a:xfrm>
        </p:grpSpPr>
        <p:sp>
          <p:nvSpPr>
            <p:cNvPr id="30" name="Rounded Rectangle 29"/>
            <p:cNvSpPr/>
            <p:nvPr/>
          </p:nvSpPr>
          <p:spPr>
            <a:xfrm>
              <a:off x="393967" y="864628"/>
              <a:ext cx="1471692" cy="948630"/>
            </a:xfrm>
            <a:prstGeom prst="roundRect">
              <a:avLst>
                <a:gd name="adj" fmla="val 10000"/>
              </a:avLst>
            </a:prstGeom>
            <a:solidFill>
              <a:schemeClr val="bg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31" name="Rounded Rectangle 10"/>
            <p:cNvSpPr/>
            <p:nvPr/>
          </p:nvSpPr>
          <p:spPr>
            <a:xfrm>
              <a:off x="421751" y="892412"/>
              <a:ext cx="1416124" cy="893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50" tIns="19050" rIns="19050" bIns="19050" numCol="1" spcCol="1270" anchor="ctr" anchorCtr="0">
              <a:noAutofit/>
            </a:bodyPr>
            <a:lstStyle/>
            <a:p>
              <a:pPr algn="ctr" defTabSz="444500">
                <a:lnSpc>
                  <a:spcPct val="90000"/>
                </a:lnSpc>
                <a:spcBef>
                  <a:spcPct val="0"/>
                </a:spcBef>
                <a:spcAft>
                  <a:spcPct val="35000"/>
                </a:spcAft>
              </a:pPr>
              <a:r>
                <a:rPr lang="hr-HR" sz="1000" kern="1200" dirty="0">
                  <a:solidFill>
                    <a:schemeClr val="tx1"/>
                  </a:solidFill>
                </a:rPr>
                <a:t>LTR Novi Marof</a:t>
              </a:r>
              <a:endParaRPr lang="en-US" sz="1000" kern="1200" dirty="0">
                <a:solidFill>
                  <a:schemeClr val="tx1"/>
                </a:solidFill>
              </a:endParaRPr>
            </a:p>
          </p:txBody>
        </p:sp>
      </p:grpSp>
      <p:sp>
        <p:nvSpPr>
          <p:cNvPr id="32" name="Rounded Rectangle 31"/>
          <p:cNvSpPr/>
          <p:nvPr/>
        </p:nvSpPr>
        <p:spPr bwMode="gray">
          <a:xfrm>
            <a:off x="2435199" y="5133164"/>
            <a:ext cx="2777031" cy="1367337"/>
          </a:xfrm>
          <a:prstGeom prst="roundRect">
            <a:avLst/>
          </a:prstGeom>
          <a:no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nSpc>
                <a:spcPct val="106000"/>
              </a:lnSpc>
              <a:buFont typeface="Wingdings 2" pitchFamily="18" charset="2"/>
              <a:buNone/>
            </a:pPr>
            <a:r>
              <a:rPr lang="hr-HR" sz="900" b="1" dirty="0">
                <a:solidFill>
                  <a:schemeClr val="tx1"/>
                </a:solidFill>
                <a:latin typeface="Verdana" charset="0"/>
                <a:ea typeface="Verdana" charset="0"/>
                <a:cs typeface="Verdana" charset="0"/>
              </a:rPr>
              <a:t>RADIONICE I PROGRAMI</a:t>
            </a:r>
          </a:p>
          <a:p>
            <a:pPr>
              <a:lnSpc>
                <a:spcPct val="106000"/>
              </a:lnSpc>
              <a:buFont typeface="Wingdings 2" pitchFamily="18" charset="2"/>
              <a:buNone/>
            </a:pPr>
            <a:endParaRPr lang="hr-HR" sz="900" dirty="0">
              <a:solidFill>
                <a:schemeClr val="tx1"/>
              </a:solidFill>
              <a:latin typeface="Verdana" charset="0"/>
              <a:ea typeface="Verdana" charset="0"/>
              <a:cs typeface="Verdana" charset="0"/>
            </a:endParaRPr>
          </a:p>
          <a:p>
            <a:pPr marL="171450" indent="-171450">
              <a:lnSpc>
                <a:spcPct val="106000"/>
              </a:lnSpc>
              <a:buFont typeface="Arial" charset="0"/>
              <a:buChar char="•"/>
            </a:pPr>
            <a:r>
              <a:rPr lang="hr-HR" sz="900" dirty="0">
                <a:solidFill>
                  <a:schemeClr val="tx1"/>
                </a:solidFill>
                <a:latin typeface="Verdana" charset="0"/>
                <a:ea typeface="Verdana" charset="0"/>
                <a:cs typeface="Verdana" charset="0"/>
              </a:rPr>
              <a:t>Centar provodi radionice, </a:t>
            </a:r>
            <a:r>
              <a:rPr lang="hr-HR" sz="900" dirty="0" err="1">
                <a:solidFill>
                  <a:schemeClr val="tx1"/>
                </a:solidFill>
                <a:latin typeface="Verdana" charset="0"/>
                <a:ea typeface="Verdana" charset="0"/>
                <a:cs typeface="Verdana" charset="0"/>
              </a:rPr>
              <a:t>mentoriranje</a:t>
            </a:r>
            <a:r>
              <a:rPr lang="hr-HR" sz="900" dirty="0">
                <a:solidFill>
                  <a:schemeClr val="tx1"/>
                </a:solidFill>
                <a:latin typeface="Verdana" charset="0"/>
                <a:ea typeface="Verdana" charset="0"/>
                <a:cs typeface="Verdana" charset="0"/>
              </a:rPr>
              <a:t> za identifikaciju poduzetničkih ideja i primjenu novih tehnologija,</a:t>
            </a:r>
          </a:p>
          <a:p>
            <a:pPr marL="171450" indent="-171450">
              <a:lnSpc>
                <a:spcPct val="106000"/>
              </a:lnSpc>
              <a:buFont typeface="Arial" charset="0"/>
              <a:buChar char="•"/>
            </a:pPr>
            <a:r>
              <a:rPr lang="hr-HR" sz="900" dirty="0">
                <a:solidFill>
                  <a:schemeClr val="tx1"/>
                </a:solidFill>
                <a:latin typeface="Verdana" charset="0"/>
                <a:ea typeface="Verdana" charset="0"/>
                <a:cs typeface="Verdana" charset="0"/>
              </a:rPr>
              <a:t>Vodi </a:t>
            </a:r>
            <a:r>
              <a:rPr lang="hr-HR" sz="900" dirty="0" err="1">
                <a:solidFill>
                  <a:schemeClr val="tx1"/>
                </a:solidFill>
                <a:latin typeface="Verdana" charset="0"/>
                <a:ea typeface="Verdana" charset="0"/>
                <a:cs typeface="Verdana" charset="0"/>
              </a:rPr>
              <a:t>follow-up</a:t>
            </a:r>
            <a:r>
              <a:rPr lang="hr-HR" sz="900" dirty="0">
                <a:solidFill>
                  <a:schemeClr val="tx1"/>
                </a:solidFill>
                <a:latin typeface="Verdana" charset="0"/>
                <a:ea typeface="Verdana" charset="0"/>
                <a:cs typeface="Verdana" charset="0"/>
              </a:rPr>
              <a:t> svih identificiranih projekata i obrađuje ih.</a:t>
            </a:r>
          </a:p>
        </p:txBody>
      </p:sp>
      <p:grpSp>
        <p:nvGrpSpPr>
          <p:cNvPr id="3" name="Group 2"/>
          <p:cNvGrpSpPr/>
          <p:nvPr/>
        </p:nvGrpSpPr>
        <p:grpSpPr>
          <a:xfrm>
            <a:off x="369301" y="2669595"/>
            <a:ext cx="1169779" cy="3872089"/>
            <a:chOff x="1948069" y="994952"/>
            <a:chExt cx="1238081" cy="4550153"/>
          </a:xfrm>
        </p:grpSpPr>
        <p:sp>
          <p:nvSpPr>
            <p:cNvPr id="33" name="Oval 32"/>
            <p:cNvSpPr/>
            <p:nvPr/>
          </p:nvSpPr>
          <p:spPr>
            <a:xfrm>
              <a:off x="2520176" y="1414300"/>
              <a:ext cx="448524" cy="410642"/>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34" name="Oval 33"/>
            <p:cNvSpPr/>
            <p:nvPr/>
          </p:nvSpPr>
          <p:spPr>
            <a:xfrm>
              <a:off x="2062976" y="2270512"/>
              <a:ext cx="448524" cy="410642"/>
            </a:xfrm>
            <a:prstGeom prst="ellipse">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35" name="Oval 34"/>
            <p:cNvSpPr/>
            <p:nvPr/>
          </p:nvSpPr>
          <p:spPr>
            <a:xfrm>
              <a:off x="2062976" y="3027725"/>
              <a:ext cx="448524" cy="4106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36" name="Oval 35"/>
            <p:cNvSpPr/>
            <p:nvPr/>
          </p:nvSpPr>
          <p:spPr>
            <a:xfrm>
              <a:off x="1948069" y="994952"/>
              <a:ext cx="448524" cy="410642"/>
            </a:xfrm>
            <a:prstGeom prst="ellipse">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37" name="Oval 36"/>
            <p:cNvSpPr/>
            <p:nvPr/>
          </p:nvSpPr>
          <p:spPr>
            <a:xfrm>
              <a:off x="2661425" y="4053776"/>
              <a:ext cx="448524" cy="4106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38" name="Oval 37"/>
            <p:cNvSpPr/>
            <p:nvPr/>
          </p:nvSpPr>
          <p:spPr>
            <a:xfrm>
              <a:off x="2004162" y="3997547"/>
              <a:ext cx="448524" cy="410642"/>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39" name="Oval 38"/>
            <p:cNvSpPr/>
            <p:nvPr/>
          </p:nvSpPr>
          <p:spPr>
            <a:xfrm>
              <a:off x="2737626" y="3083147"/>
              <a:ext cx="448524" cy="410642"/>
            </a:xfrm>
            <a:prstGeom prst="ellipse">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0" name="Oval 39"/>
            <p:cNvSpPr/>
            <p:nvPr/>
          </p:nvSpPr>
          <p:spPr>
            <a:xfrm>
              <a:off x="2261222" y="4897338"/>
              <a:ext cx="448524" cy="410642"/>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1" name="Rounded Rectangle 40"/>
            <p:cNvSpPr/>
            <p:nvPr/>
          </p:nvSpPr>
          <p:spPr>
            <a:xfrm>
              <a:off x="2722134" y="5264815"/>
              <a:ext cx="294309" cy="231896"/>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2" name="Rounded Rectangle 41"/>
            <p:cNvSpPr/>
            <p:nvPr/>
          </p:nvSpPr>
          <p:spPr>
            <a:xfrm>
              <a:off x="2373021" y="4508653"/>
              <a:ext cx="294309" cy="231896"/>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3" name="Rounded Rectangle 42"/>
            <p:cNvSpPr/>
            <p:nvPr/>
          </p:nvSpPr>
          <p:spPr>
            <a:xfrm>
              <a:off x="2142433" y="3602009"/>
              <a:ext cx="294309" cy="231896"/>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4" name="Rounded Rectangle 43"/>
            <p:cNvSpPr/>
            <p:nvPr/>
          </p:nvSpPr>
          <p:spPr>
            <a:xfrm>
              <a:off x="2520176" y="2033696"/>
              <a:ext cx="294309" cy="231896"/>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5" name="Rounded Rectangle 44"/>
            <p:cNvSpPr/>
            <p:nvPr/>
          </p:nvSpPr>
          <p:spPr>
            <a:xfrm>
              <a:off x="2551151" y="3533779"/>
              <a:ext cx="294309" cy="231896"/>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6" name="Rounded Rectangle 45"/>
            <p:cNvSpPr/>
            <p:nvPr/>
          </p:nvSpPr>
          <p:spPr>
            <a:xfrm>
              <a:off x="2491837" y="1012249"/>
              <a:ext cx="294309" cy="2318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7" name="Rounded Rectangle 46"/>
            <p:cNvSpPr/>
            <p:nvPr/>
          </p:nvSpPr>
          <p:spPr>
            <a:xfrm>
              <a:off x="2562591" y="2652479"/>
              <a:ext cx="294309" cy="231896"/>
            </a:xfrm>
            <a:prstGeom prst="round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8" name="Rounded Rectangle 47"/>
            <p:cNvSpPr/>
            <p:nvPr/>
          </p:nvSpPr>
          <p:spPr>
            <a:xfrm>
              <a:off x="2159141" y="1571789"/>
              <a:ext cx="294309" cy="231896"/>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49" name="Triangle 48"/>
            <p:cNvSpPr/>
            <p:nvPr/>
          </p:nvSpPr>
          <p:spPr>
            <a:xfrm>
              <a:off x="2197408" y="5213643"/>
              <a:ext cx="345688" cy="33146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50" name="Triangle 49"/>
            <p:cNvSpPr/>
            <p:nvPr/>
          </p:nvSpPr>
          <p:spPr>
            <a:xfrm>
              <a:off x="2491837" y="3130510"/>
              <a:ext cx="345688" cy="331462"/>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51" name="Triangle 50"/>
            <p:cNvSpPr/>
            <p:nvPr/>
          </p:nvSpPr>
          <p:spPr>
            <a:xfrm>
              <a:off x="2166576" y="1857229"/>
              <a:ext cx="345688" cy="331462"/>
            </a:xfrm>
            <a:prstGeom prst="triangl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52" name="Triangle 51"/>
            <p:cNvSpPr/>
            <p:nvPr/>
          </p:nvSpPr>
          <p:spPr>
            <a:xfrm>
              <a:off x="2690202" y="2221631"/>
              <a:ext cx="345688" cy="33146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53" name="Triangle 52"/>
            <p:cNvSpPr/>
            <p:nvPr/>
          </p:nvSpPr>
          <p:spPr>
            <a:xfrm>
              <a:off x="1986297" y="4494482"/>
              <a:ext cx="345688" cy="33146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54" name="Triangle 53"/>
            <p:cNvSpPr/>
            <p:nvPr/>
          </p:nvSpPr>
          <p:spPr>
            <a:xfrm>
              <a:off x="2747738" y="4624601"/>
              <a:ext cx="345688" cy="33146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grpSp>
      <p:sp>
        <p:nvSpPr>
          <p:cNvPr id="55" name="Rectangle 54"/>
          <p:cNvSpPr/>
          <p:nvPr/>
        </p:nvSpPr>
        <p:spPr bwMode="gray">
          <a:xfrm>
            <a:off x="2056905" y="2581606"/>
            <a:ext cx="9509557" cy="4123994"/>
          </a:xfrm>
          <a:prstGeom prst="rect">
            <a:avLst/>
          </a:prstGeom>
          <a:noFill/>
          <a:ln w="19050" algn="ctr">
            <a:solidFill>
              <a:schemeClr val="accent3"/>
            </a:solidFill>
            <a:prstDash val="dash"/>
            <a:miter lim="800000"/>
            <a:headEnd/>
            <a:tailEnd/>
          </a:ln>
        </p:spPr>
        <p:txBody>
          <a:bodyPr wrap="square" lIns="88900" tIns="88900" rIns="88900" bIns="8890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lnSpc>
                <a:spcPct val="106000"/>
              </a:lnSpc>
              <a:buFont typeface="Wingdings 2" pitchFamily="18" charset="2"/>
              <a:buNone/>
            </a:pPr>
            <a:endParaRPr lang="en-US" sz="1600" b="1" dirty="0">
              <a:solidFill>
                <a:schemeClr val="bg1"/>
              </a:solidFill>
            </a:endParaRPr>
          </a:p>
        </p:txBody>
      </p:sp>
      <p:sp>
        <p:nvSpPr>
          <p:cNvPr id="62" name="Right Brace 61"/>
          <p:cNvSpPr/>
          <p:nvPr/>
        </p:nvSpPr>
        <p:spPr>
          <a:xfrm rot="5400000">
            <a:off x="6759685" y="-2153493"/>
            <a:ext cx="146588" cy="9217485"/>
          </a:xfrm>
          <a:prstGeom prst="rightBrace">
            <a:avLst>
              <a:gd name="adj1" fmla="val 81563"/>
              <a:gd name="adj2" fmla="val 49865"/>
            </a:avLst>
          </a:prstGeom>
          <a:solidFill>
            <a:schemeClr val="bg1"/>
          </a:solidFill>
          <a:ln w="12700">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hr-HR"/>
          </a:p>
        </p:txBody>
      </p:sp>
      <p:sp>
        <p:nvSpPr>
          <p:cNvPr id="76" name="Rounded Rectangle 75"/>
          <p:cNvSpPr/>
          <p:nvPr/>
        </p:nvSpPr>
        <p:spPr bwMode="gray">
          <a:xfrm>
            <a:off x="5590524" y="5127521"/>
            <a:ext cx="3677654" cy="1372981"/>
          </a:xfrm>
          <a:prstGeom prst="roundRect">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nSpc>
                <a:spcPct val="106000"/>
              </a:lnSpc>
              <a:buFont typeface="Wingdings 2" pitchFamily="18" charset="2"/>
              <a:buNone/>
            </a:pPr>
            <a:endParaRPr lang="hr-HR" sz="900" b="1" dirty="0">
              <a:solidFill>
                <a:schemeClr val="tx1"/>
              </a:solidFill>
              <a:latin typeface="Verdana" charset="0"/>
              <a:ea typeface="Verdana" charset="0"/>
              <a:cs typeface="Verdana" charset="0"/>
            </a:endParaRPr>
          </a:p>
          <a:p>
            <a:pPr>
              <a:lnSpc>
                <a:spcPct val="106000"/>
              </a:lnSpc>
              <a:buFont typeface="Wingdings 2" pitchFamily="18" charset="2"/>
              <a:buNone/>
            </a:pPr>
            <a:r>
              <a:rPr lang="hr-HR" sz="900" b="1" dirty="0">
                <a:solidFill>
                  <a:schemeClr val="tx1"/>
                </a:solidFill>
                <a:latin typeface="Verdana" charset="0"/>
                <a:ea typeface="Verdana" charset="0"/>
                <a:cs typeface="Verdana" charset="0"/>
              </a:rPr>
              <a:t>ANALIZA I ISTRAŽIVANJE TRŽIŠTA</a:t>
            </a:r>
          </a:p>
          <a:p>
            <a:pPr>
              <a:lnSpc>
                <a:spcPct val="106000"/>
              </a:lnSpc>
              <a:buFont typeface="Wingdings 2" pitchFamily="18" charset="2"/>
              <a:buNone/>
            </a:pPr>
            <a:r>
              <a:rPr lang="hr-HR" sz="900" dirty="0">
                <a:solidFill>
                  <a:schemeClr val="tx1"/>
                </a:solidFill>
                <a:latin typeface="Verdana" charset="0"/>
                <a:ea typeface="Verdana" charset="0"/>
                <a:cs typeface="Verdana" charset="0"/>
              </a:rPr>
              <a:t> </a:t>
            </a:r>
          </a:p>
          <a:p>
            <a:pPr marL="171450" indent="-171450">
              <a:lnSpc>
                <a:spcPct val="106000"/>
              </a:lnSpc>
              <a:buFont typeface="Arial" charset="0"/>
              <a:buChar char="•"/>
            </a:pPr>
            <a:r>
              <a:rPr lang="hr-HR" sz="900" dirty="0">
                <a:solidFill>
                  <a:schemeClr val="tx1"/>
                </a:solidFill>
                <a:latin typeface="Verdana" charset="0"/>
                <a:ea typeface="Verdana" charset="0"/>
                <a:cs typeface="Verdana" charset="0"/>
              </a:rPr>
              <a:t>LTR u okviru svojih mogućnosti analizira i istražuje stanje lokalnog gospodarstva,</a:t>
            </a:r>
          </a:p>
          <a:p>
            <a:pPr marL="171450" indent="-171450">
              <a:lnSpc>
                <a:spcPct val="106000"/>
              </a:lnSpc>
              <a:buFont typeface="Arial" charset="0"/>
              <a:buChar char="•"/>
            </a:pPr>
            <a:r>
              <a:rPr lang="hr-HR" sz="900" dirty="0">
                <a:solidFill>
                  <a:schemeClr val="tx1"/>
                </a:solidFill>
                <a:latin typeface="Verdana" charset="0"/>
                <a:ea typeface="Verdana" charset="0"/>
                <a:cs typeface="Verdana" charset="0"/>
              </a:rPr>
              <a:t>Komunicira s lokalnim dionicima relevantnim za ovo područje,</a:t>
            </a:r>
          </a:p>
          <a:p>
            <a:pPr marL="171450" indent="-171450">
              <a:lnSpc>
                <a:spcPct val="106000"/>
              </a:lnSpc>
              <a:buFont typeface="Arial" charset="0"/>
              <a:buChar char="•"/>
            </a:pPr>
            <a:r>
              <a:rPr lang="hr-HR" sz="900" dirty="0">
                <a:solidFill>
                  <a:schemeClr val="tx1"/>
                </a:solidFill>
                <a:latin typeface="Verdana" charset="0"/>
                <a:ea typeface="Verdana" charset="0"/>
                <a:cs typeface="Verdana" charset="0"/>
              </a:rPr>
              <a:t>Prati zbivanja i obavještava Centar</a:t>
            </a:r>
          </a:p>
          <a:p>
            <a:pPr marL="171450" indent="-171450">
              <a:lnSpc>
                <a:spcPct val="106000"/>
              </a:lnSpc>
              <a:buFont typeface="Arial" charset="0"/>
              <a:buChar char="•"/>
            </a:pPr>
            <a:endParaRPr lang="hr-HR" sz="900" dirty="0">
              <a:solidFill>
                <a:schemeClr val="tx1"/>
              </a:solidFill>
              <a:latin typeface="Verdana" charset="0"/>
              <a:ea typeface="Verdana" charset="0"/>
              <a:cs typeface="Verdana" charset="0"/>
            </a:endParaRPr>
          </a:p>
        </p:txBody>
      </p:sp>
      <p:sp>
        <p:nvSpPr>
          <p:cNvPr id="79" name="Rounded Rectangle 78"/>
          <p:cNvSpPr/>
          <p:nvPr/>
        </p:nvSpPr>
        <p:spPr bwMode="gray">
          <a:xfrm>
            <a:off x="2404086" y="2741405"/>
            <a:ext cx="2839259" cy="1254137"/>
          </a:xfrm>
          <a:prstGeom prst="roundRect">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nSpc>
                <a:spcPct val="106000"/>
              </a:lnSpc>
              <a:buFont typeface="Wingdings 2" pitchFamily="18" charset="2"/>
              <a:buNone/>
            </a:pPr>
            <a:r>
              <a:rPr lang="hr-HR" sz="900" b="1" dirty="0">
                <a:solidFill>
                  <a:schemeClr val="tx1"/>
                </a:solidFill>
                <a:latin typeface="Verdana" charset="0"/>
                <a:ea typeface="Verdana" charset="0"/>
                <a:cs typeface="Verdana" charset="0"/>
              </a:rPr>
              <a:t>COWORKING</a:t>
            </a:r>
          </a:p>
          <a:p>
            <a:pPr algn="ctr">
              <a:lnSpc>
                <a:spcPct val="106000"/>
              </a:lnSpc>
              <a:buFont typeface="Wingdings 2" pitchFamily="18" charset="2"/>
              <a:buNone/>
            </a:pPr>
            <a:endParaRPr lang="hr-HR" sz="900" dirty="0">
              <a:solidFill>
                <a:schemeClr val="tx1"/>
              </a:solidFill>
              <a:latin typeface="Verdana" charset="0"/>
              <a:ea typeface="Verdana" charset="0"/>
              <a:cs typeface="Verdana" charset="0"/>
            </a:endParaRPr>
          </a:p>
          <a:p>
            <a:pPr marL="171450" indent="-171450">
              <a:lnSpc>
                <a:spcPct val="106000"/>
              </a:lnSpc>
              <a:buFont typeface="Arial" charset="0"/>
              <a:buChar char="•"/>
            </a:pPr>
            <a:r>
              <a:rPr lang="hr-HR" sz="900" dirty="0">
                <a:solidFill>
                  <a:schemeClr val="tx1"/>
                </a:solidFill>
                <a:latin typeface="Verdana" charset="0"/>
                <a:ea typeface="Verdana" charset="0"/>
                <a:cs typeface="Verdana" charset="0"/>
              </a:rPr>
              <a:t>Internet,</a:t>
            </a:r>
          </a:p>
          <a:p>
            <a:pPr marL="171450" indent="-171450">
              <a:lnSpc>
                <a:spcPct val="106000"/>
              </a:lnSpc>
              <a:buFont typeface="Arial" charset="0"/>
              <a:buChar char="•"/>
            </a:pPr>
            <a:r>
              <a:rPr lang="hr-HR" sz="900" dirty="0">
                <a:solidFill>
                  <a:schemeClr val="tx1"/>
                </a:solidFill>
                <a:latin typeface="Verdana" charset="0"/>
                <a:ea typeface="Verdana" charset="0"/>
                <a:cs typeface="Verdana" charset="0"/>
              </a:rPr>
              <a:t>Prostor za uredski rad, druženje i prezentacije, te umrežavanje</a:t>
            </a:r>
          </a:p>
          <a:p>
            <a:pPr marL="171450" indent="-171450">
              <a:lnSpc>
                <a:spcPct val="106000"/>
              </a:lnSpc>
              <a:buFont typeface="Arial" charset="0"/>
              <a:buChar char="•"/>
            </a:pPr>
            <a:r>
              <a:rPr lang="hr-HR" sz="900" dirty="0">
                <a:solidFill>
                  <a:schemeClr val="tx1"/>
                </a:solidFill>
                <a:latin typeface="Verdana" charset="0"/>
                <a:ea typeface="Verdana" charset="0"/>
                <a:cs typeface="Verdana" charset="0"/>
              </a:rPr>
              <a:t>Prostor za demonstraciju tehnologija,</a:t>
            </a:r>
          </a:p>
          <a:p>
            <a:pPr marL="171450" indent="-171450">
              <a:lnSpc>
                <a:spcPct val="106000"/>
              </a:lnSpc>
              <a:buFont typeface="Arial" charset="0"/>
              <a:buChar char="•"/>
            </a:pPr>
            <a:r>
              <a:rPr lang="hr-HR" sz="900" dirty="0">
                <a:solidFill>
                  <a:schemeClr val="tx1"/>
                </a:solidFill>
                <a:latin typeface="Verdana" charset="0"/>
                <a:ea typeface="Verdana" charset="0"/>
                <a:cs typeface="Verdana" charset="0"/>
              </a:rPr>
              <a:t>Show room inovacija,</a:t>
            </a:r>
          </a:p>
          <a:p>
            <a:pPr marL="171450" indent="-171450">
              <a:lnSpc>
                <a:spcPct val="106000"/>
              </a:lnSpc>
              <a:buFont typeface="Arial" charset="0"/>
              <a:buChar char="•"/>
            </a:pPr>
            <a:r>
              <a:rPr lang="hr-HR" sz="900" dirty="0">
                <a:solidFill>
                  <a:schemeClr val="tx1"/>
                </a:solidFill>
                <a:latin typeface="Verdana" charset="0"/>
                <a:ea typeface="Verdana" charset="0"/>
                <a:cs typeface="Verdana" charset="0"/>
              </a:rPr>
              <a:t>Oglasi i marketing, društvene mreže,..</a:t>
            </a:r>
          </a:p>
        </p:txBody>
      </p:sp>
      <p:sp>
        <p:nvSpPr>
          <p:cNvPr id="93" name="Down Arrow 92"/>
          <p:cNvSpPr/>
          <p:nvPr/>
        </p:nvSpPr>
        <p:spPr>
          <a:xfrm rot="10800000">
            <a:off x="3043619" y="4079498"/>
            <a:ext cx="319606" cy="220928"/>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94" name="Down Arrow 93"/>
          <p:cNvSpPr/>
          <p:nvPr/>
        </p:nvSpPr>
        <p:spPr>
          <a:xfrm rot="10800000">
            <a:off x="4212999" y="4079498"/>
            <a:ext cx="319606" cy="220928"/>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97" name="Down Arrow 96"/>
          <p:cNvSpPr/>
          <p:nvPr/>
        </p:nvSpPr>
        <p:spPr>
          <a:xfrm rot="16200000">
            <a:off x="6777483" y="8855"/>
            <a:ext cx="319606" cy="9008874"/>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98" name="Text Placeholder 11"/>
          <p:cNvSpPr>
            <a:spLocks noGrp="1"/>
          </p:cNvSpPr>
          <p:nvPr/>
        </p:nvSpPr>
        <p:spPr>
          <a:xfrm>
            <a:off x="222128" y="700820"/>
            <a:ext cx="11689618" cy="910756"/>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57150" lvl="1" defTabSz="355600">
              <a:lnSpc>
                <a:spcPct val="90000"/>
              </a:lnSpc>
              <a:spcBef>
                <a:spcPct val="0"/>
              </a:spcBef>
              <a:spcAft>
                <a:spcPct val="15000"/>
              </a:spcAft>
            </a:pPr>
            <a:r>
              <a:rPr lang="hr-HR" sz="1400" dirty="0">
                <a:latin typeface="Calibri" panose="020F0502020204030204" pitchFamily="34" charset="0"/>
                <a:ea typeface="Verdana" charset="0"/>
                <a:cs typeface="Calibri" panose="020F0502020204030204" pitchFamily="34" charset="0"/>
              </a:rPr>
              <a:t>LTR predstavlja stalno mjesto za poduzetničke ideje, društvene inovacije i lokalni razvoj. </a:t>
            </a:r>
          </a:p>
          <a:p>
            <a:pPr marL="57150" lvl="1" defTabSz="355600">
              <a:lnSpc>
                <a:spcPct val="90000"/>
              </a:lnSpc>
              <a:spcBef>
                <a:spcPct val="0"/>
              </a:spcBef>
              <a:spcAft>
                <a:spcPct val="15000"/>
              </a:spcAft>
            </a:pPr>
            <a:r>
              <a:rPr lang="hr-HR" sz="1400" b="0" dirty="0">
                <a:latin typeface="Calibri" panose="020F0502020204030204" pitchFamily="34" charset="0"/>
                <a:ea typeface="Verdana" charset="0"/>
                <a:cs typeface="Calibri" panose="020F0502020204030204" pitchFamily="34" charset="0"/>
              </a:rPr>
              <a:t>Prostor LTR-a je adekvatno opremljen /uključuje "</a:t>
            </a:r>
            <a:r>
              <a:rPr lang="hr-HR" sz="1400" b="0" dirty="0" err="1">
                <a:latin typeface="Calibri" panose="020F0502020204030204" pitchFamily="34" charset="0"/>
                <a:ea typeface="Verdana" charset="0"/>
                <a:cs typeface="Calibri" panose="020F0502020204030204" pitchFamily="34" charset="0"/>
              </a:rPr>
              <a:t>coworking</a:t>
            </a:r>
            <a:r>
              <a:rPr lang="hr-HR" sz="1400" b="0" dirty="0">
                <a:latin typeface="Calibri" panose="020F0502020204030204" pitchFamily="34" charset="0"/>
                <a:ea typeface="Verdana" charset="0"/>
                <a:cs typeface="Calibri" panose="020F0502020204030204" pitchFamily="34" charset="0"/>
              </a:rPr>
              <a:t> </a:t>
            </a:r>
            <a:r>
              <a:rPr lang="hr-HR" sz="1400" b="0" dirty="0" err="1">
                <a:latin typeface="Calibri" panose="020F0502020204030204" pitchFamily="34" charset="0"/>
                <a:ea typeface="Verdana" charset="0"/>
                <a:cs typeface="Calibri" panose="020F0502020204030204" pitchFamily="34" charset="0"/>
              </a:rPr>
              <a:t>space</a:t>
            </a:r>
            <a:r>
              <a:rPr lang="hr-HR" sz="1400" b="0" dirty="0">
                <a:latin typeface="Calibri" panose="020F0502020204030204" pitchFamily="34" charset="0"/>
                <a:ea typeface="Verdana" charset="0"/>
                <a:cs typeface="Calibri" panose="020F0502020204030204" pitchFamily="34" charset="0"/>
              </a:rPr>
              <a:t>", predavaonicu, poduzetnički centar, savjetovalište i drugo, a sve ovisno o sredini u kojoj se nalazi. </a:t>
            </a:r>
            <a:r>
              <a:rPr lang="hr-HR" sz="1400" dirty="0">
                <a:latin typeface="Calibri" panose="020F0502020204030204" pitchFamily="34" charset="0"/>
                <a:ea typeface="Verdana" charset="0"/>
                <a:cs typeface="Calibri" panose="020F0502020204030204" pitchFamily="34" charset="0"/>
              </a:rPr>
              <a:t>LTR-ovi se razlikuju po područjima – specijalizacija </a:t>
            </a:r>
            <a:r>
              <a:rPr lang="hr-HR" sz="1400" b="0" dirty="0">
                <a:latin typeface="Calibri" panose="020F0502020204030204" pitchFamily="34" charset="0"/>
                <a:ea typeface="Verdana" charset="0"/>
                <a:cs typeface="Calibri" panose="020F0502020204030204" pitchFamily="34" charset="0"/>
              </a:rPr>
              <a:t>(npr. Vidovec – poljoprivreda)</a:t>
            </a:r>
          </a:p>
          <a:p>
            <a:pPr marL="57150" lvl="1" defTabSz="355600">
              <a:lnSpc>
                <a:spcPct val="90000"/>
              </a:lnSpc>
              <a:spcBef>
                <a:spcPct val="0"/>
              </a:spcBef>
              <a:spcAft>
                <a:spcPct val="15000"/>
              </a:spcAft>
            </a:pPr>
            <a:r>
              <a:rPr lang="hr-HR" sz="1400" b="0" dirty="0">
                <a:latin typeface="Calibri" panose="020F0502020204030204" pitchFamily="34" charset="0"/>
                <a:ea typeface="Verdana" charset="0"/>
                <a:cs typeface="Calibri" panose="020F0502020204030204" pitchFamily="34" charset="0"/>
              </a:rPr>
              <a:t>Za LTR zadužena je osoba širokih kompetencija koja može inicijalno obraditi zahtjev i kanalizirati ga na odgovarajuće mjesto,</a:t>
            </a:r>
          </a:p>
          <a:p>
            <a:pPr marL="57150" lvl="1" defTabSz="355600">
              <a:lnSpc>
                <a:spcPct val="90000"/>
              </a:lnSpc>
              <a:spcBef>
                <a:spcPct val="0"/>
              </a:spcBef>
              <a:spcAft>
                <a:spcPct val="15000"/>
              </a:spcAft>
            </a:pPr>
            <a:r>
              <a:rPr lang="hr-HR" sz="1400" b="0" dirty="0">
                <a:latin typeface="Calibri" panose="020F0502020204030204" pitchFamily="34" charset="0"/>
                <a:ea typeface="Verdana" charset="0"/>
                <a:cs typeface="Calibri" panose="020F0502020204030204" pitchFamily="34" charset="0"/>
              </a:rPr>
              <a:t>Lokalna točka razvoja je produžena ruka koja osluškuje potrebe i redizajnira pristup. </a:t>
            </a:r>
          </a:p>
          <a:p>
            <a:pPr marL="171450" lvl="0" indent="-171450" defTabSz="444500">
              <a:lnSpc>
                <a:spcPct val="90000"/>
              </a:lnSpc>
              <a:spcBef>
                <a:spcPct val="0"/>
              </a:spcBef>
              <a:spcAft>
                <a:spcPct val="35000"/>
              </a:spcAft>
              <a:buFont typeface="Arial" charset="0"/>
              <a:buChar char="•"/>
            </a:pPr>
            <a:endParaRPr lang="en-US" sz="1400" dirty="0">
              <a:solidFill>
                <a:schemeClr val="accent6">
                  <a:lumMod val="50000"/>
                </a:schemeClr>
              </a:solidFill>
              <a:latin typeface="Verdana" charset="0"/>
              <a:ea typeface="Verdana" charset="0"/>
              <a:cs typeface="Verdana" charset="0"/>
            </a:endParaRPr>
          </a:p>
        </p:txBody>
      </p:sp>
      <p:sp>
        <p:nvSpPr>
          <p:cNvPr id="92" name="TextBox 91"/>
          <p:cNvSpPr txBox="1"/>
          <p:nvPr/>
        </p:nvSpPr>
        <p:spPr>
          <a:xfrm>
            <a:off x="9595556" y="2669595"/>
            <a:ext cx="1846167" cy="523220"/>
          </a:xfrm>
          <a:prstGeom prst="rect">
            <a:avLst/>
          </a:prstGeom>
          <a:noFill/>
        </p:spPr>
        <p:txBody>
          <a:bodyPr wrap="square" rtlCol="0">
            <a:spAutoFit/>
          </a:bodyPr>
          <a:lstStyle/>
          <a:p>
            <a:pPr algn="r"/>
            <a:r>
              <a:rPr lang="hr-HR" sz="1400" dirty="0"/>
              <a:t>LTR </a:t>
            </a:r>
          </a:p>
          <a:p>
            <a:pPr algn="r"/>
            <a:r>
              <a:rPr lang="hr-HR" sz="1400" dirty="0"/>
              <a:t>Lokalna  Točka Razvoja</a:t>
            </a:r>
          </a:p>
        </p:txBody>
      </p:sp>
      <p:sp>
        <p:nvSpPr>
          <p:cNvPr id="105" name="Rounded Rectangle 104"/>
          <p:cNvSpPr/>
          <p:nvPr/>
        </p:nvSpPr>
        <p:spPr bwMode="gray">
          <a:xfrm>
            <a:off x="5590525" y="2733325"/>
            <a:ext cx="3880291" cy="1245557"/>
          </a:xfrm>
          <a:prstGeom prst="roundRect">
            <a:avLst/>
          </a:prstGeom>
          <a:solidFill>
            <a:schemeClr val="bg1"/>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lIns="88900" tIns="88900" rIns="88900" bIns="88900" rtlCol="0" anchor="ctr"/>
          <a:lstStyle/>
          <a:p>
            <a:pPr>
              <a:lnSpc>
                <a:spcPct val="106000"/>
              </a:lnSpc>
              <a:buFont typeface="Wingdings 2" pitchFamily="18" charset="2"/>
              <a:buNone/>
            </a:pPr>
            <a:endParaRPr lang="hr-HR" sz="900" b="1" dirty="0">
              <a:solidFill>
                <a:schemeClr val="tx1"/>
              </a:solidFill>
              <a:latin typeface="Verdana" charset="0"/>
              <a:ea typeface="Verdana" charset="0"/>
              <a:cs typeface="Verdana" charset="0"/>
            </a:endParaRPr>
          </a:p>
          <a:p>
            <a:pPr>
              <a:lnSpc>
                <a:spcPct val="106000"/>
              </a:lnSpc>
              <a:buFont typeface="Wingdings 2" pitchFamily="18" charset="2"/>
              <a:buNone/>
            </a:pPr>
            <a:r>
              <a:rPr lang="hr-HR" sz="900" b="1" dirty="0">
                <a:solidFill>
                  <a:schemeClr val="tx1"/>
                </a:solidFill>
                <a:latin typeface="Verdana" charset="0"/>
                <a:ea typeface="Verdana" charset="0"/>
                <a:cs typeface="Verdana" charset="0"/>
              </a:rPr>
              <a:t>EDUKACIJE</a:t>
            </a:r>
          </a:p>
          <a:p>
            <a:pPr>
              <a:lnSpc>
                <a:spcPct val="106000"/>
              </a:lnSpc>
              <a:buFont typeface="Wingdings 2" pitchFamily="18" charset="2"/>
              <a:buNone/>
            </a:pPr>
            <a:endParaRPr lang="hr-HR" sz="900" dirty="0">
              <a:solidFill>
                <a:schemeClr val="tx1"/>
              </a:solidFill>
              <a:latin typeface="Verdana" charset="0"/>
              <a:ea typeface="Verdana" charset="0"/>
              <a:cs typeface="Verdana" charset="0"/>
            </a:endParaRPr>
          </a:p>
          <a:p>
            <a:pPr marL="171450" indent="-171450">
              <a:lnSpc>
                <a:spcPct val="106000"/>
              </a:lnSpc>
              <a:buFont typeface="Arial" charset="0"/>
              <a:buChar char="•"/>
            </a:pPr>
            <a:r>
              <a:rPr lang="hr-HR" sz="900" dirty="0">
                <a:solidFill>
                  <a:schemeClr val="tx1"/>
                </a:solidFill>
                <a:latin typeface="Verdana" charset="0"/>
                <a:ea typeface="Verdana" charset="0"/>
                <a:cs typeface="Verdana" charset="0"/>
              </a:rPr>
              <a:t>tehnološka dostignuća,</a:t>
            </a:r>
          </a:p>
          <a:p>
            <a:pPr marL="171450" indent="-171450">
              <a:lnSpc>
                <a:spcPct val="106000"/>
              </a:lnSpc>
              <a:buFont typeface="Arial" charset="0"/>
              <a:buChar char="•"/>
            </a:pPr>
            <a:r>
              <a:rPr lang="hr-HR" sz="900" dirty="0">
                <a:solidFill>
                  <a:schemeClr val="tx1"/>
                </a:solidFill>
                <a:latin typeface="Verdana" charset="0"/>
                <a:ea typeface="Verdana" charset="0"/>
                <a:cs typeface="Verdana" charset="0"/>
              </a:rPr>
              <a:t>trendovi u proizvodnji,</a:t>
            </a:r>
          </a:p>
          <a:p>
            <a:pPr marL="171450" indent="-171450">
              <a:lnSpc>
                <a:spcPct val="106000"/>
              </a:lnSpc>
              <a:buFont typeface="Arial" charset="0"/>
              <a:buChar char="•"/>
            </a:pPr>
            <a:r>
              <a:rPr lang="hr-HR" sz="900" dirty="0">
                <a:solidFill>
                  <a:schemeClr val="tx1"/>
                </a:solidFill>
                <a:latin typeface="Verdana" charset="0"/>
                <a:ea typeface="Verdana" charset="0"/>
                <a:cs typeface="Verdana" charset="0"/>
              </a:rPr>
              <a:t>razvojne mogućnosti za gospodarstvo,</a:t>
            </a:r>
          </a:p>
          <a:p>
            <a:pPr marL="171450" indent="-171450">
              <a:lnSpc>
                <a:spcPct val="106000"/>
              </a:lnSpc>
              <a:buFont typeface="Arial" charset="0"/>
              <a:buChar char="•"/>
            </a:pPr>
            <a:r>
              <a:rPr lang="hr-HR" sz="900" dirty="0">
                <a:solidFill>
                  <a:schemeClr val="tx1"/>
                </a:solidFill>
                <a:latin typeface="Verdana" charset="0"/>
                <a:ea typeface="Verdana" charset="0"/>
                <a:cs typeface="Verdana" charset="0"/>
              </a:rPr>
              <a:t>mogućnosti financiranja poduzetničkih projekata,</a:t>
            </a:r>
          </a:p>
          <a:p>
            <a:pPr marL="171450" indent="-171450">
              <a:lnSpc>
                <a:spcPct val="106000"/>
              </a:lnSpc>
              <a:buFont typeface="Arial" charset="0"/>
              <a:buChar char="•"/>
            </a:pPr>
            <a:r>
              <a:rPr lang="hr-HR" sz="900" dirty="0">
                <a:solidFill>
                  <a:schemeClr val="tx1"/>
                </a:solidFill>
                <a:latin typeface="Verdana" charset="0"/>
                <a:ea typeface="Verdana" charset="0"/>
                <a:cs typeface="Verdana" charset="0"/>
              </a:rPr>
              <a:t>inovacije i intelektualno vlasništvo.</a:t>
            </a:r>
          </a:p>
          <a:p>
            <a:pPr marL="171450" indent="-171450">
              <a:lnSpc>
                <a:spcPct val="106000"/>
              </a:lnSpc>
              <a:buFont typeface="Arial" charset="0"/>
              <a:buChar char="•"/>
            </a:pPr>
            <a:endParaRPr lang="hr-HR" sz="900" dirty="0">
              <a:solidFill>
                <a:schemeClr val="tx1"/>
              </a:solidFill>
              <a:latin typeface="Verdana" charset="0"/>
              <a:ea typeface="Verdana" charset="0"/>
              <a:cs typeface="Verdana" charset="0"/>
            </a:endParaRPr>
          </a:p>
        </p:txBody>
      </p:sp>
      <p:sp>
        <p:nvSpPr>
          <p:cNvPr id="106" name="Right Brace 105"/>
          <p:cNvSpPr/>
          <p:nvPr/>
        </p:nvSpPr>
        <p:spPr>
          <a:xfrm>
            <a:off x="1554294" y="2669595"/>
            <a:ext cx="289456" cy="4036005"/>
          </a:xfrm>
          <a:prstGeom prst="rightBrace">
            <a:avLst>
              <a:gd name="adj1" fmla="val 183835"/>
              <a:gd name="adj2" fmla="val 50000"/>
            </a:avLst>
          </a:prstGeom>
          <a:solidFill>
            <a:schemeClr val="bg1"/>
          </a:solidFill>
          <a:ln w="12700">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hr-HR"/>
          </a:p>
        </p:txBody>
      </p:sp>
      <p:sp>
        <p:nvSpPr>
          <p:cNvPr id="107" name="Down Arrow 106"/>
          <p:cNvSpPr/>
          <p:nvPr/>
        </p:nvSpPr>
        <p:spPr>
          <a:xfrm rot="10800000">
            <a:off x="6266597" y="4073854"/>
            <a:ext cx="319606" cy="220928"/>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08" name="Down Arrow 107"/>
          <p:cNvSpPr/>
          <p:nvPr/>
        </p:nvSpPr>
        <p:spPr>
          <a:xfrm rot="10800000">
            <a:off x="7435977" y="4073854"/>
            <a:ext cx="319606" cy="220928"/>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09" name="Down Arrow 108"/>
          <p:cNvSpPr/>
          <p:nvPr/>
        </p:nvSpPr>
        <p:spPr>
          <a:xfrm>
            <a:off x="3043619" y="4790866"/>
            <a:ext cx="319606" cy="220928"/>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10" name="Down Arrow 109"/>
          <p:cNvSpPr/>
          <p:nvPr/>
        </p:nvSpPr>
        <p:spPr>
          <a:xfrm>
            <a:off x="4212999" y="4790866"/>
            <a:ext cx="319606" cy="220928"/>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11" name="Down Arrow 110"/>
          <p:cNvSpPr/>
          <p:nvPr/>
        </p:nvSpPr>
        <p:spPr>
          <a:xfrm rot="10800000">
            <a:off x="6255424" y="4790866"/>
            <a:ext cx="319606" cy="220928"/>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12" name="Down Arrow 111"/>
          <p:cNvSpPr/>
          <p:nvPr/>
        </p:nvSpPr>
        <p:spPr>
          <a:xfrm rot="10800000">
            <a:off x="7424804" y="4790866"/>
            <a:ext cx="319606" cy="220928"/>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897876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34551" b="22206"/>
          <a:stretch/>
        </p:blipFill>
        <p:spPr>
          <a:xfrm>
            <a:off x="10886889" y="5084"/>
            <a:ext cx="1305111" cy="1031438"/>
          </a:xfrm>
          <a:prstGeom prst="rect">
            <a:avLst/>
          </a:prstGeom>
        </p:spPr>
      </p:pic>
      <p:sp>
        <p:nvSpPr>
          <p:cNvPr id="4" name="Title 3"/>
          <p:cNvSpPr>
            <a:spLocks noGrp="1"/>
          </p:cNvSpPr>
          <p:nvPr/>
        </p:nvSpPr>
        <p:spPr bwMode="gray">
          <a:xfrm>
            <a:off x="314263" y="288188"/>
            <a:ext cx="11252200"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r>
              <a:rPr lang="hr-HR" sz="2000" dirty="0">
                <a:latin typeface="Verdana" charset="0"/>
                <a:ea typeface="Verdana" charset="0"/>
                <a:cs typeface="Verdana" charset="0"/>
              </a:rPr>
              <a:t>Kako ovaj projekt može doprinijeti industrijskoj tranziciji?</a:t>
            </a:r>
          </a:p>
        </p:txBody>
      </p:sp>
      <p:cxnSp>
        <p:nvCxnSpPr>
          <p:cNvPr id="5" name="Straight Connector 4"/>
          <p:cNvCxnSpPr/>
          <p:nvPr/>
        </p:nvCxnSpPr>
        <p:spPr>
          <a:xfrm>
            <a:off x="134520" y="704743"/>
            <a:ext cx="10826991" cy="2371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14E9418-8001-2689-7D64-663600C740B3}"/>
              </a:ext>
            </a:extLst>
          </p:cNvPr>
          <p:cNvSpPr txBox="1"/>
          <p:nvPr/>
        </p:nvSpPr>
        <p:spPr>
          <a:xfrm>
            <a:off x="663691" y="909950"/>
            <a:ext cx="10553344" cy="5909310"/>
          </a:xfrm>
          <a:prstGeom prst="rect">
            <a:avLst/>
          </a:prstGeom>
          <a:noFill/>
        </p:spPr>
        <p:txBody>
          <a:bodyPr wrap="square">
            <a:spAutoFit/>
          </a:bodyPr>
          <a:lstStyle/>
          <a:p>
            <a:r>
              <a:rPr lang="hr-HR" sz="1400" dirty="0">
                <a:latin typeface="Calibri" panose="020F0502020204030204" pitchFamily="34" charset="0"/>
                <a:ea typeface="Verdana" charset="0"/>
                <a:cs typeface="Calibri" panose="020F0502020204030204" pitchFamily="34" charset="0"/>
              </a:rPr>
              <a:t>"Pametna industrija" ima sljedeće dionike koji u okviru svojih društvenih uloga mogu doprinijeti ostvarenju industrijske tranzicije;</a:t>
            </a:r>
            <a:endParaRPr lang="en-US" sz="1400" dirty="0">
              <a:latin typeface="Calibri" panose="020F0502020204030204" pitchFamily="34" charset="0"/>
              <a:ea typeface="Verdana" charset="0"/>
              <a:cs typeface="Calibri" panose="020F0502020204030204" pitchFamily="34" charset="0"/>
            </a:endParaRPr>
          </a:p>
          <a:p>
            <a:pPr lvl="1">
              <a:buFont typeface="+mj-lt"/>
              <a:buAutoNum type="alphaLcParenR"/>
            </a:pPr>
            <a:r>
              <a:rPr lang="hr-HR" sz="1400" dirty="0">
                <a:latin typeface="Calibri" panose="020F0502020204030204" pitchFamily="34" charset="0"/>
                <a:ea typeface="Verdana" charset="0"/>
                <a:cs typeface="Calibri" panose="020F0502020204030204" pitchFamily="34" charset="0"/>
              </a:rPr>
              <a:t> Gospodarske asocijacije,</a:t>
            </a:r>
            <a:endParaRPr lang="en-US" sz="1400" dirty="0">
              <a:latin typeface="Calibri" panose="020F0502020204030204" pitchFamily="34" charset="0"/>
              <a:ea typeface="Verdana" charset="0"/>
              <a:cs typeface="Calibri" panose="020F0502020204030204" pitchFamily="34" charset="0"/>
            </a:endParaRPr>
          </a:p>
          <a:p>
            <a:pPr lvl="1">
              <a:buFont typeface="+mj-lt"/>
              <a:buAutoNum type="alphaLcParenR"/>
            </a:pPr>
            <a:r>
              <a:rPr lang="hr-HR" sz="1400" dirty="0">
                <a:solidFill>
                  <a:srgbClr val="C00000"/>
                </a:solidFill>
                <a:latin typeface="Calibri" panose="020F0502020204030204" pitchFamily="34" charset="0"/>
                <a:ea typeface="Verdana" charset="0"/>
                <a:cs typeface="Calibri" panose="020F0502020204030204" pitchFamily="34" charset="0"/>
              </a:rPr>
              <a:t> Akademska zajednica,</a:t>
            </a:r>
            <a:endParaRPr lang="en-US" sz="1400" dirty="0">
              <a:solidFill>
                <a:srgbClr val="C00000"/>
              </a:solidFill>
              <a:latin typeface="Calibri" panose="020F0502020204030204" pitchFamily="34" charset="0"/>
              <a:ea typeface="Verdana" charset="0"/>
              <a:cs typeface="Calibri" panose="020F0502020204030204" pitchFamily="34" charset="0"/>
            </a:endParaRPr>
          </a:p>
          <a:p>
            <a:pPr lvl="1">
              <a:buFont typeface="+mj-lt"/>
              <a:buAutoNum type="alphaLcParenR"/>
            </a:pPr>
            <a:r>
              <a:rPr lang="hr-HR" sz="1400" dirty="0">
                <a:latin typeface="Calibri" panose="020F0502020204030204" pitchFamily="34" charset="0"/>
                <a:ea typeface="Verdana" charset="0"/>
                <a:cs typeface="Calibri" panose="020F0502020204030204" pitchFamily="34" charset="0"/>
              </a:rPr>
              <a:t> Državna uprava,</a:t>
            </a:r>
            <a:endParaRPr lang="en-US" sz="1400" dirty="0">
              <a:latin typeface="Calibri" panose="020F0502020204030204" pitchFamily="34" charset="0"/>
              <a:ea typeface="Verdana" charset="0"/>
              <a:cs typeface="Calibri" panose="020F0502020204030204" pitchFamily="34" charset="0"/>
            </a:endParaRPr>
          </a:p>
          <a:p>
            <a:pPr lvl="1">
              <a:buFont typeface="+mj-lt"/>
              <a:buAutoNum type="alphaLcParenR"/>
            </a:pPr>
            <a:r>
              <a:rPr lang="hr-HR" sz="1400" dirty="0">
                <a:solidFill>
                  <a:srgbClr val="C00000"/>
                </a:solidFill>
                <a:latin typeface="Calibri" panose="020F0502020204030204" pitchFamily="34" charset="0"/>
                <a:ea typeface="Verdana" charset="0"/>
                <a:cs typeface="Calibri" panose="020F0502020204030204" pitchFamily="34" charset="0"/>
              </a:rPr>
              <a:t> Regionalna i lokalna uprava i samouprava,</a:t>
            </a:r>
            <a:endParaRPr lang="en-US" sz="1400" dirty="0">
              <a:solidFill>
                <a:srgbClr val="C00000"/>
              </a:solidFill>
              <a:latin typeface="Calibri" panose="020F0502020204030204" pitchFamily="34" charset="0"/>
              <a:ea typeface="Verdana" charset="0"/>
              <a:cs typeface="Calibri" panose="020F0502020204030204" pitchFamily="34" charset="0"/>
            </a:endParaRPr>
          </a:p>
          <a:p>
            <a:pPr lvl="1">
              <a:buFont typeface="+mj-lt"/>
              <a:buAutoNum type="alphaLcParenR"/>
            </a:pPr>
            <a:r>
              <a:rPr lang="hr-HR" sz="1400" dirty="0">
                <a:solidFill>
                  <a:srgbClr val="C00000"/>
                </a:solidFill>
                <a:latin typeface="Calibri" panose="020F0502020204030204" pitchFamily="34" charset="0"/>
                <a:ea typeface="Verdana" charset="0"/>
                <a:cs typeface="Calibri" panose="020F0502020204030204" pitchFamily="34" charset="0"/>
              </a:rPr>
              <a:t> EU Institucije i EU programi,</a:t>
            </a:r>
            <a:endParaRPr lang="en-US" sz="1400" dirty="0">
              <a:solidFill>
                <a:srgbClr val="C00000"/>
              </a:solidFill>
              <a:latin typeface="Calibri" panose="020F0502020204030204" pitchFamily="34" charset="0"/>
              <a:ea typeface="Verdana" charset="0"/>
              <a:cs typeface="Calibri" panose="020F0502020204030204" pitchFamily="34" charset="0"/>
            </a:endParaRPr>
          </a:p>
          <a:p>
            <a:pPr lvl="1">
              <a:buFont typeface="+mj-lt"/>
              <a:buAutoNum type="alphaLcParenR"/>
            </a:pPr>
            <a:r>
              <a:rPr lang="hr-HR" sz="1400" dirty="0">
                <a:solidFill>
                  <a:srgbClr val="C00000"/>
                </a:solidFill>
                <a:latin typeface="Calibri" panose="020F0502020204030204" pitchFamily="34" charset="0"/>
                <a:ea typeface="Verdana" charset="0"/>
                <a:cs typeface="Calibri" panose="020F0502020204030204" pitchFamily="34" charset="0"/>
              </a:rPr>
              <a:t> Postojeći poslovni subjekti i njihovi klasteri/koncerni,</a:t>
            </a:r>
            <a:endParaRPr lang="en-US" sz="1400" dirty="0">
              <a:solidFill>
                <a:srgbClr val="C00000"/>
              </a:solidFill>
              <a:latin typeface="Calibri" panose="020F0502020204030204" pitchFamily="34" charset="0"/>
              <a:ea typeface="Verdana" charset="0"/>
              <a:cs typeface="Calibri" panose="020F0502020204030204" pitchFamily="34" charset="0"/>
            </a:endParaRPr>
          </a:p>
          <a:p>
            <a:pPr lvl="1">
              <a:buFont typeface="+mj-lt"/>
              <a:buAutoNum type="alphaLcParenR"/>
            </a:pPr>
            <a:r>
              <a:rPr lang="hr-HR" sz="1400" dirty="0">
                <a:solidFill>
                  <a:srgbClr val="C00000"/>
                </a:solidFill>
                <a:latin typeface="Calibri" panose="020F0502020204030204" pitchFamily="34" charset="0"/>
                <a:ea typeface="Verdana" charset="0"/>
                <a:cs typeface="Calibri" panose="020F0502020204030204" pitchFamily="34" charset="0"/>
              </a:rPr>
              <a:t> Mladi poduzetnici, start-</a:t>
            </a:r>
            <a:r>
              <a:rPr lang="hr-HR" sz="1400" dirty="0" err="1">
                <a:solidFill>
                  <a:srgbClr val="C00000"/>
                </a:solidFill>
                <a:latin typeface="Calibri" panose="020F0502020204030204" pitchFamily="34" charset="0"/>
                <a:ea typeface="Verdana" charset="0"/>
                <a:cs typeface="Calibri" panose="020F0502020204030204" pitchFamily="34" charset="0"/>
              </a:rPr>
              <a:t>up</a:t>
            </a:r>
            <a:r>
              <a:rPr lang="hr-HR" sz="1400" dirty="0">
                <a:solidFill>
                  <a:srgbClr val="C00000"/>
                </a:solidFill>
                <a:latin typeface="Calibri" panose="020F0502020204030204" pitchFamily="34" charset="0"/>
                <a:ea typeface="Verdana" charset="0"/>
                <a:cs typeface="Calibri" panose="020F0502020204030204" pitchFamily="34" charset="0"/>
              </a:rPr>
              <a:t> kompanije i talenti.</a:t>
            </a:r>
            <a:endParaRPr lang="en-US" sz="1400" dirty="0">
              <a:solidFill>
                <a:srgbClr val="C00000"/>
              </a:solidFill>
              <a:latin typeface="Calibri" panose="020F0502020204030204" pitchFamily="34" charset="0"/>
              <a:ea typeface="Verdana" charset="0"/>
              <a:cs typeface="Calibri" panose="020F0502020204030204" pitchFamily="34" charset="0"/>
            </a:endParaRPr>
          </a:p>
          <a:p>
            <a:endParaRPr lang="en-US" sz="1400" dirty="0">
              <a:latin typeface="Calibri" panose="020F0502020204030204" pitchFamily="34" charset="0"/>
              <a:ea typeface="Verdana" charset="0"/>
              <a:cs typeface="Calibri" panose="020F0502020204030204" pitchFamily="34" charset="0"/>
            </a:endParaRPr>
          </a:p>
          <a:p>
            <a:r>
              <a:rPr lang="en-US" sz="1400" dirty="0" err="1">
                <a:latin typeface="Calibri" panose="020F0502020204030204" pitchFamily="34" charset="0"/>
                <a:ea typeface="Verdana" charset="0"/>
                <a:cs typeface="Calibri" panose="020F0502020204030204" pitchFamily="34" charset="0"/>
              </a:rPr>
              <a:t>Centar</a:t>
            </a:r>
            <a:r>
              <a:rPr lang="en-US" sz="1400" dirty="0">
                <a:latin typeface="Calibri" panose="020F0502020204030204" pitchFamily="34" charset="0"/>
                <a:ea typeface="Verdana" charset="0"/>
                <a:cs typeface="Calibri" panose="020F0502020204030204" pitchFamily="34" charset="0"/>
              </a:rPr>
              <a:t> za </a:t>
            </a:r>
            <a:r>
              <a:rPr lang="en-US" sz="1400" dirty="0" err="1">
                <a:latin typeface="Calibri" panose="020F0502020204030204" pitchFamily="34" charset="0"/>
                <a:ea typeface="Verdana" charset="0"/>
                <a:cs typeface="Calibri" panose="020F0502020204030204" pitchFamily="34" charset="0"/>
              </a:rPr>
              <a:t>predinkubaciju</a:t>
            </a:r>
            <a:r>
              <a:rPr lang="en-US" sz="1400" dirty="0">
                <a:latin typeface="Calibri" panose="020F0502020204030204" pitchFamily="34" charset="0"/>
                <a:ea typeface="Verdana" charset="0"/>
                <a:cs typeface="Calibri" panose="020F0502020204030204" pitchFamily="34" charset="0"/>
              </a:rPr>
              <a:t> </a:t>
            </a:r>
            <a:r>
              <a:rPr lang="en-US" sz="1400" dirty="0" err="1">
                <a:latin typeface="Calibri" panose="020F0502020204030204" pitchFamily="34" charset="0"/>
                <a:ea typeface="Verdana" charset="0"/>
                <a:cs typeface="Calibri" panose="020F0502020204030204" pitchFamily="34" charset="0"/>
              </a:rPr>
              <a:t>djeluje</a:t>
            </a:r>
            <a:r>
              <a:rPr lang="en-US" sz="1400" dirty="0">
                <a:latin typeface="Calibri" panose="020F0502020204030204" pitchFamily="34" charset="0"/>
                <a:ea typeface="Verdana" charset="0"/>
                <a:cs typeface="Calibri" panose="020F0502020204030204" pitchFamily="34" charset="0"/>
              </a:rPr>
              <a:t> </a:t>
            </a:r>
            <a:r>
              <a:rPr lang="en-US" sz="1400" dirty="0" err="1">
                <a:latin typeface="Calibri" panose="020F0502020204030204" pitchFamily="34" charset="0"/>
                <a:ea typeface="Verdana" charset="0"/>
                <a:cs typeface="Calibri" panose="020F0502020204030204" pitchFamily="34" charset="0"/>
              </a:rPr>
              <a:t>na</a:t>
            </a:r>
            <a:r>
              <a:rPr lang="en-US" sz="1400" dirty="0">
                <a:latin typeface="Calibri" panose="020F0502020204030204" pitchFamily="34" charset="0"/>
                <a:ea typeface="Verdana" charset="0"/>
                <a:cs typeface="Calibri" panose="020F0502020204030204" pitchFamily="34" charset="0"/>
              </a:rPr>
              <a:t> </a:t>
            </a:r>
            <a:r>
              <a:rPr lang="en-US" sz="1400" dirty="0" err="1">
                <a:latin typeface="Calibri" panose="020F0502020204030204" pitchFamily="34" charset="0"/>
                <a:ea typeface="Verdana" charset="0"/>
                <a:cs typeface="Calibri" panose="020F0502020204030204" pitchFamily="34" charset="0"/>
              </a:rPr>
              <a:t>razini</a:t>
            </a:r>
            <a:r>
              <a:rPr lang="en-US" sz="1400" dirty="0">
                <a:latin typeface="Calibri" panose="020F0502020204030204" pitchFamily="34" charset="0"/>
                <a:ea typeface="Verdana" charset="0"/>
                <a:cs typeface="Calibri" panose="020F0502020204030204" pitchFamily="34" charset="0"/>
              </a:rPr>
              <a:t> b, d, e, f </a:t>
            </a:r>
            <a:r>
              <a:rPr lang="en-US" sz="1400" dirty="0" err="1">
                <a:latin typeface="Calibri" panose="020F0502020204030204" pitchFamily="34" charset="0"/>
                <a:ea typeface="Verdana" charset="0"/>
                <a:cs typeface="Calibri" panose="020F0502020204030204" pitchFamily="34" charset="0"/>
              </a:rPr>
              <a:t>i</a:t>
            </a:r>
            <a:r>
              <a:rPr lang="en-US" sz="1400" dirty="0">
                <a:latin typeface="Calibri" panose="020F0502020204030204" pitchFamily="34" charset="0"/>
                <a:ea typeface="Verdana" charset="0"/>
                <a:cs typeface="Calibri" panose="020F0502020204030204" pitchFamily="34" charset="0"/>
              </a:rPr>
              <a:t> g, a </a:t>
            </a:r>
          </a:p>
          <a:p>
            <a:endParaRPr lang="en-US" sz="1400" dirty="0">
              <a:latin typeface="Calibri" panose="020F0502020204030204" pitchFamily="34" charset="0"/>
              <a:ea typeface="Verdana" charset="0"/>
              <a:cs typeface="Calibri" panose="020F0502020204030204" pitchFamily="34" charset="0"/>
            </a:endParaRPr>
          </a:p>
          <a:p>
            <a:r>
              <a:rPr lang="hr-HR" sz="1400" b="1" dirty="0">
                <a:latin typeface="Calibri" panose="020F0502020204030204" pitchFamily="34" charset="0"/>
                <a:ea typeface="Verdana" charset="0"/>
                <a:cs typeface="Calibri" panose="020F0502020204030204" pitchFamily="34" charset="0"/>
              </a:rPr>
              <a:t>Akademska/znanstvena zajednica </a:t>
            </a:r>
            <a:r>
              <a:rPr lang="hr-HR" sz="1400" dirty="0">
                <a:latin typeface="Calibri" panose="020F0502020204030204" pitchFamily="34" charset="0"/>
                <a:ea typeface="Verdana" charset="0"/>
                <a:cs typeface="Calibri" panose="020F0502020204030204" pitchFamily="34" charset="0"/>
              </a:rPr>
              <a:t>ima ulogu otvaranja prostora za eksperimentiranje s novim tehnologijama i njihovom primjenom, te kroz suradnju s gospodarstvom profilirati razvoj pametnih industrija, okvir financiranja te suradnje (npr. kroz IRI projekte). </a:t>
            </a:r>
          </a:p>
          <a:p>
            <a:endParaRPr lang="en-US" sz="1400" dirty="0">
              <a:latin typeface="Calibri" panose="020F0502020204030204" pitchFamily="34" charset="0"/>
              <a:ea typeface="Verdana" charset="0"/>
              <a:cs typeface="Calibri" panose="020F0502020204030204" pitchFamily="34" charset="0"/>
            </a:endParaRPr>
          </a:p>
          <a:p>
            <a:r>
              <a:rPr lang="hr-HR" sz="1400" b="1" dirty="0">
                <a:latin typeface="Calibri" panose="020F0502020204030204" pitchFamily="34" charset="0"/>
                <a:ea typeface="Verdana" charset="0"/>
                <a:cs typeface="Calibri" panose="020F0502020204030204" pitchFamily="34" charset="0"/>
              </a:rPr>
              <a:t>Regionalna i lokalna uprava </a:t>
            </a:r>
            <a:r>
              <a:rPr lang="hr-HR" sz="1400" dirty="0">
                <a:latin typeface="Calibri" panose="020F0502020204030204" pitchFamily="34" charset="0"/>
                <a:ea typeface="Verdana" charset="0"/>
                <a:cs typeface="Calibri" panose="020F0502020204030204" pitchFamily="34" charset="0"/>
              </a:rPr>
              <a:t>i samouprava treba poticati lokalnu industriju prema potrebama i prioritetima regija i ruralnih područja te organizirati i sufinancirati djelovanje pametnih laboratorija (</a:t>
            </a:r>
            <a:r>
              <a:rPr lang="en-US" sz="1400" i="1" dirty="0">
                <a:latin typeface="Calibri" panose="020F0502020204030204" pitchFamily="34" charset="0"/>
                <a:ea typeface="Verdana" charset="0"/>
                <a:cs typeface="Calibri" panose="020F0502020204030204" pitchFamily="34" charset="0"/>
              </a:rPr>
              <a:t>Smart Lab</a:t>
            </a:r>
            <a:r>
              <a:rPr lang="hr-HR" sz="1400" dirty="0">
                <a:latin typeface="Calibri" panose="020F0502020204030204" pitchFamily="34" charset="0"/>
                <a:ea typeface="Verdana" charset="0"/>
                <a:cs typeface="Calibri" panose="020F0502020204030204" pitchFamily="34" charset="0"/>
              </a:rPr>
              <a:t>) za slobodan pristup mladima i poduzetnicima i za eksperimentiranje na lokalnoj razini i to je suština ovog projekta.</a:t>
            </a:r>
          </a:p>
          <a:p>
            <a:endParaRPr lang="en-US" sz="1400" dirty="0">
              <a:latin typeface="Calibri" panose="020F0502020204030204" pitchFamily="34" charset="0"/>
              <a:ea typeface="Verdana" charset="0"/>
              <a:cs typeface="Calibri" panose="020F0502020204030204" pitchFamily="34" charset="0"/>
            </a:endParaRPr>
          </a:p>
          <a:p>
            <a:r>
              <a:rPr lang="hr-HR" sz="1400" b="1" dirty="0">
                <a:latin typeface="Calibri" panose="020F0502020204030204" pitchFamily="34" charset="0"/>
                <a:ea typeface="Verdana" charset="0"/>
                <a:cs typeface="Calibri" panose="020F0502020204030204" pitchFamily="34" charset="0"/>
              </a:rPr>
              <a:t>EU institucije </a:t>
            </a:r>
            <a:r>
              <a:rPr lang="hr-HR" sz="1400" dirty="0">
                <a:latin typeface="Calibri" panose="020F0502020204030204" pitchFamily="34" charset="0"/>
                <a:ea typeface="Verdana" charset="0"/>
                <a:cs typeface="Calibri" panose="020F0502020204030204" pitchFamily="34" charset="0"/>
              </a:rPr>
              <a:t>produciraju direktive, razvojne programe i smjernice koje svaka država implementira u vlastite razvojne programe i nacionalne planove shodno strateškim prioritetima. </a:t>
            </a:r>
          </a:p>
          <a:p>
            <a:endParaRPr lang="hr-HR" sz="1400" dirty="0">
              <a:latin typeface="Calibri" panose="020F0502020204030204" pitchFamily="34" charset="0"/>
              <a:ea typeface="Verdana" charset="0"/>
              <a:cs typeface="Calibri" panose="020F0502020204030204" pitchFamily="34" charset="0"/>
            </a:endParaRPr>
          </a:p>
          <a:p>
            <a:r>
              <a:rPr lang="hr-HR" sz="1400" dirty="0">
                <a:latin typeface="Calibri" panose="020F0502020204030204" pitchFamily="34" charset="0"/>
                <a:ea typeface="Verdana" charset="0"/>
                <a:cs typeface="Calibri" panose="020F0502020204030204" pitchFamily="34" charset="0"/>
              </a:rPr>
              <a:t>Postojećim poslovnim subjektima i pojedincima s inovativnom idejom u okviru Centra za </a:t>
            </a:r>
            <a:r>
              <a:rPr lang="hr-HR" sz="1400" dirty="0" err="1">
                <a:latin typeface="Calibri" panose="020F0502020204030204" pitchFamily="34" charset="0"/>
                <a:ea typeface="Verdana" charset="0"/>
                <a:cs typeface="Calibri" panose="020F0502020204030204" pitchFamily="34" charset="0"/>
              </a:rPr>
              <a:t>predinkubaciju</a:t>
            </a:r>
            <a:r>
              <a:rPr lang="hr-HR" sz="1400" dirty="0">
                <a:latin typeface="Calibri" panose="020F0502020204030204" pitchFamily="34" charset="0"/>
                <a:ea typeface="Verdana" charset="0"/>
                <a:cs typeface="Calibri" panose="020F0502020204030204" pitchFamily="34" charset="0"/>
              </a:rPr>
              <a:t> omogućuje se kroz radionice da prepoznaju poslovnu priliku vezanu uz iskorak u pametnu industriju te koristeći servise ovog projekta iznalaze inovativne poslovne modele. </a:t>
            </a:r>
          </a:p>
          <a:p>
            <a:endParaRPr lang="hr-HR" sz="1400" dirty="0">
              <a:latin typeface="Calibri" panose="020F0502020204030204" pitchFamily="34" charset="0"/>
              <a:ea typeface="Verdana" charset="0"/>
              <a:cs typeface="Calibri" panose="020F0502020204030204" pitchFamily="34" charset="0"/>
            </a:endParaRPr>
          </a:p>
          <a:p>
            <a:r>
              <a:rPr lang="hr-HR" sz="1400" dirty="0">
                <a:latin typeface="Calibri" panose="020F0502020204030204" pitchFamily="34" charset="0"/>
                <a:ea typeface="Verdana" charset="0"/>
                <a:cs typeface="Calibri" panose="020F0502020204030204" pitchFamily="34" charset="0"/>
              </a:rPr>
              <a:t>Da bi to postigli moraju uložiti značajne resurse i aktivnosti te usvojiti odgovarajuće tehnologije pametnih industrija. Treba imati na umu kako se radi o složenim tehnologijama koje se teško usvajaju i organizacije moraju razvijati svoje kapacitete da bi ih mogle primijeniti - mjere za široki i slobodan pristup istraživačkoj infrastrukturi kroz pametne laboratorije (Smart </a:t>
            </a:r>
            <a:r>
              <a:rPr lang="hr-HR" sz="1400" dirty="0" err="1">
                <a:latin typeface="Calibri" panose="020F0502020204030204" pitchFamily="34" charset="0"/>
                <a:ea typeface="Verdana" charset="0"/>
                <a:cs typeface="Calibri" panose="020F0502020204030204" pitchFamily="34" charset="0"/>
              </a:rPr>
              <a:t>Labs</a:t>
            </a:r>
            <a:r>
              <a:rPr lang="hr-HR" sz="1400" dirty="0">
                <a:latin typeface="Calibri" panose="020F0502020204030204" pitchFamily="34" charset="0"/>
                <a:ea typeface="Verdana" charset="0"/>
                <a:cs typeface="Calibri" panose="020F0502020204030204" pitchFamily="34" charset="0"/>
              </a:rPr>
              <a:t>) i kapacitete pri obrazovnim institucijama i institutima. </a:t>
            </a:r>
          </a:p>
        </p:txBody>
      </p:sp>
      <p:grpSp>
        <p:nvGrpSpPr>
          <p:cNvPr id="8" name="Group 7">
            <a:extLst>
              <a:ext uri="{FF2B5EF4-FFF2-40B4-BE49-F238E27FC236}">
                <a16:creationId xmlns:a16="http://schemas.microsoft.com/office/drawing/2014/main" id="{537A96B8-569C-11D9-FB68-80C8E1BBA180}"/>
              </a:ext>
            </a:extLst>
          </p:cNvPr>
          <p:cNvGrpSpPr/>
          <p:nvPr/>
        </p:nvGrpSpPr>
        <p:grpSpPr>
          <a:xfrm>
            <a:off x="10740343" y="1167392"/>
            <a:ext cx="1305112" cy="1960530"/>
            <a:chOff x="6037274" y="1894987"/>
            <a:chExt cx="2426494" cy="3803270"/>
          </a:xfrm>
        </p:grpSpPr>
        <p:sp>
          <p:nvSpPr>
            <p:cNvPr id="9" name="Freeform 6">
              <a:extLst>
                <a:ext uri="{FF2B5EF4-FFF2-40B4-BE49-F238E27FC236}">
                  <a16:creationId xmlns:a16="http://schemas.microsoft.com/office/drawing/2014/main" id="{4756F5A7-E4BB-0E11-C18D-281A886FC21E}"/>
                </a:ext>
              </a:extLst>
            </p:cNvPr>
            <p:cNvSpPr>
              <a:spLocks/>
            </p:cNvSpPr>
            <p:nvPr/>
          </p:nvSpPr>
          <p:spPr bwMode="auto">
            <a:xfrm flipH="1">
              <a:off x="6924578" y="5397791"/>
              <a:ext cx="670400" cy="144227"/>
            </a:xfrm>
            <a:custGeom>
              <a:avLst/>
              <a:gdLst>
                <a:gd name="T0" fmla="*/ 20 w 23"/>
                <a:gd name="T1" fmla="*/ 0 h 5"/>
                <a:gd name="T2" fmla="*/ 3 w 23"/>
                <a:gd name="T3" fmla="*/ 0 h 5"/>
                <a:gd name="T4" fmla="*/ 0 w 23"/>
                <a:gd name="T5" fmla="*/ 2 h 5"/>
                <a:gd name="T6" fmla="*/ 3 w 23"/>
                <a:gd name="T7" fmla="*/ 5 h 5"/>
                <a:gd name="T8" fmla="*/ 20 w 23"/>
                <a:gd name="T9" fmla="*/ 5 h 5"/>
                <a:gd name="T10" fmla="*/ 23 w 23"/>
                <a:gd name="T11" fmla="*/ 2 h 5"/>
                <a:gd name="T12" fmla="*/ 20 w 2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23" h="5">
                  <a:moveTo>
                    <a:pt x="20" y="0"/>
                  </a:moveTo>
                  <a:cubicBezTo>
                    <a:pt x="3" y="0"/>
                    <a:pt x="3" y="0"/>
                    <a:pt x="3" y="0"/>
                  </a:cubicBezTo>
                  <a:cubicBezTo>
                    <a:pt x="1" y="0"/>
                    <a:pt x="0" y="1"/>
                    <a:pt x="0" y="2"/>
                  </a:cubicBezTo>
                  <a:cubicBezTo>
                    <a:pt x="0" y="4"/>
                    <a:pt x="1" y="5"/>
                    <a:pt x="3" y="5"/>
                  </a:cubicBezTo>
                  <a:cubicBezTo>
                    <a:pt x="20" y="5"/>
                    <a:pt x="20" y="5"/>
                    <a:pt x="20" y="5"/>
                  </a:cubicBezTo>
                  <a:cubicBezTo>
                    <a:pt x="22" y="5"/>
                    <a:pt x="23" y="4"/>
                    <a:pt x="23" y="2"/>
                  </a:cubicBezTo>
                  <a:cubicBezTo>
                    <a:pt x="23" y="1"/>
                    <a:pt x="22" y="0"/>
                    <a:pt x="20" y="0"/>
                  </a:cubicBezTo>
                  <a:close/>
                </a:path>
              </a:pathLst>
            </a:custGeom>
            <a:solidFill>
              <a:schemeClr val="tx1">
                <a:lumMod val="50000"/>
                <a:lumOff val="50000"/>
              </a:schemeClr>
            </a:solidFill>
            <a:ln>
              <a:noFill/>
            </a:ln>
          </p:spPr>
          <p:txBody>
            <a:bodyPr vert="horz" wrap="square" lIns="68580" tIns="34290" rIns="68580" bIns="34290" numCol="1" anchor="t" anchorCtr="0" compatLnSpc="1">
              <a:prstTxWarp prst="textNoShape">
                <a:avLst/>
              </a:prstTxWarp>
            </a:bodyPr>
            <a:lstStyle/>
            <a:p>
              <a:endParaRPr lang="id-ID" sz="1013">
                <a:latin typeface="Raleway" panose="020B0003030101060003" pitchFamily="34" charset="0"/>
              </a:endParaRPr>
            </a:p>
          </p:txBody>
        </p:sp>
        <p:sp>
          <p:nvSpPr>
            <p:cNvPr id="10" name="Freeform 9">
              <a:extLst>
                <a:ext uri="{FF2B5EF4-FFF2-40B4-BE49-F238E27FC236}">
                  <a16:creationId xmlns:a16="http://schemas.microsoft.com/office/drawing/2014/main" id="{412F90E8-A330-6884-6889-2E151776043A}"/>
                </a:ext>
              </a:extLst>
            </p:cNvPr>
            <p:cNvSpPr/>
            <p:nvPr/>
          </p:nvSpPr>
          <p:spPr>
            <a:xfrm flipH="1">
              <a:off x="6748864" y="5098717"/>
              <a:ext cx="1021829" cy="240140"/>
            </a:xfrm>
            <a:custGeom>
              <a:avLst/>
              <a:gdLst>
                <a:gd name="connsiteX0" fmla="*/ 0 w 2645228"/>
                <a:gd name="connsiteY0" fmla="*/ 0 h 496975"/>
                <a:gd name="connsiteX1" fmla="*/ 2645228 w 2645228"/>
                <a:gd name="connsiteY1" fmla="*/ 0 h 496975"/>
                <a:gd name="connsiteX2" fmla="*/ 2645228 w 2645228"/>
                <a:gd name="connsiteY2" fmla="*/ 56095 h 496975"/>
                <a:gd name="connsiteX3" fmla="*/ 2204348 w 2645228"/>
                <a:gd name="connsiteY3" fmla="*/ 496975 h 496975"/>
                <a:gd name="connsiteX4" fmla="*/ 440880 w 2645228"/>
                <a:gd name="connsiteY4" fmla="*/ 496975 h 496975"/>
                <a:gd name="connsiteX5" fmla="*/ 0 w 2645228"/>
                <a:gd name="connsiteY5" fmla="*/ 56095 h 496975"/>
                <a:gd name="connsiteX6" fmla="*/ 0 w 2645228"/>
                <a:gd name="connsiteY6" fmla="*/ 0 h 49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5228" h="496975">
                  <a:moveTo>
                    <a:pt x="0" y="0"/>
                  </a:moveTo>
                  <a:lnTo>
                    <a:pt x="2645228" y="0"/>
                  </a:lnTo>
                  <a:lnTo>
                    <a:pt x="2645228" y="56095"/>
                  </a:lnTo>
                  <a:cubicBezTo>
                    <a:pt x="2645228" y="299586"/>
                    <a:pt x="2447839" y="496975"/>
                    <a:pt x="2204348" y="496975"/>
                  </a:cubicBezTo>
                  <a:lnTo>
                    <a:pt x="440880" y="496975"/>
                  </a:lnTo>
                  <a:cubicBezTo>
                    <a:pt x="197389" y="496975"/>
                    <a:pt x="0" y="299586"/>
                    <a:pt x="0" y="56095"/>
                  </a:cubicBezTo>
                  <a:lnTo>
                    <a:pt x="0" y="0"/>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23" name="Freeform 22">
              <a:extLst>
                <a:ext uri="{FF2B5EF4-FFF2-40B4-BE49-F238E27FC236}">
                  <a16:creationId xmlns:a16="http://schemas.microsoft.com/office/drawing/2014/main" id="{57CC329C-F7AB-994D-8A4F-AFA266770436}"/>
                </a:ext>
              </a:extLst>
            </p:cNvPr>
            <p:cNvSpPr/>
            <p:nvPr/>
          </p:nvSpPr>
          <p:spPr>
            <a:xfrm flipH="1">
              <a:off x="7031866" y="5600950"/>
              <a:ext cx="455825" cy="97307"/>
            </a:xfrm>
            <a:custGeom>
              <a:avLst/>
              <a:gdLst>
                <a:gd name="connsiteX0" fmla="*/ 0 w 694404"/>
                <a:gd name="connsiteY0" fmla="*/ 0 h 288475"/>
                <a:gd name="connsiteX1" fmla="*/ 694404 w 694404"/>
                <a:gd name="connsiteY1" fmla="*/ 0 h 288475"/>
                <a:gd name="connsiteX2" fmla="*/ 693800 w 694404"/>
                <a:gd name="connsiteY2" fmla="*/ 5989 h 288475"/>
                <a:gd name="connsiteX3" fmla="*/ 347202 w 694404"/>
                <a:gd name="connsiteY3" fmla="*/ 288475 h 288475"/>
                <a:gd name="connsiteX4" fmla="*/ 604 w 694404"/>
                <a:gd name="connsiteY4" fmla="*/ 5989 h 288475"/>
                <a:gd name="connsiteX5" fmla="*/ 0 w 694404"/>
                <a:gd name="connsiteY5" fmla="*/ 0 h 28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404" h="288475">
                  <a:moveTo>
                    <a:pt x="0" y="0"/>
                  </a:moveTo>
                  <a:lnTo>
                    <a:pt x="694404" y="0"/>
                  </a:lnTo>
                  <a:lnTo>
                    <a:pt x="693800" y="5989"/>
                  </a:lnTo>
                  <a:cubicBezTo>
                    <a:pt x="660811" y="167204"/>
                    <a:pt x="518169" y="288475"/>
                    <a:pt x="347202" y="288475"/>
                  </a:cubicBezTo>
                  <a:cubicBezTo>
                    <a:pt x="176235" y="288475"/>
                    <a:pt x="33593" y="167204"/>
                    <a:pt x="604" y="5989"/>
                  </a:cubicBezTo>
                  <a:lnTo>
                    <a:pt x="0" y="0"/>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cxnSp>
          <p:nvCxnSpPr>
            <p:cNvPr id="24" name="Straight Connector 23">
              <a:extLst>
                <a:ext uri="{FF2B5EF4-FFF2-40B4-BE49-F238E27FC236}">
                  <a16:creationId xmlns:a16="http://schemas.microsoft.com/office/drawing/2014/main" id="{17F2DC5F-5310-8D2E-563F-D2757DC5BD5D}"/>
                </a:ext>
              </a:extLst>
            </p:cNvPr>
            <p:cNvCxnSpPr/>
            <p:nvPr/>
          </p:nvCxnSpPr>
          <p:spPr>
            <a:xfrm>
              <a:off x="7363630" y="2108417"/>
              <a:ext cx="124059" cy="417956"/>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A115F2E-D590-1BFB-755F-E0EA49DFBCF2}"/>
                </a:ext>
              </a:extLst>
            </p:cNvPr>
            <p:cNvCxnSpPr/>
            <p:nvPr/>
          </p:nvCxnSpPr>
          <p:spPr>
            <a:xfrm>
              <a:off x="7377031" y="2072385"/>
              <a:ext cx="676679" cy="308777"/>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EBD8C82-0542-8685-16A1-D20082136BD8}"/>
                </a:ext>
              </a:extLst>
            </p:cNvPr>
            <p:cNvCxnSpPr/>
            <p:nvPr/>
          </p:nvCxnSpPr>
          <p:spPr>
            <a:xfrm flipH="1">
              <a:off x="6819514" y="2860584"/>
              <a:ext cx="440264" cy="0"/>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ABDADC7-70CF-A887-8E58-178387603B1F}"/>
                </a:ext>
              </a:extLst>
            </p:cNvPr>
            <p:cNvCxnSpPr/>
            <p:nvPr/>
          </p:nvCxnSpPr>
          <p:spPr>
            <a:xfrm flipH="1">
              <a:off x="7916166" y="3217120"/>
              <a:ext cx="266784" cy="284768"/>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C39EA26-BDE9-1B32-3A5E-0714FDE0F925}"/>
                </a:ext>
              </a:extLst>
            </p:cNvPr>
            <p:cNvCxnSpPr/>
            <p:nvPr/>
          </p:nvCxnSpPr>
          <p:spPr>
            <a:xfrm flipH="1">
              <a:off x="7594978" y="3679735"/>
              <a:ext cx="175715" cy="575396"/>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49B757B-6A48-24BC-9777-4BCFE99B8FFA}"/>
                </a:ext>
              </a:extLst>
            </p:cNvPr>
            <p:cNvCxnSpPr/>
            <p:nvPr/>
          </p:nvCxnSpPr>
          <p:spPr>
            <a:xfrm flipH="1">
              <a:off x="7255101" y="3632109"/>
              <a:ext cx="380483" cy="128588"/>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12B15D2-0833-8F4A-B7E7-793798BF5477}"/>
                </a:ext>
              </a:extLst>
            </p:cNvPr>
            <p:cNvCxnSpPr/>
            <p:nvPr/>
          </p:nvCxnSpPr>
          <p:spPr>
            <a:xfrm flipH="1">
              <a:off x="7152717" y="2972341"/>
              <a:ext cx="318484" cy="636551"/>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062BCB3-6F43-5FF6-5397-26023DFF0BBB}"/>
                </a:ext>
              </a:extLst>
            </p:cNvPr>
            <p:cNvCxnSpPr/>
            <p:nvPr/>
          </p:nvCxnSpPr>
          <p:spPr>
            <a:xfrm flipV="1">
              <a:off x="6193614" y="2955905"/>
              <a:ext cx="359249" cy="154139"/>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51FA87A-AA17-D6AB-1578-CF7DC4C4A4D9}"/>
                </a:ext>
              </a:extLst>
            </p:cNvPr>
            <p:cNvCxnSpPr/>
            <p:nvPr/>
          </p:nvCxnSpPr>
          <p:spPr>
            <a:xfrm>
              <a:off x="6741510" y="3044186"/>
              <a:ext cx="232786" cy="559916"/>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1E740EE2-9434-A681-1FC9-9FFEAFD360BD}"/>
                </a:ext>
              </a:extLst>
            </p:cNvPr>
            <p:cNvCxnSpPr/>
            <p:nvPr/>
          </p:nvCxnSpPr>
          <p:spPr>
            <a:xfrm flipH="1" flipV="1">
              <a:off x="6606000" y="2317395"/>
              <a:ext cx="81889" cy="484256"/>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BD433CF-35A2-57AC-469E-787BF2F6523C}"/>
                </a:ext>
              </a:extLst>
            </p:cNvPr>
            <p:cNvCxnSpPr/>
            <p:nvPr/>
          </p:nvCxnSpPr>
          <p:spPr>
            <a:xfrm>
              <a:off x="6379039" y="3786891"/>
              <a:ext cx="395069" cy="5713"/>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198A2BC-4465-EAD3-F63B-5E8BBEF3F96D}"/>
                </a:ext>
              </a:extLst>
            </p:cNvPr>
            <p:cNvCxnSpPr/>
            <p:nvPr/>
          </p:nvCxnSpPr>
          <p:spPr>
            <a:xfrm flipH="1" flipV="1">
              <a:off x="7594978" y="4429472"/>
              <a:ext cx="262761" cy="297716"/>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08930FE-5C7D-6AE5-BA48-C0B1F7091D9C}"/>
                </a:ext>
              </a:extLst>
            </p:cNvPr>
            <p:cNvCxnSpPr/>
            <p:nvPr/>
          </p:nvCxnSpPr>
          <p:spPr>
            <a:xfrm flipH="1">
              <a:off x="7063778" y="4338520"/>
              <a:ext cx="460634" cy="199595"/>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2F2FCBF6-2065-717B-E573-D11FCD7CC04D}"/>
                </a:ext>
              </a:extLst>
            </p:cNvPr>
            <p:cNvCxnSpPr>
              <a:stCxn id="90" idx="0"/>
            </p:cNvCxnSpPr>
            <p:nvPr/>
          </p:nvCxnSpPr>
          <p:spPr>
            <a:xfrm flipV="1">
              <a:off x="6958816" y="4028809"/>
              <a:ext cx="15479" cy="330773"/>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ACAEB8F-B250-9ED5-00F5-200B227B21C2}"/>
                </a:ext>
              </a:extLst>
            </p:cNvPr>
            <p:cNvCxnSpPr/>
            <p:nvPr/>
          </p:nvCxnSpPr>
          <p:spPr>
            <a:xfrm flipH="1">
              <a:off x="6552862" y="3967432"/>
              <a:ext cx="196001" cy="388565"/>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02F6ADB-D26C-8837-FF39-3847251A3779}"/>
                </a:ext>
              </a:extLst>
            </p:cNvPr>
            <p:cNvCxnSpPr>
              <a:endCxn id="119" idx="7"/>
            </p:cNvCxnSpPr>
            <p:nvPr/>
          </p:nvCxnSpPr>
          <p:spPr>
            <a:xfrm flipH="1">
              <a:off x="6724032" y="4695419"/>
              <a:ext cx="146549" cy="162665"/>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40BD5E25-5C45-C1F4-F6BE-FB11ED21FDC0}"/>
                </a:ext>
              </a:extLst>
            </p:cNvPr>
            <p:cNvCxnSpPr/>
            <p:nvPr/>
          </p:nvCxnSpPr>
          <p:spPr>
            <a:xfrm flipH="1">
              <a:off x="7331483" y="4429472"/>
              <a:ext cx="162727" cy="561045"/>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A25E207E-CA7C-034C-D713-97F7431C4CB5}"/>
                </a:ext>
              </a:extLst>
            </p:cNvPr>
            <p:cNvCxnSpPr/>
            <p:nvPr/>
          </p:nvCxnSpPr>
          <p:spPr>
            <a:xfrm>
              <a:off x="7043062" y="4639528"/>
              <a:ext cx="235406" cy="68312"/>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CE12EC88-C7CD-B71A-9345-32449333F6CE}"/>
                </a:ext>
              </a:extLst>
            </p:cNvPr>
            <p:cNvCxnSpPr/>
            <p:nvPr/>
          </p:nvCxnSpPr>
          <p:spPr>
            <a:xfrm flipH="1">
              <a:off x="7627559" y="4749511"/>
              <a:ext cx="237777" cy="154736"/>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C7B4304-D067-3609-BC63-6E404927E513}"/>
                </a:ext>
              </a:extLst>
            </p:cNvPr>
            <p:cNvCxnSpPr/>
            <p:nvPr/>
          </p:nvCxnSpPr>
          <p:spPr>
            <a:xfrm>
              <a:off x="7635584" y="4342317"/>
              <a:ext cx="357150" cy="61392"/>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A2E47A6-F39A-576A-45F9-CFBED7D3CB13}"/>
                </a:ext>
              </a:extLst>
            </p:cNvPr>
            <p:cNvCxnSpPr/>
            <p:nvPr/>
          </p:nvCxnSpPr>
          <p:spPr>
            <a:xfrm flipH="1" flipV="1">
              <a:off x="7594978" y="3283256"/>
              <a:ext cx="100416" cy="209047"/>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69E4824-033C-6BBF-88D4-1BA81D7A04B3}"/>
                </a:ext>
              </a:extLst>
            </p:cNvPr>
            <p:cNvCxnSpPr/>
            <p:nvPr/>
          </p:nvCxnSpPr>
          <p:spPr>
            <a:xfrm flipH="1">
              <a:off x="8257790" y="3193616"/>
              <a:ext cx="29891" cy="589405"/>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DA108339-C4F1-B84E-8B89-66CD5E6B18BC}"/>
                </a:ext>
              </a:extLst>
            </p:cNvPr>
            <p:cNvCxnSpPr/>
            <p:nvPr/>
          </p:nvCxnSpPr>
          <p:spPr>
            <a:xfrm>
              <a:off x="7853053" y="3696403"/>
              <a:ext cx="221747" cy="420677"/>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AD5FC80D-0724-1D41-FCC8-2571F999EB48}"/>
                </a:ext>
              </a:extLst>
            </p:cNvPr>
            <p:cNvCxnSpPr/>
            <p:nvPr/>
          </p:nvCxnSpPr>
          <p:spPr>
            <a:xfrm flipH="1" flipV="1">
              <a:off x="6167876" y="3517808"/>
              <a:ext cx="126980" cy="164006"/>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4D2F233F-CD3D-9E60-E331-BB4A2CCC6EB1}"/>
                </a:ext>
              </a:extLst>
            </p:cNvPr>
            <p:cNvCxnSpPr/>
            <p:nvPr/>
          </p:nvCxnSpPr>
          <p:spPr>
            <a:xfrm flipH="1">
              <a:off x="6231674" y="2226773"/>
              <a:ext cx="309648" cy="299600"/>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14C31761-FE54-E77F-B065-E31F89BEEBBE}"/>
                </a:ext>
              </a:extLst>
            </p:cNvPr>
            <p:cNvCxnSpPr>
              <a:endCxn id="130" idx="6"/>
            </p:cNvCxnSpPr>
            <p:nvPr/>
          </p:nvCxnSpPr>
          <p:spPr>
            <a:xfrm flipH="1" flipV="1">
              <a:off x="6227190" y="2783563"/>
              <a:ext cx="410159" cy="2933"/>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40D15C2-C1E7-3D88-C7A9-8A6C6F57A269}"/>
                </a:ext>
              </a:extLst>
            </p:cNvPr>
            <p:cNvCxnSpPr/>
            <p:nvPr/>
          </p:nvCxnSpPr>
          <p:spPr>
            <a:xfrm flipV="1">
              <a:off x="6762171" y="2265532"/>
              <a:ext cx="322999" cy="591613"/>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BB262F25-1FB7-5B15-B583-0571B267EADB}"/>
                </a:ext>
              </a:extLst>
            </p:cNvPr>
            <p:cNvCxnSpPr>
              <a:stCxn id="101" idx="7"/>
            </p:cNvCxnSpPr>
            <p:nvPr/>
          </p:nvCxnSpPr>
          <p:spPr>
            <a:xfrm flipH="1" flipV="1">
              <a:off x="7220401" y="2434340"/>
              <a:ext cx="80980" cy="97295"/>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6725A05-FB4C-CFDB-734B-8B0196024A30}"/>
                </a:ext>
              </a:extLst>
            </p:cNvPr>
            <p:cNvCxnSpPr/>
            <p:nvPr/>
          </p:nvCxnSpPr>
          <p:spPr>
            <a:xfrm flipH="1" flipV="1">
              <a:off x="7102884" y="1991003"/>
              <a:ext cx="260746" cy="28240"/>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6C38D5F-984F-32D7-ECED-8958BBEB33D6}"/>
                </a:ext>
              </a:extLst>
            </p:cNvPr>
            <p:cNvCxnSpPr/>
            <p:nvPr/>
          </p:nvCxnSpPr>
          <p:spPr>
            <a:xfrm flipH="1">
              <a:off x="7969658" y="2429022"/>
              <a:ext cx="105142" cy="199333"/>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67BD61D-1766-F246-82B9-6C3B22A4D55C}"/>
                </a:ext>
              </a:extLst>
            </p:cNvPr>
            <p:cNvCxnSpPr/>
            <p:nvPr/>
          </p:nvCxnSpPr>
          <p:spPr>
            <a:xfrm>
              <a:off x="7726358" y="2801651"/>
              <a:ext cx="348441" cy="0"/>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8FAE2B10-AC48-0EBD-0DD3-28E1190C56DF}"/>
                </a:ext>
              </a:extLst>
            </p:cNvPr>
            <p:cNvCxnSpPr/>
            <p:nvPr/>
          </p:nvCxnSpPr>
          <p:spPr>
            <a:xfrm flipV="1">
              <a:off x="6369601" y="3832342"/>
              <a:ext cx="3692" cy="193604"/>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9" name="Oval 9">
              <a:extLst>
                <a:ext uri="{FF2B5EF4-FFF2-40B4-BE49-F238E27FC236}">
                  <a16:creationId xmlns:a16="http://schemas.microsoft.com/office/drawing/2014/main" id="{687EC502-4753-8D94-ECF0-82CA4B83F155}"/>
                </a:ext>
              </a:extLst>
            </p:cNvPr>
            <p:cNvSpPr>
              <a:spLocks noChangeArrowheads="1"/>
            </p:cNvSpPr>
            <p:nvPr/>
          </p:nvSpPr>
          <p:spPr bwMode="auto">
            <a:xfrm flipH="1">
              <a:off x="6719502" y="4359581"/>
              <a:ext cx="478631" cy="477441"/>
            </a:xfrm>
            <a:prstGeom prst="ellipse">
              <a:avLst/>
            </a:prstGeom>
            <a:solidFill>
              <a:schemeClr val="tx1">
                <a:lumMod val="65000"/>
                <a:lumOff val="3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0" name="Oval 10">
              <a:extLst>
                <a:ext uri="{FF2B5EF4-FFF2-40B4-BE49-F238E27FC236}">
                  <a16:creationId xmlns:a16="http://schemas.microsoft.com/office/drawing/2014/main" id="{611120BF-990D-664C-FEB9-7590301E510A}"/>
                </a:ext>
              </a:extLst>
            </p:cNvPr>
            <p:cNvSpPr>
              <a:spLocks noChangeArrowheads="1"/>
            </p:cNvSpPr>
            <p:nvPr/>
          </p:nvSpPr>
          <p:spPr bwMode="auto">
            <a:xfrm flipH="1">
              <a:off x="7363630" y="4159557"/>
              <a:ext cx="366713" cy="365522"/>
            </a:xfrm>
            <a:prstGeom prst="ellipse">
              <a:avLst/>
            </a:pr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1" name="Oval 11">
              <a:extLst>
                <a:ext uri="{FF2B5EF4-FFF2-40B4-BE49-F238E27FC236}">
                  <a16:creationId xmlns:a16="http://schemas.microsoft.com/office/drawing/2014/main" id="{244DE0BB-7867-A17F-3622-E5E5FCA888FB}"/>
                </a:ext>
              </a:extLst>
            </p:cNvPr>
            <p:cNvSpPr>
              <a:spLocks noChangeArrowheads="1"/>
            </p:cNvSpPr>
            <p:nvPr/>
          </p:nvSpPr>
          <p:spPr bwMode="auto">
            <a:xfrm flipH="1">
              <a:off x="6676640" y="3501140"/>
              <a:ext cx="665559" cy="666750"/>
            </a:xfrm>
            <a:prstGeom prst="ellipse">
              <a:avLst/>
            </a:prstGeom>
            <a:solidFill>
              <a:schemeClr val="bg1">
                <a:lumMod val="7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5" name="Oval 12">
              <a:extLst>
                <a:ext uri="{FF2B5EF4-FFF2-40B4-BE49-F238E27FC236}">
                  <a16:creationId xmlns:a16="http://schemas.microsoft.com/office/drawing/2014/main" id="{D73320CA-E04F-8E07-162F-5A6E874F0B78}"/>
                </a:ext>
              </a:extLst>
            </p:cNvPr>
            <p:cNvSpPr>
              <a:spLocks noChangeArrowheads="1"/>
            </p:cNvSpPr>
            <p:nvPr/>
          </p:nvSpPr>
          <p:spPr bwMode="auto">
            <a:xfrm flipH="1">
              <a:off x="7548177" y="3370172"/>
              <a:ext cx="479822" cy="477441"/>
            </a:xfrm>
            <a:prstGeom prst="ellipse">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6" name="Oval 13">
              <a:extLst>
                <a:ext uri="{FF2B5EF4-FFF2-40B4-BE49-F238E27FC236}">
                  <a16:creationId xmlns:a16="http://schemas.microsoft.com/office/drawing/2014/main" id="{2307A144-C56E-76EE-79FB-A0747443F758}"/>
                </a:ext>
              </a:extLst>
            </p:cNvPr>
            <p:cNvSpPr>
              <a:spLocks noChangeArrowheads="1"/>
            </p:cNvSpPr>
            <p:nvPr/>
          </p:nvSpPr>
          <p:spPr bwMode="auto">
            <a:xfrm flipH="1">
              <a:off x="8098246" y="2930831"/>
              <a:ext cx="365522" cy="366713"/>
            </a:xfrm>
            <a:prstGeom prst="ellipse">
              <a:avLst/>
            </a:pr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9" name="Oval 14">
              <a:extLst>
                <a:ext uri="{FF2B5EF4-FFF2-40B4-BE49-F238E27FC236}">
                  <a16:creationId xmlns:a16="http://schemas.microsoft.com/office/drawing/2014/main" id="{835F8268-464F-8EA6-201E-A27E4354DC00}"/>
                </a:ext>
              </a:extLst>
            </p:cNvPr>
            <p:cNvSpPr>
              <a:spLocks noChangeArrowheads="1"/>
            </p:cNvSpPr>
            <p:nvPr/>
          </p:nvSpPr>
          <p:spPr bwMode="auto">
            <a:xfrm flipH="1">
              <a:off x="7969658" y="2293847"/>
              <a:ext cx="254794" cy="254794"/>
            </a:xfrm>
            <a:prstGeom prst="ellipse">
              <a:avLst/>
            </a:prstGeom>
            <a:solidFill>
              <a:schemeClr val="tx1">
                <a:lumMod val="65000"/>
                <a:lumOff val="3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0" name="Oval 15">
              <a:extLst>
                <a:ext uri="{FF2B5EF4-FFF2-40B4-BE49-F238E27FC236}">
                  <a16:creationId xmlns:a16="http://schemas.microsoft.com/office/drawing/2014/main" id="{7DB78ED1-F937-312A-0724-AB9EC847987C}"/>
                </a:ext>
              </a:extLst>
            </p:cNvPr>
            <p:cNvSpPr>
              <a:spLocks noChangeArrowheads="1"/>
            </p:cNvSpPr>
            <p:nvPr/>
          </p:nvSpPr>
          <p:spPr bwMode="auto">
            <a:xfrm flipH="1">
              <a:off x="7204086" y="2434341"/>
              <a:ext cx="664369" cy="664369"/>
            </a:xfrm>
            <a:prstGeom prst="ellipse">
              <a:avLst/>
            </a:prstGeom>
            <a:solidFill>
              <a:srgbClr val="F8B323"/>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1" name="Oval 16">
              <a:extLst>
                <a:ext uri="{FF2B5EF4-FFF2-40B4-BE49-F238E27FC236}">
                  <a16:creationId xmlns:a16="http://schemas.microsoft.com/office/drawing/2014/main" id="{646A25BA-BC19-9E22-FDBA-D29ECB44C898}"/>
                </a:ext>
              </a:extLst>
            </p:cNvPr>
            <p:cNvSpPr>
              <a:spLocks noChangeArrowheads="1"/>
            </p:cNvSpPr>
            <p:nvPr/>
          </p:nvSpPr>
          <p:spPr bwMode="auto">
            <a:xfrm flipH="1">
              <a:off x="6463517" y="2666513"/>
              <a:ext cx="479822" cy="479822"/>
            </a:xfrm>
            <a:prstGeom prst="ellipse">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2" name="Oval 17">
              <a:extLst>
                <a:ext uri="{FF2B5EF4-FFF2-40B4-BE49-F238E27FC236}">
                  <a16:creationId xmlns:a16="http://schemas.microsoft.com/office/drawing/2014/main" id="{1DBA29F4-3A53-0015-01E7-5851773B2D27}"/>
                </a:ext>
              </a:extLst>
            </p:cNvPr>
            <p:cNvSpPr>
              <a:spLocks noChangeArrowheads="1"/>
            </p:cNvSpPr>
            <p:nvPr/>
          </p:nvSpPr>
          <p:spPr bwMode="auto">
            <a:xfrm flipH="1">
              <a:off x="6455183" y="2085487"/>
              <a:ext cx="364331" cy="366713"/>
            </a:xfrm>
            <a:prstGeom prst="ellipse">
              <a:avLst/>
            </a:prstGeom>
            <a:solidFill>
              <a:srgbClr val="BFBFBF"/>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3" name="Oval 18">
              <a:extLst>
                <a:ext uri="{FF2B5EF4-FFF2-40B4-BE49-F238E27FC236}">
                  <a16:creationId xmlns:a16="http://schemas.microsoft.com/office/drawing/2014/main" id="{345DE51D-0EC2-6E89-66D2-82E7C5E6F661}"/>
                </a:ext>
              </a:extLst>
            </p:cNvPr>
            <p:cNvSpPr>
              <a:spLocks noChangeArrowheads="1"/>
            </p:cNvSpPr>
            <p:nvPr/>
          </p:nvSpPr>
          <p:spPr bwMode="auto">
            <a:xfrm flipH="1">
              <a:off x="6214677" y="3632109"/>
              <a:ext cx="254794" cy="257175"/>
            </a:xfrm>
            <a:prstGeom prst="ellipse">
              <a:avLst/>
            </a:prstGeom>
            <a:solidFill>
              <a:srgbClr val="F8B323"/>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4" name="Oval 19">
              <a:extLst>
                <a:ext uri="{FF2B5EF4-FFF2-40B4-BE49-F238E27FC236}">
                  <a16:creationId xmlns:a16="http://schemas.microsoft.com/office/drawing/2014/main" id="{0F9FCFB3-42C8-E455-9C06-3D6C4A66423D}"/>
                </a:ext>
              </a:extLst>
            </p:cNvPr>
            <p:cNvSpPr>
              <a:spLocks noChangeArrowheads="1"/>
            </p:cNvSpPr>
            <p:nvPr/>
          </p:nvSpPr>
          <p:spPr bwMode="auto">
            <a:xfrm flipH="1">
              <a:off x="7204086" y="1894987"/>
              <a:ext cx="254794" cy="254794"/>
            </a:xfrm>
            <a:prstGeom prst="ellipse">
              <a:avLst/>
            </a:prstGeom>
            <a:solidFill>
              <a:srgbClr val="F8B323"/>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13" name="Oval 20">
              <a:extLst>
                <a:ext uri="{FF2B5EF4-FFF2-40B4-BE49-F238E27FC236}">
                  <a16:creationId xmlns:a16="http://schemas.microsoft.com/office/drawing/2014/main" id="{70763B31-8B3A-ED94-8AD4-F21240871A75}"/>
                </a:ext>
              </a:extLst>
            </p:cNvPr>
            <p:cNvSpPr>
              <a:spLocks noChangeArrowheads="1"/>
            </p:cNvSpPr>
            <p:nvPr/>
          </p:nvSpPr>
          <p:spPr bwMode="auto">
            <a:xfrm flipH="1">
              <a:off x="6037274" y="2995125"/>
              <a:ext cx="254794" cy="254794"/>
            </a:xfrm>
            <a:prstGeom prst="ellipse">
              <a:avLst/>
            </a:pr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14" name="Oval 21">
              <a:extLst>
                <a:ext uri="{FF2B5EF4-FFF2-40B4-BE49-F238E27FC236}">
                  <a16:creationId xmlns:a16="http://schemas.microsoft.com/office/drawing/2014/main" id="{D1458B8B-3CEC-EF80-9FC9-1955E326EBD6}"/>
                </a:ext>
              </a:extLst>
            </p:cNvPr>
            <p:cNvSpPr>
              <a:spLocks noChangeArrowheads="1"/>
            </p:cNvSpPr>
            <p:nvPr/>
          </p:nvSpPr>
          <p:spPr bwMode="auto">
            <a:xfrm flipH="1">
              <a:off x="7730343" y="4607232"/>
              <a:ext cx="254794" cy="254794"/>
            </a:xfrm>
            <a:prstGeom prst="ellipse">
              <a:avLst/>
            </a:prstGeom>
            <a:solidFill>
              <a:srgbClr val="F8B323"/>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cxnSp>
          <p:nvCxnSpPr>
            <p:cNvPr id="115" name="Straight Connector 114">
              <a:extLst>
                <a:ext uri="{FF2B5EF4-FFF2-40B4-BE49-F238E27FC236}">
                  <a16:creationId xmlns:a16="http://schemas.microsoft.com/office/drawing/2014/main" id="{09D64627-7892-293F-17B8-4D9FC95017DE}"/>
                </a:ext>
              </a:extLst>
            </p:cNvPr>
            <p:cNvCxnSpPr/>
            <p:nvPr/>
          </p:nvCxnSpPr>
          <p:spPr>
            <a:xfrm flipV="1">
              <a:off x="8010270" y="2716993"/>
              <a:ext cx="391215" cy="96688"/>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6" name="Oval 115">
              <a:extLst>
                <a:ext uri="{FF2B5EF4-FFF2-40B4-BE49-F238E27FC236}">
                  <a16:creationId xmlns:a16="http://schemas.microsoft.com/office/drawing/2014/main" id="{8D11623C-9B6E-BE0A-4979-E9CB3E944455}"/>
                </a:ext>
              </a:extLst>
            </p:cNvPr>
            <p:cNvSpPr/>
            <p:nvPr/>
          </p:nvSpPr>
          <p:spPr>
            <a:xfrm>
              <a:off x="7018290" y="2217962"/>
              <a:ext cx="95140" cy="9514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117" name="Oval 116">
              <a:extLst>
                <a:ext uri="{FF2B5EF4-FFF2-40B4-BE49-F238E27FC236}">
                  <a16:creationId xmlns:a16="http://schemas.microsoft.com/office/drawing/2014/main" id="{121696C8-05C8-5FFC-5164-9F05AC90429C}"/>
                </a:ext>
              </a:extLst>
            </p:cNvPr>
            <p:cNvSpPr/>
            <p:nvPr/>
          </p:nvSpPr>
          <p:spPr>
            <a:xfrm>
              <a:off x="7954025" y="2735723"/>
              <a:ext cx="136406" cy="13640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118" name="Oval 117">
              <a:extLst>
                <a:ext uri="{FF2B5EF4-FFF2-40B4-BE49-F238E27FC236}">
                  <a16:creationId xmlns:a16="http://schemas.microsoft.com/office/drawing/2014/main" id="{1EF05247-F836-D830-FF29-CEE48A650563}"/>
                </a:ext>
              </a:extLst>
            </p:cNvPr>
            <p:cNvSpPr/>
            <p:nvPr/>
          </p:nvSpPr>
          <p:spPr>
            <a:xfrm>
              <a:off x="6622166" y="4840607"/>
              <a:ext cx="119344" cy="119344"/>
            </a:xfrm>
            <a:prstGeom prst="ellipse">
              <a:avLst/>
            </a:prstGeom>
            <a:noFill/>
            <a:ln w="317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119" name="Oval 118">
              <a:extLst>
                <a:ext uri="{FF2B5EF4-FFF2-40B4-BE49-F238E27FC236}">
                  <a16:creationId xmlns:a16="http://schemas.microsoft.com/office/drawing/2014/main" id="{33E3B4CD-1C6A-E993-3A3B-C8ED585987A0}"/>
                </a:ext>
              </a:extLst>
            </p:cNvPr>
            <p:cNvSpPr/>
            <p:nvPr/>
          </p:nvSpPr>
          <p:spPr>
            <a:xfrm>
              <a:off x="7524412" y="4882554"/>
              <a:ext cx="120774" cy="120774"/>
            </a:xfrm>
            <a:prstGeom prst="ellipse">
              <a:avLst/>
            </a:prstGeom>
            <a:noFill/>
            <a:ln w="508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120" name="Oval 119">
              <a:extLst>
                <a:ext uri="{FF2B5EF4-FFF2-40B4-BE49-F238E27FC236}">
                  <a16:creationId xmlns:a16="http://schemas.microsoft.com/office/drawing/2014/main" id="{3B4EAA82-4B47-7CFA-F74B-A67C9C38145A}"/>
                </a:ext>
              </a:extLst>
            </p:cNvPr>
            <p:cNvSpPr/>
            <p:nvPr/>
          </p:nvSpPr>
          <p:spPr>
            <a:xfrm>
              <a:off x="7288780" y="4949333"/>
              <a:ext cx="82367" cy="8236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121" name="Oval 120">
              <a:extLst>
                <a:ext uri="{FF2B5EF4-FFF2-40B4-BE49-F238E27FC236}">
                  <a16:creationId xmlns:a16="http://schemas.microsoft.com/office/drawing/2014/main" id="{58B7D5CA-4089-E3D2-611B-27F005AB2221}"/>
                </a:ext>
              </a:extLst>
            </p:cNvPr>
            <p:cNvSpPr/>
            <p:nvPr/>
          </p:nvSpPr>
          <p:spPr>
            <a:xfrm>
              <a:off x="7256458" y="4679088"/>
              <a:ext cx="82367" cy="8236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122" name="Oval 121">
              <a:extLst>
                <a:ext uri="{FF2B5EF4-FFF2-40B4-BE49-F238E27FC236}">
                  <a16:creationId xmlns:a16="http://schemas.microsoft.com/office/drawing/2014/main" id="{2E2E72C0-8FAA-486C-54CB-B77E48B5126D}"/>
                </a:ext>
              </a:extLst>
            </p:cNvPr>
            <p:cNvSpPr/>
            <p:nvPr/>
          </p:nvSpPr>
          <p:spPr>
            <a:xfrm>
              <a:off x="7871227" y="4306021"/>
              <a:ext cx="161489" cy="16148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123" name="Oval 122">
              <a:extLst>
                <a:ext uri="{FF2B5EF4-FFF2-40B4-BE49-F238E27FC236}">
                  <a16:creationId xmlns:a16="http://schemas.microsoft.com/office/drawing/2014/main" id="{77051D6B-007F-5531-1D1F-65ABBCF08E95}"/>
                </a:ext>
              </a:extLst>
            </p:cNvPr>
            <p:cNvSpPr/>
            <p:nvPr/>
          </p:nvSpPr>
          <p:spPr>
            <a:xfrm>
              <a:off x="7505531" y="3171715"/>
              <a:ext cx="120774" cy="120774"/>
            </a:xfrm>
            <a:prstGeom prst="ellipse">
              <a:avLst/>
            </a:prstGeom>
            <a:noFill/>
            <a:ln w="508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124" name="Oval 123">
              <a:extLst>
                <a:ext uri="{FF2B5EF4-FFF2-40B4-BE49-F238E27FC236}">
                  <a16:creationId xmlns:a16="http://schemas.microsoft.com/office/drawing/2014/main" id="{C299CBA6-BD15-DC4B-4F3E-98DA43D39DDF}"/>
                </a:ext>
              </a:extLst>
            </p:cNvPr>
            <p:cNvSpPr/>
            <p:nvPr/>
          </p:nvSpPr>
          <p:spPr>
            <a:xfrm>
              <a:off x="7172794" y="2383007"/>
              <a:ext cx="82367" cy="8236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125" name="Oval 124">
              <a:extLst>
                <a:ext uri="{FF2B5EF4-FFF2-40B4-BE49-F238E27FC236}">
                  <a16:creationId xmlns:a16="http://schemas.microsoft.com/office/drawing/2014/main" id="{9FE8BFAF-EE30-D87D-3FFD-B29F0689D336}"/>
                </a:ext>
              </a:extLst>
            </p:cNvPr>
            <p:cNvSpPr/>
            <p:nvPr/>
          </p:nvSpPr>
          <p:spPr>
            <a:xfrm>
              <a:off x="7013917" y="1939623"/>
              <a:ext cx="99723" cy="99723"/>
            </a:xfrm>
            <a:prstGeom prst="ellipse">
              <a:avLst/>
            </a:prstGeom>
            <a:no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126" name="Oval 125">
              <a:extLst>
                <a:ext uri="{FF2B5EF4-FFF2-40B4-BE49-F238E27FC236}">
                  <a16:creationId xmlns:a16="http://schemas.microsoft.com/office/drawing/2014/main" id="{B20DF3B9-4AAA-4773-250D-F0AB21551E83}"/>
                </a:ext>
              </a:extLst>
            </p:cNvPr>
            <p:cNvSpPr/>
            <p:nvPr/>
          </p:nvSpPr>
          <p:spPr>
            <a:xfrm>
              <a:off x="7916355" y="2580777"/>
              <a:ext cx="95140" cy="9514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127" name="Oval 126">
              <a:extLst>
                <a:ext uri="{FF2B5EF4-FFF2-40B4-BE49-F238E27FC236}">
                  <a16:creationId xmlns:a16="http://schemas.microsoft.com/office/drawing/2014/main" id="{5C4036FD-A774-E4A7-754D-1F7E0F505238}"/>
                </a:ext>
              </a:extLst>
            </p:cNvPr>
            <p:cNvSpPr/>
            <p:nvPr/>
          </p:nvSpPr>
          <p:spPr>
            <a:xfrm>
              <a:off x="8314184" y="2675916"/>
              <a:ext cx="95140" cy="9514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128" name="Oval 127">
              <a:extLst>
                <a:ext uri="{FF2B5EF4-FFF2-40B4-BE49-F238E27FC236}">
                  <a16:creationId xmlns:a16="http://schemas.microsoft.com/office/drawing/2014/main" id="{A4C01CB2-6188-A561-BEA2-A32239F1DFA9}"/>
                </a:ext>
              </a:extLst>
            </p:cNvPr>
            <p:cNvSpPr/>
            <p:nvPr/>
          </p:nvSpPr>
          <p:spPr>
            <a:xfrm>
              <a:off x="6497451" y="4350154"/>
              <a:ext cx="83848" cy="83848"/>
            </a:xfrm>
            <a:prstGeom prst="ellipse">
              <a:avLst/>
            </a:prstGeom>
            <a:noFill/>
            <a:ln w="317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129" name="Oval 128">
              <a:extLst>
                <a:ext uri="{FF2B5EF4-FFF2-40B4-BE49-F238E27FC236}">
                  <a16:creationId xmlns:a16="http://schemas.microsoft.com/office/drawing/2014/main" id="{CD022AD7-9998-E3A3-CDAD-B626C190BF99}"/>
                </a:ext>
              </a:extLst>
            </p:cNvPr>
            <p:cNvSpPr/>
            <p:nvPr/>
          </p:nvSpPr>
          <p:spPr>
            <a:xfrm>
              <a:off x="6093938" y="2716939"/>
              <a:ext cx="133251" cy="133248"/>
            </a:xfrm>
            <a:prstGeom prst="ellipse">
              <a:avLst/>
            </a:prstGeom>
            <a:noFill/>
            <a:ln w="444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130" name="Oval 129">
              <a:extLst>
                <a:ext uri="{FF2B5EF4-FFF2-40B4-BE49-F238E27FC236}">
                  <a16:creationId xmlns:a16="http://schemas.microsoft.com/office/drawing/2014/main" id="{534C08FD-C08E-260F-AF11-2E3B44C6575C}"/>
                </a:ext>
              </a:extLst>
            </p:cNvPr>
            <p:cNvSpPr/>
            <p:nvPr/>
          </p:nvSpPr>
          <p:spPr>
            <a:xfrm>
              <a:off x="8210220" y="3752473"/>
              <a:ext cx="95140" cy="9514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131" name="Oval 130">
              <a:extLst>
                <a:ext uri="{FF2B5EF4-FFF2-40B4-BE49-F238E27FC236}">
                  <a16:creationId xmlns:a16="http://schemas.microsoft.com/office/drawing/2014/main" id="{E19530C3-7490-1D6C-9E4C-B23D33F42B27}"/>
                </a:ext>
              </a:extLst>
            </p:cNvPr>
            <p:cNvSpPr/>
            <p:nvPr/>
          </p:nvSpPr>
          <p:spPr>
            <a:xfrm>
              <a:off x="8038433" y="4099924"/>
              <a:ext cx="87928" cy="87928"/>
            </a:xfrm>
            <a:prstGeom prst="ellipse">
              <a:avLst/>
            </a:prstGeom>
            <a:noFill/>
            <a:ln w="508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132" name="Oval 131">
              <a:extLst>
                <a:ext uri="{FF2B5EF4-FFF2-40B4-BE49-F238E27FC236}">
                  <a16:creationId xmlns:a16="http://schemas.microsoft.com/office/drawing/2014/main" id="{163D3527-A6E4-FD31-54C1-98C802F70178}"/>
                </a:ext>
              </a:extLst>
            </p:cNvPr>
            <p:cNvSpPr/>
            <p:nvPr/>
          </p:nvSpPr>
          <p:spPr>
            <a:xfrm>
              <a:off x="6328418" y="3995024"/>
              <a:ext cx="82367" cy="8236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133" name="Oval 132">
              <a:extLst>
                <a:ext uri="{FF2B5EF4-FFF2-40B4-BE49-F238E27FC236}">
                  <a16:creationId xmlns:a16="http://schemas.microsoft.com/office/drawing/2014/main" id="{1448403D-416D-6BE4-8DDB-3231E6F581B3}"/>
                </a:ext>
              </a:extLst>
            </p:cNvPr>
            <p:cNvSpPr/>
            <p:nvPr/>
          </p:nvSpPr>
          <p:spPr>
            <a:xfrm>
              <a:off x="6092372" y="3438456"/>
              <a:ext cx="99723" cy="99723"/>
            </a:xfrm>
            <a:prstGeom prst="ellipse">
              <a:avLst/>
            </a:prstGeom>
            <a:no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134" name="Oval 133">
              <a:extLst>
                <a:ext uri="{FF2B5EF4-FFF2-40B4-BE49-F238E27FC236}">
                  <a16:creationId xmlns:a16="http://schemas.microsoft.com/office/drawing/2014/main" id="{C838CB0B-0C51-B1B0-F78B-7BE187D95F63}"/>
                </a:ext>
              </a:extLst>
            </p:cNvPr>
            <p:cNvSpPr/>
            <p:nvPr/>
          </p:nvSpPr>
          <p:spPr>
            <a:xfrm>
              <a:off x="6165036" y="2502288"/>
              <a:ext cx="95140" cy="9514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grpSp>
          <p:nvGrpSpPr>
            <p:cNvPr id="135" name="Group 134">
              <a:extLst>
                <a:ext uri="{FF2B5EF4-FFF2-40B4-BE49-F238E27FC236}">
                  <a16:creationId xmlns:a16="http://schemas.microsoft.com/office/drawing/2014/main" id="{B5E92B32-3C71-3123-7BEF-25DE0855B1F4}"/>
                </a:ext>
              </a:extLst>
            </p:cNvPr>
            <p:cNvGrpSpPr/>
            <p:nvPr/>
          </p:nvGrpSpPr>
          <p:grpSpPr>
            <a:xfrm>
              <a:off x="6617871" y="2771144"/>
              <a:ext cx="144947" cy="244820"/>
              <a:chOff x="14288" y="17463"/>
              <a:chExt cx="520700" cy="879475"/>
            </a:xfrm>
          </p:grpSpPr>
          <p:sp>
            <p:nvSpPr>
              <p:cNvPr id="241" name="Freeform 5">
                <a:extLst>
                  <a:ext uri="{FF2B5EF4-FFF2-40B4-BE49-F238E27FC236}">
                    <a16:creationId xmlns:a16="http://schemas.microsoft.com/office/drawing/2014/main" id="{B6B489B5-2CA1-92C3-4621-6A7C323EC0F7}"/>
                  </a:ext>
                </a:extLst>
              </p:cNvPr>
              <p:cNvSpPr>
                <a:spLocks/>
              </p:cNvSpPr>
              <p:nvPr/>
            </p:nvSpPr>
            <p:spPr bwMode="auto">
              <a:xfrm>
                <a:off x="14288" y="138113"/>
                <a:ext cx="184150" cy="758825"/>
              </a:xfrm>
              <a:custGeom>
                <a:avLst/>
                <a:gdLst>
                  <a:gd name="T0" fmla="*/ 48 w 48"/>
                  <a:gd name="T1" fmla="*/ 180 h 200"/>
                  <a:gd name="T2" fmla="*/ 25 w 48"/>
                  <a:gd name="T3" fmla="*/ 200 h 200"/>
                  <a:gd name="T4" fmla="*/ 0 w 48"/>
                  <a:gd name="T5" fmla="*/ 180 h 200"/>
                  <a:gd name="T6" fmla="*/ 0 w 48"/>
                  <a:gd name="T7" fmla="*/ 48 h 200"/>
                  <a:gd name="T8" fmla="*/ 24 w 48"/>
                  <a:gd name="T9" fmla="*/ 0 h 200"/>
                  <a:gd name="T10" fmla="*/ 48 w 48"/>
                  <a:gd name="T11" fmla="*/ 48 h 200"/>
                  <a:gd name="T12" fmla="*/ 48 w 48"/>
                  <a:gd name="T13" fmla="*/ 180 h 200"/>
                </a:gdLst>
                <a:ahLst/>
                <a:cxnLst>
                  <a:cxn ang="0">
                    <a:pos x="T0" y="T1"/>
                  </a:cxn>
                  <a:cxn ang="0">
                    <a:pos x="T2" y="T3"/>
                  </a:cxn>
                  <a:cxn ang="0">
                    <a:pos x="T4" y="T5"/>
                  </a:cxn>
                  <a:cxn ang="0">
                    <a:pos x="T6" y="T7"/>
                  </a:cxn>
                  <a:cxn ang="0">
                    <a:pos x="T8" y="T9"/>
                  </a:cxn>
                  <a:cxn ang="0">
                    <a:pos x="T10" y="T11"/>
                  </a:cxn>
                  <a:cxn ang="0">
                    <a:pos x="T12" y="T13"/>
                  </a:cxn>
                </a:cxnLst>
                <a:rect l="0" t="0" r="r" b="b"/>
                <a:pathLst>
                  <a:path w="48" h="200">
                    <a:moveTo>
                      <a:pt x="48" y="180"/>
                    </a:moveTo>
                    <a:cubicBezTo>
                      <a:pt x="48" y="191"/>
                      <a:pt x="36" y="200"/>
                      <a:pt x="25" y="200"/>
                    </a:cubicBezTo>
                    <a:cubicBezTo>
                      <a:pt x="14" y="200"/>
                      <a:pt x="0" y="191"/>
                      <a:pt x="0" y="180"/>
                    </a:cubicBezTo>
                    <a:cubicBezTo>
                      <a:pt x="0" y="48"/>
                      <a:pt x="0" y="48"/>
                      <a:pt x="0" y="48"/>
                    </a:cubicBezTo>
                    <a:cubicBezTo>
                      <a:pt x="24" y="0"/>
                      <a:pt x="24" y="0"/>
                      <a:pt x="24" y="0"/>
                    </a:cubicBezTo>
                    <a:cubicBezTo>
                      <a:pt x="48" y="48"/>
                      <a:pt x="48" y="48"/>
                      <a:pt x="48" y="48"/>
                    </a:cubicBezTo>
                    <a:lnTo>
                      <a:pt x="48" y="180"/>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42" name="Line 6">
                <a:extLst>
                  <a:ext uri="{FF2B5EF4-FFF2-40B4-BE49-F238E27FC236}">
                    <a16:creationId xmlns:a16="http://schemas.microsoft.com/office/drawing/2014/main" id="{80343FFC-5EC7-567C-F39B-1023C2C45DD8}"/>
                  </a:ext>
                </a:extLst>
              </p:cNvPr>
              <p:cNvSpPr>
                <a:spLocks noChangeShapeType="1"/>
              </p:cNvSpPr>
              <p:nvPr/>
            </p:nvSpPr>
            <p:spPr bwMode="auto">
              <a:xfrm>
                <a:off x="14288" y="776288"/>
                <a:ext cx="18415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43" name="Line 7">
                <a:extLst>
                  <a:ext uri="{FF2B5EF4-FFF2-40B4-BE49-F238E27FC236}">
                    <a16:creationId xmlns:a16="http://schemas.microsoft.com/office/drawing/2014/main" id="{71DFAB07-70B7-B5A5-4328-D5201F7EF439}"/>
                  </a:ext>
                </a:extLst>
              </p:cNvPr>
              <p:cNvSpPr>
                <a:spLocks noChangeShapeType="1"/>
              </p:cNvSpPr>
              <p:nvPr/>
            </p:nvSpPr>
            <p:spPr bwMode="auto">
              <a:xfrm>
                <a:off x="14288" y="715963"/>
                <a:ext cx="18415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44" name="Rectangle 8">
                <a:extLst>
                  <a:ext uri="{FF2B5EF4-FFF2-40B4-BE49-F238E27FC236}">
                    <a16:creationId xmlns:a16="http://schemas.microsoft.com/office/drawing/2014/main" id="{6EB25AD6-2D54-7BD0-547F-C18D3BBA8979}"/>
                  </a:ext>
                </a:extLst>
              </p:cNvPr>
              <p:cNvSpPr>
                <a:spLocks noChangeArrowheads="1"/>
              </p:cNvSpPr>
              <p:nvPr/>
            </p:nvSpPr>
            <p:spPr bwMode="auto">
              <a:xfrm>
                <a:off x="290513" y="17463"/>
                <a:ext cx="244475" cy="879475"/>
              </a:xfrm>
              <a:prstGeom prst="rect">
                <a:avLst/>
              </a:pr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45" name="Line 9">
                <a:extLst>
                  <a:ext uri="{FF2B5EF4-FFF2-40B4-BE49-F238E27FC236}">
                    <a16:creationId xmlns:a16="http://schemas.microsoft.com/office/drawing/2014/main" id="{AE48A5C0-F2C1-1761-FA24-337101BFB351}"/>
                  </a:ext>
                </a:extLst>
              </p:cNvPr>
              <p:cNvSpPr>
                <a:spLocks noChangeShapeType="1"/>
              </p:cNvSpPr>
              <p:nvPr/>
            </p:nvSpPr>
            <p:spPr bwMode="auto">
              <a:xfrm>
                <a:off x="290513" y="138113"/>
                <a:ext cx="920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46" name="Line 10">
                <a:extLst>
                  <a:ext uri="{FF2B5EF4-FFF2-40B4-BE49-F238E27FC236}">
                    <a16:creationId xmlns:a16="http://schemas.microsoft.com/office/drawing/2014/main" id="{0BDDE8BC-7EE1-6389-5E8C-24CC80A488D0}"/>
                  </a:ext>
                </a:extLst>
              </p:cNvPr>
              <p:cNvSpPr>
                <a:spLocks noChangeShapeType="1"/>
              </p:cNvSpPr>
              <p:nvPr/>
            </p:nvSpPr>
            <p:spPr bwMode="auto">
              <a:xfrm>
                <a:off x="290513" y="290513"/>
                <a:ext cx="920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47" name="Line 11">
                <a:extLst>
                  <a:ext uri="{FF2B5EF4-FFF2-40B4-BE49-F238E27FC236}">
                    <a16:creationId xmlns:a16="http://schemas.microsoft.com/office/drawing/2014/main" id="{39601ADC-AEAB-72BF-5B2A-12618F1F19AC}"/>
                  </a:ext>
                </a:extLst>
              </p:cNvPr>
              <p:cNvSpPr>
                <a:spLocks noChangeShapeType="1"/>
              </p:cNvSpPr>
              <p:nvPr/>
            </p:nvSpPr>
            <p:spPr bwMode="auto">
              <a:xfrm>
                <a:off x="290513" y="441326"/>
                <a:ext cx="920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48" name="Line 12">
                <a:extLst>
                  <a:ext uri="{FF2B5EF4-FFF2-40B4-BE49-F238E27FC236}">
                    <a16:creationId xmlns:a16="http://schemas.microsoft.com/office/drawing/2014/main" id="{74FC9D4D-AF18-18C3-867F-B935609C91E1}"/>
                  </a:ext>
                </a:extLst>
              </p:cNvPr>
              <p:cNvSpPr>
                <a:spLocks noChangeShapeType="1"/>
              </p:cNvSpPr>
              <p:nvPr/>
            </p:nvSpPr>
            <p:spPr bwMode="auto">
              <a:xfrm>
                <a:off x="290513" y="593726"/>
                <a:ext cx="920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49" name="Line 13">
                <a:extLst>
                  <a:ext uri="{FF2B5EF4-FFF2-40B4-BE49-F238E27FC236}">
                    <a16:creationId xmlns:a16="http://schemas.microsoft.com/office/drawing/2014/main" id="{4CCC24FF-021C-F8C4-8B67-77F18DDBBD1F}"/>
                  </a:ext>
                </a:extLst>
              </p:cNvPr>
              <p:cNvSpPr>
                <a:spLocks noChangeShapeType="1"/>
              </p:cNvSpPr>
              <p:nvPr/>
            </p:nvSpPr>
            <p:spPr bwMode="auto">
              <a:xfrm>
                <a:off x="290513" y="746126"/>
                <a:ext cx="920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50" name="Line 14">
                <a:extLst>
                  <a:ext uri="{FF2B5EF4-FFF2-40B4-BE49-F238E27FC236}">
                    <a16:creationId xmlns:a16="http://schemas.microsoft.com/office/drawing/2014/main" id="{0E8E469A-FD81-63EC-3772-605BCCF587B9}"/>
                  </a:ext>
                </a:extLst>
              </p:cNvPr>
              <p:cNvSpPr>
                <a:spLocks noChangeShapeType="1"/>
              </p:cNvSpPr>
              <p:nvPr/>
            </p:nvSpPr>
            <p:spPr bwMode="auto">
              <a:xfrm>
                <a:off x="14288" y="320676"/>
                <a:ext cx="18415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51" name="Line 15">
                <a:extLst>
                  <a:ext uri="{FF2B5EF4-FFF2-40B4-BE49-F238E27FC236}">
                    <a16:creationId xmlns:a16="http://schemas.microsoft.com/office/drawing/2014/main" id="{04B5CA6C-179E-B60F-E1A9-71AEE29A4126}"/>
                  </a:ext>
                </a:extLst>
              </p:cNvPr>
              <p:cNvSpPr>
                <a:spLocks noChangeShapeType="1"/>
              </p:cNvSpPr>
              <p:nvPr/>
            </p:nvSpPr>
            <p:spPr bwMode="auto">
              <a:xfrm>
                <a:off x="106363" y="320676"/>
                <a:ext cx="0" cy="395288"/>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sp>
          <p:nvSpPr>
            <p:cNvPr id="136" name="Freeform 5">
              <a:extLst>
                <a:ext uri="{FF2B5EF4-FFF2-40B4-BE49-F238E27FC236}">
                  <a16:creationId xmlns:a16="http://schemas.microsoft.com/office/drawing/2014/main" id="{6BF593CE-25CE-38A0-12CF-291FFC47A8C1}"/>
                </a:ext>
              </a:extLst>
            </p:cNvPr>
            <p:cNvSpPr>
              <a:spLocks noEditPoints="1"/>
            </p:cNvSpPr>
            <p:nvPr/>
          </p:nvSpPr>
          <p:spPr bwMode="auto">
            <a:xfrm>
              <a:off x="6870581" y="3704383"/>
              <a:ext cx="262537" cy="257276"/>
            </a:xfrm>
            <a:custGeom>
              <a:avLst/>
              <a:gdLst>
                <a:gd name="T0" fmla="*/ 179 w 208"/>
                <a:gd name="T1" fmla="*/ 79 h 204"/>
                <a:gd name="T2" fmla="*/ 174 w 208"/>
                <a:gd name="T3" fmla="*/ 66 h 204"/>
                <a:gd name="T4" fmla="*/ 185 w 208"/>
                <a:gd name="T5" fmla="*/ 38 h 204"/>
                <a:gd name="T6" fmla="*/ 169 w 208"/>
                <a:gd name="T7" fmla="*/ 22 h 204"/>
                <a:gd name="T8" fmla="*/ 140 w 208"/>
                <a:gd name="T9" fmla="*/ 33 h 204"/>
                <a:gd name="T10" fmla="*/ 128 w 208"/>
                <a:gd name="T11" fmla="*/ 28 h 204"/>
                <a:gd name="T12" fmla="*/ 115 w 208"/>
                <a:gd name="T13" fmla="*/ 0 h 204"/>
                <a:gd name="T14" fmla="*/ 92 w 208"/>
                <a:gd name="T15" fmla="*/ 0 h 204"/>
                <a:gd name="T16" fmla="*/ 80 w 208"/>
                <a:gd name="T17" fmla="*/ 28 h 204"/>
                <a:gd name="T18" fmla="*/ 67 w 208"/>
                <a:gd name="T19" fmla="*/ 33 h 204"/>
                <a:gd name="T20" fmla="*/ 38 w 208"/>
                <a:gd name="T21" fmla="*/ 22 h 204"/>
                <a:gd name="T22" fmla="*/ 22 w 208"/>
                <a:gd name="T23" fmla="*/ 38 h 204"/>
                <a:gd name="T24" fmla="*/ 34 w 208"/>
                <a:gd name="T25" fmla="*/ 66 h 204"/>
                <a:gd name="T26" fmla="*/ 28 w 208"/>
                <a:gd name="T27" fmla="*/ 79 h 204"/>
                <a:gd name="T28" fmla="*/ 0 w 208"/>
                <a:gd name="T29" fmla="*/ 91 h 204"/>
                <a:gd name="T30" fmla="*/ 0 w 208"/>
                <a:gd name="T31" fmla="*/ 114 h 204"/>
                <a:gd name="T32" fmla="*/ 28 w 208"/>
                <a:gd name="T33" fmla="*/ 125 h 204"/>
                <a:gd name="T34" fmla="*/ 34 w 208"/>
                <a:gd name="T35" fmla="*/ 138 h 204"/>
                <a:gd name="T36" fmla="*/ 22 w 208"/>
                <a:gd name="T37" fmla="*/ 167 h 204"/>
                <a:gd name="T38" fmla="*/ 39 w 208"/>
                <a:gd name="T39" fmla="*/ 182 h 204"/>
                <a:gd name="T40" fmla="*/ 67 w 208"/>
                <a:gd name="T41" fmla="*/ 171 h 204"/>
                <a:gd name="T42" fmla="*/ 80 w 208"/>
                <a:gd name="T43" fmla="*/ 176 h 204"/>
                <a:gd name="T44" fmla="*/ 93 w 208"/>
                <a:gd name="T45" fmla="*/ 204 h 204"/>
                <a:gd name="T46" fmla="*/ 116 w 208"/>
                <a:gd name="T47" fmla="*/ 204 h 204"/>
                <a:gd name="T48" fmla="*/ 128 w 208"/>
                <a:gd name="T49" fmla="*/ 176 h 204"/>
                <a:gd name="T50" fmla="*/ 141 w 208"/>
                <a:gd name="T51" fmla="*/ 171 h 204"/>
                <a:gd name="T52" fmla="*/ 170 w 208"/>
                <a:gd name="T53" fmla="*/ 182 h 204"/>
                <a:gd name="T54" fmla="*/ 186 w 208"/>
                <a:gd name="T55" fmla="*/ 166 h 204"/>
                <a:gd name="T56" fmla="*/ 174 w 208"/>
                <a:gd name="T57" fmla="*/ 138 h 204"/>
                <a:gd name="T58" fmla="*/ 179 w 208"/>
                <a:gd name="T59" fmla="*/ 125 h 204"/>
                <a:gd name="T60" fmla="*/ 208 w 208"/>
                <a:gd name="T61" fmla="*/ 113 h 204"/>
                <a:gd name="T62" fmla="*/ 208 w 208"/>
                <a:gd name="T63" fmla="*/ 90 h 204"/>
                <a:gd name="T64" fmla="*/ 179 w 208"/>
                <a:gd name="T65" fmla="*/ 79 h 204"/>
                <a:gd name="T66" fmla="*/ 137 w 208"/>
                <a:gd name="T67" fmla="*/ 102 h 204"/>
                <a:gd name="T68" fmla="*/ 104 w 208"/>
                <a:gd name="T69" fmla="*/ 135 h 204"/>
                <a:gd name="T70" fmla="*/ 70 w 208"/>
                <a:gd name="T71" fmla="*/ 102 h 204"/>
                <a:gd name="T72" fmla="*/ 104 w 208"/>
                <a:gd name="T73" fmla="*/ 69 h 204"/>
                <a:gd name="T74" fmla="*/ 137 w 208"/>
                <a:gd name="T75" fmla="*/ 10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8" h="204">
                  <a:moveTo>
                    <a:pt x="179" y="79"/>
                  </a:moveTo>
                  <a:cubicBezTo>
                    <a:pt x="174" y="66"/>
                    <a:pt x="174" y="66"/>
                    <a:pt x="174" y="66"/>
                  </a:cubicBezTo>
                  <a:cubicBezTo>
                    <a:pt x="174" y="66"/>
                    <a:pt x="186" y="39"/>
                    <a:pt x="185" y="38"/>
                  </a:cubicBezTo>
                  <a:cubicBezTo>
                    <a:pt x="169" y="22"/>
                    <a:pt x="169" y="22"/>
                    <a:pt x="169" y="22"/>
                  </a:cubicBezTo>
                  <a:cubicBezTo>
                    <a:pt x="168" y="21"/>
                    <a:pt x="140" y="33"/>
                    <a:pt x="140" y="33"/>
                  </a:cubicBezTo>
                  <a:cubicBezTo>
                    <a:pt x="128" y="28"/>
                    <a:pt x="128" y="28"/>
                    <a:pt x="128" y="28"/>
                  </a:cubicBezTo>
                  <a:cubicBezTo>
                    <a:pt x="128" y="28"/>
                    <a:pt x="116" y="0"/>
                    <a:pt x="115" y="0"/>
                  </a:cubicBezTo>
                  <a:cubicBezTo>
                    <a:pt x="92" y="0"/>
                    <a:pt x="92" y="0"/>
                    <a:pt x="92" y="0"/>
                  </a:cubicBezTo>
                  <a:cubicBezTo>
                    <a:pt x="90" y="0"/>
                    <a:pt x="80" y="28"/>
                    <a:pt x="80" y="28"/>
                  </a:cubicBezTo>
                  <a:cubicBezTo>
                    <a:pt x="67" y="33"/>
                    <a:pt x="67" y="33"/>
                    <a:pt x="67" y="33"/>
                  </a:cubicBezTo>
                  <a:cubicBezTo>
                    <a:pt x="67" y="33"/>
                    <a:pt x="39" y="21"/>
                    <a:pt x="38" y="22"/>
                  </a:cubicBezTo>
                  <a:cubicBezTo>
                    <a:pt x="22" y="38"/>
                    <a:pt x="22" y="38"/>
                    <a:pt x="22" y="38"/>
                  </a:cubicBezTo>
                  <a:cubicBezTo>
                    <a:pt x="21" y="39"/>
                    <a:pt x="34" y="66"/>
                    <a:pt x="34" y="66"/>
                  </a:cubicBezTo>
                  <a:cubicBezTo>
                    <a:pt x="28" y="79"/>
                    <a:pt x="28" y="79"/>
                    <a:pt x="28" y="79"/>
                  </a:cubicBezTo>
                  <a:cubicBezTo>
                    <a:pt x="28" y="79"/>
                    <a:pt x="0" y="90"/>
                    <a:pt x="0" y="91"/>
                  </a:cubicBezTo>
                  <a:cubicBezTo>
                    <a:pt x="0" y="114"/>
                    <a:pt x="0" y="114"/>
                    <a:pt x="0" y="114"/>
                  </a:cubicBezTo>
                  <a:cubicBezTo>
                    <a:pt x="0" y="115"/>
                    <a:pt x="28" y="125"/>
                    <a:pt x="28" y="125"/>
                  </a:cubicBezTo>
                  <a:cubicBezTo>
                    <a:pt x="34" y="138"/>
                    <a:pt x="34" y="138"/>
                    <a:pt x="34" y="138"/>
                  </a:cubicBezTo>
                  <a:cubicBezTo>
                    <a:pt x="34" y="138"/>
                    <a:pt x="21" y="166"/>
                    <a:pt x="22" y="167"/>
                  </a:cubicBezTo>
                  <a:cubicBezTo>
                    <a:pt x="39" y="182"/>
                    <a:pt x="39" y="182"/>
                    <a:pt x="39" y="182"/>
                  </a:cubicBezTo>
                  <a:cubicBezTo>
                    <a:pt x="40" y="183"/>
                    <a:pt x="67" y="171"/>
                    <a:pt x="67" y="171"/>
                  </a:cubicBezTo>
                  <a:cubicBezTo>
                    <a:pt x="80" y="176"/>
                    <a:pt x="80" y="176"/>
                    <a:pt x="80" y="176"/>
                  </a:cubicBezTo>
                  <a:cubicBezTo>
                    <a:pt x="80" y="176"/>
                    <a:pt x="91" y="204"/>
                    <a:pt x="93" y="204"/>
                  </a:cubicBezTo>
                  <a:cubicBezTo>
                    <a:pt x="116" y="204"/>
                    <a:pt x="116" y="204"/>
                    <a:pt x="116" y="204"/>
                  </a:cubicBezTo>
                  <a:cubicBezTo>
                    <a:pt x="117" y="204"/>
                    <a:pt x="128" y="176"/>
                    <a:pt x="128" y="176"/>
                  </a:cubicBezTo>
                  <a:cubicBezTo>
                    <a:pt x="141" y="171"/>
                    <a:pt x="141" y="171"/>
                    <a:pt x="141" y="171"/>
                  </a:cubicBezTo>
                  <a:cubicBezTo>
                    <a:pt x="141" y="171"/>
                    <a:pt x="169" y="183"/>
                    <a:pt x="170" y="182"/>
                  </a:cubicBezTo>
                  <a:cubicBezTo>
                    <a:pt x="186" y="166"/>
                    <a:pt x="186" y="166"/>
                    <a:pt x="186" y="166"/>
                  </a:cubicBezTo>
                  <a:cubicBezTo>
                    <a:pt x="187" y="165"/>
                    <a:pt x="174" y="138"/>
                    <a:pt x="174" y="138"/>
                  </a:cubicBezTo>
                  <a:cubicBezTo>
                    <a:pt x="179" y="125"/>
                    <a:pt x="179" y="125"/>
                    <a:pt x="179" y="125"/>
                  </a:cubicBezTo>
                  <a:cubicBezTo>
                    <a:pt x="179" y="125"/>
                    <a:pt x="208" y="114"/>
                    <a:pt x="208" y="113"/>
                  </a:cubicBezTo>
                  <a:cubicBezTo>
                    <a:pt x="208" y="90"/>
                    <a:pt x="208" y="90"/>
                    <a:pt x="208" y="90"/>
                  </a:cubicBezTo>
                  <a:cubicBezTo>
                    <a:pt x="208" y="89"/>
                    <a:pt x="179" y="79"/>
                    <a:pt x="179" y="79"/>
                  </a:cubicBezTo>
                  <a:moveTo>
                    <a:pt x="137" y="102"/>
                  </a:moveTo>
                  <a:cubicBezTo>
                    <a:pt x="137" y="120"/>
                    <a:pt x="122" y="135"/>
                    <a:pt x="104" y="135"/>
                  </a:cubicBezTo>
                  <a:cubicBezTo>
                    <a:pt x="85" y="135"/>
                    <a:pt x="70" y="120"/>
                    <a:pt x="70" y="102"/>
                  </a:cubicBezTo>
                  <a:cubicBezTo>
                    <a:pt x="70" y="84"/>
                    <a:pt x="85" y="69"/>
                    <a:pt x="104" y="69"/>
                  </a:cubicBezTo>
                  <a:cubicBezTo>
                    <a:pt x="122" y="69"/>
                    <a:pt x="137" y="84"/>
                    <a:pt x="137" y="102"/>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137" name="Freeform 9">
              <a:extLst>
                <a:ext uri="{FF2B5EF4-FFF2-40B4-BE49-F238E27FC236}">
                  <a16:creationId xmlns:a16="http://schemas.microsoft.com/office/drawing/2014/main" id="{D3CB9978-6FC3-54CF-7E56-815A57D8E4AD}"/>
                </a:ext>
              </a:extLst>
            </p:cNvPr>
            <p:cNvSpPr>
              <a:spLocks/>
            </p:cNvSpPr>
            <p:nvPr/>
          </p:nvSpPr>
          <p:spPr bwMode="auto">
            <a:xfrm>
              <a:off x="8008515" y="2334093"/>
              <a:ext cx="174435" cy="165800"/>
            </a:xfrm>
            <a:custGeom>
              <a:avLst/>
              <a:gdLst>
                <a:gd name="T0" fmla="*/ 207 w 211"/>
                <a:gd name="T1" fmla="*/ 85 h 200"/>
                <a:gd name="T2" fmla="*/ 153 w 211"/>
                <a:gd name="T3" fmla="*/ 124 h 200"/>
                <a:gd name="T4" fmla="*/ 173 w 211"/>
                <a:gd name="T5" fmla="*/ 189 h 200"/>
                <a:gd name="T6" fmla="*/ 170 w 211"/>
                <a:gd name="T7" fmla="*/ 198 h 200"/>
                <a:gd name="T8" fmla="*/ 165 w 211"/>
                <a:gd name="T9" fmla="*/ 200 h 200"/>
                <a:gd name="T10" fmla="*/ 160 w 211"/>
                <a:gd name="T11" fmla="*/ 198 h 200"/>
                <a:gd name="T12" fmla="*/ 106 w 211"/>
                <a:gd name="T13" fmla="*/ 158 h 200"/>
                <a:gd name="T14" fmla="*/ 51 w 211"/>
                <a:gd name="T15" fmla="*/ 198 h 200"/>
                <a:gd name="T16" fmla="*/ 41 w 211"/>
                <a:gd name="T17" fmla="*/ 198 h 200"/>
                <a:gd name="T18" fmla="*/ 38 w 211"/>
                <a:gd name="T19" fmla="*/ 189 h 200"/>
                <a:gd name="T20" fmla="*/ 59 w 211"/>
                <a:gd name="T21" fmla="*/ 124 h 200"/>
                <a:gd name="T22" fmla="*/ 5 w 211"/>
                <a:gd name="T23" fmla="*/ 85 h 200"/>
                <a:gd name="T24" fmla="*/ 2 w 211"/>
                <a:gd name="T25" fmla="*/ 75 h 200"/>
                <a:gd name="T26" fmla="*/ 10 w 211"/>
                <a:gd name="T27" fmla="*/ 70 h 200"/>
                <a:gd name="T28" fmla="*/ 77 w 211"/>
                <a:gd name="T29" fmla="*/ 70 h 200"/>
                <a:gd name="T30" fmla="*/ 98 w 211"/>
                <a:gd name="T31" fmla="*/ 5 h 200"/>
                <a:gd name="T32" fmla="*/ 106 w 211"/>
                <a:gd name="T33" fmla="*/ 0 h 200"/>
                <a:gd name="T34" fmla="*/ 114 w 211"/>
                <a:gd name="T35" fmla="*/ 5 h 200"/>
                <a:gd name="T36" fmla="*/ 135 w 211"/>
                <a:gd name="T37" fmla="*/ 70 h 200"/>
                <a:gd name="T38" fmla="*/ 202 w 211"/>
                <a:gd name="T39" fmla="*/ 70 h 200"/>
                <a:gd name="T40" fmla="*/ 210 w 211"/>
                <a:gd name="T41" fmla="*/ 75 h 200"/>
                <a:gd name="T42" fmla="*/ 207 w 211"/>
                <a:gd name="T43" fmla="*/ 8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1" h="200">
                  <a:moveTo>
                    <a:pt x="207" y="85"/>
                  </a:moveTo>
                  <a:cubicBezTo>
                    <a:pt x="153" y="124"/>
                    <a:pt x="153" y="124"/>
                    <a:pt x="153" y="124"/>
                  </a:cubicBezTo>
                  <a:cubicBezTo>
                    <a:pt x="173" y="189"/>
                    <a:pt x="173" y="189"/>
                    <a:pt x="173" y="189"/>
                  </a:cubicBezTo>
                  <a:cubicBezTo>
                    <a:pt x="175" y="192"/>
                    <a:pt x="173" y="196"/>
                    <a:pt x="170" y="198"/>
                  </a:cubicBezTo>
                  <a:cubicBezTo>
                    <a:pt x="169" y="199"/>
                    <a:pt x="167" y="200"/>
                    <a:pt x="165" y="200"/>
                  </a:cubicBezTo>
                  <a:cubicBezTo>
                    <a:pt x="164" y="200"/>
                    <a:pt x="162" y="199"/>
                    <a:pt x="160" y="198"/>
                  </a:cubicBezTo>
                  <a:cubicBezTo>
                    <a:pt x="106" y="158"/>
                    <a:pt x="106" y="158"/>
                    <a:pt x="106" y="158"/>
                  </a:cubicBezTo>
                  <a:cubicBezTo>
                    <a:pt x="51" y="198"/>
                    <a:pt x="51" y="198"/>
                    <a:pt x="51" y="198"/>
                  </a:cubicBezTo>
                  <a:cubicBezTo>
                    <a:pt x="48" y="200"/>
                    <a:pt x="44" y="200"/>
                    <a:pt x="41" y="198"/>
                  </a:cubicBezTo>
                  <a:cubicBezTo>
                    <a:pt x="38" y="196"/>
                    <a:pt x="37" y="192"/>
                    <a:pt x="38" y="189"/>
                  </a:cubicBezTo>
                  <a:cubicBezTo>
                    <a:pt x="59" y="124"/>
                    <a:pt x="59" y="124"/>
                    <a:pt x="59" y="124"/>
                  </a:cubicBezTo>
                  <a:cubicBezTo>
                    <a:pt x="5" y="85"/>
                    <a:pt x="5" y="85"/>
                    <a:pt x="5" y="85"/>
                  </a:cubicBezTo>
                  <a:cubicBezTo>
                    <a:pt x="2" y="83"/>
                    <a:pt x="0" y="79"/>
                    <a:pt x="2" y="75"/>
                  </a:cubicBezTo>
                  <a:cubicBezTo>
                    <a:pt x="3" y="72"/>
                    <a:pt x="6" y="70"/>
                    <a:pt x="10" y="70"/>
                  </a:cubicBezTo>
                  <a:cubicBezTo>
                    <a:pt x="77" y="70"/>
                    <a:pt x="77" y="70"/>
                    <a:pt x="77" y="70"/>
                  </a:cubicBezTo>
                  <a:cubicBezTo>
                    <a:pt x="98" y="5"/>
                    <a:pt x="98" y="5"/>
                    <a:pt x="98" y="5"/>
                  </a:cubicBezTo>
                  <a:cubicBezTo>
                    <a:pt x="99" y="2"/>
                    <a:pt x="102" y="0"/>
                    <a:pt x="106" y="0"/>
                  </a:cubicBezTo>
                  <a:cubicBezTo>
                    <a:pt x="110" y="0"/>
                    <a:pt x="113" y="2"/>
                    <a:pt x="114" y="5"/>
                  </a:cubicBezTo>
                  <a:cubicBezTo>
                    <a:pt x="135" y="70"/>
                    <a:pt x="135" y="70"/>
                    <a:pt x="135" y="70"/>
                  </a:cubicBezTo>
                  <a:cubicBezTo>
                    <a:pt x="202" y="70"/>
                    <a:pt x="202" y="70"/>
                    <a:pt x="202" y="70"/>
                  </a:cubicBezTo>
                  <a:cubicBezTo>
                    <a:pt x="206" y="70"/>
                    <a:pt x="209" y="72"/>
                    <a:pt x="210" y="75"/>
                  </a:cubicBezTo>
                  <a:cubicBezTo>
                    <a:pt x="211" y="79"/>
                    <a:pt x="210" y="83"/>
                    <a:pt x="207" y="85"/>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138" name="Freeform 13">
              <a:extLst>
                <a:ext uri="{FF2B5EF4-FFF2-40B4-BE49-F238E27FC236}">
                  <a16:creationId xmlns:a16="http://schemas.microsoft.com/office/drawing/2014/main" id="{D6A6451D-EFDB-F8CA-5AA2-DDA4BB817D20}"/>
                </a:ext>
              </a:extLst>
            </p:cNvPr>
            <p:cNvSpPr>
              <a:spLocks noEditPoints="1"/>
            </p:cNvSpPr>
            <p:nvPr/>
          </p:nvSpPr>
          <p:spPr bwMode="auto">
            <a:xfrm>
              <a:off x="6274025" y="3710248"/>
              <a:ext cx="127670" cy="111373"/>
            </a:xfrm>
            <a:custGeom>
              <a:avLst/>
              <a:gdLst>
                <a:gd name="T0" fmla="*/ 36 w 216"/>
                <a:gd name="T1" fmla="*/ 19 h 188"/>
                <a:gd name="T2" fmla="*/ 10 w 216"/>
                <a:gd name="T3" fmla="*/ 3 h 188"/>
                <a:gd name="T4" fmla="*/ 0 w 216"/>
                <a:gd name="T5" fmla="*/ 8 h 188"/>
                <a:gd name="T6" fmla="*/ 0 w 216"/>
                <a:gd name="T7" fmla="*/ 42 h 188"/>
                <a:gd name="T8" fmla="*/ 10 w 216"/>
                <a:gd name="T9" fmla="*/ 48 h 188"/>
                <a:gd name="T10" fmla="*/ 36 w 216"/>
                <a:gd name="T11" fmla="*/ 31 h 188"/>
                <a:gd name="T12" fmla="*/ 36 w 216"/>
                <a:gd name="T13" fmla="*/ 19 h 188"/>
                <a:gd name="T14" fmla="*/ 205 w 216"/>
                <a:gd name="T15" fmla="*/ 8 h 188"/>
                <a:gd name="T16" fmla="*/ 68 w 216"/>
                <a:gd name="T17" fmla="*/ 8 h 188"/>
                <a:gd name="T18" fmla="*/ 57 w 216"/>
                <a:gd name="T19" fmla="*/ 20 h 188"/>
                <a:gd name="T20" fmla="*/ 57 w 216"/>
                <a:gd name="T21" fmla="*/ 31 h 188"/>
                <a:gd name="T22" fmla="*/ 68 w 216"/>
                <a:gd name="T23" fmla="*/ 42 h 188"/>
                <a:gd name="T24" fmla="*/ 205 w 216"/>
                <a:gd name="T25" fmla="*/ 42 h 188"/>
                <a:gd name="T26" fmla="*/ 216 w 216"/>
                <a:gd name="T27" fmla="*/ 31 h 188"/>
                <a:gd name="T28" fmla="*/ 216 w 216"/>
                <a:gd name="T29" fmla="*/ 20 h 188"/>
                <a:gd name="T30" fmla="*/ 205 w 216"/>
                <a:gd name="T31" fmla="*/ 8 h 188"/>
                <a:gd name="T32" fmla="*/ 10 w 216"/>
                <a:gd name="T33" fmla="*/ 116 h 188"/>
                <a:gd name="T34" fmla="*/ 36 w 216"/>
                <a:gd name="T35" fmla="*/ 100 h 188"/>
                <a:gd name="T36" fmla="*/ 35 w 216"/>
                <a:gd name="T37" fmla="*/ 89 h 188"/>
                <a:gd name="T38" fmla="*/ 10 w 216"/>
                <a:gd name="T39" fmla="*/ 76 h 188"/>
                <a:gd name="T40" fmla="*/ 0 w 216"/>
                <a:gd name="T41" fmla="*/ 82 h 188"/>
                <a:gd name="T42" fmla="*/ 0 w 216"/>
                <a:gd name="T43" fmla="*/ 111 h 188"/>
                <a:gd name="T44" fmla="*/ 10 w 216"/>
                <a:gd name="T45" fmla="*/ 116 h 188"/>
                <a:gd name="T46" fmla="*/ 205 w 216"/>
                <a:gd name="T47" fmla="*/ 77 h 188"/>
                <a:gd name="T48" fmla="*/ 68 w 216"/>
                <a:gd name="T49" fmla="*/ 77 h 188"/>
                <a:gd name="T50" fmla="*/ 57 w 216"/>
                <a:gd name="T51" fmla="*/ 88 h 188"/>
                <a:gd name="T52" fmla="*/ 57 w 216"/>
                <a:gd name="T53" fmla="*/ 99 h 188"/>
                <a:gd name="T54" fmla="*/ 68 w 216"/>
                <a:gd name="T55" fmla="*/ 111 h 188"/>
                <a:gd name="T56" fmla="*/ 205 w 216"/>
                <a:gd name="T57" fmla="*/ 111 h 188"/>
                <a:gd name="T58" fmla="*/ 216 w 216"/>
                <a:gd name="T59" fmla="*/ 99 h 188"/>
                <a:gd name="T60" fmla="*/ 216 w 216"/>
                <a:gd name="T61" fmla="*/ 88 h 188"/>
                <a:gd name="T62" fmla="*/ 205 w 216"/>
                <a:gd name="T63" fmla="*/ 77 h 188"/>
                <a:gd name="T64" fmla="*/ 36 w 216"/>
                <a:gd name="T65" fmla="*/ 156 h 188"/>
                <a:gd name="T66" fmla="*/ 10 w 216"/>
                <a:gd name="T67" fmla="*/ 139 h 188"/>
                <a:gd name="T68" fmla="*/ 0 w 216"/>
                <a:gd name="T69" fmla="*/ 145 h 188"/>
                <a:gd name="T70" fmla="*/ 0 w 216"/>
                <a:gd name="T71" fmla="*/ 179 h 188"/>
                <a:gd name="T72" fmla="*/ 10 w 216"/>
                <a:gd name="T73" fmla="*/ 184 h 188"/>
                <a:gd name="T74" fmla="*/ 36 w 216"/>
                <a:gd name="T75" fmla="*/ 168 h 188"/>
                <a:gd name="T76" fmla="*/ 36 w 216"/>
                <a:gd name="T77" fmla="*/ 156 h 188"/>
                <a:gd name="T78" fmla="*/ 205 w 216"/>
                <a:gd name="T79" fmla="*/ 145 h 188"/>
                <a:gd name="T80" fmla="*/ 68 w 216"/>
                <a:gd name="T81" fmla="*/ 145 h 188"/>
                <a:gd name="T82" fmla="*/ 57 w 216"/>
                <a:gd name="T83" fmla="*/ 156 h 188"/>
                <a:gd name="T84" fmla="*/ 57 w 216"/>
                <a:gd name="T85" fmla="*/ 167 h 188"/>
                <a:gd name="T86" fmla="*/ 68 w 216"/>
                <a:gd name="T87" fmla="*/ 179 h 188"/>
                <a:gd name="T88" fmla="*/ 205 w 216"/>
                <a:gd name="T89" fmla="*/ 179 h 188"/>
                <a:gd name="T90" fmla="*/ 216 w 216"/>
                <a:gd name="T91" fmla="*/ 167 h 188"/>
                <a:gd name="T92" fmla="*/ 216 w 216"/>
                <a:gd name="T93" fmla="*/ 156 h 188"/>
                <a:gd name="T94" fmla="*/ 205 w 216"/>
                <a:gd name="T95" fmla="*/ 14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6" h="188">
                  <a:moveTo>
                    <a:pt x="36" y="19"/>
                  </a:moveTo>
                  <a:cubicBezTo>
                    <a:pt x="10" y="3"/>
                    <a:pt x="10" y="3"/>
                    <a:pt x="10" y="3"/>
                  </a:cubicBezTo>
                  <a:cubicBezTo>
                    <a:pt x="4" y="0"/>
                    <a:pt x="0" y="2"/>
                    <a:pt x="0" y="8"/>
                  </a:cubicBezTo>
                  <a:cubicBezTo>
                    <a:pt x="0" y="42"/>
                    <a:pt x="0" y="42"/>
                    <a:pt x="0" y="42"/>
                  </a:cubicBezTo>
                  <a:cubicBezTo>
                    <a:pt x="0" y="49"/>
                    <a:pt x="4" y="51"/>
                    <a:pt x="10" y="48"/>
                  </a:cubicBezTo>
                  <a:cubicBezTo>
                    <a:pt x="36" y="31"/>
                    <a:pt x="36" y="31"/>
                    <a:pt x="36" y="31"/>
                  </a:cubicBezTo>
                  <a:cubicBezTo>
                    <a:pt x="41" y="28"/>
                    <a:pt x="41" y="23"/>
                    <a:pt x="36" y="19"/>
                  </a:cubicBezTo>
                  <a:moveTo>
                    <a:pt x="205" y="8"/>
                  </a:moveTo>
                  <a:cubicBezTo>
                    <a:pt x="68" y="8"/>
                    <a:pt x="68" y="8"/>
                    <a:pt x="68" y="8"/>
                  </a:cubicBezTo>
                  <a:cubicBezTo>
                    <a:pt x="62" y="8"/>
                    <a:pt x="57" y="13"/>
                    <a:pt x="57" y="20"/>
                  </a:cubicBezTo>
                  <a:cubicBezTo>
                    <a:pt x="57" y="31"/>
                    <a:pt x="57" y="31"/>
                    <a:pt x="57" y="31"/>
                  </a:cubicBezTo>
                  <a:cubicBezTo>
                    <a:pt x="57" y="37"/>
                    <a:pt x="62" y="42"/>
                    <a:pt x="68" y="42"/>
                  </a:cubicBezTo>
                  <a:cubicBezTo>
                    <a:pt x="205" y="42"/>
                    <a:pt x="205" y="42"/>
                    <a:pt x="205" y="42"/>
                  </a:cubicBezTo>
                  <a:cubicBezTo>
                    <a:pt x="211" y="42"/>
                    <a:pt x="216" y="37"/>
                    <a:pt x="216" y="31"/>
                  </a:cubicBezTo>
                  <a:cubicBezTo>
                    <a:pt x="216" y="20"/>
                    <a:pt x="216" y="20"/>
                    <a:pt x="216" y="20"/>
                  </a:cubicBezTo>
                  <a:cubicBezTo>
                    <a:pt x="216" y="13"/>
                    <a:pt x="211" y="8"/>
                    <a:pt x="205" y="8"/>
                  </a:cubicBezTo>
                  <a:moveTo>
                    <a:pt x="10" y="116"/>
                  </a:moveTo>
                  <a:cubicBezTo>
                    <a:pt x="36" y="100"/>
                    <a:pt x="36" y="100"/>
                    <a:pt x="36" y="100"/>
                  </a:cubicBezTo>
                  <a:cubicBezTo>
                    <a:pt x="41" y="96"/>
                    <a:pt x="41" y="91"/>
                    <a:pt x="35" y="89"/>
                  </a:cubicBezTo>
                  <a:cubicBezTo>
                    <a:pt x="10" y="76"/>
                    <a:pt x="10" y="76"/>
                    <a:pt x="10" y="76"/>
                  </a:cubicBezTo>
                  <a:cubicBezTo>
                    <a:pt x="5" y="73"/>
                    <a:pt x="0" y="76"/>
                    <a:pt x="0" y="82"/>
                  </a:cubicBezTo>
                  <a:cubicBezTo>
                    <a:pt x="0" y="111"/>
                    <a:pt x="0" y="111"/>
                    <a:pt x="0" y="111"/>
                  </a:cubicBezTo>
                  <a:cubicBezTo>
                    <a:pt x="0" y="117"/>
                    <a:pt x="4" y="119"/>
                    <a:pt x="10" y="116"/>
                  </a:cubicBezTo>
                  <a:moveTo>
                    <a:pt x="205" y="77"/>
                  </a:moveTo>
                  <a:cubicBezTo>
                    <a:pt x="68" y="77"/>
                    <a:pt x="68" y="77"/>
                    <a:pt x="68" y="77"/>
                  </a:cubicBezTo>
                  <a:cubicBezTo>
                    <a:pt x="62" y="77"/>
                    <a:pt x="57" y="82"/>
                    <a:pt x="57" y="88"/>
                  </a:cubicBezTo>
                  <a:cubicBezTo>
                    <a:pt x="57" y="99"/>
                    <a:pt x="57" y="99"/>
                    <a:pt x="57" y="99"/>
                  </a:cubicBezTo>
                  <a:cubicBezTo>
                    <a:pt x="57" y="106"/>
                    <a:pt x="62" y="111"/>
                    <a:pt x="68" y="111"/>
                  </a:cubicBezTo>
                  <a:cubicBezTo>
                    <a:pt x="205" y="111"/>
                    <a:pt x="205" y="111"/>
                    <a:pt x="205" y="111"/>
                  </a:cubicBezTo>
                  <a:cubicBezTo>
                    <a:pt x="211" y="111"/>
                    <a:pt x="216" y="106"/>
                    <a:pt x="216" y="99"/>
                  </a:cubicBezTo>
                  <a:cubicBezTo>
                    <a:pt x="216" y="88"/>
                    <a:pt x="216" y="88"/>
                    <a:pt x="216" y="88"/>
                  </a:cubicBezTo>
                  <a:cubicBezTo>
                    <a:pt x="216" y="82"/>
                    <a:pt x="211" y="77"/>
                    <a:pt x="205" y="77"/>
                  </a:cubicBezTo>
                  <a:moveTo>
                    <a:pt x="36" y="156"/>
                  </a:moveTo>
                  <a:cubicBezTo>
                    <a:pt x="10" y="139"/>
                    <a:pt x="10" y="139"/>
                    <a:pt x="10" y="139"/>
                  </a:cubicBezTo>
                  <a:cubicBezTo>
                    <a:pt x="4" y="136"/>
                    <a:pt x="0" y="138"/>
                    <a:pt x="0" y="145"/>
                  </a:cubicBezTo>
                  <a:cubicBezTo>
                    <a:pt x="0" y="179"/>
                    <a:pt x="0" y="179"/>
                    <a:pt x="0" y="179"/>
                  </a:cubicBezTo>
                  <a:cubicBezTo>
                    <a:pt x="0" y="185"/>
                    <a:pt x="4" y="188"/>
                    <a:pt x="10" y="184"/>
                  </a:cubicBezTo>
                  <a:cubicBezTo>
                    <a:pt x="36" y="168"/>
                    <a:pt x="36" y="168"/>
                    <a:pt x="36" y="168"/>
                  </a:cubicBezTo>
                  <a:cubicBezTo>
                    <a:pt x="41" y="165"/>
                    <a:pt x="41" y="159"/>
                    <a:pt x="36" y="156"/>
                  </a:cubicBezTo>
                  <a:moveTo>
                    <a:pt x="205" y="145"/>
                  </a:moveTo>
                  <a:cubicBezTo>
                    <a:pt x="68" y="145"/>
                    <a:pt x="68" y="145"/>
                    <a:pt x="68" y="145"/>
                  </a:cubicBezTo>
                  <a:cubicBezTo>
                    <a:pt x="62" y="145"/>
                    <a:pt x="57" y="150"/>
                    <a:pt x="57" y="156"/>
                  </a:cubicBezTo>
                  <a:cubicBezTo>
                    <a:pt x="57" y="167"/>
                    <a:pt x="57" y="167"/>
                    <a:pt x="57" y="167"/>
                  </a:cubicBezTo>
                  <a:cubicBezTo>
                    <a:pt x="57" y="174"/>
                    <a:pt x="62" y="179"/>
                    <a:pt x="68" y="179"/>
                  </a:cubicBezTo>
                  <a:cubicBezTo>
                    <a:pt x="205" y="179"/>
                    <a:pt x="205" y="179"/>
                    <a:pt x="205" y="179"/>
                  </a:cubicBezTo>
                  <a:cubicBezTo>
                    <a:pt x="211" y="179"/>
                    <a:pt x="216" y="174"/>
                    <a:pt x="216" y="167"/>
                  </a:cubicBezTo>
                  <a:cubicBezTo>
                    <a:pt x="216" y="156"/>
                    <a:pt x="216" y="156"/>
                    <a:pt x="216" y="156"/>
                  </a:cubicBezTo>
                  <a:cubicBezTo>
                    <a:pt x="216" y="150"/>
                    <a:pt x="211" y="145"/>
                    <a:pt x="205" y="145"/>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139" name="Freeform 26">
              <a:extLst>
                <a:ext uri="{FF2B5EF4-FFF2-40B4-BE49-F238E27FC236}">
                  <a16:creationId xmlns:a16="http://schemas.microsoft.com/office/drawing/2014/main" id="{3F01E684-A101-57D5-A14B-1E78820B6D8A}"/>
                </a:ext>
              </a:extLst>
            </p:cNvPr>
            <p:cNvSpPr>
              <a:spLocks/>
            </p:cNvSpPr>
            <p:nvPr/>
          </p:nvSpPr>
          <p:spPr bwMode="auto">
            <a:xfrm>
              <a:off x="7789284" y="4661884"/>
              <a:ext cx="127537" cy="142987"/>
            </a:xfrm>
            <a:custGeom>
              <a:avLst/>
              <a:gdLst>
                <a:gd name="T0" fmla="*/ 157 w 175"/>
                <a:gd name="T1" fmla="*/ 3 h 197"/>
                <a:gd name="T2" fmla="*/ 74 w 175"/>
                <a:gd name="T3" fmla="*/ 28 h 197"/>
                <a:gd name="T4" fmla="*/ 55 w 175"/>
                <a:gd name="T5" fmla="*/ 52 h 197"/>
                <a:gd name="T6" fmla="*/ 55 w 175"/>
                <a:gd name="T7" fmla="*/ 138 h 197"/>
                <a:gd name="T8" fmla="*/ 55 w 175"/>
                <a:gd name="T9" fmla="*/ 140 h 197"/>
                <a:gd name="T10" fmla="*/ 36 w 175"/>
                <a:gd name="T11" fmla="*/ 137 h 197"/>
                <a:gd name="T12" fmla="*/ 0 w 175"/>
                <a:gd name="T13" fmla="*/ 171 h 197"/>
                <a:gd name="T14" fmla="*/ 36 w 175"/>
                <a:gd name="T15" fmla="*/ 194 h 197"/>
                <a:gd name="T16" fmla="*/ 70 w 175"/>
                <a:gd name="T17" fmla="*/ 161 h 197"/>
                <a:gd name="T18" fmla="*/ 70 w 175"/>
                <a:gd name="T19" fmla="*/ 86 h 197"/>
                <a:gd name="T20" fmla="*/ 79 w 175"/>
                <a:gd name="T21" fmla="*/ 76 h 197"/>
                <a:gd name="T22" fmla="*/ 152 w 175"/>
                <a:gd name="T23" fmla="*/ 52 h 197"/>
                <a:gd name="T24" fmla="*/ 160 w 175"/>
                <a:gd name="T25" fmla="*/ 57 h 197"/>
                <a:gd name="T26" fmla="*/ 160 w 175"/>
                <a:gd name="T27" fmla="*/ 117 h 197"/>
                <a:gd name="T28" fmla="*/ 160 w 175"/>
                <a:gd name="T29" fmla="*/ 118 h 197"/>
                <a:gd name="T30" fmla="*/ 139 w 175"/>
                <a:gd name="T31" fmla="*/ 115 h 197"/>
                <a:gd name="T32" fmla="*/ 104 w 175"/>
                <a:gd name="T33" fmla="*/ 148 h 197"/>
                <a:gd name="T34" fmla="*/ 139 w 175"/>
                <a:gd name="T35" fmla="*/ 172 h 197"/>
                <a:gd name="T36" fmla="*/ 175 w 175"/>
                <a:gd name="T37" fmla="*/ 138 h 197"/>
                <a:gd name="T38" fmla="*/ 175 w 175"/>
                <a:gd name="T39" fmla="*/ 16 h 197"/>
                <a:gd name="T40" fmla="*/ 157 w 175"/>
                <a:gd name="T41" fmla="*/ 3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5" h="197">
                  <a:moveTo>
                    <a:pt x="157" y="3"/>
                  </a:moveTo>
                  <a:cubicBezTo>
                    <a:pt x="74" y="28"/>
                    <a:pt x="74" y="28"/>
                    <a:pt x="74" y="28"/>
                  </a:cubicBezTo>
                  <a:cubicBezTo>
                    <a:pt x="63" y="31"/>
                    <a:pt x="55" y="42"/>
                    <a:pt x="55" y="52"/>
                  </a:cubicBezTo>
                  <a:cubicBezTo>
                    <a:pt x="55" y="138"/>
                    <a:pt x="55" y="138"/>
                    <a:pt x="55" y="138"/>
                  </a:cubicBezTo>
                  <a:cubicBezTo>
                    <a:pt x="55" y="140"/>
                    <a:pt x="55" y="140"/>
                    <a:pt x="55" y="140"/>
                  </a:cubicBezTo>
                  <a:cubicBezTo>
                    <a:pt x="55" y="140"/>
                    <a:pt x="49" y="135"/>
                    <a:pt x="36" y="137"/>
                  </a:cubicBezTo>
                  <a:cubicBezTo>
                    <a:pt x="16" y="140"/>
                    <a:pt x="0" y="155"/>
                    <a:pt x="0" y="171"/>
                  </a:cubicBezTo>
                  <a:cubicBezTo>
                    <a:pt x="0" y="187"/>
                    <a:pt x="16" y="197"/>
                    <a:pt x="36" y="194"/>
                  </a:cubicBezTo>
                  <a:cubicBezTo>
                    <a:pt x="56" y="191"/>
                    <a:pt x="70" y="177"/>
                    <a:pt x="70" y="161"/>
                  </a:cubicBezTo>
                  <a:cubicBezTo>
                    <a:pt x="70" y="86"/>
                    <a:pt x="70" y="86"/>
                    <a:pt x="70" y="86"/>
                  </a:cubicBezTo>
                  <a:cubicBezTo>
                    <a:pt x="70" y="79"/>
                    <a:pt x="79" y="76"/>
                    <a:pt x="79" y="76"/>
                  </a:cubicBezTo>
                  <a:cubicBezTo>
                    <a:pt x="152" y="52"/>
                    <a:pt x="152" y="52"/>
                    <a:pt x="152" y="52"/>
                  </a:cubicBezTo>
                  <a:cubicBezTo>
                    <a:pt x="152" y="52"/>
                    <a:pt x="160" y="50"/>
                    <a:pt x="160" y="57"/>
                  </a:cubicBezTo>
                  <a:cubicBezTo>
                    <a:pt x="160" y="117"/>
                    <a:pt x="160" y="117"/>
                    <a:pt x="160" y="117"/>
                  </a:cubicBezTo>
                  <a:cubicBezTo>
                    <a:pt x="160" y="118"/>
                    <a:pt x="160" y="118"/>
                    <a:pt x="160" y="118"/>
                  </a:cubicBezTo>
                  <a:cubicBezTo>
                    <a:pt x="160" y="118"/>
                    <a:pt x="153" y="113"/>
                    <a:pt x="139" y="115"/>
                  </a:cubicBezTo>
                  <a:cubicBezTo>
                    <a:pt x="120" y="117"/>
                    <a:pt x="104" y="132"/>
                    <a:pt x="104" y="148"/>
                  </a:cubicBezTo>
                  <a:cubicBezTo>
                    <a:pt x="104" y="164"/>
                    <a:pt x="120" y="174"/>
                    <a:pt x="139" y="172"/>
                  </a:cubicBezTo>
                  <a:cubicBezTo>
                    <a:pt x="159" y="169"/>
                    <a:pt x="175" y="154"/>
                    <a:pt x="175" y="138"/>
                  </a:cubicBezTo>
                  <a:cubicBezTo>
                    <a:pt x="175" y="16"/>
                    <a:pt x="175" y="16"/>
                    <a:pt x="175" y="16"/>
                  </a:cubicBezTo>
                  <a:cubicBezTo>
                    <a:pt x="175" y="6"/>
                    <a:pt x="167" y="0"/>
                    <a:pt x="157" y="3"/>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140" name="Freeform 30">
              <a:extLst>
                <a:ext uri="{FF2B5EF4-FFF2-40B4-BE49-F238E27FC236}">
                  <a16:creationId xmlns:a16="http://schemas.microsoft.com/office/drawing/2014/main" id="{A165CB58-808D-B96D-01AD-9AA0DEB90B73}"/>
                </a:ext>
              </a:extLst>
            </p:cNvPr>
            <p:cNvSpPr>
              <a:spLocks/>
            </p:cNvSpPr>
            <p:nvPr/>
          </p:nvSpPr>
          <p:spPr bwMode="auto">
            <a:xfrm>
              <a:off x="6826165" y="4505313"/>
              <a:ext cx="268298" cy="202527"/>
            </a:xfrm>
            <a:custGeom>
              <a:avLst/>
              <a:gdLst>
                <a:gd name="T0" fmla="*/ 192 w 389"/>
                <a:gd name="T1" fmla="*/ 293 h 293"/>
                <a:gd name="T2" fmla="*/ 183 w 389"/>
                <a:gd name="T3" fmla="*/ 285 h 293"/>
                <a:gd name="T4" fmla="*/ 235 w 389"/>
                <a:gd name="T5" fmla="*/ 233 h 293"/>
                <a:gd name="T6" fmla="*/ 145 w 389"/>
                <a:gd name="T7" fmla="*/ 238 h 293"/>
                <a:gd name="T8" fmla="*/ 141 w 389"/>
                <a:gd name="T9" fmla="*/ 241 h 293"/>
                <a:gd name="T10" fmla="*/ 88 w 389"/>
                <a:gd name="T11" fmla="*/ 188 h 293"/>
                <a:gd name="T12" fmla="*/ 93 w 389"/>
                <a:gd name="T13" fmla="*/ 184 h 293"/>
                <a:gd name="T14" fmla="*/ 288 w 389"/>
                <a:gd name="T15" fmla="*/ 180 h 293"/>
                <a:gd name="T16" fmla="*/ 325 w 389"/>
                <a:gd name="T17" fmla="*/ 144 h 293"/>
                <a:gd name="T18" fmla="*/ 254 w 389"/>
                <a:gd name="T19" fmla="*/ 102 h 293"/>
                <a:gd name="T20" fmla="*/ 56 w 389"/>
                <a:gd name="T21" fmla="*/ 149 h 293"/>
                <a:gd name="T22" fmla="*/ 52 w 389"/>
                <a:gd name="T23" fmla="*/ 152 h 293"/>
                <a:gd name="T24" fmla="*/ 0 w 389"/>
                <a:gd name="T25" fmla="*/ 101 h 293"/>
                <a:gd name="T26" fmla="*/ 4 w 389"/>
                <a:gd name="T27" fmla="*/ 96 h 293"/>
                <a:gd name="T28" fmla="*/ 120 w 389"/>
                <a:gd name="T29" fmla="*/ 26 h 293"/>
                <a:gd name="T30" fmla="*/ 389 w 389"/>
                <a:gd name="T31" fmla="*/ 96 h 293"/>
                <a:gd name="T32" fmla="*/ 381 w 389"/>
                <a:gd name="T33" fmla="*/ 105 h 293"/>
                <a:gd name="T34" fmla="*/ 124 w 389"/>
                <a:gd name="T35" fmla="*/ 38 h 293"/>
                <a:gd name="T36" fmla="*/ 17 w 389"/>
                <a:gd name="T37" fmla="*/ 101 h 293"/>
                <a:gd name="T38" fmla="*/ 53 w 389"/>
                <a:gd name="T39" fmla="*/ 136 h 293"/>
                <a:gd name="T40" fmla="*/ 258 w 389"/>
                <a:gd name="T41" fmla="*/ 91 h 293"/>
                <a:gd name="T42" fmla="*/ 338 w 389"/>
                <a:gd name="T43" fmla="*/ 140 h 293"/>
                <a:gd name="T44" fmla="*/ 342 w 389"/>
                <a:gd name="T45" fmla="*/ 144 h 293"/>
                <a:gd name="T46" fmla="*/ 288 w 389"/>
                <a:gd name="T47" fmla="*/ 197 h 293"/>
                <a:gd name="T48" fmla="*/ 284 w 389"/>
                <a:gd name="T49" fmla="*/ 193 h 293"/>
                <a:gd name="T50" fmla="*/ 106 w 389"/>
                <a:gd name="T51" fmla="*/ 189 h 293"/>
                <a:gd name="T52" fmla="*/ 142 w 389"/>
                <a:gd name="T53" fmla="*/ 225 h 293"/>
                <a:gd name="T54" fmla="*/ 248 w 389"/>
                <a:gd name="T55" fmla="*/ 229 h 293"/>
                <a:gd name="T56" fmla="*/ 252 w 389"/>
                <a:gd name="T57" fmla="*/ 233 h 293"/>
                <a:gd name="T58" fmla="*/ 192 w 389"/>
                <a:gd name="T59" fmla="*/ 293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9" h="293">
                  <a:moveTo>
                    <a:pt x="192" y="293"/>
                  </a:moveTo>
                  <a:cubicBezTo>
                    <a:pt x="183" y="285"/>
                    <a:pt x="183" y="285"/>
                    <a:pt x="183" y="285"/>
                  </a:cubicBezTo>
                  <a:cubicBezTo>
                    <a:pt x="235" y="233"/>
                    <a:pt x="235" y="233"/>
                    <a:pt x="235" y="233"/>
                  </a:cubicBezTo>
                  <a:cubicBezTo>
                    <a:pt x="224" y="223"/>
                    <a:pt x="191" y="201"/>
                    <a:pt x="145" y="238"/>
                  </a:cubicBezTo>
                  <a:cubicBezTo>
                    <a:pt x="141" y="241"/>
                    <a:pt x="141" y="241"/>
                    <a:pt x="141" y="241"/>
                  </a:cubicBezTo>
                  <a:cubicBezTo>
                    <a:pt x="88" y="188"/>
                    <a:pt x="88" y="188"/>
                    <a:pt x="88" y="188"/>
                  </a:cubicBezTo>
                  <a:cubicBezTo>
                    <a:pt x="93" y="184"/>
                    <a:pt x="93" y="184"/>
                    <a:pt x="93" y="184"/>
                  </a:cubicBezTo>
                  <a:cubicBezTo>
                    <a:pt x="94" y="183"/>
                    <a:pt x="202" y="101"/>
                    <a:pt x="288" y="180"/>
                  </a:cubicBezTo>
                  <a:cubicBezTo>
                    <a:pt x="325" y="144"/>
                    <a:pt x="325" y="144"/>
                    <a:pt x="325" y="144"/>
                  </a:cubicBezTo>
                  <a:cubicBezTo>
                    <a:pt x="316" y="135"/>
                    <a:pt x="291" y="114"/>
                    <a:pt x="254" y="102"/>
                  </a:cubicBezTo>
                  <a:cubicBezTo>
                    <a:pt x="191" y="82"/>
                    <a:pt x="124" y="97"/>
                    <a:pt x="56" y="149"/>
                  </a:cubicBezTo>
                  <a:cubicBezTo>
                    <a:pt x="52" y="152"/>
                    <a:pt x="52" y="152"/>
                    <a:pt x="52" y="152"/>
                  </a:cubicBezTo>
                  <a:cubicBezTo>
                    <a:pt x="0" y="101"/>
                    <a:pt x="0" y="101"/>
                    <a:pt x="0" y="101"/>
                  </a:cubicBezTo>
                  <a:cubicBezTo>
                    <a:pt x="4" y="96"/>
                    <a:pt x="4" y="96"/>
                    <a:pt x="4" y="96"/>
                  </a:cubicBezTo>
                  <a:cubicBezTo>
                    <a:pt x="6" y="94"/>
                    <a:pt x="50" y="49"/>
                    <a:pt x="120" y="26"/>
                  </a:cubicBezTo>
                  <a:cubicBezTo>
                    <a:pt x="185" y="5"/>
                    <a:pt x="284" y="0"/>
                    <a:pt x="389" y="96"/>
                  </a:cubicBezTo>
                  <a:cubicBezTo>
                    <a:pt x="381" y="105"/>
                    <a:pt x="381" y="105"/>
                    <a:pt x="381" y="105"/>
                  </a:cubicBezTo>
                  <a:cubicBezTo>
                    <a:pt x="300" y="31"/>
                    <a:pt x="213" y="8"/>
                    <a:pt x="124" y="38"/>
                  </a:cubicBezTo>
                  <a:cubicBezTo>
                    <a:pt x="69" y="56"/>
                    <a:pt x="29" y="89"/>
                    <a:pt x="17" y="101"/>
                  </a:cubicBezTo>
                  <a:cubicBezTo>
                    <a:pt x="53" y="136"/>
                    <a:pt x="53" y="136"/>
                    <a:pt x="53" y="136"/>
                  </a:cubicBezTo>
                  <a:cubicBezTo>
                    <a:pt x="102" y="100"/>
                    <a:pt x="177" y="64"/>
                    <a:pt x="258" y="91"/>
                  </a:cubicBezTo>
                  <a:cubicBezTo>
                    <a:pt x="308" y="107"/>
                    <a:pt x="337" y="139"/>
                    <a:pt x="338" y="140"/>
                  </a:cubicBezTo>
                  <a:cubicBezTo>
                    <a:pt x="342" y="144"/>
                    <a:pt x="342" y="144"/>
                    <a:pt x="342" y="144"/>
                  </a:cubicBezTo>
                  <a:cubicBezTo>
                    <a:pt x="288" y="197"/>
                    <a:pt x="288" y="197"/>
                    <a:pt x="288" y="197"/>
                  </a:cubicBezTo>
                  <a:cubicBezTo>
                    <a:pt x="284" y="193"/>
                    <a:pt x="284" y="193"/>
                    <a:pt x="284" y="193"/>
                  </a:cubicBezTo>
                  <a:cubicBezTo>
                    <a:pt x="215" y="125"/>
                    <a:pt x="129" y="174"/>
                    <a:pt x="106" y="189"/>
                  </a:cubicBezTo>
                  <a:cubicBezTo>
                    <a:pt x="142" y="225"/>
                    <a:pt x="142" y="225"/>
                    <a:pt x="142" y="225"/>
                  </a:cubicBezTo>
                  <a:cubicBezTo>
                    <a:pt x="204" y="179"/>
                    <a:pt x="247" y="229"/>
                    <a:pt x="248" y="229"/>
                  </a:cubicBezTo>
                  <a:cubicBezTo>
                    <a:pt x="252" y="233"/>
                    <a:pt x="252" y="233"/>
                    <a:pt x="252" y="233"/>
                  </a:cubicBezTo>
                  <a:lnTo>
                    <a:pt x="192" y="293"/>
                  </a:lnTo>
                  <a:close/>
                </a:path>
              </a:pathLst>
            </a:custGeom>
            <a:solidFill>
              <a:srgbClr val="B4DE2C"/>
            </a:solidFill>
            <a:ln w="12700">
              <a:solidFill>
                <a:schemeClr val="bg1"/>
              </a:solidFill>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grpSp>
          <p:nvGrpSpPr>
            <p:cNvPr id="141" name="Group 140">
              <a:extLst>
                <a:ext uri="{FF2B5EF4-FFF2-40B4-BE49-F238E27FC236}">
                  <a16:creationId xmlns:a16="http://schemas.microsoft.com/office/drawing/2014/main" id="{FDDC374F-1513-2887-6407-01783F11066B}"/>
                </a:ext>
              </a:extLst>
            </p:cNvPr>
            <p:cNvGrpSpPr/>
            <p:nvPr/>
          </p:nvGrpSpPr>
          <p:grpSpPr>
            <a:xfrm>
              <a:off x="7414994" y="2583648"/>
              <a:ext cx="242553" cy="292645"/>
              <a:chOff x="134906" y="3220464"/>
              <a:chExt cx="730251" cy="881063"/>
            </a:xfrm>
            <a:noFill/>
          </p:grpSpPr>
          <p:sp>
            <p:nvSpPr>
              <p:cNvPr id="235" name="Freeform 34">
                <a:extLst>
                  <a:ext uri="{FF2B5EF4-FFF2-40B4-BE49-F238E27FC236}">
                    <a16:creationId xmlns:a16="http://schemas.microsoft.com/office/drawing/2014/main" id="{CDEA06D2-D341-6AB2-27CA-2F812CB851CB}"/>
                  </a:ext>
                </a:extLst>
              </p:cNvPr>
              <p:cNvSpPr>
                <a:spLocks/>
              </p:cNvSpPr>
              <p:nvPr/>
            </p:nvSpPr>
            <p:spPr bwMode="auto">
              <a:xfrm>
                <a:off x="134906" y="3220464"/>
                <a:ext cx="730251" cy="577851"/>
              </a:xfrm>
              <a:custGeom>
                <a:avLst/>
                <a:gdLst>
                  <a:gd name="T0" fmla="*/ 124 w 192"/>
                  <a:gd name="T1" fmla="*/ 96 h 152"/>
                  <a:gd name="T2" fmla="*/ 116 w 192"/>
                  <a:gd name="T3" fmla="*/ 92 h 152"/>
                  <a:gd name="T4" fmla="*/ 116 w 192"/>
                  <a:gd name="T5" fmla="*/ 80 h 152"/>
                  <a:gd name="T6" fmla="*/ 120 w 192"/>
                  <a:gd name="T7" fmla="*/ 60 h 152"/>
                  <a:gd name="T8" fmla="*/ 121 w 192"/>
                  <a:gd name="T9" fmla="*/ 25 h 152"/>
                  <a:gd name="T10" fmla="*/ 96 w 192"/>
                  <a:gd name="T11" fmla="*/ 0 h 152"/>
                  <a:gd name="T12" fmla="*/ 72 w 192"/>
                  <a:gd name="T13" fmla="*/ 24 h 152"/>
                  <a:gd name="T14" fmla="*/ 72 w 192"/>
                  <a:gd name="T15" fmla="*/ 60 h 152"/>
                  <a:gd name="T16" fmla="*/ 76 w 192"/>
                  <a:gd name="T17" fmla="*/ 80 h 152"/>
                  <a:gd name="T18" fmla="*/ 76 w 192"/>
                  <a:gd name="T19" fmla="*/ 92 h 152"/>
                  <a:gd name="T20" fmla="*/ 68 w 192"/>
                  <a:gd name="T21" fmla="*/ 96 h 152"/>
                  <a:gd name="T22" fmla="*/ 16 w 192"/>
                  <a:gd name="T23" fmla="*/ 96 h 152"/>
                  <a:gd name="T24" fmla="*/ 0 w 192"/>
                  <a:gd name="T25" fmla="*/ 116 h 152"/>
                  <a:gd name="T26" fmla="*/ 0 w 192"/>
                  <a:gd name="T27" fmla="*/ 152 h 152"/>
                  <a:gd name="T28" fmla="*/ 192 w 192"/>
                  <a:gd name="T29" fmla="*/ 152 h 152"/>
                  <a:gd name="T30" fmla="*/ 192 w 192"/>
                  <a:gd name="T31" fmla="*/ 116 h 152"/>
                  <a:gd name="T32" fmla="*/ 176 w 192"/>
                  <a:gd name="T33" fmla="*/ 96 h 152"/>
                  <a:gd name="T34" fmla="*/ 124 w 192"/>
                  <a:gd name="T35" fmla="*/ 9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152">
                    <a:moveTo>
                      <a:pt x="124" y="96"/>
                    </a:moveTo>
                    <a:cubicBezTo>
                      <a:pt x="121" y="96"/>
                      <a:pt x="118" y="95"/>
                      <a:pt x="116" y="92"/>
                    </a:cubicBezTo>
                    <a:cubicBezTo>
                      <a:pt x="114" y="89"/>
                      <a:pt x="115" y="83"/>
                      <a:pt x="116" y="80"/>
                    </a:cubicBezTo>
                    <a:cubicBezTo>
                      <a:pt x="119" y="72"/>
                      <a:pt x="120" y="68"/>
                      <a:pt x="120" y="60"/>
                    </a:cubicBezTo>
                    <a:cubicBezTo>
                      <a:pt x="121" y="25"/>
                      <a:pt x="121" y="25"/>
                      <a:pt x="121" y="25"/>
                    </a:cubicBezTo>
                    <a:cubicBezTo>
                      <a:pt x="121" y="11"/>
                      <a:pt x="110" y="0"/>
                      <a:pt x="96" y="0"/>
                    </a:cubicBezTo>
                    <a:cubicBezTo>
                      <a:pt x="82" y="0"/>
                      <a:pt x="72" y="10"/>
                      <a:pt x="72" y="24"/>
                    </a:cubicBezTo>
                    <a:cubicBezTo>
                      <a:pt x="72" y="60"/>
                      <a:pt x="72" y="60"/>
                      <a:pt x="72" y="60"/>
                    </a:cubicBezTo>
                    <a:cubicBezTo>
                      <a:pt x="72" y="68"/>
                      <a:pt x="73" y="72"/>
                      <a:pt x="76" y="80"/>
                    </a:cubicBezTo>
                    <a:cubicBezTo>
                      <a:pt x="77" y="83"/>
                      <a:pt x="78" y="89"/>
                      <a:pt x="76" y="92"/>
                    </a:cubicBezTo>
                    <a:cubicBezTo>
                      <a:pt x="74" y="95"/>
                      <a:pt x="71" y="96"/>
                      <a:pt x="68" y="96"/>
                    </a:cubicBezTo>
                    <a:cubicBezTo>
                      <a:pt x="16" y="96"/>
                      <a:pt x="16" y="96"/>
                      <a:pt x="16" y="96"/>
                    </a:cubicBezTo>
                    <a:cubicBezTo>
                      <a:pt x="8" y="96"/>
                      <a:pt x="0" y="108"/>
                      <a:pt x="0" y="116"/>
                    </a:cubicBezTo>
                    <a:cubicBezTo>
                      <a:pt x="0" y="152"/>
                      <a:pt x="0" y="152"/>
                      <a:pt x="0" y="152"/>
                    </a:cubicBezTo>
                    <a:cubicBezTo>
                      <a:pt x="192" y="152"/>
                      <a:pt x="192" y="152"/>
                      <a:pt x="192" y="152"/>
                    </a:cubicBezTo>
                    <a:cubicBezTo>
                      <a:pt x="192" y="116"/>
                      <a:pt x="192" y="116"/>
                      <a:pt x="192" y="116"/>
                    </a:cubicBezTo>
                    <a:cubicBezTo>
                      <a:pt x="192" y="108"/>
                      <a:pt x="184" y="96"/>
                      <a:pt x="176" y="96"/>
                    </a:cubicBezTo>
                    <a:lnTo>
                      <a:pt x="124" y="96"/>
                    </a:lnTo>
                    <a:close/>
                  </a:path>
                </a:pathLst>
              </a:custGeom>
              <a:grpFill/>
              <a:ln w="1587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236" name="Freeform 35">
                <a:extLst>
                  <a:ext uri="{FF2B5EF4-FFF2-40B4-BE49-F238E27FC236}">
                    <a16:creationId xmlns:a16="http://schemas.microsoft.com/office/drawing/2014/main" id="{F016718E-F1DB-DCEE-D995-DA7FA3FCBB62}"/>
                  </a:ext>
                </a:extLst>
              </p:cNvPr>
              <p:cNvSpPr>
                <a:spLocks/>
              </p:cNvSpPr>
              <p:nvPr/>
            </p:nvSpPr>
            <p:spPr bwMode="auto">
              <a:xfrm>
                <a:off x="165069" y="3798314"/>
                <a:ext cx="669926" cy="303213"/>
              </a:xfrm>
              <a:custGeom>
                <a:avLst/>
                <a:gdLst>
                  <a:gd name="T0" fmla="*/ 422 w 422"/>
                  <a:gd name="T1" fmla="*/ 191 h 191"/>
                  <a:gd name="T2" fmla="*/ 115 w 422"/>
                  <a:gd name="T3" fmla="*/ 191 h 191"/>
                  <a:gd name="T4" fmla="*/ 115 w 422"/>
                  <a:gd name="T5" fmla="*/ 95 h 191"/>
                  <a:gd name="T6" fmla="*/ 67 w 422"/>
                  <a:gd name="T7" fmla="*/ 191 h 191"/>
                  <a:gd name="T8" fmla="*/ 0 w 422"/>
                  <a:gd name="T9" fmla="*/ 191 h 191"/>
                  <a:gd name="T10" fmla="*/ 0 w 422"/>
                  <a:gd name="T11" fmla="*/ 0 h 191"/>
                  <a:gd name="T12" fmla="*/ 422 w 422"/>
                  <a:gd name="T13" fmla="*/ 0 h 191"/>
                  <a:gd name="T14" fmla="*/ 422 w 422"/>
                  <a:gd name="T15" fmla="*/ 191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2" h="191">
                    <a:moveTo>
                      <a:pt x="422" y="191"/>
                    </a:moveTo>
                    <a:lnTo>
                      <a:pt x="115" y="191"/>
                    </a:lnTo>
                    <a:lnTo>
                      <a:pt x="115" y="95"/>
                    </a:lnTo>
                    <a:lnTo>
                      <a:pt x="67" y="191"/>
                    </a:lnTo>
                    <a:lnTo>
                      <a:pt x="0" y="191"/>
                    </a:lnTo>
                    <a:lnTo>
                      <a:pt x="0" y="0"/>
                    </a:lnTo>
                    <a:lnTo>
                      <a:pt x="422" y="0"/>
                    </a:lnTo>
                    <a:lnTo>
                      <a:pt x="422" y="191"/>
                    </a:lnTo>
                    <a:close/>
                  </a:path>
                </a:pathLst>
              </a:custGeom>
              <a:grpFill/>
              <a:ln w="1587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237" name="Line 36">
                <a:extLst>
                  <a:ext uri="{FF2B5EF4-FFF2-40B4-BE49-F238E27FC236}">
                    <a16:creationId xmlns:a16="http://schemas.microsoft.com/office/drawing/2014/main" id="{2DD00245-34F5-BFB9-4295-49E5C6A8D2AA}"/>
                  </a:ext>
                </a:extLst>
              </p:cNvPr>
              <p:cNvSpPr>
                <a:spLocks noChangeShapeType="1"/>
              </p:cNvSpPr>
              <p:nvPr/>
            </p:nvSpPr>
            <p:spPr bwMode="auto">
              <a:xfrm>
                <a:off x="742919" y="3904677"/>
                <a:ext cx="0" cy="196850"/>
              </a:xfrm>
              <a:prstGeom prst="line">
                <a:avLst/>
              </a:prstGeom>
              <a:grpFill/>
              <a:ln w="1587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238" name="Line 37">
                <a:extLst>
                  <a:ext uri="{FF2B5EF4-FFF2-40B4-BE49-F238E27FC236}">
                    <a16:creationId xmlns:a16="http://schemas.microsoft.com/office/drawing/2014/main" id="{E1609932-5700-E0D5-59DF-F012785EDC35}"/>
                  </a:ext>
                </a:extLst>
              </p:cNvPr>
              <p:cNvSpPr>
                <a:spLocks noChangeShapeType="1"/>
              </p:cNvSpPr>
              <p:nvPr/>
            </p:nvSpPr>
            <p:spPr bwMode="auto">
              <a:xfrm>
                <a:off x="652432" y="3949127"/>
                <a:ext cx="0" cy="152400"/>
              </a:xfrm>
              <a:prstGeom prst="line">
                <a:avLst/>
              </a:prstGeom>
              <a:grpFill/>
              <a:ln w="1587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239" name="Line 38">
                <a:extLst>
                  <a:ext uri="{FF2B5EF4-FFF2-40B4-BE49-F238E27FC236}">
                    <a16:creationId xmlns:a16="http://schemas.microsoft.com/office/drawing/2014/main" id="{6698AA72-7242-68C9-277B-B303C063755E}"/>
                  </a:ext>
                </a:extLst>
              </p:cNvPr>
              <p:cNvSpPr>
                <a:spLocks noChangeShapeType="1"/>
              </p:cNvSpPr>
              <p:nvPr/>
            </p:nvSpPr>
            <p:spPr bwMode="auto">
              <a:xfrm>
                <a:off x="560357" y="4011039"/>
                <a:ext cx="0" cy="90488"/>
              </a:xfrm>
              <a:prstGeom prst="line">
                <a:avLst/>
              </a:prstGeom>
              <a:grpFill/>
              <a:ln w="1587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240" name="Oval 39">
                <a:extLst>
                  <a:ext uri="{FF2B5EF4-FFF2-40B4-BE49-F238E27FC236}">
                    <a16:creationId xmlns:a16="http://schemas.microsoft.com/office/drawing/2014/main" id="{E888FE6F-6969-FFBC-9618-636A820551A2}"/>
                  </a:ext>
                </a:extLst>
              </p:cNvPr>
              <p:cNvSpPr>
                <a:spLocks noChangeArrowheads="1"/>
              </p:cNvSpPr>
              <p:nvPr/>
            </p:nvSpPr>
            <p:spPr bwMode="auto">
              <a:xfrm>
                <a:off x="480981" y="3296664"/>
                <a:ext cx="38100" cy="38100"/>
              </a:xfrm>
              <a:prstGeom prst="ellipse">
                <a:avLst/>
              </a:prstGeom>
              <a:grpFill/>
              <a:ln w="1587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grpSp>
        <p:grpSp>
          <p:nvGrpSpPr>
            <p:cNvPr id="142" name="Group 141">
              <a:extLst>
                <a:ext uri="{FF2B5EF4-FFF2-40B4-BE49-F238E27FC236}">
                  <a16:creationId xmlns:a16="http://schemas.microsoft.com/office/drawing/2014/main" id="{2091C3BF-2755-EB48-B70D-C26F6CE1C2AD}"/>
                </a:ext>
              </a:extLst>
            </p:cNvPr>
            <p:cNvGrpSpPr/>
            <p:nvPr/>
          </p:nvGrpSpPr>
          <p:grpSpPr>
            <a:xfrm>
              <a:off x="6561466" y="2178844"/>
              <a:ext cx="137112" cy="180000"/>
              <a:chOff x="139667" y="3898841"/>
              <a:chExt cx="669925" cy="879475"/>
            </a:xfrm>
          </p:grpSpPr>
          <p:sp>
            <p:nvSpPr>
              <p:cNvPr id="232" name="Freeform 43">
                <a:extLst>
                  <a:ext uri="{FF2B5EF4-FFF2-40B4-BE49-F238E27FC236}">
                    <a16:creationId xmlns:a16="http://schemas.microsoft.com/office/drawing/2014/main" id="{EECC023D-182F-D2CA-2382-20C7623DFCB5}"/>
                  </a:ext>
                </a:extLst>
              </p:cNvPr>
              <p:cNvSpPr>
                <a:spLocks/>
              </p:cNvSpPr>
              <p:nvPr/>
            </p:nvSpPr>
            <p:spPr bwMode="auto">
              <a:xfrm>
                <a:off x="139667" y="3898841"/>
                <a:ext cx="669925" cy="879475"/>
              </a:xfrm>
              <a:custGeom>
                <a:avLst/>
                <a:gdLst>
                  <a:gd name="T0" fmla="*/ 176 w 176"/>
                  <a:gd name="T1" fmla="*/ 212 h 232"/>
                  <a:gd name="T2" fmla="*/ 156 w 176"/>
                  <a:gd name="T3" fmla="*/ 232 h 232"/>
                  <a:gd name="T4" fmla="*/ 20 w 176"/>
                  <a:gd name="T5" fmla="*/ 232 h 232"/>
                  <a:gd name="T6" fmla="*/ 0 w 176"/>
                  <a:gd name="T7" fmla="*/ 212 h 232"/>
                  <a:gd name="T8" fmla="*/ 0 w 176"/>
                  <a:gd name="T9" fmla="*/ 20 h 232"/>
                  <a:gd name="T10" fmla="*/ 20 w 176"/>
                  <a:gd name="T11" fmla="*/ 0 h 232"/>
                  <a:gd name="T12" fmla="*/ 156 w 176"/>
                  <a:gd name="T13" fmla="*/ 0 h 232"/>
                  <a:gd name="T14" fmla="*/ 176 w 176"/>
                  <a:gd name="T15" fmla="*/ 20 h 232"/>
                  <a:gd name="T16" fmla="*/ 176 w 176"/>
                  <a:gd name="T17" fmla="*/ 212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6" h="232">
                    <a:moveTo>
                      <a:pt x="176" y="212"/>
                    </a:moveTo>
                    <a:cubicBezTo>
                      <a:pt x="176" y="223"/>
                      <a:pt x="167" y="232"/>
                      <a:pt x="156" y="232"/>
                    </a:cubicBezTo>
                    <a:cubicBezTo>
                      <a:pt x="20" y="232"/>
                      <a:pt x="20" y="232"/>
                      <a:pt x="20" y="232"/>
                    </a:cubicBezTo>
                    <a:cubicBezTo>
                      <a:pt x="9" y="232"/>
                      <a:pt x="0" y="223"/>
                      <a:pt x="0" y="212"/>
                    </a:cubicBezTo>
                    <a:cubicBezTo>
                      <a:pt x="0" y="20"/>
                      <a:pt x="0" y="20"/>
                      <a:pt x="0" y="20"/>
                    </a:cubicBezTo>
                    <a:cubicBezTo>
                      <a:pt x="0" y="9"/>
                      <a:pt x="9" y="0"/>
                      <a:pt x="20" y="0"/>
                    </a:cubicBezTo>
                    <a:cubicBezTo>
                      <a:pt x="156" y="0"/>
                      <a:pt x="156" y="0"/>
                      <a:pt x="156" y="0"/>
                    </a:cubicBezTo>
                    <a:cubicBezTo>
                      <a:pt x="167" y="0"/>
                      <a:pt x="176" y="9"/>
                      <a:pt x="176" y="20"/>
                    </a:cubicBezTo>
                    <a:lnTo>
                      <a:pt x="176" y="212"/>
                    </a:lnTo>
                    <a:close/>
                  </a:path>
                </a:pathLst>
              </a:custGeom>
              <a:noFill/>
              <a:ln w="12700" cap="rnd">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233" name="Rectangle 44">
                <a:extLst>
                  <a:ext uri="{FF2B5EF4-FFF2-40B4-BE49-F238E27FC236}">
                    <a16:creationId xmlns:a16="http://schemas.microsoft.com/office/drawing/2014/main" id="{C15D710A-4241-4AB4-1620-2715C27077C2}"/>
                  </a:ext>
                </a:extLst>
              </p:cNvPr>
              <p:cNvSpPr>
                <a:spLocks noChangeArrowheads="1"/>
              </p:cNvSpPr>
              <p:nvPr/>
            </p:nvSpPr>
            <p:spPr bwMode="auto">
              <a:xfrm>
                <a:off x="230154" y="4019491"/>
                <a:ext cx="487362" cy="577850"/>
              </a:xfrm>
              <a:prstGeom prst="rect">
                <a:avLst/>
              </a:prstGeom>
              <a:noFill/>
              <a:ln w="12700" cap="rnd">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234" name="Oval 46">
                <a:extLst>
                  <a:ext uri="{FF2B5EF4-FFF2-40B4-BE49-F238E27FC236}">
                    <a16:creationId xmlns:a16="http://schemas.microsoft.com/office/drawing/2014/main" id="{7FA19FF9-9E43-E115-E6DC-D89EBA1B2D77}"/>
                  </a:ext>
                </a:extLst>
              </p:cNvPr>
              <p:cNvSpPr>
                <a:spLocks noChangeArrowheads="1"/>
              </p:cNvSpPr>
              <p:nvPr/>
            </p:nvSpPr>
            <p:spPr bwMode="auto">
              <a:xfrm>
                <a:off x="444467" y="4657666"/>
                <a:ext cx="60325" cy="60325"/>
              </a:xfrm>
              <a:prstGeom prst="ellipse">
                <a:avLst/>
              </a:prstGeom>
              <a:noFill/>
              <a:ln w="12700" cap="rnd">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grpSp>
        <p:grpSp>
          <p:nvGrpSpPr>
            <p:cNvPr id="143" name="Group 142">
              <a:extLst>
                <a:ext uri="{FF2B5EF4-FFF2-40B4-BE49-F238E27FC236}">
                  <a16:creationId xmlns:a16="http://schemas.microsoft.com/office/drawing/2014/main" id="{AF2E380A-48C5-E458-50D2-ED33AC08F362}"/>
                </a:ext>
              </a:extLst>
            </p:cNvPr>
            <p:cNvGrpSpPr/>
            <p:nvPr/>
          </p:nvGrpSpPr>
          <p:grpSpPr>
            <a:xfrm>
              <a:off x="7715370" y="3499967"/>
              <a:ext cx="149764" cy="228566"/>
              <a:chOff x="6553" y="1835403"/>
              <a:chExt cx="576263" cy="879476"/>
            </a:xfrm>
          </p:grpSpPr>
          <p:sp>
            <p:nvSpPr>
              <p:cNvPr id="228" name="Freeform 50">
                <a:extLst>
                  <a:ext uri="{FF2B5EF4-FFF2-40B4-BE49-F238E27FC236}">
                    <a16:creationId xmlns:a16="http://schemas.microsoft.com/office/drawing/2014/main" id="{1C7E5966-715A-7687-D115-BA6FC2A74ECE}"/>
                  </a:ext>
                </a:extLst>
              </p:cNvPr>
              <p:cNvSpPr>
                <a:spLocks/>
              </p:cNvSpPr>
              <p:nvPr/>
            </p:nvSpPr>
            <p:spPr bwMode="auto">
              <a:xfrm>
                <a:off x="63703" y="1835403"/>
                <a:ext cx="442913" cy="150813"/>
              </a:xfrm>
              <a:custGeom>
                <a:avLst/>
                <a:gdLst>
                  <a:gd name="T0" fmla="*/ 231 w 279"/>
                  <a:gd name="T1" fmla="*/ 95 h 95"/>
                  <a:gd name="T2" fmla="*/ 58 w 279"/>
                  <a:gd name="T3" fmla="*/ 95 h 95"/>
                  <a:gd name="T4" fmla="*/ 0 w 279"/>
                  <a:gd name="T5" fmla="*/ 0 h 95"/>
                  <a:gd name="T6" fmla="*/ 279 w 279"/>
                  <a:gd name="T7" fmla="*/ 0 h 95"/>
                  <a:gd name="T8" fmla="*/ 231 w 279"/>
                  <a:gd name="T9" fmla="*/ 95 h 95"/>
                </a:gdLst>
                <a:ahLst/>
                <a:cxnLst>
                  <a:cxn ang="0">
                    <a:pos x="T0" y="T1"/>
                  </a:cxn>
                  <a:cxn ang="0">
                    <a:pos x="T2" y="T3"/>
                  </a:cxn>
                  <a:cxn ang="0">
                    <a:pos x="T4" y="T5"/>
                  </a:cxn>
                  <a:cxn ang="0">
                    <a:pos x="T6" y="T7"/>
                  </a:cxn>
                  <a:cxn ang="0">
                    <a:pos x="T8" y="T9"/>
                  </a:cxn>
                </a:cxnLst>
                <a:rect l="0" t="0" r="r" b="b"/>
                <a:pathLst>
                  <a:path w="279" h="95">
                    <a:moveTo>
                      <a:pt x="231" y="95"/>
                    </a:moveTo>
                    <a:lnTo>
                      <a:pt x="58" y="95"/>
                    </a:lnTo>
                    <a:lnTo>
                      <a:pt x="0" y="0"/>
                    </a:lnTo>
                    <a:lnTo>
                      <a:pt x="279" y="0"/>
                    </a:lnTo>
                    <a:lnTo>
                      <a:pt x="231" y="95"/>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229" name="Freeform 51">
                <a:extLst>
                  <a:ext uri="{FF2B5EF4-FFF2-40B4-BE49-F238E27FC236}">
                    <a16:creationId xmlns:a16="http://schemas.microsoft.com/office/drawing/2014/main" id="{D0A34A7D-E0BF-CC77-8158-E13E2F9DEDAE}"/>
                  </a:ext>
                </a:extLst>
              </p:cNvPr>
              <p:cNvSpPr>
                <a:spLocks/>
              </p:cNvSpPr>
              <p:nvPr/>
            </p:nvSpPr>
            <p:spPr bwMode="auto">
              <a:xfrm>
                <a:off x="6553" y="1986216"/>
                <a:ext cx="576263" cy="728663"/>
              </a:xfrm>
              <a:custGeom>
                <a:avLst/>
                <a:gdLst>
                  <a:gd name="T0" fmla="*/ 219 w 363"/>
                  <a:gd name="T1" fmla="*/ 459 h 459"/>
                  <a:gd name="T2" fmla="*/ 142 w 363"/>
                  <a:gd name="T3" fmla="*/ 459 h 459"/>
                  <a:gd name="T4" fmla="*/ 0 w 363"/>
                  <a:gd name="T5" fmla="*/ 158 h 459"/>
                  <a:gd name="T6" fmla="*/ 94 w 363"/>
                  <a:gd name="T7" fmla="*/ 0 h 459"/>
                  <a:gd name="T8" fmla="*/ 267 w 363"/>
                  <a:gd name="T9" fmla="*/ 0 h 459"/>
                  <a:gd name="T10" fmla="*/ 363 w 363"/>
                  <a:gd name="T11" fmla="*/ 158 h 459"/>
                  <a:gd name="T12" fmla="*/ 219 w 363"/>
                  <a:gd name="T13" fmla="*/ 459 h 459"/>
                </a:gdLst>
                <a:ahLst/>
                <a:cxnLst>
                  <a:cxn ang="0">
                    <a:pos x="T0" y="T1"/>
                  </a:cxn>
                  <a:cxn ang="0">
                    <a:pos x="T2" y="T3"/>
                  </a:cxn>
                  <a:cxn ang="0">
                    <a:pos x="T4" y="T5"/>
                  </a:cxn>
                  <a:cxn ang="0">
                    <a:pos x="T6" y="T7"/>
                  </a:cxn>
                  <a:cxn ang="0">
                    <a:pos x="T8" y="T9"/>
                  </a:cxn>
                  <a:cxn ang="0">
                    <a:pos x="T10" y="T11"/>
                  </a:cxn>
                  <a:cxn ang="0">
                    <a:pos x="T12" y="T13"/>
                  </a:cxn>
                </a:cxnLst>
                <a:rect l="0" t="0" r="r" b="b"/>
                <a:pathLst>
                  <a:path w="363" h="459">
                    <a:moveTo>
                      <a:pt x="219" y="459"/>
                    </a:moveTo>
                    <a:lnTo>
                      <a:pt x="142" y="459"/>
                    </a:lnTo>
                    <a:lnTo>
                      <a:pt x="0" y="158"/>
                    </a:lnTo>
                    <a:lnTo>
                      <a:pt x="94" y="0"/>
                    </a:lnTo>
                    <a:lnTo>
                      <a:pt x="267" y="0"/>
                    </a:lnTo>
                    <a:lnTo>
                      <a:pt x="363" y="158"/>
                    </a:lnTo>
                    <a:lnTo>
                      <a:pt x="219" y="459"/>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230" name="Line 52">
                <a:extLst>
                  <a:ext uri="{FF2B5EF4-FFF2-40B4-BE49-F238E27FC236}">
                    <a16:creationId xmlns:a16="http://schemas.microsoft.com/office/drawing/2014/main" id="{A9CAF544-B2C8-F434-9379-132C883F4D2D}"/>
                  </a:ext>
                </a:extLst>
              </p:cNvPr>
              <p:cNvSpPr>
                <a:spLocks noChangeShapeType="1"/>
              </p:cNvSpPr>
              <p:nvPr/>
            </p:nvSpPr>
            <p:spPr bwMode="auto">
              <a:xfrm>
                <a:off x="292303" y="2291016"/>
                <a:ext cx="0" cy="423863"/>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231" name="Oval 53">
                <a:extLst>
                  <a:ext uri="{FF2B5EF4-FFF2-40B4-BE49-F238E27FC236}">
                    <a16:creationId xmlns:a16="http://schemas.microsoft.com/office/drawing/2014/main" id="{F66F3784-8EFF-B9DF-929F-6F88DA4CEF06}"/>
                  </a:ext>
                </a:extLst>
              </p:cNvPr>
              <p:cNvSpPr>
                <a:spLocks noChangeArrowheads="1"/>
              </p:cNvSpPr>
              <p:nvPr/>
            </p:nvSpPr>
            <p:spPr bwMode="auto">
              <a:xfrm>
                <a:off x="216103" y="2138616"/>
                <a:ext cx="152400" cy="152400"/>
              </a:xfrm>
              <a:prstGeom prst="ellipse">
                <a:avLst/>
              </a:pr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grpSp>
        <p:grpSp>
          <p:nvGrpSpPr>
            <p:cNvPr id="144" name="Group 143">
              <a:extLst>
                <a:ext uri="{FF2B5EF4-FFF2-40B4-BE49-F238E27FC236}">
                  <a16:creationId xmlns:a16="http://schemas.microsoft.com/office/drawing/2014/main" id="{D69C4021-9485-2BE9-BF30-66699DD5D478}"/>
                </a:ext>
              </a:extLst>
            </p:cNvPr>
            <p:cNvGrpSpPr/>
            <p:nvPr/>
          </p:nvGrpSpPr>
          <p:grpSpPr>
            <a:xfrm>
              <a:off x="8188708" y="3047792"/>
              <a:ext cx="184598" cy="121954"/>
              <a:chOff x="17463" y="11113"/>
              <a:chExt cx="879475" cy="581025"/>
            </a:xfrm>
          </p:grpSpPr>
          <p:sp>
            <p:nvSpPr>
              <p:cNvPr id="224" name="Freeform 5">
                <a:extLst>
                  <a:ext uri="{FF2B5EF4-FFF2-40B4-BE49-F238E27FC236}">
                    <a16:creationId xmlns:a16="http://schemas.microsoft.com/office/drawing/2014/main" id="{B647439F-E6BF-BF29-8CBB-43AF951CB848}"/>
                  </a:ext>
                </a:extLst>
              </p:cNvPr>
              <p:cNvSpPr>
                <a:spLocks/>
              </p:cNvSpPr>
              <p:nvPr/>
            </p:nvSpPr>
            <p:spPr bwMode="auto">
              <a:xfrm>
                <a:off x="17463" y="11113"/>
                <a:ext cx="879475" cy="581025"/>
              </a:xfrm>
              <a:custGeom>
                <a:avLst/>
                <a:gdLst>
                  <a:gd name="T0" fmla="*/ 232 w 232"/>
                  <a:gd name="T1" fmla="*/ 136 h 152"/>
                  <a:gd name="T2" fmla="*/ 216 w 232"/>
                  <a:gd name="T3" fmla="*/ 152 h 152"/>
                  <a:gd name="T4" fmla="*/ 16 w 232"/>
                  <a:gd name="T5" fmla="*/ 152 h 152"/>
                  <a:gd name="T6" fmla="*/ 0 w 232"/>
                  <a:gd name="T7" fmla="*/ 136 h 152"/>
                  <a:gd name="T8" fmla="*/ 0 w 232"/>
                  <a:gd name="T9" fmla="*/ 16 h 152"/>
                  <a:gd name="T10" fmla="*/ 16 w 232"/>
                  <a:gd name="T11" fmla="*/ 0 h 152"/>
                  <a:gd name="T12" fmla="*/ 216 w 232"/>
                  <a:gd name="T13" fmla="*/ 0 h 152"/>
                  <a:gd name="T14" fmla="*/ 232 w 232"/>
                  <a:gd name="T15" fmla="*/ 16 h 152"/>
                  <a:gd name="T16" fmla="*/ 232 w 232"/>
                  <a:gd name="T17" fmla="*/ 13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2" h="152">
                    <a:moveTo>
                      <a:pt x="232" y="136"/>
                    </a:moveTo>
                    <a:cubicBezTo>
                      <a:pt x="232" y="145"/>
                      <a:pt x="224" y="152"/>
                      <a:pt x="216" y="152"/>
                    </a:cubicBezTo>
                    <a:cubicBezTo>
                      <a:pt x="16" y="152"/>
                      <a:pt x="16" y="152"/>
                      <a:pt x="16" y="152"/>
                    </a:cubicBezTo>
                    <a:cubicBezTo>
                      <a:pt x="8" y="152"/>
                      <a:pt x="0" y="145"/>
                      <a:pt x="0" y="136"/>
                    </a:cubicBezTo>
                    <a:cubicBezTo>
                      <a:pt x="0" y="16"/>
                      <a:pt x="0" y="16"/>
                      <a:pt x="0" y="16"/>
                    </a:cubicBezTo>
                    <a:cubicBezTo>
                      <a:pt x="0" y="8"/>
                      <a:pt x="8" y="0"/>
                      <a:pt x="16" y="0"/>
                    </a:cubicBezTo>
                    <a:cubicBezTo>
                      <a:pt x="216" y="0"/>
                      <a:pt x="216" y="0"/>
                      <a:pt x="216" y="0"/>
                    </a:cubicBezTo>
                    <a:cubicBezTo>
                      <a:pt x="224" y="0"/>
                      <a:pt x="232" y="8"/>
                      <a:pt x="232" y="16"/>
                    </a:cubicBezTo>
                    <a:lnTo>
                      <a:pt x="232" y="136"/>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225" name="Freeform 6">
                <a:extLst>
                  <a:ext uri="{FF2B5EF4-FFF2-40B4-BE49-F238E27FC236}">
                    <a16:creationId xmlns:a16="http://schemas.microsoft.com/office/drawing/2014/main" id="{ADC3BA99-B27D-88E5-2D82-6A414102D625}"/>
                  </a:ext>
                </a:extLst>
              </p:cNvPr>
              <p:cNvSpPr>
                <a:spLocks/>
              </p:cNvSpPr>
              <p:nvPr/>
            </p:nvSpPr>
            <p:spPr bwMode="auto">
              <a:xfrm>
                <a:off x="138113" y="165100"/>
                <a:ext cx="638175" cy="212725"/>
              </a:xfrm>
              <a:custGeom>
                <a:avLst/>
                <a:gdLst>
                  <a:gd name="T0" fmla="*/ 402 w 402"/>
                  <a:gd name="T1" fmla="*/ 0 h 134"/>
                  <a:gd name="T2" fmla="*/ 201 w 402"/>
                  <a:gd name="T3" fmla="*/ 134 h 134"/>
                  <a:gd name="T4" fmla="*/ 0 w 402"/>
                  <a:gd name="T5" fmla="*/ 0 h 134"/>
                </a:gdLst>
                <a:ahLst/>
                <a:cxnLst>
                  <a:cxn ang="0">
                    <a:pos x="T0" y="T1"/>
                  </a:cxn>
                  <a:cxn ang="0">
                    <a:pos x="T2" y="T3"/>
                  </a:cxn>
                  <a:cxn ang="0">
                    <a:pos x="T4" y="T5"/>
                  </a:cxn>
                </a:cxnLst>
                <a:rect l="0" t="0" r="r" b="b"/>
                <a:pathLst>
                  <a:path w="402" h="134">
                    <a:moveTo>
                      <a:pt x="402" y="0"/>
                    </a:moveTo>
                    <a:lnTo>
                      <a:pt x="201" y="134"/>
                    </a:lnTo>
                    <a:lnTo>
                      <a:pt x="0" y="0"/>
                    </a:ln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226" name="Line 7">
                <a:extLst>
                  <a:ext uri="{FF2B5EF4-FFF2-40B4-BE49-F238E27FC236}">
                    <a16:creationId xmlns:a16="http://schemas.microsoft.com/office/drawing/2014/main" id="{D216F014-30C0-CCAB-4E0F-73EBA8D4DF12}"/>
                  </a:ext>
                </a:extLst>
              </p:cNvPr>
              <p:cNvSpPr>
                <a:spLocks noChangeShapeType="1"/>
              </p:cNvSpPr>
              <p:nvPr/>
            </p:nvSpPr>
            <p:spPr bwMode="auto">
              <a:xfrm flipV="1">
                <a:off x="138113" y="363538"/>
                <a:ext cx="136525" cy="92075"/>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227" name="Line 8">
                <a:extLst>
                  <a:ext uri="{FF2B5EF4-FFF2-40B4-BE49-F238E27FC236}">
                    <a16:creationId xmlns:a16="http://schemas.microsoft.com/office/drawing/2014/main" id="{93600944-061B-5638-7073-525FDB15A82A}"/>
                  </a:ext>
                </a:extLst>
              </p:cNvPr>
              <p:cNvSpPr>
                <a:spLocks noChangeShapeType="1"/>
              </p:cNvSpPr>
              <p:nvPr/>
            </p:nvSpPr>
            <p:spPr bwMode="auto">
              <a:xfrm flipH="1" flipV="1">
                <a:off x="639763" y="363538"/>
                <a:ext cx="136525" cy="92075"/>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grpSp>
        <p:sp>
          <p:nvSpPr>
            <p:cNvPr id="145" name="Freeform 12">
              <a:extLst>
                <a:ext uri="{FF2B5EF4-FFF2-40B4-BE49-F238E27FC236}">
                  <a16:creationId xmlns:a16="http://schemas.microsoft.com/office/drawing/2014/main" id="{F8792770-99D7-AE3E-37E8-FF0F41943934}"/>
                </a:ext>
              </a:extLst>
            </p:cNvPr>
            <p:cNvSpPr>
              <a:spLocks noEditPoints="1"/>
            </p:cNvSpPr>
            <p:nvPr/>
          </p:nvSpPr>
          <p:spPr bwMode="auto">
            <a:xfrm>
              <a:off x="7455477" y="4251534"/>
              <a:ext cx="190185" cy="157667"/>
            </a:xfrm>
            <a:custGeom>
              <a:avLst/>
              <a:gdLst>
                <a:gd name="T0" fmla="*/ 221 w 242"/>
                <a:gd name="T1" fmla="*/ 0 h 200"/>
                <a:gd name="T2" fmla="*/ 171 w 242"/>
                <a:gd name="T3" fmla="*/ 0 h 200"/>
                <a:gd name="T4" fmla="*/ 135 w 242"/>
                <a:gd name="T5" fmla="*/ 15 h 200"/>
                <a:gd name="T6" fmla="*/ 51 w 242"/>
                <a:gd name="T7" fmla="*/ 99 h 200"/>
                <a:gd name="T8" fmla="*/ 51 w 242"/>
                <a:gd name="T9" fmla="*/ 129 h 200"/>
                <a:gd name="T10" fmla="*/ 113 w 242"/>
                <a:gd name="T11" fmla="*/ 192 h 200"/>
                <a:gd name="T12" fmla="*/ 143 w 242"/>
                <a:gd name="T13" fmla="*/ 192 h 200"/>
                <a:gd name="T14" fmla="*/ 227 w 242"/>
                <a:gd name="T15" fmla="*/ 108 h 200"/>
                <a:gd name="T16" fmla="*/ 242 w 242"/>
                <a:gd name="T17" fmla="*/ 71 h 200"/>
                <a:gd name="T18" fmla="*/ 242 w 242"/>
                <a:gd name="T19" fmla="*/ 22 h 200"/>
                <a:gd name="T20" fmla="*/ 221 w 242"/>
                <a:gd name="T21" fmla="*/ 0 h 200"/>
                <a:gd name="T22" fmla="*/ 192 w 242"/>
                <a:gd name="T23" fmla="*/ 71 h 200"/>
                <a:gd name="T24" fmla="*/ 171 w 242"/>
                <a:gd name="T25" fmla="*/ 50 h 200"/>
                <a:gd name="T26" fmla="*/ 192 w 242"/>
                <a:gd name="T27" fmla="*/ 29 h 200"/>
                <a:gd name="T28" fmla="*/ 214 w 242"/>
                <a:gd name="T29" fmla="*/ 50 h 200"/>
                <a:gd name="T30" fmla="*/ 192 w 242"/>
                <a:gd name="T31" fmla="*/ 71 h 200"/>
                <a:gd name="T32" fmla="*/ 19 w 242"/>
                <a:gd name="T33" fmla="*/ 119 h 200"/>
                <a:gd name="T34" fmla="*/ 95 w 242"/>
                <a:gd name="T35" fmla="*/ 196 h 200"/>
                <a:gd name="T36" fmla="*/ 70 w 242"/>
                <a:gd name="T37" fmla="*/ 192 h 200"/>
                <a:gd name="T38" fmla="*/ 8 w 242"/>
                <a:gd name="T39" fmla="*/ 129 h 200"/>
                <a:gd name="T40" fmla="*/ 8 w 242"/>
                <a:gd name="T41" fmla="*/ 99 h 200"/>
                <a:gd name="T42" fmla="*/ 92 w 242"/>
                <a:gd name="T43" fmla="*/ 15 h 200"/>
                <a:gd name="T44" fmla="*/ 128 w 242"/>
                <a:gd name="T45" fmla="*/ 0 h 200"/>
                <a:gd name="T46" fmla="*/ 19 w 242"/>
                <a:gd name="T47" fmla="*/ 109 h 200"/>
                <a:gd name="T48" fmla="*/ 19 w 242"/>
                <a:gd name="T49" fmla="*/ 11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2" h="200">
                  <a:moveTo>
                    <a:pt x="221" y="0"/>
                  </a:moveTo>
                  <a:cubicBezTo>
                    <a:pt x="171" y="0"/>
                    <a:pt x="171" y="0"/>
                    <a:pt x="171" y="0"/>
                  </a:cubicBezTo>
                  <a:cubicBezTo>
                    <a:pt x="159" y="0"/>
                    <a:pt x="143" y="7"/>
                    <a:pt x="135" y="15"/>
                  </a:cubicBezTo>
                  <a:cubicBezTo>
                    <a:pt x="51" y="99"/>
                    <a:pt x="51" y="99"/>
                    <a:pt x="51" y="99"/>
                  </a:cubicBezTo>
                  <a:cubicBezTo>
                    <a:pt x="42" y="107"/>
                    <a:pt x="42" y="121"/>
                    <a:pt x="51" y="129"/>
                  </a:cubicBezTo>
                  <a:cubicBezTo>
                    <a:pt x="113" y="192"/>
                    <a:pt x="113" y="192"/>
                    <a:pt x="113" y="192"/>
                  </a:cubicBezTo>
                  <a:cubicBezTo>
                    <a:pt x="121" y="200"/>
                    <a:pt x="135" y="200"/>
                    <a:pt x="143" y="192"/>
                  </a:cubicBezTo>
                  <a:cubicBezTo>
                    <a:pt x="227" y="108"/>
                    <a:pt x="227" y="108"/>
                    <a:pt x="227" y="108"/>
                  </a:cubicBezTo>
                  <a:cubicBezTo>
                    <a:pt x="236" y="100"/>
                    <a:pt x="242" y="83"/>
                    <a:pt x="242" y="71"/>
                  </a:cubicBezTo>
                  <a:cubicBezTo>
                    <a:pt x="242" y="22"/>
                    <a:pt x="242" y="22"/>
                    <a:pt x="242" y="22"/>
                  </a:cubicBezTo>
                  <a:cubicBezTo>
                    <a:pt x="242" y="10"/>
                    <a:pt x="233" y="0"/>
                    <a:pt x="221" y="0"/>
                  </a:cubicBezTo>
                  <a:moveTo>
                    <a:pt x="192" y="71"/>
                  </a:moveTo>
                  <a:cubicBezTo>
                    <a:pt x="181" y="71"/>
                    <a:pt x="171" y="62"/>
                    <a:pt x="171" y="50"/>
                  </a:cubicBezTo>
                  <a:cubicBezTo>
                    <a:pt x="171" y="38"/>
                    <a:pt x="181" y="29"/>
                    <a:pt x="192" y="29"/>
                  </a:cubicBezTo>
                  <a:cubicBezTo>
                    <a:pt x="204" y="29"/>
                    <a:pt x="214" y="38"/>
                    <a:pt x="214" y="50"/>
                  </a:cubicBezTo>
                  <a:cubicBezTo>
                    <a:pt x="214" y="62"/>
                    <a:pt x="204" y="71"/>
                    <a:pt x="192" y="71"/>
                  </a:cubicBezTo>
                  <a:moveTo>
                    <a:pt x="19" y="119"/>
                  </a:moveTo>
                  <a:cubicBezTo>
                    <a:pt x="95" y="196"/>
                    <a:pt x="95" y="196"/>
                    <a:pt x="95" y="196"/>
                  </a:cubicBezTo>
                  <a:cubicBezTo>
                    <a:pt x="87" y="200"/>
                    <a:pt x="77" y="199"/>
                    <a:pt x="70" y="192"/>
                  </a:cubicBezTo>
                  <a:cubicBezTo>
                    <a:pt x="8" y="129"/>
                    <a:pt x="8" y="129"/>
                    <a:pt x="8" y="129"/>
                  </a:cubicBezTo>
                  <a:cubicBezTo>
                    <a:pt x="0" y="121"/>
                    <a:pt x="0" y="107"/>
                    <a:pt x="8" y="99"/>
                  </a:cubicBezTo>
                  <a:cubicBezTo>
                    <a:pt x="92" y="15"/>
                    <a:pt x="92" y="15"/>
                    <a:pt x="92" y="15"/>
                  </a:cubicBezTo>
                  <a:cubicBezTo>
                    <a:pt x="100" y="7"/>
                    <a:pt x="116" y="0"/>
                    <a:pt x="128" y="0"/>
                  </a:cubicBezTo>
                  <a:cubicBezTo>
                    <a:pt x="19" y="109"/>
                    <a:pt x="19" y="109"/>
                    <a:pt x="19" y="109"/>
                  </a:cubicBezTo>
                  <a:cubicBezTo>
                    <a:pt x="16" y="112"/>
                    <a:pt x="16" y="117"/>
                    <a:pt x="19" y="119"/>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grpSp>
          <p:nvGrpSpPr>
            <p:cNvPr id="146" name="Group 145">
              <a:extLst>
                <a:ext uri="{FF2B5EF4-FFF2-40B4-BE49-F238E27FC236}">
                  <a16:creationId xmlns:a16="http://schemas.microsoft.com/office/drawing/2014/main" id="{D38B5136-8F73-F871-EE1C-2314163F9E36}"/>
                </a:ext>
              </a:extLst>
            </p:cNvPr>
            <p:cNvGrpSpPr/>
            <p:nvPr/>
          </p:nvGrpSpPr>
          <p:grpSpPr>
            <a:xfrm>
              <a:off x="7758706" y="3026694"/>
              <a:ext cx="219019" cy="219019"/>
              <a:chOff x="2501147" y="287196"/>
              <a:chExt cx="879475" cy="879475"/>
            </a:xfrm>
          </p:grpSpPr>
          <p:sp>
            <p:nvSpPr>
              <p:cNvPr id="211" name="Rectangle 19">
                <a:extLst>
                  <a:ext uri="{FF2B5EF4-FFF2-40B4-BE49-F238E27FC236}">
                    <a16:creationId xmlns:a16="http://schemas.microsoft.com/office/drawing/2014/main" id="{CB7CB5E9-E24C-AA38-9BDD-65447BE1EAF0}"/>
                  </a:ext>
                </a:extLst>
              </p:cNvPr>
              <p:cNvSpPr>
                <a:spLocks noChangeArrowheads="1"/>
              </p:cNvSpPr>
              <p:nvPr/>
            </p:nvSpPr>
            <p:spPr bwMode="auto">
              <a:xfrm>
                <a:off x="2501147" y="287196"/>
                <a:ext cx="879475" cy="879475"/>
              </a:xfrm>
              <a:prstGeom prst="rect">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12" name="Line 20">
                <a:extLst>
                  <a:ext uri="{FF2B5EF4-FFF2-40B4-BE49-F238E27FC236}">
                    <a16:creationId xmlns:a16="http://schemas.microsoft.com/office/drawing/2014/main" id="{EF7875B1-2C7A-94CC-F06E-1F5F5D2C5384}"/>
                  </a:ext>
                </a:extLst>
              </p:cNvPr>
              <p:cNvSpPr>
                <a:spLocks noChangeShapeType="1"/>
              </p:cNvSpPr>
              <p:nvPr/>
            </p:nvSpPr>
            <p:spPr bwMode="auto">
              <a:xfrm flipV="1">
                <a:off x="2956760" y="560246"/>
                <a:ext cx="0" cy="261938"/>
              </a:xfrm>
              <a:prstGeom prst="line">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13" name="Line 21">
                <a:extLst>
                  <a:ext uri="{FF2B5EF4-FFF2-40B4-BE49-F238E27FC236}">
                    <a16:creationId xmlns:a16="http://schemas.microsoft.com/office/drawing/2014/main" id="{5CBEE73C-B5E1-C233-CEF3-0CE9C135F83D}"/>
                  </a:ext>
                </a:extLst>
              </p:cNvPr>
              <p:cNvSpPr>
                <a:spLocks noChangeShapeType="1"/>
              </p:cNvSpPr>
              <p:nvPr/>
            </p:nvSpPr>
            <p:spPr bwMode="auto">
              <a:xfrm flipV="1">
                <a:off x="3137735" y="742809"/>
                <a:ext cx="0" cy="79375"/>
              </a:xfrm>
              <a:prstGeom prst="line">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14" name="Line 22">
                <a:extLst>
                  <a:ext uri="{FF2B5EF4-FFF2-40B4-BE49-F238E27FC236}">
                    <a16:creationId xmlns:a16="http://schemas.microsoft.com/office/drawing/2014/main" id="{E4C78494-E200-24A8-91F6-DB0084F4C97F}"/>
                  </a:ext>
                </a:extLst>
              </p:cNvPr>
              <p:cNvSpPr>
                <a:spLocks noChangeShapeType="1"/>
              </p:cNvSpPr>
              <p:nvPr/>
            </p:nvSpPr>
            <p:spPr bwMode="auto">
              <a:xfrm flipV="1">
                <a:off x="2744035" y="399909"/>
                <a:ext cx="0" cy="220663"/>
              </a:xfrm>
              <a:prstGeom prst="line">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15" name="Line 23">
                <a:extLst>
                  <a:ext uri="{FF2B5EF4-FFF2-40B4-BE49-F238E27FC236}">
                    <a16:creationId xmlns:a16="http://schemas.microsoft.com/office/drawing/2014/main" id="{3C1B295A-0B90-193A-CAB0-0C878B014EDF}"/>
                  </a:ext>
                </a:extLst>
              </p:cNvPr>
              <p:cNvSpPr>
                <a:spLocks noChangeShapeType="1"/>
              </p:cNvSpPr>
              <p:nvPr/>
            </p:nvSpPr>
            <p:spPr bwMode="auto">
              <a:xfrm flipV="1">
                <a:off x="2744035" y="680896"/>
                <a:ext cx="0" cy="141288"/>
              </a:xfrm>
              <a:prstGeom prst="line">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16" name="Line 24">
                <a:extLst>
                  <a:ext uri="{FF2B5EF4-FFF2-40B4-BE49-F238E27FC236}">
                    <a16:creationId xmlns:a16="http://schemas.microsoft.com/office/drawing/2014/main" id="{6F318686-4361-1C96-9511-B4E560B42B01}"/>
                  </a:ext>
                </a:extLst>
              </p:cNvPr>
              <p:cNvSpPr>
                <a:spLocks noChangeShapeType="1"/>
              </p:cNvSpPr>
              <p:nvPr/>
            </p:nvSpPr>
            <p:spPr bwMode="auto">
              <a:xfrm flipV="1">
                <a:off x="3137735" y="399909"/>
                <a:ext cx="0" cy="280988"/>
              </a:xfrm>
              <a:prstGeom prst="line">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17" name="Line 25">
                <a:extLst>
                  <a:ext uri="{FF2B5EF4-FFF2-40B4-BE49-F238E27FC236}">
                    <a16:creationId xmlns:a16="http://schemas.microsoft.com/office/drawing/2014/main" id="{AA149F7D-37F7-C35D-A2EC-069F47ED035F}"/>
                  </a:ext>
                </a:extLst>
              </p:cNvPr>
              <p:cNvSpPr>
                <a:spLocks noChangeShapeType="1"/>
              </p:cNvSpPr>
              <p:nvPr/>
            </p:nvSpPr>
            <p:spPr bwMode="auto">
              <a:xfrm flipV="1">
                <a:off x="2956760" y="399909"/>
                <a:ext cx="0" cy="98425"/>
              </a:xfrm>
              <a:prstGeom prst="line">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18" name="Rectangle 26">
                <a:extLst>
                  <a:ext uri="{FF2B5EF4-FFF2-40B4-BE49-F238E27FC236}">
                    <a16:creationId xmlns:a16="http://schemas.microsoft.com/office/drawing/2014/main" id="{471C64F5-1CA4-ADDE-5163-1DA09BC490E0}"/>
                  </a:ext>
                </a:extLst>
              </p:cNvPr>
              <p:cNvSpPr>
                <a:spLocks noChangeArrowheads="1"/>
              </p:cNvSpPr>
              <p:nvPr/>
            </p:nvSpPr>
            <p:spPr bwMode="auto">
              <a:xfrm>
                <a:off x="3077410" y="680896"/>
                <a:ext cx="122238" cy="61913"/>
              </a:xfrm>
              <a:prstGeom prst="rect">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19" name="Rectangle 27">
                <a:extLst>
                  <a:ext uri="{FF2B5EF4-FFF2-40B4-BE49-F238E27FC236}">
                    <a16:creationId xmlns:a16="http://schemas.microsoft.com/office/drawing/2014/main" id="{2302E556-5925-36DB-51DD-0C0BD7345592}"/>
                  </a:ext>
                </a:extLst>
              </p:cNvPr>
              <p:cNvSpPr>
                <a:spLocks noChangeArrowheads="1"/>
              </p:cNvSpPr>
              <p:nvPr/>
            </p:nvSpPr>
            <p:spPr bwMode="auto">
              <a:xfrm>
                <a:off x="2894847" y="498334"/>
                <a:ext cx="122238" cy="61913"/>
              </a:xfrm>
              <a:prstGeom prst="rect">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20" name="Rectangle 28">
                <a:extLst>
                  <a:ext uri="{FF2B5EF4-FFF2-40B4-BE49-F238E27FC236}">
                    <a16:creationId xmlns:a16="http://schemas.microsoft.com/office/drawing/2014/main" id="{6C53F10A-F1EE-7484-DBDB-07C817DA4541}"/>
                  </a:ext>
                </a:extLst>
              </p:cNvPr>
              <p:cNvSpPr>
                <a:spLocks noChangeArrowheads="1"/>
              </p:cNvSpPr>
              <p:nvPr/>
            </p:nvSpPr>
            <p:spPr bwMode="auto">
              <a:xfrm>
                <a:off x="2682122" y="620571"/>
                <a:ext cx="122238" cy="60325"/>
              </a:xfrm>
              <a:prstGeom prst="rect">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21" name="Oval 29">
                <a:extLst>
                  <a:ext uri="{FF2B5EF4-FFF2-40B4-BE49-F238E27FC236}">
                    <a16:creationId xmlns:a16="http://schemas.microsoft.com/office/drawing/2014/main" id="{534AC1CC-4E5C-D0C2-0EE4-BA169B12BF80}"/>
                  </a:ext>
                </a:extLst>
              </p:cNvPr>
              <p:cNvSpPr>
                <a:spLocks noChangeArrowheads="1"/>
              </p:cNvSpPr>
              <p:nvPr/>
            </p:nvSpPr>
            <p:spPr bwMode="auto">
              <a:xfrm>
                <a:off x="3077410" y="923784"/>
                <a:ext cx="122238" cy="122238"/>
              </a:xfrm>
              <a:prstGeom prst="ellipse">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22" name="Oval 30">
                <a:extLst>
                  <a:ext uri="{FF2B5EF4-FFF2-40B4-BE49-F238E27FC236}">
                    <a16:creationId xmlns:a16="http://schemas.microsoft.com/office/drawing/2014/main" id="{BC559BEB-EC41-3E4D-1A40-A0D26A665F2B}"/>
                  </a:ext>
                </a:extLst>
              </p:cNvPr>
              <p:cNvSpPr>
                <a:spLocks noChangeArrowheads="1"/>
              </p:cNvSpPr>
              <p:nvPr/>
            </p:nvSpPr>
            <p:spPr bwMode="auto">
              <a:xfrm>
                <a:off x="2894847" y="923784"/>
                <a:ext cx="122238" cy="122238"/>
              </a:xfrm>
              <a:prstGeom prst="ellipse">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23" name="Oval 31">
                <a:extLst>
                  <a:ext uri="{FF2B5EF4-FFF2-40B4-BE49-F238E27FC236}">
                    <a16:creationId xmlns:a16="http://schemas.microsoft.com/office/drawing/2014/main" id="{45DE05A1-D328-0F17-A2D6-539709804AAC}"/>
                  </a:ext>
                </a:extLst>
              </p:cNvPr>
              <p:cNvSpPr>
                <a:spLocks noChangeArrowheads="1"/>
              </p:cNvSpPr>
              <p:nvPr/>
            </p:nvSpPr>
            <p:spPr bwMode="auto">
              <a:xfrm>
                <a:off x="2682122" y="923784"/>
                <a:ext cx="122238" cy="122238"/>
              </a:xfrm>
              <a:prstGeom prst="ellipse">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147" name="Group 146">
              <a:extLst>
                <a:ext uri="{FF2B5EF4-FFF2-40B4-BE49-F238E27FC236}">
                  <a16:creationId xmlns:a16="http://schemas.microsoft.com/office/drawing/2014/main" id="{37EF6DF0-CFBC-6EFC-4F09-7060A3B6131E}"/>
                </a:ext>
              </a:extLst>
            </p:cNvPr>
            <p:cNvGrpSpPr/>
            <p:nvPr/>
          </p:nvGrpSpPr>
          <p:grpSpPr>
            <a:xfrm>
              <a:off x="6979229" y="3036839"/>
              <a:ext cx="227966" cy="220296"/>
              <a:chOff x="20638" y="19050"/>
              <a:chExt cx="849312" cy="820738"/>
            </a:xfrm>
          </p:grpSpPr>
          <p:sp>
            <p:nvSpPr>
              <p:cNvPr id="205" name="Freeform 35">
                <a:extLst>
                  <a:ext uri="{FF2B5EF4-FFF2-40B4-BE49-F238E27FC236}">
                    <a16:creationId xmlns:a16="http://schemas.microsoft.com/office/drawing/2014/main" id="{55AB77B0-B2BA-3577-2EE7-50EA47091C19}"/>
                  </a:ext>
                </a:extLst>
              </p:cNvPr>
              <p:cNvSpPr>
                <a:spLocks/>
              </p:cNvSpPr>
              <p:nvPr/>
            </p:nvSpPr>
            <p:spPr bwMode="auto">
              <a:xfrm>
                <a:off x="36513" y="719138"/>
                <a:ext cx="817562" cy="120650"/>
              </a:xfrm>
              <a:custGeom>
                <a:avLst/>
                <a:gdLst>
                  <a:gd name="T0" fmla="*/ 196 w 216"/>
                  <a:gd name="T1" fmla="*/ 32 h 32"/>
                  <a:gd name="T2" fmla="*/ 20 w 216"/>
                  <a:gd name="T3" fmla="*/ 32 h 32"/>
                  <a:gd name="T4" fmla="*/ 20 w 216"/>
                  <a:gd name="T5" fmla="*/ 0 h 32"/>
                  <a:gd name="T6" fmla="*/ 196 w 216"/>
                  <a:gd name="T7" fmla="*/ 0 h 32"/>
                  <a:gd name="T8" fmla="*/ 196 w 216"/>
                  <a:gd name="T9" fmla="*/ 32 h 32"/>
                </a:gdLst>
                <a:ahLst/>
                <a:cxnLst>
                  <a:cxn ang="0">
                    <a:pos x="T0" y="T1"/>
                  </a:cxn>
                  <a:cxn ang="0">
                    <a:pos x="T2" y="T3"/>
                  </a:cxn>
                  <a:cxn ang="0">
                    <a:pos x="T4" y="T5"/>
                  </a:cxn>
                  <a:cxn ang="0">
                    <a:pos x="T6" y="T7"/>
                  </a:cxn>
                  <a:cxn ang="0">
                    <a:pos x="T8" y="T9"/>
                  </a:cxn>
                </a:cxnLst>
                <a:rect l="0" t="0" r="r" b="b"/>
                <a:pathLst>
                  <a:path w="216" h="32">
                    <a:moveTo>
                      <a:pt x="196" y="32"/>
                    </a:moveTo>
                    <a:cubicBezTo>
                      <a:pt x="20" y="32"/>
                      <a:pt x="20" y="32"/>
                      <a:pt x="20" y="32"/>
                    </a:cubicBezTo>
                    <a:cubicBezTo>
                      <a:pt x="0" y="32"/>
                      <a:pt x="0" y="0"/>
                      <a:pt x="20" y="0"/>
                    </a:cubicBezTo>
                    <a:cubicBezTo>
                      <a:pt x="196" y="0"/>
                      <a:pt x="196" y="0"/>
                      <a:pt x="196" y="0"/>
                    </a:cubicBezTo>
                    <a:cubicBezTo>
                      <a:pt x="216" y="0"/>
                      <a:pt x="216" y="32"/>
                      <a:pt x="196" y="32"/>
                    </a:cubicBezTo>
                    <a:close/>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06" name="Freeform 36">
                <a:extLst>
                  <a:ext uri="{FF2B5EF4-FFF2-40B4-BE49-F238E27FC236}">
                    <a16:creationId xmlns:a16="http://schemas.microsoft.com/office/drawing/2014/main" id="{C08DF843-9AC2-D874-32AA-54FEFD0EFEA7}"/>
                  </a:ext>
                </a:extLst>
              </p:cNvPr>
              <p:cNvSpPr>
                <a:spLocks/>
              </p:cNvSpPr>
              <p:nvPr/>
            </p:nvSpPr>
            <p:spPr bwMode="auto">
              <a:xfrm>
                <a:off x="214313" y="307975"/>
                <a:ext cx="461962" cy="304800"/>
              </a:xfrm>
              <a:custGeom>
                <a:avLst/>
                <a:gdLst>
                  <a:gd name="T0" fmla="*/ 118 w 122"/>
                  <a:gd name="T1" fmla="*/ 80 h 80"/>
                  <a:gd name="T2" fmla="*/ 122 w 122"/>
                  <a:gd name="T3" fmla="*/ 59 h 80"/>
                  <a:gd name="T4" fmla="*/ 61 w 122"/>
                  <a:gd name="T5" fmla="*/ 0 h 80"/>
                  <a:gd name="T6" fmla="*/ 0 w 122"/>
                  <a:gd name="T7" fmla="*/ 59 h 80"/>
                  <a:gd name="T8" fmla="*/ 4 w 122"/>
                  <a:gd name="T9" fmla="*/ 79 h 80"/>
                </a:gdLst>
                <a:ahLst/>
                <a:cxnLst>
                  <a:cxn ang="0">
                    <a:pos x="T0" y="T1"/>
                  </a:cxn>
                  <a:cxn ang="0">
                    <a:pos x="T2" y="T3"/>
                  </a:cxn>
                  <a:cxn ang="0">
                    <a:pos x="T4" y="T5"/>
                  </a:cxn>
                  <a:cxn ang="0">
                    <a:pos x="T6" y="T7"/>
                  </a:cxn>
                  <a:cxn ang="0">
                    <a:pos x="T8" y="T9"/>
                  </a:cxn>
                </a:cxnLst>
                <a:rect l="0" t="0" r="r" b="b"/>
                <a:pathLst>
                  <a:path w="122" h="80">
                    <a:moveTo>
                      <a:pt x="118" y="80"/>
                    </a:moveTo>
                    <a:cubicBezTo>
                      <a:pt x="120" y="73"/>
                      <a:pt x="122" y="66"/>
                      <a:pt x="122" y="59"/>
                    </a:cubicBezTo>
                    <a:cubicBezTo>
                      <a:pt x="122" y="26"/>
                      <a:pt x="94" y="0"/>
                      <a:pt x="61" y="0"/>
                    </a:cubicBezTo>
                    <a:cubicBezTo>
                      <a:pt x="28" y="0"/>
                      <a:pt x="0" y="26"/>
                      <a:pt x="0" y="59"/>
                    </a:cubicBezTo>
                    <a:cubicBezTo>
                      <a:pt x="0" y="66"/>
                      <a:pt x="2" y="73"/>
                      <a:pt x="4" y="79"/>
                    </a:cubicBezTo>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07" name="Oval 37">
                <a:extLst>
                  <a:ext uri="{FF2B5EF4-FFF2-40B4-BE49-F238E27FC236}">
                    <a16:creationId xmlns:a16="http://schemas.microsoft.com/office/drawing/2014/main" id="{E5FB36C5-7349-60BC-05AC-CEE5D01FF422}"/>
                  </a:ext>
                </a:extLst>
              </p:cNvPr>
              <p:cNvSpPr>
                <a:spLocks noChangeArrowheads="1"/>
              </p:cNvSpPr>
              <p:nvPr/>
            </p:nvSpPr>
            <p:spPr bwMode="auto">
              <a:xfrm>
                <a:off x="354013" y="19050"/>
                <a:ext cx="182562" cy="182563"/>
              </a:xfrm>
              <a:prstGeom prst="ellipse">
                <a:avLst/>
              </a:prstGeom>
              <a:noFill/>
              <a:ln w="12700" cap="flat">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08" name="Line 38">
                <a:extLst>
                  <a:ext uri="{FF2B5EF4-FFF2-40B4-BE49-F238E27FC236}">
                    <a16:creationId xmlns:a16="http://schemas.microsoft.com/office/drawing/2014/main" id="{6F17B454-50B4-DC14-1A2C-FE8DF772F9A8}"/>
                  </a:ext>
                </a:extLst>
              </p:cNvPr>
              <p:cNvSpPr>
                <a:spLocks noChangeShapeType="1"/>
              </p:cNvSpPr>
              <p:nvPr/>
            </p:nvSpPr>
            <p:spPr bwMode="auto">
              <a:xfrm>
                <a:off x="354013" y="111125"/>
                <a:ext cx="182562" cy="0"/>
              </a:xfrm>
              <a:prstGeom prst="line">
                <a:avLst/>
              </a:prstGeom>
              <a:noFill/>
              <a:ln w="12700" cap="flat">
                <a:solidFill>
                  <a:schemeClr val="bg1">
                    <a:lumMod val="50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09" name="Line 39">
                <a:extLst>
                  <a:ext uri="{FF2B5EF4-FFF2-40B4-BE49-F238E27FC236}">
                    <a16:creationId xmlns:a16="http://schemas.microsoft.com/office/drawing/2014/main" id="{67E7FA9D-5B3C-15E4-E76F-D6AFAC1F43D1}"/>
                  </a:ext>
                </a:extLst>
              </p:cNvPr>
              <p:cNvSpPr>
                <a:spLocks noChangeShapeType="1"/>
              </p:cNvSpPr>
              <p:nvPr/>
            </p:nvSpPr>
            <p:spPr bwMode="auto">
              <a:xfrm>
                <a:off x="446088" y="201613"/>
                <a:ext cx="0" cy="106363"/>
              </a:xfrm>
              <a:prstGeom prst="line">
                <a:avLst/>
              </a:prstGeom>
              <a:noFill/>
              <a:ln w="12700" cap="flat">
                <a:solidFill>
                  <a:schemeClr val="bg1">
                    <a:lumMod val="50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10" name="Freeform 40">
                <a:extLst>
                  <a:ext uri="{FF2B5EF4-FFF2-40B4-BE49-F238E27FC236}">
                    <a16:creationId xmlns:a16="http://schemas.microsoft.com/office/drawing/2014/main" id="{08A3E2E1-1676-C8C5-CB40-5608222A32BF}"/>
                  </a:ext>
                </a:extLst>
              </p:cNvPr>
              <p:cNvSpPr>
                <a:spLocks/>
              </p:cNvSpPr>
              <p:nvPr/>
            </p:nvSpPr>
            <p:spPr bwMode="auto">
              <a:xfrm>
                <a:off x="20638" y="307975"/>
                <a:ext cx="849312" cy="411163"/>
              </a:xfrm>
              <a:custGeom>
                <a:avLst/>
                <a:gdLst>
                  <a:gd name="T0" fmla="*/ 83 w 224"/>
                  <a:gd name="T1" fmla="*/ 7 h 108"/>
                  <a:gd name="T2" fmla="*/ 56 w 224"/>
                  <a:gd name="T3" fmla="*/ 0 h 108"/>
                  <a:gd name="T4" fmla="*/ 0 w 224"/>
                  <a:gd name="T5" fmla="*/ 60 h 108"/>
                  <a:gd name="T6" fmla="*/ 28 w 224"/>
                  <a:gd name="T7" fmla="*/ 108 h 108"/>
                  <a:gd name="T8" fmla="*/ 196 w 224"/>
                  <a:gd name="T9" fmla="*/ 108 h 108"/>
                  <a:gd name="T10" fmla="*/ 224 w 224"/>
                  <a:gd name="T11" fmla="*/ 60 h 108"/>
                  <a:gd name="T12" fmla="*/ 168 w 224"/>
                  <a:gd name="T13" fmla="*/ 0 h 108"/>
                  <a:gd name="T14" fmla="*/ 141 w 224"/>
                  <a:gd name="T15" fmla="*/ 7 h 1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4" h="108">
                    <a:moveTo>
                      <a:pt x="83" y="7"/>
                    </a:moveTo>
                    <a:cubicBezTo>
                      <a:pt x="74" y="3"/>
                      <a:pt x="66" y="0"/>
                      <a:pt x="56" y="0"/>
                    </a:cubicBezTo>
                    <a:cubicBezTo>
                      <a:pt x="23" y="0"/>
                      <a:pt x="0" y="27"/>
                      <a:pt x="0" y="60"/>
                    </a:cubicBezTo>
                    <a:cubicBezTo>
                      <a:pt x="0" y="81"/>
                      <a:pt x="12" y="97"/>
                      <a:pt x="28" y="108"/>
                    </a:cubicBezTo>
                    <a:cubicBezTo>
                      <a:pt x="196" y="108"/>
                      <a:pt x="196" y="108"/>
                      <a:pt x="196" y="108"/>
                    </a:cubicBezTo>
                    <a:cubicBezTo>
                      <a:pt x="213" y="97"/>
                      <a:pt x="224" y="81"/>
                      <a:pt x="224" y="60"/>
                    </a:cubicBezTo>
                    <a:cubicBezTo>
                      <a:pt x="224" y="27"/>
                      <a:pt x="201" y="0"/>
                      <a:pt x="168" y="0"/>
                    </a:cubicBezTo>
                    <a:cubicBezTo>
                      <a:pt x="158" y="0"/>
                      <a:pt x="150" y="3"/>
                      <a:pt x="141" y="7"/>
                    </a:cubicBezTo>
                  </a:path>
                </a:pathLst>
              </a:custGeom>
              <a:noFill/>
              <a:ln w="12700" cap="flat">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148" name="Group 147">
              <a:extLst>
                <a:ext uri="{FF2B5EF4-FFF2-40B4-BE49-F238E27FC236}">
                  <a16:creationId xmlns:a16="http://schemas.microsoft.com/office/drawing/2014/main" id="{3609B56C-8B63-D470-7B1B-BA4AA7086C28}"/>
                </a:ext>
              </a:extLst>
            </p:cNvPr>
            <p:cNvGrpSpPr/>
            <p:nvPr/>
          </p:nvGrpSpPr>
          <p:grpSpPr>
            <a:xfrm>
              <a:off x="7022407" y="4815471"/>
              <a:ext cx="175726" cy="224313"/>
              <a:chOff x="12701" y="15875"/>
              <a:chExt cx="688975" cy="879475"/>
            </a:xfrm>
          </p:grpSpPr>
          <p:sp>
            <p:nvSpPr>
              <p:cNvPr id="193" name="Freeform 44">
                <a:extLst>
                  <a:ext uri="{FF2B5EF4-FFF2-40B4-BE49-F238E27FC236}">
                    <a16:creationId xmlns:a16="http://schemas.microsoft.com/office/drawing/2014/main" id="{CBDD4C5C-C989-FCB7-28AB-57595537A960}"/>
                  </a:ext>
                </a:extLst>
              </p:cNvPr>
              <p:cNvSpPr>
                <a:spLocks/>
              </p:cNvSpPr>
              <p:nvPr/>
            </p:nvSpPr>
            <p:spPr bwMode="auto">
              <a:xfrm>
                <a:off x="546101" y="471488"/>
                <a:ext cx="152400" cy="211138"/>
              </a:xfrm>
              <a:custGeom>
                <a:avLst/>
                <a:gdLst>
                  <a:gd name="T0" fmla="*/ 0 w 40"/>
                  <a:gd name="T1" fmla="*/ 0 h 56"/>
                  <a:gd name="T2" fmla="*/ 12 w 40"/>
                  <a:gd name="T3" fmla="*/ 0 h 56"/>
                  <a:gd name="T4" fmla="*/ 40 w 40"/>
                  <a:gd name="T5" fmla="*/ 28 h 56"/>
                  <a:gd name="T6" fmla="*/ 12 w 40"/>
                  <a:gd name="T7" fmla="*/ 56 h 56"/>
                  <a:gd name="T8" fmla="*/ 0 w 40"/>
                  <a:gd name="T9" fmla="*/ 56 h 56"/>
                </a:gdLst>
                <a:ahLst/>
                <a:cxnLst>
                  <a:cxn ang="0">
                    <a:pos x="T0" y="T1"/>
                  </a:cxn>
                  <a:cxn ang="0">
                    <a:pos x="T2" y="T3"/>
                  </a:cxn>
                  <a:cxn ang="0">
                    <a:pos x="T4" y="T5"/>
                  </a:cxn>
                  <a:cxn ang="0">
                    <a:pos x="T6" y="T7"/>
                  </a:cxn>
                  <a:cxn ang="0">
                    <a:pos x="T8" y="T9"/>
                  </a:cxn>
                </a:cxnLst>
                <a:rect l="0" t="0" r="r" b="b"/>
                <a:pathLst>
                  <a:path w="40" h="56">
                    <a:moveTo>
                      <a:pt x="0" y="0"/>
                    </a:moveTo>
                    <a:cubicBezTo>
                      <a:pt x="12" y="0"/>
                      <a:pt x="12" y="0"/>
                      <a:pt x="12" y="0"/>
                    </a:cubicBezTo>
                    <a:cubicBezTo>
                      <a:pt x="29" y="0"/>
                      <a:pt x="40" y="12"/>
                      <a:pt x="40" y="28"/>
                    </a:cubicBezTo>
                    <a:cubicBezTo>
                      <a:pt x="40" y="44"/>
                      <a:pt x="29" y="56"/>
                      <a:pt x="12" y="56"/>
                    </a:cubicBezTo>
                    <a:cubicBezTo>
                      <a:pt x="0" y="56"/>
                      <a:pt x="0" y="56"/>
                      <a:pt x="0" y="56"/>
                    </a:cubicBezTo>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94" name="Freeform 45">
                <a:extLst>
                  <a:ext uri="{FF2B5EF4-FFF2-40B4-BE49-F238E27FC236}">
                    <a16:creationId xmlns:a16="http://schemas.microsoft.com/office/drawing/2014/main" id="{6FA6C216-6BF1-7123-A89C-F7367FF30787}"/>
                  </a:ext>
                </a:extLst>
              </p:cNvPr>
              <p:cNvSpPr>
                <a:spLocks/>
              </p:cNvSpPr>
              <p:nvPr/>
            </p:nvSpPr>
            <p:spPr bwMode="auto">
              <a:xfrm>
                <a:off x="58738" y="409575"/>
                <a:ext cx="487363" cy="485775"/>
              </a:xfrm>
              <a:custGeom>
                <a:avLst/>
                <a:gdLst>
                  <a:gd name="T0" fmla="*/ 128 w 128"/>
                  <a:gd name="T1" fmla="*/ 108 h 128"/>
                  <a:gd name="T2" fmla="*/ 108 w 128"/>
                  <a:gd name="T3" fmla="*/ 128 h 128"/>
                  <a:gd name="T4" fmla="*/ 20 w 128"/>
                  <a:gd name="T5" fmla="*/ 128 h 128"/>
                  <a:gd name="T6" fmla="*/ 0 w 128"/>
                  <a:gd name="T7" fmla="*/ 108 h 128"/>
                  <a:gd name="T8" fmla="*/ 0 w 128"/>
                  <a:gd name="T9" fmla="*/ 0 h 128"/>
                  <a:gd name="T10" fmla="*/ 128 w 128"/>
                  <a:gd name="T11" fmla="*/ 0 h 128"/>
                  <a:gd name="T12" fmla="*/ 128 w 128"/>
                  <a:gd name="T13" fmla="*/ 108 h 128"/>
                </a:gdLst>
                <a:ahLst/>
                <a:cxnLst>
                  <a:cxn ang="0">
                    <a:pos x="T0" y="T1"/>
                  </a:cxn>
                  <a:cxn ang="0">
                    <a:pos x="T2" y="T3"/>
                  </a:cxn>
                  <a:cxn ang="0">
                    <a:pos x="T4" y="T5"/>
                  </a:cxn>
                  <a:cxn ang="0">
                    <a:pos x="T6" y="T7"/>
                  </a:cxn>
                  <a:cxn ang="0">
                    <a:pos x="T8" y="T9"/>
                  </a:cxn>
                  <a:cxn ang="0">
                    <a:pos x="T10" y="T11"/>
                  </a:cxn>
                  <a:cxn ang="0">
                    <a:pos x="T12" y="T13"/>
                  </a:cxn>
                </a:cxnLst>
                <a:rect l="0" t="0" r="r" b="b"/>
                <a:pathLst>
                  <a:path w="128" h="128">
                    <a:moveTo>
                      <a:pt x="128" y="108"/>
                    </a:moveTo>
                    <a:cubicBezTo>
                      <a:pt x="128" y="120"/>
                      <a:pt x="119" y="128"/>
                      <a:pt x="108" y="128"/>
                    </a:cubicBezTo>
                    <a:cubicBezTo>
                      <a:pt x="20" y="128"/>
                      <a:pt x="20" y="128"/>
                      <a:pt x="20" y="128"/>
                    </a:cubicBezTo>
                    <a:cubicBezTo>
                      <a:pt x="9" y="128"/>
                      <a:pt x="0" y="119"/>
                      <a:pt x="0" y="108"/>
                    </a:cubicBezTo>
                    <a:cubicBezTo>
                      <a:pt x="0" y="0"/>
                      <a:pt x="0" y="0"/>
                      <a:pt x="0" y="0"/>
                    </a:cubicBezTo>
                    <a:cubicBezTo>
                      <a:pt x="128" y="0"/>
                      <a:pt x="128" y="0"/>
                      <a:pt x="128" y="0"/>
                    </a:cubicBezTo>
                    <a:lnTo>
                      <a:pt x="128" y="108"/>
                    </a:lnTo>
                    <a:close/>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95" name="Freeform 46">
                <a:extLst>
                  <a:ext uri="{FF2B5EF4-FFF2-40B4-BE49-F238E27FC236}">
                    <a16:creationId xmlns:a16="http://schemas.microsoft.com/office/drawing/2014/main" id="{58C8517D-D85B-203E-0FD0-B8D2C9456701}"/>
                  </a:ext>
                </a:extLst>
              </p:cNvPr>
              <p:cNvSpPr>
                <a:spLocks/>
              </p:cNvSpPr>
              <p:nvPr/>
            </p:nvSpPr>
            <p:spPr bwMode="auto">
              <a:xfrm>
                <a:off x="508001" y="19050"/>
                <a:ext cx="193675" cy="254000"/>
              </a:xfrm>
              <a:custGeom>
                <a:avLst/>
                <a:gdLst>
                  <a:gd name="T0" fmla="*/ 12 w 51"/>
                  <a:gd name="T1" fmla="*/ 0 h 67"/>
                  <a:gd name="T2" fmla="*/ 4 w 51"/>
                  <a:gd name="T3" fmla="*/ 33 h 67"/>
                  <a:gd name="T4" fmla="*/ 13 w 51"/>
                  <a:gd name="T5" fmla="*/ 54 h 67"/>
                  <a:gd name="T6" fmla="*/ 12 w 51"/>
                  <a:gd name="T7" fmla="*/ 0 h 67"/>
                </a:gdLst>
                <a:ahLst/>
                <a:cxnLst>
                  <a:cxn ang="0">
                    <a:pos x="T0" y="T1"/>
                  </a:cxn>
                  <a:cxn ang="0">
                    <a:pos x="T2" y="T3"/>
                  </a:cxn>
                  <a:cxn ang="0">
                    <a:pos x="T4" y="T5"/>
                  </a:cxn>
                  <a:cxn ang="0">
                    <a:pos x="T6" y="T7"/>
                  </a:cxn>
                </a:cxnLst>
                <a:rect l="0" t="0" r="r" b="b"/>
                <a:pathLst>
                  <a:path w="51" h="67">
                    <a:moveTo>
                      <a:pt x="12" y="0"/>
                    </a:moveTo>
                    <a:cubicBezTo>
                      <a:pt x="23" y="16"/>
                      <a:pt x="7" y="24"/>
                      <a:pt x="4" y="33"/>
                    </a:cubicBezTo>
                    <a:cubicBezTo>
                      <a:pt x="0" y="42"/>
                      <a:pt x="4" y="50"/>
                      <a:pt x="13" y="54"/>
                    </a:cubicBezTo>
                    <a:cubicBezTo>
                      <a:pt x="42" y="67"/>
                      <a:pt x="51" y="9"/>
                      <a:pt x="12" y="0"/>
                    </a:cubicBezTo>
                    <a:close/>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96" name="Line 47">
                <a:extLst>
                  <a:ext uri="{FF2B5EF4-FFF2-40B4-BE49-F238E27FC236}">
                    <a16:creationId xmlns:a16="http://schemas.microsoft.com/office/drawing/2014/main" id="{0439FFFD-0971-84C7-C23B-1DC0E68FC9B4}"/>
                  </a:ext>
                </a:extLst>
              </p:cNvPr>
              <p:cNvSpPr>
                <a:spLocks noChangeShapeType="1"/>
              </p:cNvSpPr>
              <p:nvPr/>
            </p:nvSpPr>
            <p:spPr bwMode="auto">
              <a:xfrm flipV="1">
                <a:off x="439738" y="215900"/>
                <a:ext cx="103188" cy="193675"/>
              </a:xfrm>
              <a:prstGeom prst="line">
                <a:avLst/>
              </a:prstGeom>
              <a:noFill/>
              <a:ln w="12700" cap="rnd">
                <a:solidFill>
                  <a:schemeClr val="bg1">
                    <a:lumMod val="50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97" name="Line 48">
                <a:extLst>
                  <a:ext uri="{FF2B5EF4-FFF2-40B4-BE49-F238E27FC236}">
                    <a16:creationId xmlns:a16="http://schemas.microsoft.com/office/drawing/2014/main" id="{E86C77F1-4E54-9286-5280-04816AE45C67}"/>
                  </a:ext>
                </a:extLst>
              </p:cNvPr>
              <p:cNvSpPr>
                <a:spLocks noChangeShapeType="1"/>
              </p:cNvSpPr>
              <p:nvPr/>
            </p:nvSpPr>
            <p:spPr bwMode="auto">
              <a:xfrm flipH="1">
                <a:off x="515938" y="231775"/>
                <a:ext cx="68263" cy="177800"/>
              </a:xfrm>
              <a:prstGeom prst="line">
                <a:avLst/>
              </a:prstGeom>
              <a:noFill/>
              <a:ln w="12700" cap="rnd">
                <a:solidFill>
                  <a:schemeClr val="bg1">
                    <a:lumMod val="50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98" name="Freeform 49">
                <a:extLst>
                  <a:ext uri="{FF2B5EF4-FFF2-40B4-BE49-F238E27FC236}">
                    <a16:creationId xmlns:a16="http://schemas.microsoft.com/office/drawing/2014/main" id="{71F31252-F647-5C91-DAD4-87D8D902D995}"/>
                  </a:ext>
                </a:extLst>
              </p:cNvPr>
              <p:cNvSpPr>
                <a:spLocks/>
              </p:cNvSpPr>
              <p:nvPr/>
            </p:nvSpPr>
            <p:spPr bwMode="auto">
              <a:xfrm>
                <a:off x="12701" y="166688"/>
                <a:ext cx="198438" cy="242888"/>
              </a:xfrm>
              <a:custGeom>
                <a:avLst/>
                <a:gdLst>
                  <a:gd name="T0" fmla="*/ 125 w 125"/>
                  <a:gd name="T1" fmla="*/ 153 h 153"/>
                  <a:gd name="T2" fmla="*/ 48 w 125"/>
                  <a:gd name="T3" fmla="*/ 153 h 153"/>
                  <a:gd name="T4" fmla="*/ 10 w 125"/>
                  <a:gd name="T5" fmla="*/ 77 h 153"/>
                  <a:gd name="T6" fmla="*/ 0 w 125"/>
                  <a:gd name="T7" fmla="*/ 0 h 153"/>
                  <a:gd name="T8" fmla="*/ 67 w 125"/>
                  <a:gd name="T9" fmla="*/ 38 h 153"/>
                  <a:gd name="T10" fmla="*/ 125 w 125"/>
                  <a:gd name="T11" fmla="*/ 153 h 153"/>
                </a:gdLst>
                <a:ahLst/>
                <a:cxnLst>
                  <a:cxn ang="0">
                    <a:pos x="T0" y="T1"/>
                  </a:cxn>
                  <a:cxn ang="0">
                    <a:pos x="T2" y="T3"/>
                  </a:cxn>
                  <a:cxn ang="0">
                    <a:pos x="T4" y="T5"/>
                  </a:cxn>
                  <a:cxn ang="0">
                    <a:pos x="T6" y="T7"/>
                  </a:cxn>
                  <a:cxn ang="0">
                    <a:pos x="T8" y="T9"/>
                  </a:cxn>
                  <a:cxn ang="0">
                    <a:pos x="T10" y="T11"/>
                  </a:cxn>
                </a:cxnLst>
                <a:rect l="0" t="0" r="r" b="b"/>
                <a:pathLst>
                  <a:path w="125" h="153">
                    <a:moveTo>
                      <a:pt x="125" y="153"/>
                    </a:moveTo>
                    <a:lnTo>
                      <a:pt x="48" y="153"/>
                    </a:lnTo>
                    <a:lnTo>
                      <a:pt x="10" y="77"/>
                    </a:lnTo>
                    <a:lnTo>
                      <a:pt x="0" y="0"/>
                    </a:lnTo>
                    <a:lnTo>
                      <a:pt x="67" y="38"/>
                    </a:lnTo>
                    <a:lnTo>
                      <a:pt x="125" y="153"/>
                    </a:lnTo>
                    <a:close/>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99" name="Line 50">
                <a:extLst>
                  <a:ext uri="{FF2B5EF4-FFF2-40B4-BE49-F238E27FC236}">
                    <a16:creationId xmlns:a16="http://schemas.microsoft.com/office/drawing/2014/main" id="{9F3F17C5-0888-14B6-A8DF-B55178073E88}"/>
                  </a:ext>
                </a:extLst>
              </p:cNvPr>
              <p:cNvSpPr>
                <a:spLocks noChangeShapeType="1"/>
              </p:cNvSpPr>
              <p:nvPr/>
            </p:nvSpPr>
            <p:spPr bwMode="auto">
              <a:xfrm flipV="1">
                <a:off x="28576" y="227013"/>
                <a:ext cx="90488" cy="61913"/>
              </a:xfrm>
              <a:prstGeom prst="line">
                <a:avLst/>
              </a:prstGeom>
              <a:noFill/>
              <a:ln w="12700" cap="rnd">
                <a:solidFill>
                  <a:schemeClr val="bg1">
                    <a:lumMod val="50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00" name="Rectangle 51">
                <a:extLst>
                  <a:ext uri="{FF2B5EF4-FFF2-40B4-BE49-F238E27FC236}">
                    <a16:creationId xmlns:a16="http://schemas.microsoft.com/office/drawing/2014/main" id="{C3EAD3A3-323F-2276-1033-EA9CCF31E0B7}"/>
                  </a:ext>
                </a:extLst>
              </p:cNvPr>
              <p:cNvSpPr>
                <a:spLocks noChangeArrowheads="1"/>
              </p:cNvSpPr>
              <p:nvPr/>
            </p:nvSpPr>
            <p:spPr bwMode="auto">
              <a:xfrm>
                <a:off x="241301" y="15875"/>
                <a:ext cx="182563" cy="393700"/>
              </a:xfrm>
              <a:prstGeom prst="rect">
                <a:avLst/>
              </a:pr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01" name="Line 52">
                <a:extLst>
                  <a:ext uri="{FF2B5EF4-FFF2-40B4-BE49-F238E27FC236}">
                    <a16:creationId xmlns:a16="http://schemas.microsoft.com/office/drawing/2014/main" id="{78E842E2-973D-5187-BCDE-247118418196}"/>
                  </a:ext>
                </a:extLst>
              </p:cNvPr>
              <p:cNvSpPr>
                <a:spLocks noChangeShapeType="1"/>
              </p:cNvSpPr>
              <p:nvPr/>
            </p:nvSpPr>
            <p:spPr bwMode="auto">
              <a:xfrm flipH="1">
                <a:off x="333376" y="106363"/>
                <a:ext cx="90488" cy="0"/>
              </a:xfrm>
              <a:prstGeom prst="line">
                <a:avLst/>
              </a:prstGeom>
              <a:noFill/>
              <a:ln w="12700" cap="rnd">
                <a:solidFill>
                  <a:schemeClr val="bg1">
                    <a:lumMod val="50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02" name="Line 53">
                <a:extLst>
                  <a:ext uri="{FF2B5EF4-FFF2-40B4-BE49-F238E27FC236}">
                    <a16:creationId xmlns:a16="http://schemas.microsoft.com/office/drawing/2014/main" id="{9C932584-BBD2-FF4C-9BD4-83996FB08384}"/>
                  </a:ext>
                </a:extLst>
              </p:cNvPr>
              <p:cNvSpPr>
                <a:spLocks noChangeShapeType="1"/>
              </p:cNvSpPr>
              <p:nvPr/>
            </p:nvSpPr>
            <p:spPr bwMode="auto">
              <a:xfrm flipH="1">
                <a:off x="363538" y="166688"/>
                <a:ext cx="60325" cy="0"/>
              </a:xfrm>
              <a:prstGeom prst="line">
                <a:avLst/>
              </a:prstGeom>
              <a:noFill/>
              <a:ln w="12700" cap="rnd">
                <a:solidFill>
                  <a:schemeClr val="bg1">
                    <a:lumMod val="50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03" name="Line 54">
                <a:extLst>
                  <a:ext uri="{FF2B5EF4-FFF2-40B4-BE49-F238E27FC236}">
                    <a16:creationId xmlns:a16="http://schemas.microsoft.com/office/drawing/2014/main" id="{0787AF46-27C7-AE1B-64CC-A60D55716F68}"/>
                  </a:ext>
                </a:extLst>
              </p:cNvPr>
              <p:cNvSpPr>
                <a:spLocks noChangeShapeType="1"/>
              </p:cNvSpPr>
              <p:nvPr/>
            </p:nvSpPr>
            <p:spPr bwMode="auto">
              <a:xfrm flipH="1">
                <a:off x="333376" y="227013"/>
                <a:ext cx="90488" cy="0"/>
              </a:xfrm>
              <a:prstGeom prst="line">
                <a:avLst/>
              </a:prstGeom>
              <a:noFill/>
              <a:ln w="12700" cap="rnd">
                <a:solidFill>
                  <a:schemeClr val="bg1">
                    <a:lumMod val="50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204" name="Line 55">
                <a:extLst>
                  <a:ext uri="{FF2B5EF4-FFF2-40B4-BE49-F238E27FC236}">
                    <a16:creationId xmlns:a16="http://schemas.microsoft.com/office/drawing/2014/main" id="{2785A600-27DD-0C81-A1CB-224AE4A01B9E}"/>
                  </a:ext>
                </a:extLst>
              </p:cNvPr>
              <p:cNvSpPr>
                <a:spLocks noChangeShapeType="1"/>
              </p:cNvSpPr>
              <p:nvPr/>
            </p:nvSpPr>
            <p:spPr bwMode="auto">
              <a:xfrm flipH="1">
                <a:off x="363538" y="319088"/>
                <a:ext cx="60325" cy="0"/>
              </a:xfrm>
              <a:prstGeom prst="line">
                <a:avLst/>
              </a:prstGeom>
              <a:noFill/>
              <a:ln w="12700" cap="rnd">
                <a:solidFill>
                  <a:schemeClr val="bg1">
                    <a:lumMod val="50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149" name="Group 148">
              <a:extLst>
                <a:ext uri="{FF2B5EF4-FFF2-40B4-BE49-F238E27FC236}">
                  <a16:creationId xmlns:a16="http://schemas.microsoft.com/office/drawing/2014/main" id="{073D9A00-21D9-6CD8-A354-5F8D4D04D4FB}"/>
                </a:ext>
              </a:extLst>
            </p:cNvPr>
            <p:cNvGrpSpPr/>
            <p:nvPr/>
          </p:nvGrpSpPr>
          <p:grpSpPr>
            <a:xfrm>
              <a:off x="6909631" y="2099480"/>
              <a:ext cx="319409" cy="236963"/>
              <a:chOff x="17463" y="19050"/>
              <a:chExt cx="879476" cy="652463"/>
            </a:xfrm>
          </p:grpSpPr>
          <p:sp>
            <p:nvSpPr>
              <p:cNvPr id="188" name="Freeform 59">
                <a:extLst>
                  <a:ext uri="{FF2B5EF4-FFF2-40B4-BE49-F238E27FC236}">
                    <a16:creationId xmlns:a16="http://schemas.microsoft.com/office/drawing/2014/main" id="{093F72C5-33FC-268A-ABB2-D62427C42A7C}"/>
                  </a:ext>
                </a:extLst>
              </p:cNvPr>
              <p:cNvSpPr>
                <a:spLocks/>
              </p:cNvSpPr>
              <p:nvPr/>
            </p:nvSpPr>
            <p:spPr bwMode="auto">
              <a:xfrm>
                <a:off x="17463" y="396875"/>
                <a:ext cx="90488" cy="168275"/>
              </a:xfrm>
              <a:custGeom>
                <a:avLst/>
                <a:gdLst>
                  <a:gd name="T0" fmla="*/ 24 w 24"/>
                  <a:gd name="T1" fmla="*/ 44 h 44"/>
                  <a:gd name="T2" fmla="*/ 0 w 24"/>
                  <a:gd name="T3" fmla="*/ 22 h 44"/>
                  <a:gd name="T4" fmla="*/ 24 w 24"/>
                  <a:gd name="T5" fmla="*/ 0 h 44"/>
                </a:gdLst>
                <a:ahLst/>
                <a:cxnLst>
                  <a:cxn ang="0">
                    <a:pos x="T0" y="T1"/>
                  </a:cxn>
                  <a:cxn ang="0">
                    <a:pos x="T2" y="T3"/>
                  </a:cxn>
                  <a:cxn ang="0">
                    <a:pos x="T4" y="T5"/>
                  </a:cxn>
                </a:cxnLst>
                <a:rect l="0" t="0" r="r" b="b"/>
                <a:pathLst>
                  <a:path w="24" h="44">
                    <a:moveTo>
                      <a:pt x="24" y="44"/>
                    </a:moveTo>
                    <a:cubicBezTo>
                      <a:pt x="13" y="44"/>
                      <a:pt x="0" y="40"/>
                      <a:pt x="0" y="22"/>
                    </a:cubicBezTo>
                    <a:cubicBezTo>
                      <a:pt x="0" y="4"/>
                      <a:pt x="13" y="0"/>
                      <a:pt x="24" y="0"/>
                    </a:cubicBezTo>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9" name="Freeform 60">
                <a:extLst>
                  <a:ext uri="{FF2B5EF4-FFF2-40B4-BE49-F238E27FC236}">
                    <a16:creationId xmlns:a16="http://schemas.microsoft.com/office/drawing/2014/main" id="{4C46BE05-8A79-7132-3B37-1C66F0EC374C}"/>
                  </a:ext>
                </a:extLst>
              </p:cNvPr>
              <p:cNvSpPr>
                <a:spLocks/>
              </p:cNvSpPr>
              <p:nvPr/>
            </p:nvSpPr>
            <p:spPr bwMode="auto">
              <a:xfrm>
                <a:off x="107951" y="274638"/>
                <a:ext cx="120650" cy="396875"/>
              </a:xfrm>
              <a:custGeom>
                <a:avLst/>
                <a:gdLst>
                  <a:gd name="T0" fmla="*/ 32 w 32"/>
                  <a:gd name="T1" fmla="*/ 104 h 104"/>
                  <a:gd name="T2" fmla="*/ 16 w 32"/>
                  <a:gd name="T3" fmla="*/ 104 h 104"/>
                  <a:gd name="T4" fmla="*/ 0 w 32"/>
                  <a:gd name="T5" fmla="*/ 84 h 104"/>
                  <a:gd name="T6" fmla="*/ 0 w 32"/>
                  <a:gd name="T7" fmla="*/ 23 h 104"/>
                  <a:gd name="T8" fmla="*/ 16 w 32"/>
                  <a:gd name="T9" fmla="*/ 0 h 104"/>
                  <a:gd name="T10" fmla="*/ 32 w 32"/>
                  <a:gd name="T11" fmla="*/ 0 h 104"/>
                  <a:gd name="T12" fmla="*/ 32 w 32"/>
                  <a:gd name="T13" fmla="*/ 104 h 104"/>
                </a:gdLst>
                <a:ahLst/>
                <a:cxnLst>
                  <a:cxn ang="0">
                    <a:pos x="T0" y="T1"/>
                  </a:cxn>
                  <a:cxn ang="0">
                    <a:pos x="T2" y="T3"/>
                  </a:cxn>
                  <a:cxn ang="0">
                    <a:pos x="T4" y="T5"/>
                  </a:cxn>
                  <a:cxn ang="0">
                    <a:pos x="T6" y="T7"/>
                  </a:cxn>
                  <a:cxn ang="0">
                    <a:pos x="T8" y="T9"/>
                  </a:cxn>
                  <a:cxn ang="0">
                    <a:pos x="T10" y="T11"/>
                  </a:cxn>
                  <a:cxn ang="0">
                    <a:pos x="T12" y="T13"/>
                  </a:cxn>
                </a:cxnLst>
                <a:rect l="0" t="0" r="r" b="b"/>
                <a:pathLst>
                  <a:path w="32" h="104">
                    <a:moveTo>
                      <a:pt x="32" y="104"/>
                    </a:moveTo>
                    <a:cubicBezTo>
                      <a:pt x="16" y="104"/>
                      <a:pt x="16" y="104"/>
                      <a:pt x="16" y="104"/>
                    </a:cubicBezTo>
                    <a:cubicBezTo>
                      <a:pt x="4" y="104"/>
                      <a:pt x="0" y="96"/>
                      <a:pt x="0" y="84"/>
                    </a:cubicBezTo>
                    <a:cubicBezTo>
                      <a:pt x="0" y="23"/>
                      <a:pt x="0" y="23"/>
                      <a:pt x="0" y="23"/>
                    </a:cubicBezTo>
                    <a:cubicBezTo>
                      <a:pt x="0" y="12"/>
                      <a:pt x="5" y="0"/>
                      <a:pt x="16" y="0"/>
                    </a:cubicBezTo>
                    <a:cubicBezTo>
                      <a:pt x="32" y="0"/>
                      <a:pt x="32" y="0"/>
                      <a:pt x="32" y="0"/>
                    </a:cubicBezTo>
                    <a:lnTo>
                      <a:pt x="32" y="104"/>
                    </a:lnTo>
                    <a:close/>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90" name="Freeform 61">
                <a:extLst>
                  <a:ext uri="{FF2B5EF4-FFF2-40B4-BE49-F238E27FC236}">
                    <a16:creationId xmlns:a16="http://schemas.microsoft.com/office/drawing/2014/main" id="{859555A0-DD01-8DA4-00D9-CFAE923BF8BF}"/>
                  </a:ext>
                </a:extLst>
              </p:cNvPr>
              <p:cNvSpPr>
                <a:spLocks/>
              </p:cNvSpPr>
              <p:nvPr/>
            </p:nvSpPr>
            <p:spPr bwMode="auto">
              <a:xfrm>
                <a:off x="806451" y="396875"/>
                <a:ext cx="90488" cy="152400"/>
              </a:xfrm>
              <a:custGeom>
                <a:avLst/>
                <a:gdLst>
                  <a:gd name="T0" fmla="*/ 0 w 24"/>
                  <a:gd name="T1" fmla="*/ 40 h 40"/>
                  <a:gd name="T2" fmla="*/ 24 w 24"/>
                  <a:gd name="T3" fmla="*/ 20 h 40"/>
                  <a:gd name="T4" fmla="*/ 0 w 24"/>
                  <a:gd name="T5" fmla="*/ 0 h 40"/>
                </a:gdLst>
                <a:ahLst/>
                <a:cxnLst>
                  <a:cxn ang="0">
                    <a:pos x="T0" y="T1"/>
                  </a:cxn>
                  <a:cxn ang="0">
                    <a:pos x="T2" y="T3"/>
                  </a:cxn>
                  <a:cxn ang="0">
                    <a:pos x="T4" y="T5"/>
                  </a:cxn>
                </a:cxnLst>
                <a:rect l="0" t="0" r="r" b="b"/>
                <a:pathLst>
                  <a:path w="24" h="40">
                    <a:moveTo>
                      <a:pt x="0" y="40"/>
                    </a:moveTo>
                    <a:cubicBezTo>
                      <a:pt x="11" y="40"/>
                      <a:pt x="24" y="36"/>
                      <a:pt x="24" y="20"/>
                    </a:cubicBezTo>
                    <a:cubicBezTo>
                      <a:pt x="24" y="4"/>
                      <a:pt x="11" y="0"/>
                      <a:pt x="0" y="0"/>
                    </a:cubicBezTo>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91" name="Freeform 62">
                <a:extLst>
                  <a:ext uri="{FF2B5EF4-FFF2-40B4-BE49-F238E27FC236}">
                    <a16:creationId xmlns:a16="http://schemas.microsoft.com/office/drawing/2014/main" id="{77CC9A55-0678-EB55-E5F9-16319F1833B2}"/>
                  </a:ext>
                </a:extLst>
              </p:cNvPr>
              <p:cNvSpPr>
                <a:spLocks/>
              </p:cNvSpPr>
              <p:nvPr/>
            </p:nvSpPr>
            <p:spPr bwMode="auto">
              <a:xfrm>
                <a:off x="684213" y="274638"/>
                <a:ext cx="122238" cy="396875"/>
              </a:xfrm>
              <a:custGeom>
                <a:avLst/>
                <a:gdLst>
                  <a:gd name="T0" fmla="*/ 0 w 32"/>
                  <a:gd name="T1" fmla="*/ 104 h 104"/>
                  <a:gd name="T2" fmla="*/ 16 w 32"/>
                  <a:gd name="T3" fmla="*/ 104 h 104"/>
                  <a:gd name="T4" fmla="*/ 32 w 32"/>
                  <a:gd name="T5" fmla="*/ 84 h 104"/>
                  <a:gd name="T6" fmla="*/ 32 w 32"/>
                  <a:gd name="T7" fmla="*/ 23 h 104"/>
                  <a:gd name="T8" fmla="*/ 12 w 32"/>
                  <a:gd name="T9" fmla="*/ 0 h 104"/>
                  <a:gd name="T10" fmla="*/ 0 w 32"/>
                  <a:gd name="T11" fmla="*/ 0 h 104"/>
                  <a:gd name="T12" fmla="*/ 0 w 32"/>
                  <a:gd name="T13" fmla="*/ 104 h 104"/>
                </a:gdLst>
                <a:ahLst/>
                <a:cxnLst>
                  <a:cxn ang="0">
                    <a:pos x="T0" y="T1"/>
                  </a:cxn>
                  <a:cxn ang="0">
                    <a:pos x="T2" y="T3"/>
                  </a:cxn>
                  <a:cxn ang="0">
                    <a:pos x="T4" y="T5"/>
                  </a:cxn>
                  <a:cxn ang="0">
                    <a:pos x="T6" y="T7"/>
                  </a:cxn>
                  <a:cxn ang="0">
                    <a:pos x="T8" y="T9"/>
                  </a:cxn>
                  <a:cxn ang="0">
                    <a:pos x="T10" y="T11"/>
                  </a:cxn>
                  <a:cxn ang="0">
                    <a:pos x="T12" y="T13"/>
                  </a:cxn>
                </a:cxnLst>
                <a:rect l="0" t="0" r="r" b="b"/>
                <a:pathLst>
                  <a:path w="32" h="104">
                    <a:moveTo>
                      <a:pt x="0" y="104"/>
                    </a:moveTo>
                    <a:cubicBezTo>
                      <a:pt x="16" y="104"/>
                      <a:pt x="16" y="104"/>
                      <a:pt x="16" y="104"/>
                    </a:cubicBezTo>
                    <a:cubicBezTo>
                      <a:pt x="28" y="104"/>
                      <a:pt x="32" y="96"/>
                      <a:pt x="32" y="84"/>
                    </a:cubicBezTo>
                    <a:cubicBezTo>
                      <a:pt x="32" y="23"/>
                      <a:pt x="32" y="23"/>
                      <a:pt x="32" y="23"/>
                    </a:cubicBezTo>
                    <a:cubicBezTo>
                      <a:pt x="32" y="12"/>
                      <a:pt x="24" y="0"/>
                      <a:pt x="12" y="0"/>
                    </a:cubicBezTo>
                    <a:cubicBezTo>
                      <a:pt x="0" y="0"/>
                      <a:pt x="0" y="0"/>
                      <a:pt x="0" y="0"/>
                    </a:cubicBezTo>
                    <a:lnTo>
                      <a:pt x="0" y="104"/>
                    </a:lnTo>
                    <a:close/>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92" name="Freeform 63">
                <a:extLst>
                  <a:ext uri="{FF2B5EF4-FFF2-40B4-BE49-F238E27FC236}">
                    <a16:creationId xmlns:a16="http://schemas.microsoft.com/office/drawing/2014/main" id="{C5FB285D-C9C2-D1A6-DBC7-D3F5E979D3DD}"/>
                  </a:ext>
                </a:extLst>
              </p:cNvPr>
              <p:cNvSpPr>
                <a:spLocks/>
              </p:cNvSpPr>
              <p:nvPr/>
            </p:nvSpPr>
            <p:spPr bwMode="auto">
              <a:xfrm>
                <a:off x="187326" y="19050"/>
                <a:ext cx="539750" cy="255588"/>
              </a:xfrm>
              <a:custGeom>
                <a:avLst/>
                <a:gdLst>
                  <a:gd name="T0" fmla="*/ 0 w 142"/>
                  <a:gd name="T1" fmla="*/ 67 h 67"/>
                  <a:gd name="T2" fmla="*/ 71 w 142"/>
                  <a:gd name="T3" fmla="*/ 0 h 67"/>
                  <a:gd name="T4" fmla="*/ 142 w 142"/>
                  <a:gd name="T5" fmla="*/ 67 h 67"/>
                </a:gdLst>
                <a:ahLst/>
                <a:cxnLst>
                  <a:cxn ang="0">
                    <a:pos x="T0" y="T1"/>
                  </a:cxn>
                  <a:cxn ang="0">
                    <a:pos x="T2" y="T3"/>
                  </a:cxn>
                  <a:cxn ang="0">
                    <a:pos x="T4" y="T5"/>
                  </a:cxn>
                </a:cxnLst>
                <a:rect l="0" t="0" r="r" b="b"/>
                <a:pathLst>
                  <a:path w="142" h="67">
                    <a:moveTo>
                      <a:pt x="0" y="67"/>
                    </a:moveTo>
                    <a:cubicBezTo>
                      <a:pt x="0" y="28"/>
                      <a:pt x="32" y="0"/>
                      <a:pt x="71" y="0"/>
                    </a:cubicBezTo>
                    <a:cubicBezTo>
                      <a:pt x="110" y="0"/>
                      <a:pt x="142" y="28"/>
                      <a:pt x="142" y="67"/>
                    </a:cubicBezTo>
                  </a:path>
                </a:pathLst>
              </a:custGeom>
              <a:noFill/>
              <a:ln w="12700" cap="flat">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150" name="Group 149">
              <a:extLst>
                <a:ext uri="{FF2B5EF4-FFF2-40B4-BE49-F238E27FC236}">
                  <a16:creationId xmlns:a16="http://schemas.microsoft.com/office/drawing/2014/main" id="{BDE2A80B-9841-61D2-E181-6358245FC2B8}"/>
                </a:ext>
              </a:extLst>
            </p:cNvPr>
            <p:cNvGrpSpPr/>
            <p:nvPr/>
          </p:nvGrpSpPr>
          <p:grpSpPr>
            <a:xfrm>
              <a:off x="6087274" y="3050683"/>
              <a:ext cx="146453" cy="146453"/>
              <a:chOff x="15875" y="15875"/>
              <a:chExt cx="850901" cy="850901"/>
            </a:xfrm>
          </p:grpSpPr>
          <p:sp>
            <p:nvSpPr>
              <p:cNvPr id="182" name="Freeform 67">
                <a:extLst>
                  <a:ext uri="{FF2B5EF4-FFF2-40B4-BE49-F238E27FC236}">
                    <a16:creationId xmlns:a16="http://schemas.microsoft.com/office/drawing/2014/main" id="{45974BDD-3466-1365-D2DD-F4897A5FB613}"/>
                  </a:ext>
                </a:extLst>
              </p:cNvPr>
              <p:cNvSpPr>
                <a:spLocks/>
              </p:cNvSpPr>
              <p:nvPr/>
            </p:nvSpPr>
            <p:spPr bwMode="auto">
              <a:xfrm>
                <a:off x="182563" y="182563"/>
                <a:ext cx="684213" cy="684213"/>
              </a:xfrm>
              <a:custGeom>
                <a:avLst/>
                <a:gdLst>
                  <a:gd name="T0" fmla="*/ 431 w 431"/>
                  <a:gd name="T1" fmla="*/ 0 h 431"/>
                  <a:gd name="T2" fmla="*/ 431 w 431"/>
                  <a:gd name="T3" fmla="*/ 431 h 431"/>
                  <a:gd name="T4" fmla="*/ 0 w 431"/>
                  <a:gd name="T5" fmla="*/ 431 h 431"/>
                </a:gdLst>
                <a:ahLst/>
                <a:cxnLst>
                  <a:cxn ang="0">
                    <a:pos x="T0" y="T1"/>
                  </a:cxn>
                  <a:cxn ang="0">
                    <a:pos x="T2" y="T3"/>
                  </a:cxn>
                  <a:cxn ang="0">
                    <a:pos x="T4" y="T5"/>
                  </a:cxn>
                </a:cxnLst>
                <a:rect l="0" t="0" r="r" b="b"/>
                <a:pathLst>
                  <a:path w="431" h="431">
                    <a:moveTo>
                      <a:pt x="431" y="0"/>
                    </a:moveTo>
                    <a:lnTo>
                      <a:pt x="431" y="431"/>
                    </a:lnTo>
                    <a:lnTo>
                      <a:pt x="0" y="431"/>
                    </a:ln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3" name="Freeform 68">
                <a:extLst>
                  <a:ext uri="{FF2B5EF4-FFF2-40B4-BE49-F238E27FC236}">
                    <a16:creationId xmlns:a16="http://schemas.microsoft.com/office/drawing/2014/main" id="{01FEE618-66BD-8801-02E0-925DBEB33418}"/>
                  </a:ext>
                </a:extLst>
              </p:cNvPr>
              <p:cNvSpPr>
                <a:spLocks/>
              </p:cNvSpPr>
              <p:nvPr/>
            </p:nvSpPr>
            <p:spPr bwMode="auto">
              <a:xfrm>
                <a:off x="90488" y="90488"/>
                <a:ext cx="715963" cy="715963"/>
              </a:xfrm>
              <a:custGeom>
                <a:avLst/>
                <a:gdLst>
                  <a:gd name="T0" fmla="*/ 451 w 451"/>
                  <a:gd name="T1" fmla="*/ 0 h 451"/>
                  <a:gd name="T2" fmla="*/ 451 w 451"/>
                  <a:gd name="T3" fmla="*/ 451 h 451"/>
                  <a:gd name="T4" fmla="*/ 0 w 451"/>
                  <a:gd name="T5" fmla="*/ 451 h 451"/>
                </a:gdLst>
                <a:ahLst/>
                <a:cxnLst>
                  <a:cxn ang="0">
                    <a:pos x="T0" y="T1"/>
                  </a:cxn>
                  <a:cxn ang="0">
                    <a:pos x="T2" y="T3"/>
                  </a:cxn>
                  <a:cxn ang="0">
                    <a:pos x="T4" y="T5"/>
                  </a:cxn>
                </a:cxnLst>
                <a:rect l="0" t="0" r="r" b="b"/>
                <a:pathLst>
                  <a:path w="451" h="451">
                    <a:moveTo>
                      <a:pt x="451" y="0"/>
                    </a:moveTo>
                    <a:lnTo>
                      <a:pt x="451" y="451"/>
                    </a:lnTo>
                    <a:lnTo>
                      <a:pt x="0" y="451"/>
                    </a:ln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4" name="Rectangle 69">
                <a:extLst>
                  <a:ext uri="{FF2B5EF4-FFF2-40B4-BE49-F238E27FC236}">
                    <a16:creationId xmlns:a16="http://schemas.microsoft.com/office/drawing/2014/main" id="{0E9259CD-75F8-9979-829A-61FCA656D5BD}"/>
                  </a:ext>
                </a:extLst>
              </p:cNvPr>
              <p:cNvSpPr>
                <a:spLocks noChangeArrowheads="1"/>
              </p:cNvSpPr>
              <p:nvPr/>
            </p:nvSpPr>
            <p:spPr bwMode="auto">
              <a:xfrm>
                <a:off x="15875" y="15875"/>
                <a:ext cx="728663" cy="728663"/>
              </a:xfrm>
              <a:prstGeom prst="rect">
                <a:avLst/>
              </a:pr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5" name="Freeform 70">
                <a:extLst>
                  <a:ext uri="{FF2B5EF4-FFF2-40B4-BE49-F238E27FC236}">
                    <a16:creationId xmlns:a16="http://schemas.microsoft.com/office/drawing/2014/main" id="{951F350D-D499-EE61-F917-B9DFEDFE40A1}"/>
                  </a:ext>
                </a:extLst>
              </p:cNvPr>
              <p:cNvSpPr>
                <a:spLocks/>
              </p:cNvSpPr>
              <p:nvPr/>
            </p:nvSpPr>
            <p:spPr bwMode="auto">
              <a:xfrm>
                <a:off x="166688" y="285750"/>
                <a:ext cx="482600" cy="307975"/>
              </a:xfrm>
              <a:custGeom>
                <a:avLst/>
                <a:gdLst>
                  <a:gd name="T0" fmla="*/ 304 w 304"/>
                  <a:gd name="T1" fmla="*/ 194 h 194"/>
                  <a:gd name="T2" fmla="*/ 230 w 304"/>
                  <a:gd name="T3" fmla="*/ 0 h 194"/>
                  <a:gd name="T4" fmla="*/ 134 w 304"/>
                  <a:gd name="T5" fmla="*/ 143 h 194"/>
                  <a:gd name="T6" fmla="*/ 75 w 304"/>
                  <a:gd name="T7" fmla="*/ 71 h 194"/>
                  <a:gd name="T8" fmla="*/ 0 w 304"/>
                  <a:gd name="T9" fmla="*/ 194 h 194"/>
                </a:gdLst>
                <a:ahLst/>
                <a:cxnLst>
                  <a:cxn ang="0">
                    <a:pos x="T0" y="T1"/>
                  </a:cxn>
                  <a:cxn ang="0">
                    <a:pos x="T2" y="T3"/>
                  </a:cxn>
                  <a:cxn ang="0">
                    <a:pos x="T4" y="T5"/>
                  </a:cxn>
                  <a:cxn ang="0">
                    <a:pos x="T6" y="T7"/>
                  </a:cxn>
                  <a:cxn ang="0">
                    <a:pos x="T8" y="T9"/>
                  </a:cxn>
                </a:cxnLst>
                <a:rect l="0" t="0" r="r" b="b"/>
                <a:pathLst>
                  <a:path w="304" h="194">
                    <a:moveTo>
                      <a:pt x="304" y="194"/>
                    </a:moveTo>
                    <a:lnTo>
                      <a:pt x="230" y="0"/>
                    </a:lnTo>
                    <a:lnTo>
                      <a:pt x="134" y="143"/>
                    </a:lnTo>
                    <a:lnTo>
                      <a:pt x="75" y="71"/>
                    </a:lnTo>
                    <a:lnTo>
                      <a:pt x="0" y="194"/>
                    </a:lnTo>
                  </a:path>
                </a:pathLst>
              </a:custGeom>
              <a:noFill/>
              <a:ln w="12700"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6" name="Oval 71">
                <a:extLst>
                  <a:ext uri="{FF2B5EF4-FFF2-40B4-BE49-F238E27FC236}">
                    <a16:creationId xmlns:a16="http://schemas.microsoft.com/office/drawing/2014/main" id="{F0FB051F-8102-C1A6-F41B-6F46A523BD46}"/>
                  </a:ext>
                </a:extLst>
              </p:cNvPr>
              <p:cNvSpPr>
                <a:spLocks noChangeArrowheads="1"/>
              </p:cNvSpPr>
              <p:nvPr/>
            </p:nvSpPr>
            <p:spPr bwMode="auto">
              <a:xfrm>
                <a:off x="166688" y="128588"/>
                <a:ext cx="119063" cy="119063"/>
              </a:xfrm>
              <a:prstGeom prst="ellipse">
                <a:avLst/>
              </a:prstGeom>
              <a:noFill/>
              <a:ln w="12700"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7" name="Line 72">
                <a:extLst>
                  <a:ext uri="{FF2B5EF4-FFF2-40B4-BE49-F238E27FC236}">
                    <a16:creationId xmlns:a16="http://schemas.microsoft.com/office/drawing/2014/main" id="{0F2CBF7E-1EB1-C051-C29D-21099D5ECD00}"/>
                  </a:ext>
                </a:extLst>
              </p:cNvPr>
              <p:cNvSpPr>
                <a:spLocks noChangeShapeType="1"/>
              </p:cNvSpPr>
              <p:nvPr/>
            </p:nvSpPr>
            <p:spPr bwMode="auto">
              <a:xfrm flipH="1">
                <a:off x="15875" y="593725"/>
                <a:ext cx="728663"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151" name="Group 150">
              <a:extLst>
                <a:ext uri="{FF2B5EF4-FFF2-40B4-BE49-F238E27FC236}">
                  <a16:creationId xmlns:a16="http://schemas.microsoft.com/office/drawing/2014/main" id="{603B68A0-59A2-B059-742F-46AEDB0D6EE1}"/>
                </a:ext>
              </a:extLst>
            </p:cNvPr>
            <p:cNvGrpSpPr/>
            <p:nvPr/>
          </p:nvGrpSpPr>
          <p:grpSpPr>
            <a:xfrm>
              <a:off x="6360962" y="3233314"/>
              <a:ext cx="295742" cy="295742"/>
              <a:chOff x="15875" y="15875"/>
              <a:chExt cx="879475" cy="879475"/>
            </a:xfrm>
          </p:grpSpPr>
          <p:sp>
            <p:nvSpPr>
              <p:cNvPr id="176" name="Rectangle 76">
                <a:extLst>
                  <a:ext uri="{FF2B5EF4-FFF2-40B4-BE49-F238E27FC236}">
                    <a16:creationId xmlns:a16="http://schemas.microsoft.com/office/drawing/2014/main" id="{ECDCCA4D-4F7B-76F2-FEC3-0C70E2D2D290}"/>
                  </a:ext>
                </a:extLst>
              </p:cNvPr>
              <p:cNvSpPr>
                <a:spLocks noChangeArrowheads="1"/>
              </p:cNvSpPr>
              <p:nvPr/>
            </p:nvSpPr>
            <p:spPr bwMode="auto">
              <a:xfrm>
                <a:off x="136525" y="106363"/>
                <a:ext cx="638175" cy="365125"/>
              </a:xfrm>
              <a:prstGeom prst="rect">
                <a:avLst/>
              </a:prstGeom>
              <a:noFill/>
              <a:ln w="12700" cap="rnd">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77" name="Line 77">
                <a:extLst>
                  <a:ext uri="{FF2B5EF4-FFF2-40B4-BE49-F238E27FC236}">
                    <a16:creationId xmlns:a16="http://schemas.microsoft.com/office/drawing/2014/main" id="{43B6617E-D982-CF10-87D5-CAD04E109418}"/>
                  </a:ext>
                </a:extLst>
              </p:cNvPr>
              <p:cNvSpPr>
                <a:spLocks noChangeShapeType="1"/>
              </p:cNvSpPr>
              <p:nvPr/>
            </p:nvSpPr>
            <p:spPr bwMode="auto">
              <a:xfrm>
                <a:off x="106363" y="714375"/>
                <a:ext cx="212725" cy="0"/>
              </a:xfrm>
              <a:prstGeom prst="line">
                <a:avLst/>
              </a:prstGeom>
              <a:noFill/>
              <a:ln w="12700" cap="rnd">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78" name="Line 78">
                <a:extLst>
                  <a:ext uri="{FF2B5EF4-FFF2-40B4-BE49-F238E27FC236}">
                    <a16:creationId xmlns:a16="http://schemas.microsoft.com/office/drawing/2014/main" id="{E209EF93-9ECB-CB45-703D-13765FCBB06A}"/>
                  </a:ext>
                </a:extLst>
              </p:cNvPr>
              <p:cNvSpPr>
                <a:spLocks noChangeShapeType="1"/>
              </p:cNvSpPr>
              <p:nvPr/>
            </p:nvSpPr>
            <p:spPr bwMode="auto">
              <a:xfrm>
                <a:off x="106363" y="774700"/>
                <a:ext cx="90488" cy="0"/>
              </a:xfrm>
              <a:prstGeom prst="line">
                <a:avLst/>
              </a:prstGeom>
              <a:noFill/>
              <a:ln w="12700" cap="rnd">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79" name="Rectangle 79">
                <a:extLst>
                  <a:ext uri="{FF2B5EF4-FFF2-40B4-BE49-F238E27FC236}">
                    <a16:creationId xmlns:a16="http://schemas.microsoft.com/office/drawing/2014/main" id="{BFE56A47-EB96-39B4-277D-A35650070F41}"/>
                  </a:ext>
                </a:extLst>
              </p:cNvPr>
              <p:cNvSpPr>
                <a:spLocks noChangeArrowheads="1"/>
              </p:cNvSpPr>
              <p:nvPr/>
            </p:nvSpPr>
            <p:spPr bwMode="auto">
              <a:xfrm>
                <a:off x="471488" y="682625"/>
                <a:ext cx="333375" cy="61913"/>
              </a:xfrm>
              <a:prstGeom prst="rect">
                <a:avLst/>
              </a:prstGeom>
              <a:noFill/>
              <a:ln w="12700" cap="rnd">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0" name="Freeform 80">
                <a:extLst>
                  <a:ext uri="{FF2B5EF4-FFF2-40B4-BE49-F238E27FC236}">
                    <a16:creationId xmlns:a16="http://schemas.microsoft.com/office/drawing/2014/main" id="{E02AD3B3-FCFB-E311-1C1F-923E9E273315}"/>
                  </a:ext>
                </a:extLst>
              </p:cNvPr>
              <p:cNvSpPr>
                <a:spLocks/>
              </p:cNvSpPr>
              <p:nvPr/>
            </p:nvSpPr>
            <p:spPr bwMode="auto">
              <a:xfrm>
                <a:off x="15875" y="622300"/>
                <a:ext cx="879475" cy="273050"/>
              </a:xfrm>
              <a:custGeom>
                <a:avLst/>
                <a:gdLst>
                  <a:gd name="T0" fmla="*/ 232 w 232"/>
                  <a:gd name="T1" fmla="*/ 16 h 72"/>
                  <a:gd name="T2" fmla="*/ 216 w 232"/>
                  <a:gd name="T3" fmla="*/ 0 h 72"/>
                  <a:gd name="T4" fmla="*/ 16 w 232"/>
                  <a:gd name="T5" fmla="*/ 0 h 72"/>
                  <a:gd name="T6" fmla="*/ 0 w 232"/>
                  <a:gd name="T7" fmla="*/ 16 h 72"/>
                  <a:gd name="T8" fmla="*/ 0 w 232"/>
                  <a:gd name="T9" fmla="*/ 72 h 72"/>
                  <a:gd name="T10" fmla="*/ 232 w 232"/>
                  <a:gd name="T11" fmla="*/ 72 h 72"/>
                  <a:gd name="T12" fmla="*/ 232 w 232"/>
                  <a:gd name="T13" fmla="*/ 16 h 72"/>
                </a:gdLst>
                <a:ahLst/>
                <a:cxnLst>
                  <a:cxn ang="0">
                    <a:pos x="T0" y="T1"/>
                  </a:cxn>
                  <a:cxn ang="0">
                    <a:pos x="T2" y="T3"/>
                  </a:cxn>
                  <a:cxn ang="0">
                    <a:pos x="T4" y="T5"/>
                  </a:cxn>
                  <a:cxn ang="0">
                    <a:pos x="T6" y="T7"/>
                  </a:cxn>
                  <a:cxn ang="0">
                    <a:pos x="T8" y="T9"/>
                  </a:cxn>
                  <a:cxn ang="0">
                    <a:pos x="T10" y="T11"/>
                  </a:cxn>
                  <a:cxn ang="0">
                    <a:pos x="T12" y="T13"/>
                  </a:cxn>
                </a:cxnLst>
                <a:rect l="0" t="0" r="r" b="b"/>
                <a:pathLst>
                  <a:path w="232" h="72">
                    <a:moveTo>
                      <a:pt x="232" y="16"/>
                    </a:moveTo>
                    <a:cubicBezTo>
                      <a:pt x="232" y="7"/>
                      <a:pt x="225" y="0"/>
                      <a:pt x="216" y="0"/>
                    </a:cubicBezTo>
                    <a:cubicBezTo>
                      <a:pt x="16" y="0"/>
                      <a:pt x="16" y="0"/>
                      <a:pt x="16" y="0"/>
                    </a:cubicBezTo>
                    <a:cubicBezTo>
                      <a:pt x="7" y="0"/>
                      <a:pt x="0" y="7"/>
                      <a:pt x="0" y="16"/>
                    </a:cubicBezTo>
                    <a:cubicBezTo>
                      <a:pt x="0" y="72"/>
                      <a:pt x="0" y="72"/>
                      <a:pt x="0" y="72"/>
                    </a:cubicBezTo>
                    <a:cubicBezTo>
                      <a:pt x="232" y="72"/>
                      <a:pt x="232" y="72"/>
                      <a:pt x="232" y="72"/>
                    </a:cubicBezTo>
                    <a:lnTo>
                      <a:pt x="232" y="16"/>
                    </a:lnTo>
                    <a:close/>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1" name="Freeform 81">
                <a:extLst>
                  <a:ext uri="{FF2B5EF4-FFF2-40B4-BE49-F238E27FC236}">
                    <a16:creationId xmlns:a16="http://schemas.microsoft.com/office/drawing/2014/main" id="{BD7C58EC-7B5A-CEA7-9864-664F626190CA}"/>
                  </a:ext>
                </a:extLst>
              </p:cNvPr>
              <p:cNvSpPr>
                <a:spLocks/>
              </p:cNvSpPr>
              <p:nvPr/>
            </p:nvSpPr>
            <p:spPr bwMode="auto">
              <a:xfrm>
                <a:off x="46038" y="15875"/>
                <a:ext cx="819150" cy="546100"/>
              </a:xfrm>
              <a:custGeom>
                <a:avLst/>
                <a:gdLst>
                  <a:gd name="T0" fmla="*/ 216 w 216"/>
                  <a:gd name="T1" fmla="*/ 128 h 144"/>
                  <a:gd name="T2" fmla="*/ 200 w 216"/>
                  <a:gd name="T3" fmla="*/ 144 h 144"/>
                  <a:gd name="T4" fmla="*/ 16 w 216"/>
                  <a:gd name="T5" fmla="*/ 144 h 144"/>
                  <a:gd name="T6" fmla="*/ 0 w 216"/>
                  <a:gd name="T7" fmla="*/ 128 h 144"/>
                  <a:gd name="T8" fmla="*/ 0 w 216"/>
                  <a:gd name="T9" fmla="*/ 16 h 144"/>
                  <a:gd name="T10" fmla="*/ 16 w 216"/>
                  <a:gd name="T11" fmla="*/ 0 h 144"/>
                  <a:gd name="T12" fmla="*/ 200 w 216"/>
                  <a:gd name="T13" fmla="*/ 0 h 144"/>
                  <a:gd name="T14" fmla="*/ 216 w 216"/>
                  <a:gd name="T15" fmla="*/ 16 h 144"/>
                  <a:gd name="T16" fmla="*/ 216 w 216"/>
                  <a:gd name="T17" fmla="*/ 128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6" h="144">
                    <a:moveTo>
                      <a:pt x="216" y="128"/>
                    </a:moveTo>
                    <a:cubicBezTo>
                      <a:pt x="216" y="137"/>
                      <a:pt x="209" y="144"/>
                      <a:pt x="200" y="144"/>
                    </a:cubicBezTo>
                    <a:cubicBezTo>
                      <a:pt x="16" y="144"/>
                      <a:pt x="16" y="144"/>
                      <a:pt x="16" y="144"/>
                    </a:cubicBezTo>
                    <a:cubicBezTo>
                      <a:pt x="7" y="144"/>
                      <a:pt x="0" y="137"/>
                      <a:pt x="0" y="128"/>
                    </a:cubicBezTo>
                    <a:cubicBezTo>
                      <a:pt x="0" y="16"/>
                      <a:pt x="0" y="16"/>
                      <a:pt x="0" y="16"/>
                    </a:cubicBezTo>
                    <a:cubicBezTo>
                      <a:pt x="0" y="7"/>
                      <a:pt x="7" y="0"/>
                      <a:pt x="16" y="0"/>
                    </a:cubicBezTo>
                    <a:cubicBezTo>
                      <a:pt x="200" y="0"/>
                      <a:pt x="200" y="0"/>
                      <a:pt x="200" y="0"/>
                    </a:cubicBezTo>
                    <a:cubicBezTo>
                      <a:pt x="209" y="0"/>
                      <a:pt x="216" y="7"/>
                      <a:pt x="216" y="16"/>
                    </a:cubicBezTo>
                    <a:lnTo>
                      <a:pt x="216" y="128"/>
                    </a:lnTo>
                    <a:close/>
                  </a:path>
                </a:pathLst>
              </a:custGeom>
              <a:noFill/>
              <a:ln w="12700" cap="rnd">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152" name="Group 151">
              <a:extLst>
                <a:ext uri="{FF2B5EF4-FFF2-40B4-BE49-F238E27FC236}">
                  <a16:creationId xmlns:a16="http://schemas.microsoft.com/office/drawing/2014/main" id="{2A1945B7-155B-6FB3-30D8-29811F2A08D3}"/>
                </a:ext>
              </a:extLst>
            </p:cNvPr>
            <p:cNvGrpSpPr/>
            <p:nvPr/>
          </p:nvGrpSpPr>
          <p:grpSpPr>
            <a:xfrm>
              <a:off x="7364222" y="3821621"/>
              <a:ext cx="247917" cy="247917"/>
              <a:chOff x="15875" y="15875"/>
              <a:chExt cx="879476" cy="879475"/>
            </a:xfrm>
          </p:grpSpPr>
          <p:sp>
            <p:nvSpPr>
              <p:cNvPr id="157" name="Freeform 85">
                <a:extLst>
                  <a:ext uri="{FF2B5EF4-FFF2-40B4-BE49-F238E27FC236}">
                    <a16:creationId xmlns:a16="http://schemas.microsoft.com/office/drawing/2014/main" id="{EB0F1BC4-1701-998A-8C96-FB1DB348EB94}"/>
                  </a:ext>
                </a:extLst>
              </p:cNvPr>
              <p:cNvSpPr>
                <a:spLocks/>
              </p:cNvSpPr>
              <p:nvPr/>
            </p:nvSpPr>
            <p:spPr bwMode="auto">
              <a:xfrm>
                <a:off x="15875" y="15875"/>
                <a:ext cx="515938" cy="879475"/>
              </a:xfrm>
              <a:custGeom>
                <a:avLst/>
                <a:gdLst>
                  <a:gd name="T0" fmla="*/ 136 w 136"/>
                  <a:gd name="T1" fmla="*/ 16 h 232"/>
                  <a:gd name="T2" fmla="*/ 120 w 136"/>
                  <a:gd name="T3" fmla="*/ 0 h 232"/>
                  <a:gd name="T4" fmla="*/ 16 w 136"/>
                  <a:gd name="T5" fmla="*/ 0 h 232"/>
                  <a:gd name="T6" fmla="*/ 0 w 136"/>
                  <a:gd name="T7" fmla="*/ 16 h 232"/>
                  <a:gd name="T8" fmla="*/ 0 w 136"/>
                  <a:gd name="T9" fmla="*/ 216 h 232"/>
                  <a:gd name="T10" fmla="*/ 16 w 136"/>
                  <a:gd name="T11" fmla="*/ 232 h 232"/>
                  <a:gd name="T12" fmla="*/ 120 w 136"/>
                  <a:gd name="T13" fmla="*/ 232 h 232"/>
                  <a:gd name="T14" fmla="*/ 136 w 136"/>
                  <a:gd name="T15" fmla="*/ 216 h 232"/>
                  <a:gd name="T16" fmla="*/ 136 w 136"/>
                  <a:gd name="T17" fmla="*/ 1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6" h="232">
                    <a:moveTo>
                      <a:pt x="136" y="16"/>
                    </a:moveTo>
                    <a:cubicBezTo>
                      <a:pt x="136" y="7"/>
                      <a:pt x="129" y="0"/>
                      <a:pt x="120" y="0"/>
                    </a:cubicBezTo>
                    <a:cubicBezTo>
                      <a:pt x="16" y="0"/>
                      <a:pt x="16" y="0"/>
                      <a:pt x="16" y="0"/>
                    </a:cubicBezTo>
                    <a:cubicBezTo>
                      <a:pt x="7" y="0"/>
                      <a:pt x="0" y="7"/>
                      <a:pt x="0" y="16"/>
                    </a:cubicBezTo>
                    <a:cubicBezTo>
                      <a:pt x="0" y="216"/>
                      <a:pt x="0" y="216"/>
                      <a:pt x="0" y="216"/>
                    </a:cubicBezTo>
                    <a:cubicBezTo>
                      <a:pt x="0" y="225"/>
                      <a:pt x="7" y="232"/>
                      <a:pt x="16" y="232"/>
                    </a:cubicBezTo>
                    <a:cubicBezTo>
                      <a:pt x="120" y="232"/>
                      <a:pt x="120" y="232"/>
                      <a:pt x="120" y="232"/>
                    </a:cubicBezTo>
                    <a:cubicBezTo>
                      <a:pt x="129" y="232"/>
                      <a:pt x="136" y="225"/>
                      <a:pt x="136" y="216"/>
                    </a:cubicBezTo>
                    <a:lnTo>
                      <a:pt x="136" y="16"/>
                    </a:lnTo>
                    <a:close/>
                  </a:path>
                </a:pathLst>
              </a:custGeom>
              <a:noFill/>
              <a:ln w="12700" cap="rnd">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8" name="Line 86">
                <a:extLst>
                  <a:ext uri="{FF2B5EF4-FFF2-40B4-BE49-F238E27FC236}">
                    <a16:creationId xmlns:a16="http://schemas.microsoft.com/office/drawing/2014/main" id="{D7456789-12CD-2F05-F02F-8481149C8F39}"/>
                  </a:ext>
                </a:extLst>
              </p:cNvPr>
              <p:cNvSpPr>
                <a:spLocks noChangeShapeType="1"/>
              </p:cNvSpPr>
              <p:nvPr/>
            </p:nvSpPr>
            <p:spPr bwMode="auto">
              <a:xfrm>
                <a:off x="15875" y="531813"/>
                <a:ext cx="515938" cy="0"/>
              </a:xfrm>
              <a:prstGeom prst="line">
                <a:avLst/>
              </a:prstGeom>
              <a:noFill/>
              <a:ln w="12700" cap="rnd">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9" name="Oval 87">
                <a:extLst>
                  <a:ext uri="{FF2B5EF4-FFF2-40B4-BE49-F238E27FC236}">
                    <a16:creationId xmlns:a16="http://schemas.microsoft.com/office/drawing/2014/main" id="{6436A3C4-7320-464A-8244-07E526233489}"/>
                  </a:ext>
                </a:extLst>
              </p:cNvPr>
              <p:cNvSpPr>
                <a:spLocks noChangeArrowheads="1"/>
              </p:cNvSpPr>
              <p:nvPr/>
            </p:nvSpPr>
            <p:spPr bwMode="auto">
              <a:xfrm>
                <a:off x="182563" y="622300"/>
                <a:ext cx="182563" cy="182563"/>
              </a:xfrm>
              <a:prstGeom prst="ellipse">
                <a:avLst/>
              </a:prstGeom>
              <a:noFill/>
              <a:ln w="12700" cap="rnd">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0" name="Freeform 88">
                <a:extLst>
                  <a:ext uri="{FF2B5EF4-FFF2-40B4-BE49-F238E27FC236}">
                    <a16:creationId xmlns:a16="http://schemas.microsoft.com/office/drawing/2014/main" id="{69AC95D0-AA29-0D15-9371-277B7A40D3C3}"/>
                  </a:ext>
                </a:extLst>
              </p:cNvPr>
              <p:cNvSpPr>
                <a:spLocks/>
              </p:cNvSpPr>
              <p:nvPr/>
            </p:nvSpPr>
            <p:spPr bwMode="auto">
              <a:xfrm>
                <a:off x="242888" y="668338"/>
                <a:ext cx="76200" cy="90488"/>
              </a:xfrm>
              <a:custGeom>
                <a:avLst/>
                <a:gdLst>
                  <a:gd name="T0" fmla="*/ 0 w 48"/>
                  <a:gd name="T1" fmla="*/ 0 h 57"/>
                  <a:gd name="T2" fmla="*/ 0 w 48"/>
                  <a:gd name="T3" fmla="*/ 57 h 57"/>
                  <a:gd name="T4" fmla="*/ 48 w 48"/>
                  <a:gd name="T5" fmla="*/ 29 h 57"/>
                  <a:gd name="T6" fmla="*/ 0 w 48"/>
                  <a:gd name="T7" fmla="*/ 0 h 57"/>
                  <a:gd name="T8" fmla="*/ 0 w 48"/>
                  <a:gd name="T9" fmla="*/ 0 h 57"/>
                </a:gdLst>
                <a:ahLst/>
                <a:cxnLst>
                  <a:cxn ang="0">
                    <a:pos x="T0" y="T1"/>
                  </a:cxn>
                  <a:cxn ang="0">
                    <a:pos x="T2" y="T3"/>
                  </a:cxn>
                  <a:cxn ang="0">
                    <a:pos x="T4" y="T5"/>
                  </a:cxn>
                  <a:cxn ang="0">
                    <a:pos x="T6" y="T7"/>
                  </a:cxn>
                  <a:cxn ang="0">
                    <a:pos x="T8" y="T9"/>
                  </a:cxn>
                </a:cxnLst>
                <a:rect l="0" t="0" r="r" b="b"/>
                <a:pathLst>
                  <a:path w="48" h="57">
                    <a:moveTo>
                      <a:pt x="0" y="0"/>
                    </a:moveTo>
                    <a:lnTo>
                      <a:pt x="0" y="57"/>
                    </a:lnTo>
                    <a:lnTo>
                      <a:pt x="48" y="29"/>
                    </a:lnTo>
                    <a:lnTo>
                      <a:pt x="0" y="0"/>
                    </a:lnTo>
                    <a:lnTo>
                      <a:pt x="0" y="0"/>
                    </a:lnTo>
                    <a:close/>
                  </a:path>
                </a:pathLst>
              </a:custGeom>
              <a:solidFill>
                <a:srgbClr val="010101"/>
              </a:solidFill>
              <a:ln w="12700">
                <a:solidFill>
                  <a:schemeClr val="bg1">
                    <a:lumMod val="50000"/>
                  </a:schemeClr>
                </a:solidFill>
                <a:round/>
                <a:headEnd/>
                <a:tailEnd/>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1" name="Line 89">
                <a:extLst>
                  <a:ext uri="{FF2B5EF4-FFF2-40B4-BE49-F238E27FC236}">
                    <a16:creationId xmlns:a16="http://schemas.microsoft.com/office/drawing/2014/main" id="{CDE4B04B-F9FC-4C15-BF4B-F0755C2A2F72}"/>
                  </a:ext>
                </a:extLst>
              </p:cNvPr>
              <p:cNvSpPr>
                <a:spLocks noChangeShapeType="1"/>
              </p:cNvSpPr>
              <p:nvPr/>
            </p:nvSpPr>
            <p:spPr bwMode="auto">
              <a:xfrm>
                <a:off x="106363" y="439738"/>
                <a:ext cx="90488"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2" name="Line 90">
                <a:extLst>
                  <a:ext uri="{FF2B5EF4-FFF2-40B4-BE49-F238E27FC236}">
                    <a16:creationId xmlns:a16="http://schemas.microsoft.com/office/drawing/2014/main" id="{751F5AF0-683A-7A16-E517-3EB63EA54751}"/>
                  </a:ext>
                </a:extLst>
              </p:cNvPr>
              <p:cNvSpPr>
                <a:spLocks noChangeShapeType="1"/>
              </p:cNvSpPr>
              <p:nvPr/>
            </p:nvSpPr>
            <p:spPr bwMode="auto">
              <a:xfrm>
                <a:off x="106363" y="379413"/>
                <a:ext cx="90488"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3" name="Line 91">
                <a:extLst>
                  <a:ext uri="{FF2B5EF4-FFF2-40B4-BE49-F238E27FC236}">
                    <a16:creationId xmlns:a16="http://schemas.microsoft.com/office/drawing/2014/main" id="{27414211-28FC-AE71-FE35-9F9E3B4CDE49}"/>
                  </a:ext>
                </a:extLst>
              </p:cNvPr>
              <p:cNvSpPr>
                <a:spLocks noChangeShapeType="1"/>
              </p:cNvSpPr>
              <p:nvPr/>
            </p:nvSpPr>
            <p:spPr bwMode="auto">
              <a:xfrm>
                <a:off x="106363" y="319088"/>
                <a:ext cx="90488"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4" name="Line 92">
                <a:extLst>
                  <a:ext uri="{FF2B5EF4-FFF2-40B4-BE49-F238E27FC236}">
                    <a16:creationId xmlns:a16="http://schemas.microsoft.com/office/drawing/2014/main" id="{1C0660DD-6155-F8C3-786E-EAEC0D364B52}"/>
                  </a:ext>
                </a:extLst>
              </p:cNvPr>
              <p:cNvSpPr>
                <a:spLocks noChangeShapeType="1"/>
              </p:cNvSpPr>
              <p:nvPr/>
            </p:nvSpPr>
            <p:spPr bwMode="auto">
              <a:xfrm>
                <a:off x="227013" y="439738"/>
                <a:ext cx="92075"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5" name="Line 93">
                <a:extLst>
                  <a:ext uri="{FF2B5EF4-FFF2-40B4-BE49-F238E27FC236}">
                    <a16:creationId xmlns:a16="http://schemas.microsoft.com/office/drawing/2014/main" id="{D82BE07C-CD35-660F-6CCF-C6EB5DDAC161}"/>
                  </a:ext>
                </a:extLst>
              </p:cNvPr>
              <p:cNvSpPr>
                <a:spLocks noChangeShapeType="1"/>
              </p:cNvSpPr>
              <p:nvPr/>
            </p:nvSpPr>
            <p:spPr bwMode="auto">
              <a:xfrm>
                <a:off x="227013" y="379413"/>
                <a:ext cx="92075"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6" name="Line 94">
                <a:extLst>
                  <a:ext uri="{FF2B5EF4-FFF2-40B4-BE49-F238E27FC236}">
                    <a16:creationId xmlns:a16="http://schemas.microsoft.com/office/drawing/2014/main" id="{F7239286-40BE-3142-CE8B-7DBB10CD56E1}"/>
                  </a:ext>
                </a:extLst>
              </p:cNvPr>
              <p:cNvSpPr>
                <a:spLocks noChangeShapeType="1"/>
              </p:cNvSpPr>
              <p:nvPr/>
            </p:nvSpPr>
            <p:spPr bwMode="auto">
              <a:xfrm>
                <a:off x="227013" y="319088"/>
                <a:ext cx="92075"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7" name="Line 95">
                <a:extLst>
                  <a:ext uri="{FF2B5EF4-FFF2-40B4-BE49-F238E27FC236}">
                    <a16:creationId xmlns:a16="http://schemas.microsoft.com/office/drawing/2014/main" id="{44E601E6-AD09-41F9-D010-62A6444A9BBA}"/>
                  </a:ext>
                </a:extLst>
              </p:cNvPr>
              <p:cNvSpPr>
                <a:spLocks noChangeShapeType="1"/>
              </p:cNvSpPr>
              <p:nvPr/>
            </p:nvSpPr>
            <p:spPr bwMode="auto">
              <a:xfrm>
                <a:off x="349250" y="439738"/>
                <a:ext cx="90488"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8" name="Line 96">
                <a:extLst>
                  <a:ext uri="{FF2B5EF4-FFF2-40B4-BE49-F238E27FC236}">
                    <a16:creationId xmlns:a16="http://schemas.microsoft.com/office/drawing/2014/main" id="{D970D2AD-F52D-CA2D-6F9D-679F256AC937}"/>
                  </a:ext>
                </a:extLst>
              </p:cNvPr>
              <p:cNvSpPr>
                <a:spLocks noChangeShapeType="1"/>
              </p:cNvSpPr>
              <p:nvPr/>
            </p:nvSpPr>
            <p:spPr bwMode="auto">
              <a:xfrm>
                <a:off x="349250" y="379413"/>
                <a:ext cx="90488"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9" name="Line 97">
                <a:extLst>
                  <a:ext uri="{FF2B5EF4-FFF2-40B4-BE49-F238E27FC236}">
                    <a16:creationId xmlns:a16="http://schemas.microsoft.com/office/drawing/2014/main" id="{C886858D-3E09-AB9D-C48F-42F847ADD9BD}"/>
                  </a:ext>
                </a:extLst>
              </p:cNvPr>
              <p:cNvSpPr>
                <a:spLocks noChangeShapeType="1"/>
              </p:cNvSpPr>
              <p:nvPr/>
            </p:nvSpPr>
            <p:spPr bwMode="auto">
              <a:xfrm>
                <a:off x="349250" y="319088"/>
                <a:ext cx="90488"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70" name="Line 98">
                <a:extLst>
                  <a:ext uri="{FF2B5EF4-FFF2-40B4-BE49-F238E27FC236}">
                    <a16:creationId xmlns:a16="http://schemas.microsoft.com/office/drawing/2014/main" id="{9E7C5CFD-EA5B-ADAA-D914-BCC3624E23A8}"/>
                  </a:ext>
                </a:extLst>
              </p:cNvPr>
              <p:cNvSpPr>
                <a:spLocks noChangeShapeType="1"/>
              </p:cNvSpPr>
              <p:nvPr/>
            </p:nvSpPr>
            <p:spPr bwMode="auto">
              <a:xfrm>
                <a:off x="106363" y="258763"/>
                <a:ext cx="90488"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71" name="Line 99">
                <a:extLst>
                  <a:ext uri="{FF2B5EF4-FFF2-40B4-BE49-F238E27FC236}">
                    <a16:creationId xmlns:a16="http://schemas.microsoft.com/office/drawing/2014/main" id="{F85F1ACD-96F8-82C3-8BDF-50C9B830FE59}"/>
                  </a:ext>
                </a:extLst>
              </p:cNvPr>
              <p:cNvSpPr>
                <a:spLocks noChangeShapeType="1"/>
              </p:cNvSpPr>
              <p:nvPr/>
            </p:nvSpPr>
            <p:spPr bwMode="auto">
              <a:xfrm>
                <a:off x="349250" y="258763"/>
                <a:ext cx="90488"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72" name="Line 100">
                <a:extLst>
                  <a:ext uri="{FF2B5EF4-FFF2-40B4-BE49-F238E27FC236}">
                    <a16:creationId xmlns:a16="http://schemas.microsoft.com/office/drawing/2014/main" id="{7C6ACA39-3C54-0BD8-C0D8-DB0D26DD797E}"/>
                  </a:ext>
                </a:extLst>
              </p:cNvPr>
              <p:cNvSpPr>
                <a:spLocks noChangeShapeType="1"/>
              </p:cNvSpPr>
              <p:nvPr/>
            </p:nvSpPr>
            <p:spPr bwMode="auto">
              <a:xfrm>
                <a:off x="106363" y="196850"/>
                <a:ext cx="90488"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73" name="Freeform 101">
                <a:extLst>
                  <a:ext uri="{FF2B5EF4-FFF2-40B4-BE49-F238E27FC236}">
                    <a16:creationId xmlns:a16="http://schemas.microsoft.com/office/drawing/2014/main" id="{8864648A-C431-3FB6-8E75-C40BC5A54389}"/>
                  </a:ext>
                </a:extLst>
              </p:cNvPr>
              <p:cNvSpPr>
                <a:spLocks/>
              </p:cNvSpPr>
              <p:nvPr/>
            </p:nvSpPr>
            <p:spPr bwMode="auto">
              <a:xfrm>
                <a:off x="804863" y="227013"/>
                <a:ext cx="90488" cy="212725"/>
              </a:xfrm>
              <a:custGeom>
                <a:avLst/>
                <a:gdLst>
                  <a:gd name="T0" fmla="*/ 24 w 24"/>
                  <a:gd name="T1" fmla="*/ 44 h 56"/>
                  <a:gd name="T2" fmla="*/ 12 w 24"/>
                  <a:gd name="T3" fmla="*/ 56 h 56"/>
                  <a:gd name="T4" fmla="*/ 12 w 24"/>
                  <a:gd name="T5" fmla="*/ 56 h 56"/>
                  <a:gd name="T6" fmla="*/ 0 w 24"/>
                  <a:gd name="T7" fmla="*/ 44 h 56"/>
                  <a:gd name="T8" fmla="*/ 0 w 24"/>
                  <a:gd name="T9" fmla="*/ 12 h 56"/>
                  <a:gd name="T10" fmla="*/ 12 w 24"/>
                  <a:gd name="T11" fmla="*/ 0 h 56"/>
                  <a:gd name="T12" fmla="*/ 12 w 24"/>
                  <a:gd name="T13" fmla="*/ 0 h 56"/>
                  <a:gd name="T14" fmla="*/ 24 w 24"/>
                  <a:gd name="T15" fmla="*/ 12 h 56"/>
                  <a:gd name="T16" fmla="*/ 24 w 24"/>
                  <a:gd name="T17" fmla="*/ 4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56">
                    <a:moveTo>
                      <a:pt x="24" y="44"/>
                    </a:moveTo>
                    <a:cubicBezTo>
                      <a:pt x="24" y="51"/>
                      <a:pt x="19" y="56"/>
                      <a:pt x="12" y="56"/>
                    </a:cubicBezTo>
                    <a:cubicBezTo>
                      <a:pt x="12" y="56"/>
                      <a:pt x="12" y="56"/>
                      <a:pt x="12" y="56"/>
                    </a:cubicBezTo>
                    <a:cubicBezTo>
                      <a:pt x="5" y="56"/>
                      <a:pt x="0" y="51"/>
                      <a:pt x="0" y="44"/>
                    </a:cubicBezTo>
                    <a:cubicBezTo>
                      <a:pt x="0" y="12"/>
                      <a:pt x="0" y="12"/>
                      <a:pt x="0" y="12"/>
                    </a:cubicBezTo>
                    <a:cubicBezTo>
                      <a:pt x="0" y="5"/>
                      <a:pt x="5" y="0"/>
                      <a:pt x="12" y="0"/>
                    </a:cubicBezTo>
                    <a:cubicBezTo>
                      <a:pt x="12" y="0"/>
                      <a:pt x="12" y="0"/>
                      <a:pt x="12" y="0"/>
                    </a:cubicBezTo>
                    <a:cubicBezTo>
                      <a:pt x="19" y="0"/>
                      <a:pt x="24" y="5"/>
                      <a:pt x="24" y="12"/>
                    </a:cubicBezTo>
                    <a:lnTo>
                      <a:pt x="24" y="44"/>
                    </a:lnTo>
                    <a:close/>
                  </a:path>
                </a:pathLst>
              </a:custGeom>
              <a:noFill/>
              <a:ln w="12700" cap="flat">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74" name="Freeform 102">
                <a:extLst>
                  <a:ext uri="{FF2B5EF4-FFF2-40B4-BE49-F238E27FC236}">
                    <a16:creationId xmlns:a16="http://schemas.microsoft.com/office/drawing/2014/main" id="{114A0739-B3FA-D9E5-B2CF-2C795660F56D}"/>
                  </a:ext>
                </a:extLst>
              </p:cNvPr>
              <p:cNvSpPr>
                <a:spLocks/>
              </p:cNvSpPr>
              <p:nvPr/>
            </p:nvSpPr>
            <p:spPr bwMode="auto">
              <a:xfrm>
                <a:off x="744538" y="273050"/>
                <a:ext cx="60325" cy="122238"/>
              </a:xfrm>
              <a:custGeom>
                <a:avLst/>
                <a:gdLst>
                  <a:gd name="T0" fmla="*/ 16 w 16"/>
                  <a:gd name="T1" fmla="*/ 32 h 32"/>
                  <a:gd name="T2" fmla="*/ 0 w 16"/>
                  <a:gd name="T3" fmla="*/ 16 h 32"/>
                  <a:gd name="T4" fmla="*/ 16 w 16"/>
                  <a:gd name="T5" fmla="*/ 0 h 32"/>
                </a:gdLst>
                <a:ahLst/>
                <a:cxnLst>
                  <a:cxn ang="0">
                    <a:pos x="T0" y="T1"/>
                  </a:cxn>
                  <a:cxn ang="0">
                    <a:pos x="T2" y="T3"/>
                  </a:cxn>
                  <a:cxn ang="0">
                    <a:pos x="T4" y="T5"/>
                  </a:cxn>
                </a:cxnLst>
                <a:rect l="0" t="0" r="r" b="b"/>
                <a:pathLst>
                  <a:path w="16" h="32">
                    <a:moveTo>
                      <a:pt x="16" y="32"/>
                    </a:moveTo>
                    <a:cubicBezTo>
                      <a:pt x="7" y="32"/>
                      <a:pt x="0" y="25"/>
                      <a:pt x="0" y="16"/>
                    </a:cubicBezTo>
                    <a:cubicBezTo>
                      <a:pt x="0" y="7"/>
                      <a:pt x="7" y="0"/>
                      <a:pt x="16" y="0"/>
                    </a:cubicBezTo>
                  </a:path>
                </a:pathLst>
              </a:custGeom>
              <a:noFill/>
              <a:ln w="12700" cap="flat">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75" name="Freeform 103">
                <a:extLst>
                  <a:ext uri="{FF2B5EF4-FFF2-40B4-BE49-F238E27FC236}">
                    <a16:creationId xmlns:a16="http://schemas.microsoft.com/office/drawing/2014/main" id="{BC41A17D-B1B4-7735-5CD6-268F2F441919}"/>
                  </a:ext>
                </a:extLst>
              </p:cNvPr>
              <p:cNvSpPr>
                <a:spLocks/>
              </p:cNvSpPr>
              <p:nvPr/>
            </p:nvSpPr>
            <p:spPr bwMode="auto">
              <a:xfrm>
                <a:off x="531813" y="133350"/>
                <a:ext cx="333375" cy="682625"/>
              </a:xfrm>
              <a:custGeom>
                <a:avLst/>
                <a:gdLst>
                  <a:gd name="T0" fmla="*/ 88 w 88"/>
                  <a:gd name="T1" fmla="*/ 80 h 180"/>
                  <a:gd name="T2" fmla="*/ 88 w 88"/>
                  <a:gd name="T3" fmla="*/ 152 h 180"/>
                  <a:gd name="T4" fmla="*/ 60 w 88"/>
                  <a:gd name="T5" fmla="*/ 180 h 180"/>
                  <a:gd name="T6" fmla="*/ 32 w 88"/>
                  <a:gd name="T7" fmla="*/ 152 h 180"/>
                  <a:gd name="T8" fmla="*/ 32 w 88"/>
                  <a:gd name="T9" fmla="*/ 16 h 180"/>
                  <a:gd name="T10" fmla="*/ 16 w 88"/>
                  <a:gd name="T11" fmla="*/ 0 h 180"/>
                  <a:gd name="T12" fmla="*/ 0 w 88"/>
                  <a:gd name="T13" fmla="*/ 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88" y="80"/>
                    </a:moveTo>
                    <a:cubicBezTo>
                      <a:pt x="88" y="152"/>
                      <a:pt x="88" y="152"/>
                      <a:pt x="88" y="152"/>
                    </a:cubicBezTo>
                    <a:cubicBezTo>
                      <a:pt x="88" y="168"/>
                      <a:pt x="75" y="180"/>
                      <a:pt x="60" y="180"/>
                    </a:cubicBezTo>
                    <a:cubicBezTo>
                      <a:pt x="45" y="180"/>
                      <a:pt x="32" y="168"/>
                      <a:pt x="32" y="152"/>
                    </a:cubicBezTo>
                    <a:cubicBezTo>
                      <a:pt x="32" y="16"/>
                      <a:pt x="32" y="16"/>
                      <a:pt x="32" y="16"/>
                    </a:cubicBezTo>
                    <a:cubicBezTo>
                      <a:pt x="32" y="7"/>
                      <a:pt x="25" y="0"/>
                      <a:pt x="16" y="0"/>
                    </a:cubicBezTo>
                    <a:cubicBezTo>
                      <a:pt x="0" y="0"/>
                      <a:pt x="0" y="0"/>
                      <a:pt x="0" y="0"/>
                    </a:cubicBezTo>
                  </a:path>
                </a:pathLst>
              </a:custGeom>
              <a:noFill/>
              <a:ln w="12700" cap="flat">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153" name="Group 152">
              <a:extLst>
                <a:ext uri="{FF2B5EF4-FFF2-40B4-BE49-F238E27FC236}">
                  <a16:creationId xmlns:a16="http://schemas.microsoft.com/office/drawing/2014/main" id="{F11F1AAF-62AE-BA22-B362-3D34DA47A104}"/>
                </a:ext>
              </a:extLst>
            </p:cNvPr>
            <p:cNvGrpSpPr/>
            <p:nvPr/>
          </p:nvGrpSpPr>
          <p:grpSpPr>
            <a:xfrm>
              <a:off x="7270473" y="1947576"/>
              <a:ext cx="136756" cy="115466"/>
              <a:chOff x="-1587" y="0"/>
              <a:chExt cx="866775" cy="731838"/>
            </a:xfrm>
            <a:solidFill>
              <a:schemeClr val="bg1"/>
            </a:solidFill>
          </p:grpSpPr>
          <p:sp>
            <p:nvSpPr>
              <p:cNvPr id="154" name="Freeform 153">
                <a:extLst>
                  <a:ext uri="{FF2B5EF4-FFF2-40B4-BE49-F238E27FC236}">
                    <a16:creationId xmlns:a16="http://schemas.microsoft.com/office/drawing/2014/main" id="{7ED96625-9F71-DF05-1984-20FC463EAD67}"/>
                  </a:ext>
                </a:extLst>
              </p:cNvPr>
              <p:cNvSpPr>
                <a:spLocks/>
              </p:cNvSpPr>
              <p:nvPr/>
            </p:nvSpPr>
            <p:spPr bwMode="auto">
              <a:xfrm>
                <a:off x="-1587" y="503238"/>
                <a:ext cx="866775" cy="228600"/>
              </a:xfrm>
              <a:custGeom>
                <a:avLst/>
                <a:gdLst>
                  <a:gd name="T0" fmla="*/ 354 w 546"/>
                  <a:gd name="T1" fmla="*/ 74 h 144"/>
                  <a:gd name="T2" fmla="*/ 189 w 546"/>
                  <a:gd name="T3" fmla="*/ 74 h 144"/>
                  <a:gd name="T4" fmla="*/ 189 w 546"/>
                  <a:gd name="T5" fmla="*/ 0 h 144"/>
                  <a:gd name="T6" fmla="*/ 0 w 546"/>
                  <a:gd name="T7" fmla="*/ 0 h 144"/>
                  <a:gd name="T8" fmla="*/ 0 w 546"/>
                  <a:gd name="T9" fmla="*/ 144 h 144"/>
                  <a:gd name="T10" fmla="*/ 546 w 546"/>
                  <a:gd name="T11" fmla="*/ 144 h 144"/>
                  <a:gd name="T12" fmla="*/ 546 w 546"/>
                  <a:gd name="T13" fmla="*/ 0 h 144"/>
                  <a:gd name="T14" fmla="*/ 354 w 546"/>
                  <a:gd name="T15" fmla="*/ 0 h 144"/>
                  <a:gd name="T16" fmla="*/ 354 w 546"/>
                  <a:gd name="T17" fmla="*/ 7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6" h="144">
                    <a:moveTo>
                      <a:pt x="354" y="74"/>
                    </a:moveTo>
                    <a:lnTo>
                      <a:pt x="189" y="74"/>
                    </a:lnTo>
                    <a:lnTo>
                      <a:pt x="189" y="0"/>
                    </a:lnTo>
                    <a:lnTo>
                      <a:pt x="0" y="0"/>
                    </a:lnTo>
                    <a:lnTo>
                      <a:pt x="0" y="144"/>
                    </a:lnTo>
                    <a:lnTo>
                      <a:pt x="546" y="144"/>
                    </a:lnTo>
                    <a:lnTo>
                      <a:pt x="546" y="0"/>
                    </a:lnTo>
                    <a:lnTo>
                      <a:pt x="354" y="0"/>
                    </a:lnTo>
                    <a:lnTo>
                      <a:pt x="354"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5" name="Rectangle 154">
                <a:extLst>
                  <a:ext uri="{FF2B5EF4-FFF2-40B4-BE49-F238E27FC236}">
                    <a16:creationId xmlns:a16="http://schemas.microsoft.com/office/drawing/2014/main" id="{5F01DAD7-1A40-0C4D-F358-2CF5F8575282}"/>
                  </a:ext>
                </a:extLst>
              </p:cNvPr>
              <p:cNvSpPr>
                <a:spLocks noChangeArrowheads="1"/>
              </p:cNvSpPr>
              <p:nvPr/>
            </p:nvSpPr>
            <p:spPr bwMode="auto">
              <a:xfrm>
                <a:off x="347663" y="503238"/>
                <a:ext cx="163513" cy="682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6" name="Freeform 155">
                <a:extLst>
                  <a:ext uri="{FF2B5EF4-FFF2-40B4-BE49-F238E27FC236}">
                    <a16:creationId xmlns:a16="http://schemas.microsoft.com/office/drawing/2014/main" id="{7325E863-C4E7-FB27-0D35-1C8EB25A4471}"/>
                  </a:ext>
                </a:extLst>
              </p:cNvPr>
              <p:cNvSpPr>
                <a:spLocks noEditPoints="1"/>
              </p:cNvSpPr>
              <p:nvPr/>
            </p:nvSpPr>
            <p:spPr bwMode="auto">
              <a:xfrm>
                <a:off x="-1587" y="0"/>
                <a:ext cx="866775" cy="454025"/>
              </a:xfrm>
              <a:custGeom>
                <a:avLst/>
                <a:gdLst>
                  <a:gd name="T0" fmla="*/ 404 w 546"/>
                  <a:gd name="T1" fmla="*/ 106 h 286"/>
                  <a:gd name="T2" fmla="*/ 404 w 546"/>
                  <a:gd name="T3" fmla="*/ 0 h 286"/>
                  <a:gd name="T4" fmla="*/ 273 w 546"/>
                  <a:gd name="T5" fmla="*/ 0 h 286"/>
                  <a:gd name="T6" fmla="*/ 138 w 546"/>
                  <a:gd name="T7" fmla="*/ 0 h 286"/>
                  <a:gd name="T8" fmla="*/ 138 w 546"/>
                  <a:gd name="T9" fmla="*/ 106 h 286"/>
                  <a:gd name="T10" fmla="*/ 0 w 546"/>
                  <a:gd name="T11" fmla="*/ 106 h 286"/>
                  <a:gd name="T12" fmla="*/ 0 w 546"/>
                  <a:gd name="T13" fmla="*/ 286 h 286"/>
                  <a:gd name="T14" fmla="*/ 189 w 546"/>
                  <a:gd name="T15" fmla="*/ 286 h 286"/>
                  <a:gd name="T16" fmla="*/ 273 w 546"/>
                  <a:gd name="T17" fmla="*/ 286 h 286"/>
                  <a:gd name="T18" fmla="*/ 354 w 546"/>
                  <a:gd name="T19" fmla="*/ 286 h 286"/>
                  <a:gd name="T20" fmla="*/ 546 w 546"/>
                  <a:gd name="T21" fmla="*/ 286 h 286"/>
                  <a:gd name="T22" fmla="*/ 546 w 546"/>
                  <a:gd name="T23" fmla="*/ 106 h 286"/>
                  <a:gd name="T24" fmla="*/ 404 w 546"/>
                  <a:gd name="T25" fmla="*/ 106 h 286"/>
                  <a:gd name="T26" fmla="*/ 359 w 546"/>
                  <a:gd name="T27" fmla="*/ 106 h 286"/>
                  <a:gd name="T28" fmla="*/ 273 w 546"/>
                  <a:gd name="T29" fmla="*/ 106 h 286"/>
                  <a:gd name="T30" fmla="*/ 186 w 546"/>
                  <a:gd name="T31" fmla="*/ 106 h 286"/>
                  <a:gd name="T32" fmla="*/ 186 w 546"/>
                  <a:gd name="T33" fmla="*/ 48 h 286"/>
                  <a:gd name="T34" fmla="*/ 273 w 546"/>
                  <a:gd name="T35" fmla="*/ 48 h 286"/>
                  <a:gd name="T36" fmla="*/ 359 w 546"/>
                  <a:gd name="T37" fmla="*/ 48 h 286"/>
                  <a:gd name="T38" fmla="*/ 359 w 546"/>
                  <a:gd name="T39" fmla="*/ 10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46" h="286">
                    <a:moveTo>
                      <a:pt x="404" y="106"/>
                    </a:moveTo>
                    <a:lnTo>
                      <a:pt x="404" y="0"/>
                    </a:lnTo>
                    <a:lnTo>
                      <a:pt x="273" y="0"/>
                    </a:lnTo>
                    <a:lnTo>
                      <a:pt x="138" y="0"/>
                    </a:lnTo>
                    <a:lnTo>
                      <a:pt x="138" y="106"/>
                    </a:lnTo>
                    <a:lnTo>
                      <a:pt x="0" y="106"/>
                    </a:lnTo>
                    <a:lnTo>
                      <a:pt x="0" y="286"/>
                    </a:lnTo>
                    <a:lnTo>
                      <a:pt x="189" y="286"/>
                    </a:lnTo>
                    <a:lnTo>
                      <a:pt x="273" y="286"/>
                    </a:lnTo>
                    <a:lnTo>
                      <a:pt x="354" y="286"/>
                    </a:lnTo>
                    <a:lnTo>
                      <a:pt x="546" y="286"/>
                    </a:lnTo>
                    <a:lnTo>
                      <a:pt x="546" y="106"/>
                    </a:lnTo>
                    <a:lnTo>
                      <a:pt x="404" y="106"/>
                    </a:lnTo>
                    <a:close/>
                    <a:moveTo>
                      <a:pt x="359" y="106"/>
                    </a:moveTo>
                    <a:lnTo>
                      <a:pt x="273" y="106"/>
                    </a:lnTo>
                    <a:lnTo>
                      <a:pt x="186" y="106"/>
                    </a:lnTo>
                    <a:lnTo>
                      <a:pt x="186" y="48"/>
                    </a:lnTo>
                    <a:lnTo>
                      <a:pt x="273" y="48"/>
                    </a:lnTo>
                    <a:lnTo>
                      <a:pt x="359" y="48"/>
                    </a:lnTo>
                    <a:lnTo>
                      <a:pt x="359"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spTree>
    <p:extLst>
      <p:ext uri="{BB962C8B-B14F-4D97-AF65-F5344CB8AC3E}">
        <p14:creationId xmlns:p14="http://schemas.microsoft.com/office/powerpoint/2010/main" val="1258872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4447" y="1065556"/>
            <a:ext cx="9287915" cy="4351338"/>
          </a:xfrm>
        </p:spPr>
        <p:txBody>
          <a:bodyPr>
            <a:noAutofit/>
          </a:bodyPr>
          <a:lstStyle/>
          <a:p>
            <a:r>
              <a:rPr lang="hr-HR" sz="1500" dirty="0">
                <a:latin typeface="Calibri" panose="020F0502020204030204" pitchFamily="34" charset="0"/>
                <a:ea typeface="Verdana" charset="0"/>
                <a:cs typeface="Calibri" panose="020F0502020204030204" pitchFamily="34" charset="0"/>
              </a:rPr>
              <a:t>Razvoj pametne industrije nemoguć je bez aktivnog </a:t>
            </a:r>
            <a:r>
              <a:rPr lang="hr-HR" sz="1500" b="1" dirty="0">
                <a:solidFill>
                  <a:srgbClr val="C00000"/>
                </a:solidFill>
                <a:latin typeface="Calibri" panose="020F0502020204030204" pitchFamily="34" charset="0"/>
                <a:ea typeface="Verdana" charset="0"/>
                <a:cs typeface="Calibri" panose="020F0502020204030204" pitchFamily="34" charset="0"/>
              </a:rPr>
              <a:t>partnerstva svih dionika. </a:t>
            </a:r>
          </a:p>
          <a:p>
            <a:r>
              <a:rPr lang="hr-HR" sz="1500" dirty="0">
                <a:latin typeface="Calibri" panose="020F0502020204030204" pitchFamily="34" charset="0"/>
                <a:ea typeface="Verdana" charset="0"/>
                <a:cs typeface="Calibri" panose="020F0502020204030204" pitchFamily="34" charset="0"/>
              </a:rPr>
              <a:t>Centri za inkubaciju i </a:t>
            </a:r>
            <a:r>
              <a:rPr lang="hr-HR" sz="1500" dirty="0" err="1">
                <a:latin typeface="Calibri" panose="020F0502020204030204" pitchFamily="34" charset="0"/>
                <a:ea typeface="Verdana" charset="0"/>
                <a:cs typeface="Calibri" panose="020F0502020204030204" pitchFamily="34" charset="0"/>
              </a:rPr>
              <a:t>predinkubaciju</a:t>
            </a:r>
            <a:r>
              <a:rPr lang="hr-HR" sz="1500" dirty="0">
                <a:latin typeface="Calibri" panose="020F0502020204030204" pitchFamily="34" charset="0"/>
                <a:ea typeface="Verdana" charset="0"/>
                <a:cs typeface="Calibri" panose="020F0502020204030204" pitchFamily="34" charset="0"/>
              </a:rPr>
              <a:t> - podloga za razvoj poduzetništva. Potrebna </a:t>
            </a:r>
            <a:r>
              <a:rPr lang="hr-HR" sz="1500" b="1" dirty="0">
                <a:solidFill>
                  <a:srgbClr val="C00000"/>
                </a:solidFill>
                <a:latin typeface="Calibri" panose="020F0502020204030204" pitchFamily="34" charset="0"/>
                <a:ea typeface="Verdana" charset="0"/>
                <a:cs typeface="Calibri" panose="020F0502020204030204" pitchFamily="34" charset="0"/>
              </a:rPr>
              <a:t>akademska zajednica.</a:t>
            </a:r>
          </a:p>
          <a:p>
            <a:r>
              <a:rPr lang="hr-HR" sz="1500" dirty="0">
                <a:latin typeface="Calibri" panose="020F0502020204030204" pitchFamily="34" charset="0"/>
                <a:ea typeface="Verdana" charset="0"/>
                <a:cs typeface="Calibri" panose="020F0502020204030204" pitchFamily="34" charset="0"/>
              </a:rPr>
              <a:t>Važan dionik ovog projekta je Fakultet organizacije i informatike, Sveučilišta u Zagrebu koji ima znanstvenu </a:t>
            </a:r>
            <a:r>
              <a:rPr lang="hr-HR" sz="1500" b="1" dirty="0">
                <a:solidFill>
                  <a:srgbClr val="C00000"/>
                </a:solidFill>
                <a:latin typeface="Calibri" panose="020F0502020204030204" pitchFamily="34" charset="0"/>
                <a:ea typeface="Verdana" charset="0"/>
                <a:cs typeface="Calibri" panose="020F0502020204030204" pitchFamily="34" charset="0"/>
              </a:rPr>
              <a:t>infrastrukturu i znanje potrebno za implementaciju pametnih tehnologija u gospodarstvo. </a:t>
            </a:r>
          </a:p>
          <a:p>
            <a:r>
              <a:rPr lang="hr-HR" sz="1500" dirty="0">
                <a:latin typeface="Calibri" panose="020F0502020204030204" pitchFamily="34" charset="0"/>
                <a:ea typeface="Verdana" charset="0"/>
                <a:cs typeface="Calibri" panose="020F0502020204030204" pitchFamily="34" charset="0"/>
              </a:rPr>
              <a:t>Laboratoriji Fakulteta (Laboratorij za umjetnu inteligenciju, Laboratorij za Internet stvari, Laboratorij za primijenjeno softversko inženjerstvo, Laboratorij za upravljanje poslovnim procesima i digitalnu transformaciju...). već sada koriste </a:t>
            </a:r>
            <a:r>
              <a:rPr lang="hr-HR" sz="1500" b="1" dirty="0">
                <a:solidFill>
                  <a:srgbClr val="C00000"/>
                </a:solidFill>
                <a:latin typeface="Calibri" panose="020F0502020204030204" pitchFamily="34" charset="0"/>
                <a:ea typeface="Verdana" charset="0"/>
                <a:cs typeface="Calibri" panose="020F0502020204030204" pitchFamily="34" charset="0"/>
              </a:rPr>
              <a:t>tehnologije koje mogu pomoći gospodarstvu i već sudjeluju u zajedničkim projektima s gospodarskim subjektima </a:t>
            </a:r>
            <a:r>
              <a:rPr lang="hr-HR" sz="1500" dirty="0">
                <a:latin typeface="Calibri" panose="020F0502020204030204" pitchFamily="34" charset="0"/>
                <a:ea typeface="Verdana" charset="0"/>
                <a:cs typeface="Calibri" panose="020F0502020204030204" pitchFamily="34" charset="0"/>
              </a:rPr>
              <a:t>(npr. IRI linija projekata). </a:t>
            </a:r>
          </a:p>
          <a:p>
            <a:r>
              <a:rPr lang="hr-HR" sz="1500" dirty="0">
                <a:latin typeface="Calibri" panose="020F0502020204030204" pitchFamily="34" charset="0"/>
                <a:ea typeface="Verdana" charset="0"/>
                <a:cs typeface="Calibri" panose="020F0502020204030204" pitchFamily="34" charset="0"/>
              </a:rPr>
              <a:t>Posredstvom Centra moći će se pojačati interakcija i stvaranje </a:t>
            </a:r>
            <a:r>
              <a:rPr lang="hr-HR" sz="1500" b="1" dirty="0">
                <a:solidFill>
                  <a:srgbClr val="C00000"/>
                </a:solidFill>
                <a:latin typeface="Calibri" panose="020F0502020204030204" pitchFamily="34" charset="0"/>
                <a:ea typeface="Verdana" charset="0"/>
                <a:cs typeface="Calibri" panose="020F0502020204030204" pitchFamily="34" charset="0"/>
              </a:rPr>
              <a:t>ekosustava suradnje u kojem će znanje iz laboratorija i Fakulteta općenito lakše pronalaziti put do budućih poduzetnika</a:t>
            </a:r>
            <a:r>
              <a:rPr lang="hr-HR" sz="1500" dirty="0">
                <a:solidFill>
                  <a:srgbClr val="C00000"/>
                </a:solidFill>
                <a:latin typeface="Calibri" panose="020F0502020204030204" pitchFamily="34" charset="0"/>
                <a:ea typeface="Verdana" charset="0"/>
                <a:cs typeface="Calibri" panose="020F0502020204030204" pitchFamily="34" charset="0"/>
              </a:rPr>
              <a:t>. </a:t>
            </a:r>
            <a:endParaRPr lang="en-US" sz="1500" dirty="0">
              <a:solidFill>
                <a:srgbClr val="C00000"/>
              </a:solidFill>
              <a:latin typeface="Calibri" panose="020F0502020204030204" pitchFamily="34" charset="0"/>
              <a:ea typeface="Verdana" charset="0"/>
              <a:cs typeface="Calibri" panose="020F0502020204030204" pitchFamily="34" charset="0"/>
            </a:endParaRPr>
          </a:p>
          <a:p>
            <a:r>
              <a:rPr lang="hr-HR" sz="1500" dirty="0">
                <a:latin typeface="Calibri" panose="020F0502020204030204" pitchFamily="34" charset="0"/>
                <a:ea typeface="Verdana" charset="0"/>
                <a:cs typeface="Calibri" panose="020F0502020204030204" pitchFamily="34" charset="0"/>
              </a:rPr>
              <a:t>Suradnja Fakulteta i njegovih laboratorija mogu se otvarati u svim područjima u kojima djeluju gospodarski subjekti u regiji. </a:t>
            </a:r>
          </a:p>
          <a:p>
            <a:r>
              <a:rPr lang="hr-HR" sz="1500" dirty="0">
                <a:latin typeface="Calibri" panose="020F0502020204030204" pitchFamily="34" charset="0"/>
                <a:ea typeface="Verdana" charset="0"/>
                <a:cs typeface="Calibri" panose="020F0502020204030204" pitchFamily="34" charset="0"/>
              </a:rPr>
              <a:t>Poljoprivredna gospodarstva mogu primjenjivati dronove i umjetnu inteligenciju za detekciju oboljenja na nasadima. FOI upravo pokreće projekt za automatsko prepoznavanje onečišćenja u okolišu temeljem snimaka drona i sustava umjetne inteligencije i ima iskustvo u primjeni informacijske tehnologije u poslovanju. </a:t>
            </a:r>
            <a:endParaRPr lang="en-US" sz="1500" dirty="0">
              <a:latin typeface="Calibri" panose="020F0502020204030204" pitchFamily="34" charset="0"/>
              <a:ea typeface="Verdana" charset="0"/>
              <a:cs typeface="Calibri" panose="020F0502020204030204" pitchFamily="34" charset="0"/>
            </a:endParaRPr>
          </a:p>
          <a:p>
            <a:r>
              <a:rPr lang="hr-HR" sz="1500" dirty="0">
                <a:latin typeface="Calibri" panose="020F0502020204030204" pitchFamily="34" charset="0"/>
                <a:ea typeface="Verdana" charset="0"/>
                <a:cs typeface="Calibri" panose="020F0502020204030204" pitchFamily="34" charset="0"/>
              </a:rPr>
              <a:t>Kumulirano znanje FOI unosi u Centar za </a:t>
            </a:r>
            <a:r>
              <a:rPr lang="hr-HR" sz="1500" dirty="0" err="1">
                <a:latin typeface="Calibri" panose="020F0502020204030204" pitchFamily="34" charset="0"/>
                <a:ea typeface="Verdana" charset="0"/>
                <a:cs typeface="Calibri" panose="020F0502020204030204" pitchFamily="34" charset="0"/>
              </a:rPr>
              <a:t>predinkubaciju</a:t>
            </a:r>
            <a:r>
              <a:rPr lang="hr-HR" sz="1500" dirty="0">
                <a:latin typeface="Calibri" panose="020F0502020204030204" pitchFamily="34" charset="0"/>
                <a:ea typeface="Verdana" charset="0"/>
                <a:cs typeface="Calibri" panose="020F0502020204030204" pitchFamily="34" charset="0"/>
              </a:rPr>
              <a:t> kako bismo pomogli </a:t>
            </a:r>
            <a:r>
              <a:rPr lang="hr-HR" sz="1500" b="1" dirty="0">
                <a:solidFill>
                  <a:srgbClr val="C00000"/>
                </a:solidFill>
                <a:latin typeface="Calibri" panose="020F0502020204030204" pitchFamily="34" charset="0"/>
                <a:ea typeface="Verdana" charset="0"/>
                <a:cs typeface="Calibri" panose="020F0502020204030204" pitchFamily="34" charset="0"/>
              </a:rPr>
              <a:t>dobrim inovativnim idejama da pronađu put do tržišta. </a:t>
            </a:r>
          </a:p>
          <a:p>
            <a:r>
              <a:rPr lang="hr-HR" sz="1500" dirty="0">
                <a:latin typeface="Calibri" panose="020F0502020204030204" pitchFamily="34" charset="0"/>
                <a:ea typeface="Verdana" charset="0"/>
                <a:cs typeface="Calibri" panose="020F0502020204030204" pitchFamily="34" charset="0"/>
              </a:rPr>
              <a:t>FOI ima i jak ekosustav poduzeća s kojima surađuje te brojnu zajednicu bivših studenata. U tom smislu, već sada djeluje kao faktor umrežavanja što se kroz Centar može još jače pojačati i stvoriti širi ekosustav koji neće samo obuhvaćati informatičku zajednicu nego i druge gospodarske grane. </a:t>
            </a:r>
          </a:p>
        </p:txBody>
      </p:sp>
      <p:sp>
        <p:nvSpPr>
          <p:cNvPr id="4" name="Title 1"/>
          <p:cNvSpPr txBox="1">
            <a:spLocks/>
          </p:cNvSpPr>
          <p:nvPr/>
        </p:nvSpPr>
        <p:spPr>
          <a:xfrm>
            <a:off x="969473" y="-20075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hr-HR" sz="2000" dirty="0">
                <a:latin typeface="Verdana" charset="0"/>
                <a:ea typeface="Verdana" charset="0"/>
                <a:cs typeface="Verdana" charset="0"/>
              </a:rPr>
              <a:t>Kako ovaj projekt može doprinijeti industrijskoj tranziciji?</a:t>
            </a:r>
          </a:p>
        </p:txBody>
      </p:sp>
      <p:grpSp>
        <p:nvGrpSpPr>
          <p:cNvPr id="2" name="Group 1">
            <a:extLst>
              <a:ext uri="{FF2B5EF4-FFF2-40B4-BE49-F238E27FC236}">
                <a16:creationId xmlns:a16="http://schemas.microsoft.com/office/drawing/2014/main" id="{4B230489-5EBD-3B68-AE8C-1C48D26499CF}"/>
              </a:ext>
            </a:extLst>
          </p:cNvPr>
          <p:cNvGrpSpPr/>
          <p:nvPr/>
        </p:nvGrpSpPr>
        <p:grpSpPr>
          <a:xfrm>
            <a:off x="10149840" y="4149868"/>
            <a:ext cx="1895616" cy="2539416"/>
            <a:chOff x="6037274" y="1894987"/>
            <a:chExt cx="2426494" cy="3803270"/>
          </a:xfrm>
        </p:grpSpPr>
        <p:sp>
          <p:nvSpPr>
            <p:cNvPr id="5" name="Freeform 6">
              <a:extLst>
                <a:ext uri="{FF2B5EF4-FFF2-40B4-BE49-F238E27FC236}">
                  <a16:creationId xmlns:a16="http://schemas.microsoft.com/office/drawing/2014/main" id="{EEAA5BAE-85A8-6BE3-D748-D378FFDD2DAF}"/>
                </a:ext>
              </a:extLst>
            </p:cNvPr>
            <p:cNvSpPr>
              <a:spLocks/>
            </p:cNvSpPr>
            <p:nvPr/>
          </p:nvSpPr>
          <p:spPr bwMode="auto">
            <a:xfrm flipH="1">
              <a:off x="6924578" y="5397791"/>
              <a:ext cx="670400" cy="144227"/>
            </a:xfrm>
            <a:custGeom>
              <a:avLst/>
              <a:gdLst>
                <a:gd name="T0" fmla="*/ 20 w 23"/>
                <a:gd name="T1" fmla="*/ 0 h 5"/>
                <a:gd name="T2" fmla="*/ 3 w 23"/>
                <a:gd name="T3" fmla="*/ 0 h 5"/>
                <a:gd name="T4" fmla="*/ 0 w 23"/>
                <a:gd name="T5" fmla="*/ 2 h 5"/>
                <a:gd name="T6" fmla="*/ 3 w 23"/>
                <a:gd name="T7" fmla="*/ 5 h 5"/>
                <a:gd name="T8" fmla="*/ 20 w 23"/>
                <a:gd name="T9" fmla="*/ 5 h 5"/>
                <a:gd name="T10" fmla="*/ 23 w 23"/>
                <a:gd name="T11" fmla="*/ 2 h 5"/>
                <a:gd name="T12" fmla="*/ 20 w 2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23" h="5">
                  <a:moveTo>
                    <a:pt x="20" y="0"/>
                  </a:moveTo>
                  <a:cubicBezTo>
                    <a:pt x="3" y="0"/>
                    <a:pt x="3" y="0"/>
                    <a:pt x="3" y="0"/>
                  </a:cubicBezTo>
                  <a:cubicBezTo>
                    <a:pt x="1" y="0"/>
                    <a:pt x="0" y="1"/>
                    <a:pt x="0" y="2"/>
                  </a:cubicBezTo>
                  <a:cubicBezTo>
                    <a:pt x="0" y="4"/>
                    <a:pt x="1" y="5"/>
                    <a:pt x="3" y="5"/>
                  </a:cubicBezTo>
                  <a:cubicBezTo>
                    <a:pt x="20" y="5"/>
                    <a:pt x="20" y="5"/>
                    <a:pt x="20" y="5"/>
                  </a:cubicBezTo>
                  <a:cubicBezTo>
                    <a:pt x="22" y="5"/>
                    <a:pt x="23" y="4"/>
                    <a:pt x="23" y="2"/>
                  </a:cubicBezTo>
                  <a:cubicBezTo>
                    <a:pt x="23" y="1"/>
                    <a:pt x="22" y="0"/>
                    <a:pt x="20" y="0"/>
                  </a:cubicBezTo>
                  <a:close/>
                </a:path>
              </a:pathLst>
            </a:custGeom>
            <a:solidFill>
              <a:schemeClr val="tx1">
                <a:lumMod val="50000"/>
                <a:lumOff val="50000"/>
              </a:schemeClr>
            </a:solidFill>
            <a:ln>
              <a:noFill/>
            </a:ln>
          </p:spPr>
          <p:txBody>
            <a:bodyPr vert="horz" wrap="square" lIns="68580" tIns="34290" rIns="68580" bIns="34290" numCol="1" anchor="t" anchorCtr="0" compatLnSpc="1">
              <a:prstTxWarp prst="textNoShape">
                <a:avLst/>
              </a:prstTxWarp>
            </a:bodyPr>
            <a:lstStyle/>
            <a:p>
              <a:endParaRPr lang="id-ID" sz="1013">
                <a:latin typeface="Raleway" panose="020B0003030101060003" pitchFamily="34" charset="0"/>
              </a:endParaRPr>
            </a:p>
          </p:txBody>
        </p:sp>
        <p:sp>
          <p:nvSpPr>
            <p:cNvPr id="6" name="Freeform 5">
              <a:extLst>
                <a:ext uri="{FF2B5EF4-FFF2-40B4-BE49-F238E27FC236}">
                  <a16:creationId xmlns:a16="http://schemas.microsoft.com/office/drawing/2014/main" id="{0E6C40E5-88DD-2D8F-B3F2-933B1E2E7587}"/>
                </a:ext>
              </a:extLst>
            </p:cNvPr>
            <p:cNvSpPr/>
            <p:nvPr/>
          </p:nvSpPr>
          <p:spPr>
            <a:xfrm flipH="1">
              <a:off x="6748864" y="5098717"/>
              <a:ext cx="1021829" cy="240140"/>
            </a:xfrm>
            <a:custGeom>
              <a:avLst/>
              <a:gdLst>
                <a:gd name="connsiteX0" fmla="*/ 0 w 2645228"/>
                <a:gd name="connsiteY0" fmla="*/ 0 h 496975"/>
                <a:gd name="connsiteX1" fmla="*/ 2645228 w 2645228"/>
                <a:gd name="connsiteY1" fmla="*/ 0 h 496975"/>
                <a:gd name="connsiteX2" fmla="*/ 2645228 w 2645228"/>
                <a:gd name="connsiteY2" fmla="*/ 56095 h 496975"/>
                <a:gd name="connsiteX3" fmla="*/ 2204348 w 2645228"/>
                <a:gd name="connsiteY3" fmla="*/ 496975 h 496975"/>
                <a:gd name="connsiteX4" fmla="*/ 440880 w 2645228"/>
                <a:gd name="connsiteY4" fmla="*/ 496975 h 496975"/>
                <a:gd name="connsiteX5" fmla="*/ 0 w 2645228"/>
                <a:gd name="connsiteY5" fmla="*/ 56095 h 496975"/>
                <a:gd name="connsiteX6" fmla="*/ 0 w 2645228"/>
                <a:gd name="connsiteY6" fmla="*/ 0 h 49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5228" h="496975">
                  <a:moveTo>
                    <a:pt x="0" y="0"/>
                  </a:moveTo>
                  <a:lnTo>
                    <a:pt x="2645228" y="0"/>
                  </a:lnTo>
                  <a:lnTo>
                    <a:pt x="2645228" y="56095"/>
                  </a:lnTo>
                  <a:cubicBezTo>
                    <a:pt x="2645228" y="299586"/>
                    <a:pt x="2447839" y="496975"/>
                    <a:pt x="2204348" y="496975"/>
                  </a:cubicBezTo>
                  <a:lnTo>
                    <a:pt x="440880" y="496975"/>
                  </a:lnTo>
                  <a:cubicBezTo>
                    <a:pt x="197389" y="496975"/>
                    <a:pt x="0" y="299586"/>
                    <a:pt x="0" y="56095"/>
                  </a:cubicBezTo>
                  <a:lnTo>
                    <a:pt x="0" y="0"/>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7" name="Freeform 6">
              <a:extLst>
                <a:ext uri="{FF2B5EF4-FFF2-40B4-BE49-F238E27FC236}">
                  <a16:creationId xmlns:a16="http://schemas.microsoft.com/office/drawing/2014/main" id="{F2519C5C-1256-658F-9BBA-4A10FB94EEDB}"/>
                </a:ext>
              </a:extLst>
            </p:cNvPr>
            <p:cNvSpPr/>
            <p:nvPr/>
          </p:nvSpPr>
          <p:spPr>
            <a:xfrm flipH="1">
              <a:off x="7031866" y="5600950"/>
              <a:ext cx="455825" cy="97307"/>
            </a:xfrm>
            <a:custGeom>
              <a:avLst/>
              <a:gdLst>
                <a:gd name="connsiteX0" fmla="*/ 0 w 694404"/>
                <a:gd name="connsiteY0" fmla="*/ 0 h 288475"/>
                <a:gd name="connsiteX1" fmla="*/ 694404 w 694404"/>
                <a:gd name="connsiteY1" fmla="*/ 0 h 288475"/>
                <a:gd name="connsiteX2" fmla="*/ 693800 w 694404"/>
                <a:gd name="connsiteY2" fmla="*/ 5989 h 288475"/>
                <a:gd name="connsiteX3" fmla="*/ 347202 w 694404"/>
                <a:gd name="connsiteY3" fmla="*/ 288475 h 288475"/>
                <a:gd name="connsiteX4" fmla="*/ 604 w 694404"/>
                <a:gd name="connsiteY4" fmla="*/ 5989 h 288475"/>
                <a:gd name="connsiteX5" fmla="*/ 0 w 694404"/>
                <a:gd name="connsiteY5" fmla="*/ 0 h 28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404" h="288475">
                  <a:moveTo>
                    <a:pt x="0" y="0"/>
                  </a:moveTo>
                  <a:lnTo>
                    <a:pt x="694404" y="0"/>
                  </a:lnTo>
                  <a:lnTo>
                    <a:pt x="693800" y="5989"/>
                  </a:lnTo>
                  <a:cubicBezTo>
                    <a:pt x="660811" y="167204"/>
                    <a:pt x="518169" y="288475"/>
                    <a:pt x="347202" y="288475"/>
                  </a:cubicBezTo>
                  <a:cubicBezTo>
                    <a:pt x="176235" y="288475"/>
                    <a:pt x="33593" y="167204"/>
                    <a:pt x="604" y="5989"/>
                  </a:cubicBezTo>
                  <a:lnTo>
                    <a:pt x="0" y="0"/>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cxnSp>
          <p:nvCxnSpPr>
            <p:cNvPr id="8" name="Straight Connector 7">
              <a:extLst>
                <a:ext uri="{FF2B5EF4-FFF2-40B4-BE49-F238E27FC236}">
                  <a16:creationId xmlns:a16="http://schemas.microsoft.com/office/drawing/2014/main" id="{E03B27E0-C000-9FAD-4A00-1DC15878A6B1}"/>
                </a:ext>
              </a:extLst>
            </p:cNvPr>
            <p:cNvCxnSpPr/>
            <p:nvPr/>
          </p:nvCxnSpPr>
          <p:spPr>
            <a:xfrm>
              <a:off x="7363630" y="2108417"/>
              <a:ext cx="124059" cy="417956"/>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2ED6AAF-69AE-1F95-F887-0002A0C22B95}"/>
                </a:ext>
              </a:extLst>
            </p:cNvPr>
            <p:cNvCxnSpPr/>
            <p:nvPr/>
          </p:nvCxnSpPr>
          <p:spPr>
            <a:xfrm>
              <a:off x="7377031" y="2072385"/>
              <a:ext cx="676679" cy="308777"/>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56D3CEC-2BB5-B503-94E9-CAF5500DAF57}"/>
                </a:ext>
              </a:extLst>
            </p:cNvPr>
            <p:cNvCxnSpPr/>
            <p:nvPr/>
          </p:nvCxnSpPr>
          <p:spPr>
            <a:xfrm flipH="1">
              <a:off x="6819514" y="2860584"/>
              <a:ext cx="440264" cy="0"/>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CA514C2-A655-D93C-363A-785721331F80}"/>
                </a:ext>
              </a:extLst>
            </p:cNvPr>
            <p:cNvCxnSpPr/>
            <p:nvPr/>
          </p:nvCxnSpPr>
          <p:spPr>
            <a:xfrm flipH="1">
              <a:off x="7916166" y="3217120"/>
              <a:ext cx="266784" cy="284768"/>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A955B34-9EED-7036-5D62-3DE8B85861DE}"/>
                </a:ext>
              </a:extLst>
            </p:cNvPr>
            <p:cNvCxnSpPr/>
            <p:nvPr/>
          </p:nvCxnSpPr>
          <p:spPr>
            <a:xfrm flipH="1">
              <a:off x="7594978" y="3679735"/>
              <a:ext cx="175715" cy="575396"/>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45FBCD6-7051-F0D8-74D3-DE7081174714}"/>
                </a:ext>
              </a:extLst>
            </p:cNvPr>
            <p:cNvCxnSpPr/>
            <p:nvPr/>
          </p:nvCxnSpPr>
          <p:spPr>
            <a:xfrm flipH="1">
              <a:off x="7255101" y="3632109"/>
              <a:ext cx="380483" cy="128588"/>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2148886-F47E-E29C-E758-4C539CC8576D}"/>
                </a:ext>
              </a:extLst>
            </p:cNvPr>
            <p:cNvCxnSpPr/>
            <p:nvPr/>
          </p:nvCxnSpPr>
          <p:spPr>
            <a:xfrm flipH="1">
              <a:off x="7152717" y="2972341"/>
              <a:ext cx="318484" cy="636551"/>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58B88C-E2A5-4C8A-CB92-52DF410B9E3D}"/>
                </a:ext>
              </a:extLst>
            </p:cNvPr>
            <p:cNvCxnSpPr/>
            <p:nvPr/>
          </p:nvCxnSpPr>
          <p:spPr>
            <a:xfrm flipV="1">
              <a:off x="6193614" y="2955905"/>
              <a:ext cx="359249" cy="154139"/>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846D5B4-D4DF-ADDD-5242-1EBD7A2DCE34}"/>
                </a:ext>
              </a:extLst>
            </p:cNvPr>
            <p:cNvCxnSpPr/>
            <p:nvPr/>
          </p:nvCxnSpPr>
          <p:spPr>
            <a:xfrm>
              <a:off x="6741510" y="3044186"/>
              <a:ext cx="232786" cy="559916"/>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C6CC3BB-D786-FB24-5D45-B001B9EF28F0}"/>
                </a:ext>
              </a:extLst>
            </p:cNvPr>
            <p:cNvCxnSpPr/>
            <p:nvPr/>
          </p:nvCxnSpPr>
          <p:spPr>
            <a:xfrm flipH="1" flipV="1">
              <a:off x="6606000" y="2317395"/>
              <a:ext cx="81889" cy="484256"/>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8B5A75A-859B-82E6-95FD-ACB5ABBC4552}"/>
                </a:ext>
              </a:extLst>
            </p:cNvPr>
            <p:cNvCxnSpPr/>
            <p:nvPr/>
          </p:nvCxnSpPr>
          <p:spPr>
            <a:xfrm>
              <a:off x="6379039" y="3786891"/>
              <a:ext cx="395069" cy="5713"/>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54A08CD-CCBF-B2BF-C8BC-D310029B6182}"/>
                </a:ext>
              </a:extLst>
            </p:cNvPr>
            <p:cNvCxnSpPr/>
            <p:nvPr/>
          </p:nvCxnSpPr>
          <p:spPr>
            <a:xfrm flipH="1" flipV="1">
              <a:off x="7594978" y="4429472"/>
              <a:ext cx="262761" cy="297716"/>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242BEA7-749F-7AFB-817B-8F9F00359600}"/>
                </a:ext>
              </a:extLst>
            </p:cNvPr>
            <p:cNvCxnSpPr/>
            <p:nvPr/>
          </p:nvCxnSpPr>
          <p:spPr>
            <a:xfrm flipH="1">
              <a:off x="7063778" y="4338520"/>
              <a:ext cx="460634" cy="199595"/>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67972F1-19EA-535A-C08D-37E5639DA3C7}"/>
                </a:ext>
              </a:extLst>
            </p:cNvPr>
            <p:cNvCxnSpPr>
              <a:stCxn id="41" idx="0"/>
            </p:cNvCxnSpPr>
            <p:nvPr/>
          </p:nvCxnSpPr>
          <p:spPr>
            <a:xfrm flipV="1">
              <a:off x="6958816" y="4028809"/>
              <a:ext cx="15479" cy="330773"/>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B003895-7DF3-3AE6-0042-DBAE5D517D76}"/>
                </a:ext>
              </a:extLst>
            </p:cNvPr>
            <p:cNvCxnSpPr/>
            <p:nvPr/>
          </p:nvCxnSpPr>
          <p:spPr>
            <a:xfrm flipH="1">
              <a:off x="6552862" y="3967432"/>
              <a:ext cx="196001" cy="388565"/>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63A5030-A33D-86B6-466D-164E2D7F8CBB}"/>
                </a:ext>
              </a:extLst>
            </p:cNvPr>
            <p:cNvCxnSpPr>
              <a:endCxn id="57" idx="7"/>
            </p:cNvCxnSpPr>
            <p:nvPr/>
          </p:nvCxnSpPr>
          <p:spPr>
            <a:xfrm flipH="1">
              <a:off x="6724032" y="4695419"/>
              <a:ext cx="146549" cy="162665"/>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CAF6066-4115-6F6A-835F-367A9463090F}"/>
                </a:ext>
              </a:extLst>
            </p:cNvPr>
            <p:cNvCxnSpPr/>
            <p:nvPr/>
          </p:nvCxnSpPr>
          <p:spPr>
            <a:xfrm flipH="1">
              <a:off x="7331483" y="4429472"/>
              <a:ext cx="162727" cy="561045"/>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0FAF77B-87F1-F88D-E1CA-B86E816785A1}"/>
                </a:ext>
              </a:extLst>
            </p:cNvPr>
            <p:cNvCxnSpPr/>
            <p:nvPr/>
          </p:nvCxnSpPr>
          <p:spPr>
            <a:xfrm>
              <a:off x="7043062" y="4639528"/>
              <a:ext cx="235406" cy="68312"/>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95D3AC5-6D80-8C81-066B-8F3B86787186}"/>
                </a:ext>
              </a:extLst>
            </p:cNvPr>
            <p:cNvCxnSpPr/>
            <p:nvPr/>
          </p:nvCxnSpPr>
          <p:spPr>
            <a:xfrm flipH="1">
              <a:off x="7627559" y="4749511"/>
              <a:ext cx="237777" cy="154736"/>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BA87A07-AD7A-3416-CD23-469C5971CC41}"/>
                </a:ext>
              </a:extLst>
            </p:cNvPr>
            <p:cNvCxnSpPr/>
            <p:nvPr/>
          </p:nvCxnSpPr>
          <p:spPr>
            <a:xfrm>
              <a:off x="7635584" y="4342317"/>
              <a:ext cx="357150" cy="61392"/>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F2E5BF7-04FC-4CF9-6405-3F52999B4C13}"/>
                </a:ext>
              </a:extLst>
            </p:cNvPr>
            <p:cNvCxnSpPr/>
            <p:nvPr/>
          </p:nvCxnSpPr>
          <p:spPr>
            <a:xfrm flipH="1" flipV="1">
              <a:off x="7594978" y="3283256"/>
              <a:ext cx="100416" cy="209047"/>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0604294-FC77-88D6-2623-108434638F63}"/>
                </a:ext>
              </a:extLst>
            </p:cNvPr>
            <p:cNvCxnSpPr/>
            <p:nvPr/>
          </p:nvCxnSpPr>
          <p:spPr>
            <a:xfrm flipH="1">
              <a:off x="8257790" y="3193616"/>
              <a:ext cx="29891" cy="589405"/>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FFD47F4-FAF2-8F74-3A9C-5B3C14BC30E9}"/>
                </a:ext>
              </a:extLst>
            </p:cNvPr>
            <p:cNvCxnSpPr/>
            <p:nvPr/>
          </p:nvCxnSpPr>
          <p:spPr>
            <a:xfrm>
              <a:off x="7853053" y="3696403"/>
              <a:ext cx="221747" cy="420677"/>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716E963-B7D7-5B06-1D80-2BF21B7C8125}"/>
                </a:ext>
              </a:extLst>
            </p:cNvPr>
            <p:cNvCxnSpPr/>
            <p:nvPr/>
          </p:nvCxnSpPr>
          <p:spPr>
            <a:xfrm flipH="1" flipV="1">
              <a:off x="6167876" y="3517808"/>
              <a:ext cx="126980" cy="164006"/>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81CBB4A-E37B-D788-E97C-08405E1D0147}"/>
                </a:ext>
              </a:extLst>
            </p:cNvPr>
            <p:cNvCxnSpPr/>
            <p:nvPr/>
          </p:nvCxnSpPr>
          <p:spPr>
            <a:xfrm flipH="1">
              <a:off x="6231674" y="2226773"/>
              <a:ext cx="309648" cy="299600"/>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F8E495F-3710-C3B6-D0B1-D938285CEB37}"/>
                </a:ext>
              </a:extLst>
            </p:cNvPr>
            <p:cNvCxnSpPr>
              <a:endCxn id="68" idx="6"/>
            </p:cNvCxnSpPr>
            <p:nvPr/>
          </p:nvCxnSpPr>
          <p:spPr>
            <a:xfrm flipH="1" flipV="1">
              <a:off x="6227190" y="2783563"/>
              <a:ext cx="410159" cy="2933"/>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19E1498-01B3-14A8-50A4-2ED4BDCCA625}"/>
                </a:ext>
              </a:extLst>
            </p:cNvPr>
            <p:cNvCxnSpPr/>
            <p:nvPr/>
          </p:nvCxnSpPr>
          <p:spPr>
            <a:xfrm flipV="1">
              <a:off x="6762171" y="2265532"/>
              <a:ext cx="322999" cy="591613"/>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8FB81D9-D0BB-D33D-0F5F-F44ACB5EAE75}"/>
                </a:ext>
              </a:extLst>
            </p:cNvPr>
            <p:cNvCxnSpPr>
              <a:stCxn id="47" idx="7"/>
            </p:cNvCxnSpPr>
            <p:nvPr/>
          </p:nvCxnSpPr>
          <p:spPr>
            <a:xfrm flipH="1" flipV="1">
              <a:off x="7220401" y="2434340"/>
              <a:ext cx="80980" cy="97295"/>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3EF7EC5-F147-028B-5201-33A1FA5874CA}"/>
                </a:ext>
              </a:extLst>
            </p:cNvPr>
            <p:cNvCxnSpPr/>
            <p:nvPr/>
          </p:nvCxnSpPr>
          <p:spPr>
            <a:xfrm flipH="1" flipV="1">
              <a:off x="7102884" y="1991003"/>
              <a:ext cx="260746" cy="28240"/>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0FCA67D-3BC7-F61A-7D76-DB7005200A0F}"/>
                </a:ext>
              </a:extLst>
            </p:cNvPr>
            <p:cNvCxnSpPr/>
            <p:nvPr/>
          </p:nvCxnSpPr>
          <p:spPr>
            <a:xfrm flipH="1">
              <a:off x="7969658" y="2429022"/>
              <a:ext cx="105142" cy="199333"/>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C9CF70A-97CA-BAC5-643D-4E6D374DC45F}"/>
                </a:ext>
              </a:extLst>
            </p:cNvPr>
            <p:cNvCxnSpPr/>
            <p:nvPr/>
          </p:nvCxnSpPr>
          <p:spPr>
            <a:xfrm>
              <a:off x="7726358" y="2801651"/>
              <a:ext cx="348441" cy="0"/>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1D23C93-12ED-6178-EE5C-B22F30D717C7}"/>
                </a:ext>
              </a:extLst>
            </p:cNvPr>
            <p:cNvCxnSpPr/>
            <p:nvPr/>
          </p:nvCxnSpPr>
          <p:spPr>
            <a:xfrm flipV="1">
              <a:off x="6369601" y="3832342"/>
              <a:ext cx="3692" cy="193604"/>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Oval 9">
              <a:extLst>
                <a:ext uri="{FF2B5EF4-FFF2-40B4-BE49-F238E27FC236}">
                  <a16:creationId xmlns:a16="http://schemas.microsoft.com/office/drawing/2014/main" id="{58E197E7-EE97-C72B-11E4-0F0F58D2865F}"/>
                </a:ext>
              </a:extLst>
            </p:cNvPr>
            <p:cNvSpPr>
              <a:spLocks noChangeArrowheads="1"/>
            </p:cNvSpPr>
            <p:nvPr/>
          </p:nvSpPr>
          <p:spPr bwMode="auto">
            <a:xfrm flipH="1">
              <a:off x="6719502" y="4359581"/>
              <a:ext cx="478631" cy="477441"/>
            </a:xfrm>
            <a:prstGeom prst="ellipse">
              <a:avLst/>
            </a:prstGeom>
            <a:solidFill>
              <a:schemeClr val="tx1">
                <a:lumMod val="65000"/>
                <a:lumOff val="3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41" name="Oval 10">
              <a:extLst>
                <a:ext uri="{FF2B5EF4-FFF2-40B4-BE49-F238E27FC236}">
                  <a16:creationId xmlns:a16="http://schemas.microsoft.com/office/drawing/2014/main" id="{83D5CC51-9199-B3EB-9326-422C4C359C06}"/>
                </a:ext>
              </a:extLst>
            </p:cNvPr>
            <p:cNvSpPr>
              <a:spLocks noChangeArrowheads="1"/>
            </p:cNvSpPr>
            <p:nvPr/>
          </p:nvSpPr>
          <p:spPr bwMode="auto">
            <a:xfrm flipH="1">
              <a:off x="7363630" y="4159557"/>
              <a:ext cx="366713" cy="365522"/>
            </a:xfrm>
            <a:prstGeom prst="ellipse">
              <a:avLst/>
            </a:pr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42" name="Oval 11">
              <a:extLst>
                <a:ext uri="{FF2B5EF4-FFF2-40B4-BE49-F238E27FC236}">
                  <a16:creationId xmlns:a16="http://schemas.microsoft.com/office/drawing/2014/main" id="{CD638E15-C8DD-F8CF-635D-783ED6CDBB37}"/>
                </a:ext>
              </a:extLst>
            </p:cNvPr>
            <p:cNvSpPr>
              <a:spLocks noChangeArrowheads="1"/>
            </p:cNvSpPr>
            <p:nvPr/>
          </p:nvSpPr>
          <p:spPr bwMode="auto">
            <a:xfrm flipH="1">
              <a:off x="6676640" y="3501140"/>
              <a:ext cx="665559" cy="666750"/>
            </a:xfrm>
            <a:prstGeom prst="ellipse">
              <a:avLst/>
            </a:prstGeom>
            <a:solidFill>
              <a:schemeClr val="bg1">
                <a:lumMod val="7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43" name="Oval 12">
              <a:extLst>
                <a:ext uri="{FF2B5EF4-FFF2-40B4-BE49-F238E27FC236}">
                  <a16:creationId xmlns:a16="http://schemas.microsoft.com/office/drawing/2014/main" id="{F5E0F8D5-5375-FC15-9B2B-AFBF0E27E678}"/>
                </a:ext>
              </a:extLst>
            </p:cNvPr>
            <p:cNvSpPr>
              <a:spLocks noChangeArrowheads="1"/>
            </p:cNvSpPr>
            <p:nvPr/>
          </p:nvSpPr>
          <p:spPr bwMode="auto">
            <a:xfrm flipH="1">
              <a:off x="7548177" y="3370172"/>
              <a:ext cx="479822" cy="477441"/>
            </a:xfrm>
            <a:prstGeom prst="ellipse">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44" name="Oval 13">
              <a:extLst>
                <a:ext uri="{FF2B5EF4-FFF2-40B4-BE49-F238E27FC236}">
                  <a16:creationId xmlns:a16="http://schemas.microsoft.com/office/drawing/2014/main" id="{87980722-A6D5-8074-0374-6484C16A4A95}"/>
                </a:ext>
              </a:extLst>
            </p:cNvPr>
            <p:cNvSpPr>
              <a:spLocks noChangeArrowheads="1"/>
            </p:cNvSpPr>
            <p:nvPr/>
          </p:nvSpPr>
          <p:spPr bwMode="auto">
            <a:xfrm flipH="1">
              <a:off x="8098246" y="2930831"/>
              <a:ext cx="365522" cy="366713"/>
            </a:xfrm>
            <a:prstGeom prst="ellipse">
              <a:avLst/>
            </a:pr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45" name="Oval 14">
              <a:extLst>
                <a:ext uri="{FF2B5EF4-FFF2-40B4-BE49-F238E27FC236}">
                  <a16:creationId xmlns:a16="http://schemas.microsoft.com/office/drawing/2014/main" id="{978439AA-8353-F877-876A-0F3E8E3915D9}"/>
                </a:ext>
              </a:extLst>
            </p:cNvPr>
            <p:cNvSpPr>
              <a:spLocks noChangeArrowheads="1"/>
            </p:cNvSpPr>
            <p:nvPr/>
          </p:nvSpPr>
          <p:spPr bwMode="auto">
            <a:xfrm flipH="1">
              <a:off x="7969658" y="2293847"/>
              <a:ext cx="254794" cy="254794"/>
            </a:xfrm>
            <a:prstGeom prst="ellipse">
              <a:avLst/>
            </a:prstGeom>
            <a:solidFill>
              <a:schemeClr val="tx1">
                <a:lumMod val="65000"/>
                <a:lumOff val="3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46" name="Oval 15">
              <a:extLst>
                <a:ext uri="{FF2B5EF4-FFF2-40B4-BE49-F238E27FC236}">
                  <a16:creationId xmlns:a16="http://schemas.microsoft.com/office/drawing/2014/main" id="{75D05CA3-1486-214E-13A8-72D3769A4AF0}"/>
                </a:ext>
              </a:extLst>
            </p:cNvPr>
            <p:cNvSpPr>
              <a:spLocks noChangeArrowheads="1"/>
            </p:cNvSpPr>
            <p:nvPr/>
          </p:nvSpPr>
          <p:spPr bwMode="auto">
            <a:xfrm flipH="1">
              <a:off x="7204086" y="2434341"/>
              <a:ext cx="664369" cy="664369"/>
            </a:xfrm>
            <a:prstGeom prst="ellipse">
              <a:avLst/>
            </a:prstGeom>
            <a:solidFill>
              <a:srgbClr val="F8B323"/>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47" name="Oval 16">
              <a:extLst>
                <a:ext uri="{FF2B5EF4-FFF2-40B4-BE49-F238E27FC236}">
                  <a16:creationId xmlns:a16="http://schemas.microsoft.com/office/drawing/2014/main" id="{8F475AEE-A2D0-5D2B-DCEA-57B8E6B5351B}"/>
                </a:ext>
              </a:extLst>
            </p:cNvPr>
            <p:cNvSpPr>
              <a:spLocks noChangeArrowheads="1"/>
            </p:cNvSpPr>
            <p:nvPr/>
          </p:nvSpPr>
          <p:spPr bwMode="auto">
            <a:xfrm flipH="1">
              <a:off x="6463517" y="2666513"/>
              <a:ext cx="479822" cy="479822"/>
            </a:xfrm>
            <a:prstGeom prst="ellipse">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48" name="Oval 17">
              <a:extLst>
                <a:ext uri="{FF2B5EF4-FFF2-40B4-BE49-F238E27FC236}">
                  <a16:creationId xmlns:a16="http://schemas.microsoft.com/office/drawing/2014/main" id="{D0304320-9668-E3A0-AA32-E7499C321A99}"/>
                </a:ext>
              </a:extLst>
            </p:cNvPr>
            <p:cNvSpPr>
              <a:spLocks noChangeArrowheads="1"/>
            </p:cNvSpPr>
            <p:nvPr/>
          </p:nvSpPr>
          <p:spPr bwMode="auto">
            <a:xfrm flipH="1">
              <a:off x="6455183" y="2085487"/>
              <a:ext cx="364331" cy="366713"/>
            </a:xfrm>
            <a:prstGeom prst="ellipse">
              <a:avLst/>
            </a:prstGeom>
            <a:solidFill>
              <a:srgbClr val="BFBFBF"/>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49" name="Oval 18">
              <a:extLst>
                <a:ext uri="{FF2B5EF4-FFF2-40B4-BE49-F238E27FC236}">
                  <a16:creationId xmlns:a16="http://schemas.microsoft.com/office/drawing/2014/main" id="{F5CE0D16-0F69-F311-EC72-2C1234BA69FA}"/>
                </a:ext>
              </a:extLst>
            </p:cNvPr>
            <p:cNvSpPr>
              <a:spLocks noChangeArrowheads="1"/>
            </p:cNvSpPr>
            <p:nvPr/>
          </p:nvSpPr>
          <p:spPr bwMode="auto">
            <a:xfrm flipH="1">
              <a:off x="6214677" y="3632109"/>
              <a:ext cx="254794" cy="257175"/>
            </a:xfrm>
            <a:prstGeom prst="ellipse">
              <a:avLst/>
            </a:prstGeom>
            <a:solidFill>
              <a:srgbClr val="F8B323"/>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50" name="Oval 19">
              <a:extLst>
                <a:ext uri="{FF2B5EF4-FFF2-40B4-BE49-F238E27FC236}">
                  <a16:creationId xmlns:a16="http://schemas.microsoft.com/office/drawing/2014/main" id="{3CEEA29D-E3DF-C905-C383-4640E2CE8CDD}"/>
                </a:ext>
              </a:extLst>
            </p:cNvPr>
            <p:cNvSpPr>
              <a:spLocks noChangeArrowheads="1"/>
            </p:cNvSpPr>
            <p:nvPr/>
          </p:nvSpPr>
          <p:spPr bwMode="auto">
            <a:xfrm flipH="1">
              <a:off x="7204086" y="1894987"/>
              <a:ext cx="254794" cy="254794"/>
            </a:xfrm>
            <a:prstGeom prst="ellipse">
              <a:avLst/>
            </a:prstGeom>
            <a:solidFill>
              <a:srgbClr val="F8B323"/>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51" name="Oval 20">
              <a:extLst>
                <a:ext uri="{FF2B5EF4-FFF2-40B4-BE49-F238E27FC236}">
                  <a16:creationId xmlns:a16="http://schemas.microsoft.com/office/drawing/2014/main" id="{8C25422F-6E7D-49A4-558D-0132CABCFAEA}"/>
                </a:ext>
              </a:extLst>
            </p:cNvPr>
            <p:cNvSpPr>
              <a:spLocks noChangeArrowheads="1"/>
            </p:cNvSpPr>
            <p:nvPr/>
          </p:nvSpPr>
          <p:spPr bwMode="auto">
            <a:xfrm flipH="1">
              <a:off x="6037274" y="2995125"/>
              <a:ext cx="254794" cy="254794"/>
            </a:xfrm>
            <a:prstGeom prst="ellipse">
              <a:avLst/>
            </a:prstGeom>
            <a:solidFill>
              <a:schemeClr val="bg1">
                <a:lumMod val="50000"/>
              </a:schemeClr>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52" name="Oval 21">
              <a:extLst>
                <a:ext uri="{FF2B5EF4-FFF2-40B4-BE49-F238E27FC236}">
                  <a16:creationId xmlns:a16="http://schemas.microsoft.com/office/drawing/2014/main" id="{A370358F-77D2-DCCB-5B12-B2251D308217}"/>
                </a:ext>
              </a:extLst>
            </p:cNvPr>
            <p:cNvSpPr>
              <a:spLocks noChangeArrowheads="1"/>
            </p:cNvSpPr>
            <p:nvPr/>
          </p:nvSpPr>
          <p:spPr bwMode="auto">
            <a:xfrm flipH="1">
              <a:off x="7730343" y="4607232"/>
              <a:ext cx="254794" cy="254794"/>
            </a:xfrm>
            <a:prstGeom prst="ellipse">
              <a:avLst/>
            </a:prstGeom>
            <a:solidFill>
              <a:srgbClr val="F8B323"/>
            </a:solidFill>
            <a:ln>
              <a:noFill/>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cxnSp>
          <p:nvCxnSpPr>
            <p:cNvPr id="53" name="Straight Connector 52">
              <a:extLst>
                <a:ext uri="{FF2B5EF4-FFF2-40B4-BE49-F238E27FC236}">
                  <a16:creationId xmlns:a16="http://schemas.microsoft.com/office/drawing/2014/main" id="{FAABB853-72B4-FAA2-86D1-8F3B68A68785}"/>
                </a:ext>
              </a:extLst>
            </p:cNvPr>
            <p:cNvCxnSpPr/>
            <p:nvPr/>
          </p:nvCxnSpPr>
          <p:spPr>
            <a:xfrm flipV="1">
              <a:off x="8010270" y="2716993"/>
              <a:ext cx="391215" cy="96688"/>
            </a:xfrm>
            <a:prstGeom prst="line">
              <a:avLst/>
            </a:prstGeom>
            <a:ln w="539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B7CAF2B4-750F-18AA-792E-75567E8607F5}"/>
                </a:ext>
              </a:extLst>
            </p:cNvPr>
            <p:cNvSpPr/>
            <p:nvPr/>
          </p:nvSpPr>
          <p:spPr>
            <a:xfrm>
              <a:off x="7018290" y="2217962"/>
              <a:ext cx="95140" cy="9514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55" name="Oval 54">
              <a:extLst>
                <a:ext uri="{FF2B5EF4-FFF2-40B4-BE49-F238E27FC236}">
                  <a16:creationId xmlns:a16="http://schemas.microsoft.com/office/drawing/2014/main" id="{B3AED0F8-2F1A-42B9-D8E2-35F0A363E35C}"/>
                </a:ext>
              </a:extLst>
            </p:cNvPr>
            <p:cNvSpPr/>
            <p:nvPr/>
          </p:nvSpPr>
          <p:spPr>
            <a:xfrm>
              <a:off x="7954025" y="2735723"/>
              <a:ext cx="136406" cy="13640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56" name="Oval 55">
              <a:extLst>
                <a:ext uri="{FF2B5EF4-FFF2-40B4-BE49-F238E27FC236}">
                  <a16:creationId xmlns:a16="http://schemas.microsoft.com/office/drawing/2014/main" id="{84704B42-726C-88CC-1197-9B00ABBCA383}"/>
                </a:ext>
              </a:extLst>
            </p:cNvPr>
            <p:cNvSpPr/>
            <p:nvPr/>
          </p:nvSpPr>
          <p:spPr>
            <a:xfrm>
              <a:off x="6622166" y="4840607"/>
              <a:ext cx="119344" cy="119344"/>
            </a:xfrm>
            <a:prstGeom prst="ellipse">
              <a:avLst/>
            </a:prstGeom>
            <a:noFill/>
            <a:ln w="317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57" name="Oval 56">
              <a:extLst>
                <a:ext uri="{FF2B5EF4-FFF2-40B4-BE49-F238E27FC236}">
                  <a16:creationId xmlns:a16="http://schemas.microsoft.com/office/drawing/2014/main" id="{DD799DFF-4CE6-40C6-CFCE-F922621ABC07}"/>
                </a:ext>
              </a:extLst>
            </p:cNvPr>
            <p:cNvSpPr/>
            <p:nvPr/>
          </p:nvSpPr>
          <p:spPr>
            <a:xfrm>
              <a:off x="7524412" y="4882554"/>
              <a:ext cx="120774" cy="120774"/>
            </a:xfrm>
            <a:prstGeom prst="ellipse">
              <a:avLst/>
            </a:prstGeom>
            <a:noFill/>
            <a:ln w="508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58" name="Oval 57">
              <a:extLst>
                <a:ext uri="{FF2B5EF4-FFF2-40B4-BE49-F238E27FC236}">
                  <a16:creationId xmlns:a16="http://schemas.microsoft.com/office/drawing/2014/main" id="{177CAB06-4E14-878C-FC6D-88C483A7F466}"/>
                </a:ext>
              </a:extLst>
            </p:cNvPr>
            <p:cNvSpPr/>
            <p:nvPr/>
          </p:nvSpPr>
          <p:spPr>
            <a:xfrm>
              <a:off x="7288780" y="4949333"/>
              <a:ext cx="82367" cy="8236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59" name="Oval 58">
              <a:extLst>
                <a:ext uri="{FF2B5EF4-FFF2-40B4-BE49-F238E27FC236}">
                  <a16:creationId xmlns:a16="http://schemas.microsoft.com/office/drawing/2014/main" id="{435D0745-A0BB-11A0-A1AD-7E5E5CC60026}"/>
                </a:ext>
              </a:extLst>
            </p:cNvPr>
            <p:cNvSpPr/>
            <p:nvPr/>
          </p:nvSpPr>
          <p:spPr>
            <a:xfrm>
              <a:off x="7256458" y="4679088"/>
              <a:ext cx="82367" cy="8236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60" name="Oval 59">
              <a:extLst>
                <a:ext uri="{FF2B5EF4-FFF2-40B4-BE49-F238E27FC236}">
                  <a16:creationId xmlns:a16="http://schemas.microsoft.com/office/drawing/2014/main" id="{5F6C664E-2532-6BCF-C4AE-B57E0A3C8E43}"/>
                </a:ext>
              </a:extLst>
            </p:cNvPr>
            <p:cNvSpPr/>
            <p:nvPr/>
          </p:nvSpPr>
          <p:spPr>
            <a:xfrm>
              <a:off x="7871227" y="4306021"/>
              <a:ext cx="161489" cy="16148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61" name="Oval 60">
              <a:extLst>
                <a:ext uri="{FF2B5EF4-FFF2-40B4-BE49-F238E27FC236}">
                  <a16:creationId xmlns:a16="http://schemas.microsoft.com/office/drawing/2014/main" id="{06F3C6FA-DD85-DF28-52EB-48B8C3EC5A0A}"/>
                </a:ext>
              </a:extLst>
            </p:cNvPr>
            <p:cNvSpPr/>
            <p:nvPr/>
          </p:nvSpPr>
          <p:spPr>
            <a:xfrm>
              <a:off x="7505531" y="3171715"/>
              <a:ext cx="120774" cy="120774"/>
            </a:xfrm>
            <a:prstGeom prst="ellipse">
              <a:avLst/>
            </a:prstGeom>
            <a:noFill/>
            <a:ln w="508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62" name="Oval 61">
              <a:extLst>
                <a:ext uri="{FF2B5EF4-FFF2-40B4-BE49-F238E27FC236}">
                  <a16:creationId xmlns:a16="http://schemas.microsoft.com/office/drawing/2014/main" id="{58AB04AD-D014-FE4F-8A40-4970A2AD476A}"/>
                </a:ext>
              </a:extLst>
            </p:cNvPr>
            <p:cNvSpPr/>
            <p:nvPr/>
          </p:nvSpPr>
          <p:spPr>
            <a:xfrm>
              <a:off x="7172794" y="2383007"/>
              <a:ext cx="82367" cy="8236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63" name="Oval 62">
              <a:extLst>
                <a:ext uri="{FF2B5EF4-FFF2-40B4-BE49-F238E27FC236}">
                  <a16:creationId xmlns:a16="http://schemas.microsoft.com/office/drawing/2014/main" id="{26CC4DB2-281D-6581-C891-677C7B649DD6}"/>
                </a:ext>
              </a:extLst>
            </p:cNvPr>
            <p:cNvSpPr/>
            <p:nvPr/>
          </p:nvSpPr>
          <p:spPr>
            <a:xfrm>
              <a:off x="7013917" y="1939623"/>
              <a:ext cx="99723" cy="99723"/>
            </a:xfrm>
            <a:prstGeom prst="ellipse">
              <a:avLst/>
            </a:prstGeom>
            <a:no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64" name="Oval 63">
              <a:extLst>
                <a:ext uri="{FF2B5EF4-FFF2-40B4-BE49-F238E27FC236}">
                  <a16:creationId xmlns:a16="http://schemas.microsoft.com/office/drawing/2014/main" id="{8B1A271E-71FC-EC6A-10A7-EC4908001E52}"/>
                </a:ext>
              </a:extLst>
            </p:cNvPr>
            <p:cNvSpPr/>
            <p:nvPr/>
          </p:nvSpPr>
          <p:spPr>
            <a:xfrm>
              <a:off x="7916355" y="2580777"/>
              <a:ext cx="95140" cy="9514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65" name="Oval 64">
              <a:extLst>
                <a:ext uri="{FF2B5EF4-FFF2-40B4-BE49-F238E27FC236}">
                  <a16:creationId xmlns:a16="http://schemas.microsoft.com/office/drawing/2014/main" id="{23606F37-0268-A59F-FCC0-8ADAFDF4E635}"/>
                </a:ext>
              </a:extLst>
            </p:cNvPr>
            <p:cNvSpPr/>
            <p:nvPr/>
          </p:nvSpPr>
          <p:spPr>
            <a:xfrm>
              <a:off x="8314184" y="2675916"/>
              <a:ext cx="95140" cy="9514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66" name="Oval 65">
              <a:extLst>
                <a:ext uri="{FF2B5EF4-FFF2-40B4-BE49-F238E27FC236}">
                  <a16:creationId xmlns:a16="http://schemas.microsoft.com/office/drawing/2014/main" id="{4BF8E864-9387-B749-A793-DE898A378716}"/>
                </a:ext>
              </a:extLst>
            </p:cNvPr>
            <p:cNvSpPr/>
            <p:nvPr/>
          </p:nvSpPr>
          <p:spPr>
            <a:xfrm>
              <a:off x="6497451" y="4350154"/>
              <a:ext cx="83848" cy="83848"/>
            </a:xfrm>
            <a:prstGeom prst="ellipse">
              <a:avLst/>
            </a:prstGeom>
            <a:noFill/>
            <a:ln w="317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67" name="Oval 66">
              <a:extLst>
                <a:ext uri="{FF2B5EF4-FFF2-40B4-BE49-F238E27FC236}">
                  <a16:creationId xmlns:a16="http://schemas.microsoft.com/office/drawing/2014/main" id="{90E9F9D3-7011-0D8E-3B3C-6CD7D0EDF4EB}"/>
                </a:ext>
              </a:extLst>
            </p:cNvPr>
            <p:cNvSpPr/>
            <p:nvPr/>
          </p:nvSpPr>
          <p:spPr>
            <a:xfrm>
              <a:off x="6093938" y="2716939"/>
              <a:ext cx="133251" cy="133248"/>
            </a:xfrm>
            <a:prstGeom prst="ellipse">
              <a:avLst/>
            </a:prstGeom>
            <a:noFill/>
            <a:ln w="444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68" name="Oval 67">
              <a:extLst>
                <a:ext uri="{FF2B5EF4-FFF2-40B4-BE49-F238E27FC236}">
                  <a16:creationId xmlns:a16="http://schemas.microsoft.com/office/drawing/2014/main" id="{1A6F35A7-25C9-C2E9-E27E-0862CADA6ADC}"/>
                </a:ext>
              </a:extLst>
            </p:cNvPr>
            <p:cNvSpPr/>
            <p:nvPr/>
          </p:nvSpPr>
          <p:spPr>
            <a:xfrm>
              <a:off x="8210220" y="3752473"/>
              <a:ext cx="95140" cy="9514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69" name="Oval 68">
              <a:extLst>
                <a:ext uri="{FF2B5EF4-FFF2-40B4-BE49-F238E27FC236}">
                  <a16:creationId xmlns:a16="http://schemas.microsoft.com/office/drawing/2014/main" id="{C7894D05-CADF-2E8A-2823-7C5E1B7428C3}"/>
                </a:ext>
              </a:extLst>
            </p:cNvPr>
            <p:cNvSpPr/>
            <p:nvPr/>
          </p:nvSpPr>
          <p:spPr>
            <a:xfrm>
              <a:off x="8038433" y="4099924"/>
              <a:ext cx="87928" cy="87928"/>
            </a:xfrm>
            <a:prstGeom prst="ellipse">
              <a:avLst/>
            </a:prstGeom>
            <a:noFill/>
            <a:ln w="508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70" name="Oval 69">
              <a:extLst>
                <a:ext uri="{FF2B5EF4-FFF2-40B4-BE49-F238E27FC236}">
                  <a16:creationId xmlns:a16="http://schemas.microsoft.com/office/drawing/2014/main" id="{B4AC7153-965D-1137-5BCE-75C1F724CC7C}"/>
                </a:ext>
              </a:extLst>
            </p:cNvPr>
            <p:cNvSpPr/>
            <p:nvPr/>
          </p:nvSpPr>
          <p:spPr>
            <a:xfrm>
              <a:off x="6328418" y="3995024"/>
              <a:ext cx="82367" cy="82367"/>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71" name="Oval 70">
              <a:extLst>
                <a:ext uri="{FF2B5EF4-FFF2-40B4-BE49-F238E27FC236}">
                  <a16:creationId xmlns:a16="http://schemas.microsoft.com/office/drawing/2014/main" id="{514337A3-0853-B0EC-E613-191197ED82BA}"/>
                </a:ext>
              </a:extLst>
            </p:cNvPr>
            <p:cNvSpPr/>
            <p:nvPr/>
          </p:nvSpPr>
          <p:spPr>
            <a:xfrm>
              <a:off x="6092372" y="3438456"/>
              <a:ext cx="99723" cy="99723"/>
            </a:xfrm>
            <a:prstGeom prst="ellipse">
              <a:avLst/>
            </a:prstGeom>
            <a:no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sp>
          <p:nvSpPr>
            <p:cNvPr id="72" name="Oval 71">
              <a:extLst>
                <a:ext uri="{FF2B5EF4-FFF2-40B4-BE49-F238E27FC236}">
                  <a16:creationId xmlns:a16="http://schemas.microsoft.com/office/drawing/2014/main" id="{03239D11-FB03-A524-6DF0-07B6CAA71101}"/>
                </a:ext>
              </a:extLst>
            </p:cNvPr>
            <p:cNvSpPr/>
            <p:nvPr/>
          </p:nvSpPr>
          <p:spPr>
            <a:xfrm>
              <a:off x="6165036" y="2502288"/>
              <a:ext cx="95140" cy="9514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latin typeface="Raleway" panose="020B0003030101060003" pitchFamily="34" charset="0"/>
              </a:endParaRPr>
            </a:p>
          </p:txBody>
        </p:sp>
        <p:grpSp>
          <p:nvGrpSpPr>
            <p:cNvPr id="73" name="Group 72">
              <a:extLst>
                <a:ext uri="{FF2B5EF4-FFF2-40B4-BE49-F238E27FC236}">
                  <a16:creationId xmlns:a16="http://schemas.microsoft.com/office/drawing/2014/main" id="{1039C97D-E4D6-0929-8C8C-6B48F53717ED}"/>
                </a:ext>
              </a:extLst>
            </p:cNvPr>
            <p:cNvGrpSpPr/>
            <p:nvPr/>
          </p:nvGrpSpPr>
          <p:grpSpPr>
            <a:xfrm>
              <a:off x="6617871" y="2771144"/>
              <a:ext cx="144947" cy="244820"/>
              <a:chOff x="14288" y="17463"/>
              <a:chExt cx="520700" cy="879475"/>
            </a:xfrm>
          </p:grpSpPr>
          <p:sp>
            <p:nvSpPr>
              <p:cNvPr id="179" name="Freeform 5">
                <a:extLst>
                  <a:ext uri="{FF2B5EF4-FFF2-40B4-BE49-F238E27FC236}">
                    <a16:creationId xmlns:a16="http://schemas.microsoft.com/office/drawing/2014/main" id="{1665875C-E1D0-40A2-85FB-3FE415443337}"/>
                  </a:ext>
                </a:extLst>
              </p:cNvPr>
              <p:cNvSpPr>
                <a:spLocks/>
              </p:cNvSpPr>
              <p:nvPr/>
            </p:nvSpPr>
            <p:spPr bwMode="auto">
              <a:xfrm>
                <a:off x="14288" y="138113"/>
                <a:ext cx="184150" cy="758825"/>
              </a:xfrm>
              <a:custGeom>
                <a:avLst/>
                <a:gdLst>
                  <a:gd name="T0" fmla="*/ 48 w 48"/>
                  <a:gd name="T1" fmla="*/ 180 h 200"/>
                  <a:gd name="T2" fmla="*/ 25 w 48"/>
                  <a:gd name="T3" fmla="*/ 200 h 200"/>
                  <a:gd name="T4" fmla="*/ 0 w 48"/>
                  <a:gd name="T5" fmla="*/ 180 h 200"/>
                  <a:gd name="T6" fmla="*/ 0 w 48"/>
                  <a:gd name="T7" fmla="*/ 48 h 200"/>
                  <a:gd name="T8" fmla="*/ 24 w 48"/>
                  <a:gd name="T9" fmla="*/ 0 h 200"/>
                  <a:gd name="T10" fmla="*/ 48 w 48"/>
                  <a:gd name="T11" fmla="*/ 48 h 200"/>
                  <a:gd name="T12" fmla="*/ 48 w 48"/>
                  <a:gd name="T13" fmla="*/ 180 h 200"/>
                </a:gdLst>
                <a:ahLst/>
                <a:cxnLst>
                  <a:cxn ang="0">
                    <a:pos x="T0" y="T1"/>
                  </a:cxn>
                  <a:cxn ang="0">
                    <a:pos x="T2" y="T3"/>
                  </a:cxn>
                  <a:cxn ang="0">
                    <a:pos x="T4" y="T5"/>
                  </a:cxn>
                  <a:cxn ang="0">
                    <a:pos x="T6" y="T7"/>
                  </a:cxn>
                  <a:cxn ang="0">
                    <a:pos x="T8" y="T9"/>
                  </a:cxn>
                  <a:cxn ang="0">
                    <a:pos x="T10" y="T11"/>
                  </a:cxn>
                  <a:cxn ang="0">
                    <a:pos x="T12" y="T13"/>
                  </a:cxn>
                </a:cxnLst>
                <a:rect l="0" t="0" r="r" b="b"/>
                <a:pathLst>
                  <a:path w="48" h="200">
                    <a:moveTo>
                      <a:pt x="48" y="180"/>
                    </a:moveTo>
                    <a:cubicBezTo>
                      <a:pt x="48" y="191"/>
                      <a:pt x="36" y="200"/>
                      <a:pt x="25" y="200"/>
                    </a:cubicBezTo>
                    <a:cubicBezTo>
                      <a:pt x="14" y="200"/>
                      <a:pt x="0" y="191"/>
                      <a:pt x="0" y="180"/>
                    </a:cubicBezTo>
                    <a:cubicBezTo>
                      <a:pt x="0" y="48"/>
                      <a:pt x="0" y="48"/>
                      <a:pt x="0" y="48"/>
                    </a:cubicBezTo>
                    <a:cubicBezTo>
                      <a:pt x="24" y="0"/>
                      <a:pt x="24" y="0"/>
                      <a:pt x="24" y="0"/>
                    </a:cubicBezTo>
                    <a:cubicBezTo>
                      <a:pt x="48" y="48"/>
                      <a:pt x="48" y="48"/>
                      <a:pt x="48" y="48"/>
                    </a:cubicBezTo>
                    <a:lnTo>
                      <a:pt x="48" y="180"/>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0" name="Line 6">
                <a:extLst>
                  <a:ext uri="{FF2B5EF4-FFF2-40B4-BE49-F238E27FC236}">
                    <a16:creationId xmlns:a16="http://schemas.microsoft.com/office/drawing/2014/main" id="{ABE5EBAF-8298-F6AB-0591-82887EAFD130}"/>
                  </a:ext>
                </a:extLst>
              </p:cNvPr>
              <p:cNvSpPr>
                <a:spLocks noChangeShapeType="1"/>
              </p:cNvSpPr>
              <p:nvPr/>
            </p:nvSpPr>
            <p:spPr bwMode="auto">
              <a:xfrm>
                <a:off x="14288" y="776288"/>
                <a:ext cx="18415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1" name="Line 7">
                <a:extLst>
                  <a:ext uri="{FF2B5EF4-FFF2-40B4-BE49-F238E27FC236}">
                    <a16:creationId xmlns:a16="http://schemas.microsoft.com/office/drawing/2014/main" id="{0B09AFDA-F585-0ADB-3BA1-6D4F4FC9F15F}"/>
                  </a:ext>
                </a:extLst>
              </p:cNvPr>
              <p:cNvSpPr>
                <a:spLocks noChangeShapeType="1"/>
              </p:cNvSpPr>
              <p:nvPr/>
            </p:nvSpPr>
            <p:spPr bwMode="auto">
              <a:xfrm>
                <a:off x="14288" y="715963"/>
                <a:ext cx="18415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2" name="Rectangle 8">
                <a:extLst>
                  <a:ext uri="{FF2B5EF4-FFF2-40B4-BE49-F238E27FC236}">
                    <a16:creationId xmlns:a16="http://schemas.microsoft.com/office/drawing/2014/main" id="{4D70E586-DAF0-DB74-68E8-7554C66D4BE2}"/>
                  </a:ext>
                </a:extLst>
              </p:cNvPr>
              <p:cNvSpPr>
                <a:spLocks noChangeArrowheads="1"/>
              </p:cNvSpPr>
              <p:nvPr/>
            </p:nvSpPr>
            <p:spPr bwMode="auto">
              <a:xfrm>
                <a:off x="290513" y="17463"/>
                <a:ext cx="244475" cy="879475"/>
              </a:xfrm>
              <a:prstGeom prst="rect">
                <a:avLst/>
              </a:pr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3" name="Line 9">
                <a:extLst>
                  <a:ext uri="{FF2B5EF4-FFF2-40B4-BE49-F238E27FC236}">
                    <a16:creationId xmlns:a16="http://schemas.microsoft.com/office/drawing/2014/main" id="{F7BE5E2D-3C7E-8294-C017-0EE70AE7C3BD}"/>
                  </a:ext>
                </a:extLst>
              </p:cNvPr>
              <p:cNvSpPr>
                <a:spLocks noChangeShapeType="1"/>
              </p:cNvSpPr>
              <p:nvPr/>
            </p:nvSpPr>
            <p:spPr bwMode="auto">
              <a:xfrm>
                <a:off x="290513" y="138113"/>
                <a:ext cx="920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4" name="Line 10">
                <a:extLst>
                  <a:ext uri="{FF2B5EF4-FFF2-40B4-BE49-F238E27FC236}">
                    <a16:creationId xmlns:a16="http://schemas.microsoft.com/office/drawing/2014/main" id="{D96D11B1-4BBB-6CB8-5203-2AB19A6D0334}"/>
                  </a:ext>
                </a:extLst>
              </p:cNvPr>
              <p:cNvSpPr>
                <a:spLocks noChangeShapeType="1"/>
              </p:cNvSpPr>
              <p:nvPr/>
            </p:nvSpPr>
            <p:spPr bwMode="auto">
              <a:xfrm>
                <a:off x="290513" y="290513"/>
                <a:ext cx="920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5" name="Line 11">
                <a:extLst>
                  <a:ext uri="{FF2B5EF4-FFF2-40B4-BE49-F238E27FC236}">
                    <a16:creationId xmlns:a16="http://schemas.microsoft.com/office/drawing/2014/main" id="{983DEA9D-6814-070B-330C-FB118CF98972}"/>
                  </a:ext>
                </a:extLst>
              </p:cNvPr>
              <p:cNvSpPr>
                <a:spLocks noChangeShapeType="1"/>
              </p:cNvSpPr>
              <p:nvPr/>
            </p:nvSpPr>
            <p:spPr bwMode="auto">
              <a:xfrm>
                <a:off x="290513" y="441326"/>
                <a:ext cx="920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6" name="Line 12">
                <a:extLst>
                  <a:ext uri="{FF2B5EF4-FFF2-40B4-BE49-F238E27FC236}">
                    <a16:creationId xmlns:a16="http://schemas.microsoft.com/office/drawing/2014/main" id="{FD9DA1E7-507E-AA8B-E277-421EC24D9261}"/>
                  </a:ext>
                </a:extLst>
              </p:cNvPr>
              <p:cNvSpPr>
                <a:spLocks noChangeShapeType="1"/>
              </p:cNvSpPr>
              <p:nvPr/>
            </p:nvSpPr>
            <p:spPr bwMode="auto">
              <a:xfrm>
                <a:off x="290513" y="593726"/>
                <a:ext cx="920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7" name="Line 13">
                <a:extLst>
                  <a:ext uri="{FF2B5EF4-FFF2-40B4-BE49-F238E27FC236}">
                    <a16:creationId xmlns:a16="http://schemas.microsoft.com/office/drawing/2014/main" id="{3DACCCA0-50C3-9AB7-4EB8-1ED12B53C88B}"/>
                  </a:ext>
                </a:extLst>
              </p:cNvPr>
              <p:cNvSpPr>
                <a:spLocks noChangeShapeType="1"/>
              </p:cNvSpPr>
              <p:nvPr/>
            </p:nvSpPr>
            <p:spPr bwMode="auto">
              <a:xfrm>
                <a:off x="290513" y="746126"/>
                <a:ext cx="92075"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8" name="Line 14">
                <a:extLst>
                  <a:ext uri="{FF2B5EF4-FFF2-40B4-BE49-F238E27FC236}">
                    <a16:creationId xmlns:a16="http://schemas.microsoft.com/office/drawing/2014/main" id="{D5655B59-EFB0-9517-1690-E8029F943B0A}"/>
                  </a:ext>
                </a:extLst>
              </p:cNvPr>
              <p:cNvSpPr>
                <a:spLocks noChangeShapeType="1"/>
              </p:cNvSpPr>
              <p:nvPr/>
            </p:nvSpPr>
            <p:spPr bwMode="auto">
              <a:xfrm>
                <a:off x="14288" y="320676"/>
                <a:ext cx="184150" cy="0"/>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89" name="Line 15">
                <a:extLst>
                  <a:ext uri="{FF2B5EF4-FFF2-40B4-BE49-F238E27FC236}">
                    <a16:creationId xmlns:a16="http://schemas.microsoft.com/office/drawing/2014/main" id="{4DC987E0-74F7-5FA5-AE8C-00AD3037E098}"/>
                  </a:ext>
                </a:extLst>
              </p:cNvPr>
              <p:cNvSpPr>
                <a:spLocks noChangeShapeType="1"/>
              </p:cNvSpPr>
              <p:nvPr/>
            </p:nvSpPr>
            <p:spPr bwMode="auto">
              <a:xfrm>
                <a:off x="106363" y="320676"/>
                <a:ext cx="0" cy="395288"/>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sp>
          <p:nvSpPr>
            <p:cNvPr id="74" name="Freeform 5">
              <a:extLst>
                <a:ext uri="{FF2B5EF4-FFF2-40B4-BE49-F238E27FC236}">
                  <a16:creationId xmlns:a16="http://schemas.microsoft.com/office/drawing/2014/main" id="{6CFE3D2F-AE12-3AC4-AFD5-BC7740B7E2FC}"/>
                </a:ext>
              </a:extLst>
            </p:cNvPr>
            <p:cNvSpPr>
              <a:spLocks noEditPoints="1"/>
            </p:cNvSpPr>
            <p:nvPr/>
          </p:nvSpPr>
          <p:spPr bwMode="auto">
            <a:xfrm>
              <a:off x="6870581" y="3704383"/>
              <a:ext cx="262537" cy="257276"/>
            </a:xfrm>
            <a:custGeom>
              <a:avLst/>
              <a:gdLst>
                <a:gd name="T0" fmla="*/ 179 w 208"/>
                <a:gd name="T1" fmla="*/ 79 h 204"/>
                <a:gd name="T2" fmla="*/ 174 w 208"/>
                <a:gd name="T3" fmla="*/ 66 h 204"/>
                <a:gd name="T4" fmla="*/ 185 w 208"/>
                <a:gd name="T5" fmla="*/ 38 h 204"/>
                <a:gd name="T6" fmla="*/ 169 w 208"/>
                <a:gd name="T7" fmla="*/ 22 h 204"/>
                <a:gd name="T8" fmla="*/ 140 w 208"/>
                <a:gd name="T9" fmla="*/ 33 h 204"/>
                <a:gd name="T10" fmla="*/ 128 w 208"/>
                <a:gd name="T11" fmla="*/ 28 h 204"/>
                <a:gd name="T12" fmla="*/ 115 w 208"/>
                <a:gd name="T13" fmla="*/ 0 h 204"/>
                <a:gd name="T14" fmla="*/ 92 w 208"/>
                <a:gd name="T15" fmla="*/ 0 h 204"/>
                <a:gd name="T16" fmla="*/ 80 w 208"/>
                <a:gd name="T17" fmla="*/ 28 h 204"/>
                <a:gd name="T18" fmla="*/ 67 w 208"/>
                <a:gd name="T19" fmla="*/ 33 h 204"/>
                <a:gd name="T20" fmla="*/ 38 w 208"/>
                <a:gd name="T21" fmla="*/ 22 h 204"/>
                <a:gd name="T22" fmla="*/ 22 w 208"/>
                <a:gd name="T23" fmla="*/ 38 h 204"/>
                <a:gd name="T24" fmla="*/ 34 w 208"/>
                <a:gd name="T25" fmla="*/ 66 h 204"/>
                <a:gd name="T26" fmla="*/ 28 w 208"/>
                <a:gd name="T27" fmla="*/ 79 h 204"/>
                <a:gd name="T28" fmla="*/ 0 w 208"/>
                <a:gd name="T29" fmla="*/ 91 h 204"/>
                <a:gd name="T30" fmla="*/ 0 w 208"/>
                <a:gd name="T31" fmla="*/ 114 h 204"/>
                <a:gd name="T32" fmla="*/ 28 w 208"/>
                <a:gd name="T33" fmla="*/ 125 h 204"/>
                <a:gd name="T34" fmla="*/ 34 w 208"/>
                <a:gd name="T35" fmla="*/ 138 h 204"/>
                <a:gd name="T36" fmla="*/ 22 w 208"/>
                <a:gd name="T37" fmla="*/ 167 h 204"/>
                <a:gd name="T38" fmla="*/ 39 w 208"/>
                <a:gd name="T39" fmla="*/ 182 h 204"/>
                <a:gd name="T40" fmla="*/ 67 w 208"/>
                <a:gd name="T41" fmla="*/ 171 h 204"/>
                <a:gd name="T42" fmla="*/ 80 w 208"/>
                <a:gd name="T43" fmla="*/ 176 h 204"/>
                <a:gd name="T44" fmla="*/ 93 w 208"/>
                <a:gd name="T45" fmla="*/ 204 h 204"/>
                <a:gd name="T46" fmla="*/ 116 w 208"/>
                <a:gd name="T47" fmla="*/ 204 h 204"/>
                <a:gd name="T48" fmla="*/ 128 w 208"/>
                <a:gd name="T49" fmla="*/ 176 h 204"/>
                <a:gd name="T50" fmla="*/ 141 w 208"/>
                <a:gd name="T51" fmla="*/ 171 h 204"/>
                <a:gd name="T52" fmla="*/ 170 w 208"/>
                <a:gd name="T53" fmla="*/ 182 h 204"/>
                <a:gd name="T54" fmla="*/ 186 w 208"/>
                <a:gd name="T55" fmla="*/ 166 h 204"/>
                <a:gd name="T56" fmla="*/ 174 w 208"/>
                <a:gd name="T57" fmla="*/ 138 h 204"/>
                <a:gd name="T58" fmla="*/ 179 w 208"/>
                <a:gd name="T59" fmla="*/ 125 h 204"/>
                <a:gd name="T60" fmla="*/ 208 w 208"/>
                <a:gd name="T61" fmla="*/ 113 h 204"/>
                <a:gd name="T62" fmla="*/ 208 w 208"/>
                <a:gd name="T63" fmla="*/ 90 h 204"/>
                <a:gd name="T64" fmla="*/ 179 w 208"/>
                <a:gd name="T65" fmla="*/ 79 h 204"/>
                <a:gd name="T66" fmla="*/ 137 w 208"/>
                <a:gd name="T67" fmla="*/ 102 h 204"/>
                <a:gd name="T68" fmla="*/ 104 w 208"/>
                <a:gd name="T69" fmla="*/ 135 h 204"/>
                <a:gd name="T70" fmla="*/ 70 w 208"/>
                <a:gd name="T71" fmla="*/ 102 h 204"/>
                <a:gd name="T72" fmla="*/ 104 w 208"/>
                <a:gd name="T73" fmla="*/ 69 h 204"/>
                <a:gd name="T74" fmla="*/ 137 w 208"/>
                <a:gd name="T75" fmla="*/ 10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8" h="204">
                  <a:moveTo>
                    <a:pt x="179" y="79"/>
                  </a:moveTo>
                  <a:cubicBezTo>
                    <a:pt x="174" y="66"/>
                    <a:pt x="174" y="66"/>
                    <a:pt x="174" y="66"/>
                  </a:cubicBezTo>
                  <a:cubicBezTo>
                    <a:pt x="174" y="66"/>
                    <a:pt x="186" y="39"/>
                    <a:pt x="185" y="38"/>
                  </a:cubicBezTo>
                  <a:cubicBezTo>
                    <a:pt x="169" y="22"/>
                    <a:pt x="169" y="22"/>
                    <a:pt x="169" y="22"/>
                  </a:cubicBezTo>
                  <a:cubicBezTo>
                    <a:pt x="168" y="21"/>
                    <a:pt x="140" y="33"/>
                    <a:pt x="140" y="33"/>
                  </a:cubicBezTo>
                  <a:cubicBezTo>
                    <a:pt x="128" y="28"/>
                    <a:pt x="128" y="28"/>
                    <a:pt x="128" y="28"/>
                  </a:cubicBezTo>
                  <a:cubicBezTo>
                    <a:pt x="128" y="28"/>
                    <a:pt x="116" y="0"/>
                    <a:pt x="115" y="0"/>
                  </a:cubicBezTo>
                  <a:cubicBezTo>
                    <a:pt x="92" y="0"/>
                    <a:pt x="92" y="0"/>
                    <a:pt x="92" y="0"/>
                  </a:cubicBezTo>
                  <a:cubicBezTo>
                    <a:pt x="90" y="0"/>
                    <a:pt x="80" y="28"/>
                    <a:pt x="80" y="28"/>
                  </a:cubicBezTo>
                  <a:cubicBezTo>
                    <a:pt x="67" y="33"/>
                    <a:pt x="67" y="33"/>
                    <a:pt x="67" y="33"/>
                  </a:cubicBezTo>
                  <a:cubicBezTo>
                    <a:pt x="67" y="33"/>
                    <a:pt x="39" y="21"/>
                    <a:pt x="38" y="22"/>
                  </a:cubicBezTo>
                  <a:cubicBezTo>
                    <a:pt x="22" y="38"/>
                    <a:pt x="22" y="38"/>
                    <a:pt x="22" y="38"/>
                  </a:cubicBezTo>
                  <a:cubicBezTo>
                    <a:pt x="21" y="39"/>
                    <a:pt x="34" y="66"/>
                    <a:pt x="34" y="66"/>
                  </a:cubicBezTo>
                  <a:cubicBezTo>
                    <a:pt x="28" y="79"/>
                    <a:pt x="28" y="79"/>
                    <a:pt x="28" y="79"/>
                  </a:cubicBezTo>
                  <a:cubicBezTo>
                    <a:pt x="28" y="79"/>
                    <a:pt x="0" y="90"/>
                    <a:pt x="0" y="91"/>
                  </a:cubicBezTo>
                  <a:cubicBezTo>
                    <a:pt x="0" y="114"/>
                    <a:pt x="0" y="114"/>
                    <a:pt x="0" y="114"/>
                  </a:cubicBezTo>
                  <a:cubicBezTo>
                    <a:pt x="0" y="115"/>
                    <a:pt x="28" y="125"/>
                    <a:pt x="28" y="125"/>
                  </a:cubicBezTo>
                  <a:cubicBezTo>
                    <a:pt x="34" y="138"/>
                    <a:pt x="34" y="138"/>
                    <a:pt x="34" y="138"/>
                  </a:cubicBezTo>
                  <a:cubicBezTo>
                    <a:pt x="34" y="138"/>
                    <a:pt x="21" y="166"/>
                    <a:pt x="22" y="167"/>
                  </a:cubicBezTo>
                  <a:cubicBezTo>
                    <a:pt x="39" y="182"/>
                    <a:pt x="39" y="182"/>
                    <a:pt x="39" y="182"/>
                  </a:cubicBezTo>
                  <a:cubicBezTo>
                    <a:pt x="40" y="183"/>
                    <a:pt x="67" y="171"/>
                    <a:pt x="67" y="171"/>
                  </a:cubicBezTo>
                  <a:cubicBezTo>
                    <a:pt x="80" y="176"/>
                    <a:pt x="80" y="176"/>
                    <a:pt x="80" y="176"/>
                  </a:cubicBezTo>
                  <a:cubicBezTo>
                    <a:pt x="80" y="176"/>
                    <a:pt x="91" y="204"/>
                    <a:pt x="93" y="204"/>
                  </a:cubicBezTo>
                  <a:cubicBezTo>
                    <a:pt x="116" y="204"/>
                    <a:pt x="116" y="204"/>
                    <a:pt x="116" y="204"/>
                  </a:cubicBezTo>
                  <a:cubicBezTo>
                    <a:pt x="117" y="204"/>
                    <a:pt x="128" y="176"/>
                    <a:pt x="128" y="176"/>
                  </a:cubicBezTo>
                  <a:cubicBezTo>
                    <a:pt x="141" y="171"/>
                    <a:pt x="141" y="171"/>
                    <a:pt x="141" y="171"/>
                  </a:cubicBezTo>
                  <a:cubicBezTo>
                    <a:pt x="141" y="171"/>
                    <a:pt x="169" y="183"/>
                    <a:pt x="170" y="182"/>
                  </a:cubicBezTo>
                  <a:cubicBezTo>
                    <a:pt x="186" y="166"/>
                    <a:pt x="186" y="166"/>
                    <a:pt x="186" y="166"/>
                  </a:cubicBezTo>
                  <a:cubicBezTo>
                    <a:pt x="187" y="165"/>
                    <a:pt x="174" y="138"/>
                    <a:pt x="174" y="138"/>
                  </a:cubicBezTo>
                  <a:cubicBezTo>
                    <a:pt x="179" y="125"/>
                    <a:pt x="179" y="125"/>
                    <a:pt x="179" y="125"/>
                  </a:cubicBezTo>
                  <a:cubicBezTo>
                    <a:pt x="179" y="125"/>
                    <a:pt x="208" y="114"/>
                    <a:pt x="208" y="113"/>
                  </a:cubicBezTo>
                  <a:cubicBezTo>
                    <a:pt x="208" y="90"/>
                    <a:pt x="208" y="90"/>
                    <a:pt x="208" y="90"/>
                  </a:cubicBezTo>
                  <a:cubicBezTo>
                    <a:pt x="208" y="89"/>
                    <a:pt x="179" y="79"/>
                    <a:pt x="179" y="79"/>
                  </a:cubicBezTo>
                  <a:moveTo>
                    <a:pt x="137" y="102"/>
                  </a:moveTo>
                  <a:cubicBezTo>
                    <a:pt x="137" y="120"/>
                    <a:pt x="122" y="135"/>
                    <a:pt x="104" y="135"/>
                  </a:cubicBezTo>
                  <a:cubicBezTo>
                    <a:pt x="85" y="135"/>
                    <a:pt x="70" y="120"/>
                    <a:pt x="70" y="102"/>
                  </a:cubicBezTo>
                  <a:cubicBezTo>
                    <a:pt x="70" y="84"/>
                    <a:pt x="85" y="69"/>
                    <a:pt x="104" y="69"/>
                  </a:cubicBezTo>
                  <a:cubicBezTo>
                    <a:pt x="122" y="69"/>
                    <a:pt x="137" y="84"/>
                    <a:pt x="137" y="102"/>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75" name="Freeform 9">
              <a:extLst>
                <a:ext uri="{FF2B5EF4-FFF2-40B4-BE49-F238E27FC236}">
                  <a16:creationId xmlns:a16="http://schemas.microsoft.com/office/drawing/2014/main" id="{01082000-F2D4-F89E-DDE4-944D3033A5E5}"/>
                </a:ext>
              </a:extLst>
            </p:cNvPr>
            <p:cNvSpPr>
              <a:spLocks/>
            </p:cNvSpPr>
            <p:nvPr/>
          </p:nvSpPr>
          <p:spPr bwMode="auto">
            <a:xfrm>
              <a:off x="8008515" y="2334093"/>
              <a:ext cx="174435" cy="165800"/>
            </a:xfrm>
            <a:custGeom>
              <a:avLst/>
              <a:gdLst>
                <a:gd name="T0" fmla="*/ 207 w 211"/>
                <a:gd name="T1" fmla="*/ 85 h 200"/>
                <a:gd name="T2" fmla="*/ 153 w 211"/>
                <a:gd name="T3" fmla="*/ 124 h 200"/>
                <a:gd name="T4" fmla="*/ 173 w 211"/>
                <a:gd name="T5" fmla="*/ 189 h 200"/>
                <a:gd name="T6" fmla="*/ 170 w 211"/>
                <a:gd name="T7" fmla="*/ 198 h 200"/>
                <a:gd name="T8" fmla="*/ 165 w 211"/>
                <a:gd name="T9" fmla="*/ 200 h 200"/>
                <a:gd name="T10" fmla="*/ 160 w 211"/>
                <a:gd name="T11" fmla="*/ 198 h 200"/>
                <a:gd name="T12" fmla="*/ 106 w 211"/>
                <a:gd name="T13" fmla="*/ 158 h 200"/>
                <a:gd name="T14" fmla="*/ 51 w 211"/>
                <a:gd name="T15" fmla="*/ 198 h 200"/>
                <a:gd name="T16" fmla="*/ 41 w 211"/>
                <a:gd name="T17" fmla="*/ 198 h 200"/>
                <a:gd name="T18" fmla="*/ 38 w 211"/>
                <a:gd name="T19" fmla="*/ 189 h 200"/>
                <a:gd name="T20" fmla="*/ 59 w 211"/>
                <a:gd name="T21" fmla="*/ 124 h 200"/>
                <a:gd name="T22" fmla="*/ 5 w 211"/>
                <a:gd name="T23" fmla="*/ 85 h 200"/>
                <a:gd name="T24" fmla="*/ 2 w 211"/>
                <a:gd name="T25" fmla="*/ 75 h 200"/>
                <a:gd name="T26" fmla="*/ 10 w 211"/>
                <a:gd name="T27" fmla="*/ 70 h 200"/>
                <a:gd name="T28" fmla="*/ 77 w 211"/>
                <a:gd name="T29" fmla="*/ 70 h 200"/>
                <a:gd name="T30" fmla="*/ 98 w 211"/>
                <a:gd name="T31" fmla="*/ 5 h 200"/>
                <a:gd name="T32" fmla="*/ 106 w 211"/>
                <a:gd name="T33" fmla="*/ 0 h 200"/>
                <a:gd name="T34" fmla="*/ 114 w 211"/>
                <a:gd name="T35" fmla="*/ 5 h 200"/>
                <a:gd name="T36" fmla="*/ 135 w 211"/>
                <a:gd name="T37" fmla="*/ 70 h 200"/>
                <a:gd name="T38" fmla="*/ 202 w 211"/>
                <a:gd name="T39" fmla="*/ 70 h 200"/>
                <a:gd name="T40" fmla="*/ 210 w 211"/>
                <a:gd name="T41" fmla="*/ 75 h 200"/>
                <a:gd name="T42" fmla="*/ 207 w 211"/>
                <a:gd name="T43" fmla="*/ 8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1" h="200">
                  <a:moveTo>
                    <a:pt x="207" y="85"/>
                  </a:moveTo>
                  <a:cubicBezTo>
                    <a:pt x="153" y="124"/>
                    <a:pt x="153" y="124"/>
                    <a:pt x="153" y="124"/>
                  </a:cubicBezTo>
                  <a:cubicBezTo>
                    <a:pt x="173" y="189"/>
                    <a:pt x="173" y="189"/>
                    <a:pt x="173" y="189"/>
                  </a:cubicBezTo>
                  <a:cubicBezTo>
                    <a:pt x="175" y="192"/>
                    <a:pt x="173" y="196"/>
                    <a:pt x="170" y="198"/>
                  </a:cubicBezTo>
                  <a:cubicBezTo>
                    <a:pt x="169" y="199"/>
                    <a:pt x="167" y="200"/>
                    <a:pt x="165" y="200"/>
                  </a:cubicBezTo>
                  <a:cubicBezTo>
                    <a:pt x="164" y="200"/>
                    <a:pt x="162" y="199"/>
                    <a:pt x="160" y="198"/>
                  </a:cubicBezTo>
                  <a:cubicBezTo>
                    <a:pt x="106" y="158"/>
                    <a:pt x="106" y="158"/>
                    <a:pt x="106" y="158"/>
                  </a:cubicBezTo>
                  <a:cubicBezTo>
                    <a:pt x="51" y="198"/>
                    <a:pt x="51" y="198"/>
                    <a:pt x="51" y="198"/>
                  </a:cubicBezTo>
                  <a:cubicBezTo>
                    <a:pt x="48" y="200"/>
                    <a:pt x="44" y="200"/>
                    <a:pt x="41" y="198"/>
                  </a:cubicBezTo>
                  <a:cubicBezTo>
                    <a:pt x="38" y="196"/>
                    <a:pt x="37" y="192"/>
                    <a:pt x="38" y="189"/>
                  </a:cubicBezTo>
                  <a:cubicBezTo>
                    <a:pt x="59" y="124"/>
                    <a:pt x="59" y="124"/>
                    <a:pt x="59" y="124"/>
                  </a:cubicBezTo>
                  <a:cubicBezTo>
                    <a:pt x="5" y="85"/>
                    <a:pt x="5" y="85"/>
                    <a:pt x="5" y="85"/>
                  </a:cubicBezTo>
                  <a:cubicBezTo>
                    <a:pt x="2" y="83"/>
                    <a:pt x="0" y="79"/>
                    <a:pt x="2" y="75"/>
                  </a:cubicBezTo>
                  <a:cubicBezTo>
                    <a:pt x="3" y="72"/>
                    <a:pt x="6" y="70"/>
                    <a:pt x="10" y="70"/>
                  </a:cubicBezTo>
                  <a:cubicBezTo>
                    <a:pt x="77" y="70"/>
                    <a:pt x="77" y="70"/>
                    <a:pt x="77" y="70"/>
                  </a:cubicBezTo>
                  <a:cubicBezTo>
                    <a:pt x="98" y="5"/>
                    <a:pt x="98" y="5"/>
                    <a:pt x="98" y="5"/>
                  </a:cubicBezTo>
                  <a:cubicBezTo>
                    <a:pt x="99" y="2"/>
                    <a:pt x="102" y="0"/>
                    <a:pt x="106" y="0"/>
                  </a:cubicBezTo>
                  <a:cubicBezTo>
                    <a:pt x="110" y="0"/>
                    <a:pt x="113" y="2"/>
                    <a:pt x="114" y="5"/>
                  </a:cubicBezTo>
                  <a:cubicBezTo>
                    <a:pt x="135" y="70"/>
                    <a:pt x="135" y="70"/>
                    <a:pt x="135" y="70"/>
                  </a:cubicBezTo>
                  <a:cubicBezTo>
                    <a:pt x="202" y="70"/>
                    <a:pt x="202" y="70"/>
                    <a:pt x="202" y="70"/>
                  </a:cubicBezTo>
                  <a:cubicBezTo>
                    <a:pt x="206" y="70"/>
                    <a:pt x="209" y="72"/>
                    <a:pt x="210" y="75"/>
                  </a:cubicBezTo>
                  <a:cubicBezTo>
                    <a:pt x="211" y="79"/>
                    <a:pt x="210" y="83"/>
                    <a:pt x="207" y="85"/>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76" name="Freeform 13">
              <a:extLst>
                <a:ext uri="{FF2B5EF4-FFF2-40B4-BE49-F238E27FC236}">
                  <a16:creationId xmlns:a16="http://schemas.microsoft.com/office/drawing/2014/main" id="{E8705FD4-D8F3-FC4A-F904-738C6C1AAFB2}"/>
                </a:ext>
              </a:extLst>
            </p:cNvPr>
            <p:cNvSpPr>
              <a:spLocks noEditPoints="1"/>
            </p:cNvSpPr>
            <p:nvPr/>
          </p:nvSpPr>
          <p:spPr bwMode="auto">
            <a:xfrm>
              <a:off x="6274025" y="3710248"/>
              <a:ext cx="127670" cy="111373"/>
            </a:xfrm>
            <a:custGeom>
              <a:avLst/>
              <a:gdLst>
                <a:gd name="T0" fmla="*/ 36 w 216"/>
                <a:gd name="T1" fmla="*/ 19 h 188"/>
                <a:gd name="T2" fmla="*/ 10 w 216"/>
                <a:gd name="T3" fmla="*/ 3 h 188"/>
                <a:gd name="T4" fmla="*/ 0 w 216"/>
                <a:gd name="T5" fmla="*/ 8 h 188"/>
                <a:gd name="T6" fmla="*/ 0 w 216"/>
                <a:gd name="T7" fmla="*/ 42 h 188"/>
                <a:gd name="T8" fmla="*/ 10 w 216"/>
                <a:gd name="T9" fmla="*/ 48 h 188"/>
                <a:gd name="T10" fmla="*/ 36 w 216"/>
                <a:gd name="T11" fmla="*/ 31 h 188"/>
                <a:gd name="T12" fmla="*/ 36 w 216"/>
                <a:gd name="T13" fmla="*/ 19 h 188"/>
                <a:gd name="T14" fmla="*/ 205 w 216"/>
                <a:gd name="T15" fmla="*/ 8 h 188"/>
                <a:gd name="T16" fmla="*/ 68 w 216"/>
                <a:gd name="T17" fmla="*/ 8 h 188"/>
                <a:gd name="T18" fmla="*/ 57 w 216"/>
                <a:gd name="T19" fmla="*/ 20 h 188"/>
                <a:gd name="T20" fmla="*/ 57 w 216"/>
                <a:gd name="T21" fmla="*/ 31 h 188"/>
                <a:gd name="T22" fmla="*/ 68 w 216"/>
                <a:gd name="T23" fmla="*/ 42 h 188"/>
                <a:gd name="T24" fmla="*/ 205 w 216"/>
                <a:gd name="T25" fmla="*/ 42 h 188"/>
                <a:gd name="T26" fmla="*/ 216 w 216"/>
                <a:gd name="T27" fmla="*/ 31 h 188"/>
                <a:gd name="T28" fmla="*/ 216 w 216"/>
                <a:gd name="T29" fmla="*/ 20 h 188"/>
                <a:gd name="T30" fmla="*/ 205 w 216"/>
                <a:gd name="T31" fmla="*/ 8 h 188"/>
                <a:gd name="T32" fmla="*/ 10 w 216"/>
                <a:gd name="T33" fmla="*/ 116 h 188"/>
                <a:gd name="T34" fmla="*/ 36 w 216"/>
                <a:gd name="T35" fmla="*/ 100 h 188"/>
                <a:gd name="T36" fmla="*/ 35 w 216"/>
                <a:gd name="T37" fmla="*/ 89 h 188"/>
                <a:gd name="T38" fmla="*/ 10 w 216"/>
                <a:gd name="T39" fmla="*/ 76 h 188"/>
                <a:gd name="T40" fmla="*/ 0 w 216"/>
                <a:gd name="T41" fmla="*/ 82 h 188"/>
                <a:gd name="T42" fmla="*/ 0 w 216"/>
                <a:gd name="T43" fmla="*/ 111 h 188"/>
                <a:gd name="T44" fmla="*/ 10 w 216"/>
                <a:gd name="T45" fmla="*/ 116 h 188"/>
                <a:gd name="T46" fmla="*/ 205 w 216"/>
                <a:gd name="T47" fmla="*/ 77 h 188"/>
                <a:gd name="T48" fmla="*/ 68 w 216"/>
                <a:gd name="T49" fmla="*/ 77 h 188"/>
                <a:gd name="T50" fmla="*/ 57 w 216"/>
                <a:gd name="T51" fmla="*/ 88 h 188"/>
                <a:gd name="T52" fmla="*/ 57 w 216"/>
                <a:gd name="T53" fmla="*/ 99 h 188"/>
                <a:gd name="T54" fmla="*/ 68 w 216"/>
                <a:gd name="T55" fmla="*/ 111 h 188"/>
                <a:gd name="T56" fmla="*/ 205 w 216"/>
                <a:gd name="T57" fmla="*/ 111 h 188"/>
                <a:gd name="T58" fmla="*/ 216 w 216"/>
                <a:gd name="T59" fmla="*/ 99 h 188"/>
                <a:gd name="T60" fmla="*/ 216 w 216"/>
                <a:gd name="T61" fmla="*/ 88 h 188"/>
                <a:gd name="T62" fmla="*/ 205 w 216"/>
                <a:gd name="T63" fmla="*/ 77 h 188"/>
                <a:gd name="T64" fmla="*/ 36 w 216"/>
                <a:gd name="T65" fmla="*/ 156 h 188"/>
                <a:gd name="T66" fmla="*/ 10 w 216"/>
                <a:gd name="T67" fmla="*/ 139 h 188"/>
                <a:gd name="T68" fmla="*/ 0 w 216"/>
                <a:gd name="T69" fmla="*/ 145 h 188"/>
                <a:gd name="T70" fmla="*/ 0 w 216"/>
                <a:gd name="T71" fmla="*/ 179 h 188"/>
                <a:gd name="T72" fmla="*/ 10 w 216"/>
                <a:gd name="T73" fmla="*/ 184 h 188"/>
                <a:gd name="T74" fmla="*/ 36 w 216"/>
                <a:gd name="T75" fmla="*/ 168 h 188"/>
                <a:gd name="T76" fmla="*/ 36 w 216"/>
                <a:gd name="T77" fmla="*/ 156 h 188"/>
                <a:gd name="T78" fmla="*/ 205 w 216"/>
                <a:gd name="T79" fmla="*/ 145 h 188"/>
                <a:gd name="T80" fmla="*/ 68 w 216"/>
                <a:gd name="T81" fmla="*/ 145 h 188"/>
                <a:gd name="T82" fmla="*/ 57 w 216"/>
                <a:gd name="T83" fmla="*/ 156 h 188"/>
                <a:gd name="T84" fmla="*/ 57 w 216"/>
                <a:gd name="T85" fmla="*/ 167 h 188"/>
                <a:gd name="T86" fmla="*/ 68 w 216"/>
                <a:gd name="T87" fmla="*/ 179 h 188"/>
                <a:gd name="T88" fmla="*/ 205 w 216"/>
                <a:gd name="T89" fmla="*/ 179 h 188"/>
                <a:gd name="T90" fmla="*/ 216 w 216"/>
                <a:gd name="T91" fmla="*/ 167 h 188"/>
                <a:gd name="T92" fmla="*/ 216 w 216"/>
                <a:gd name="T93" fmla="*/ 156 h 188"/>
                <a:gd name="T94" fmla="*/ 205 w 216"/>
                <a:gd name="T95" fmla="*/ 14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6" h="188">
                  <a:moveTo>
                    <a:pt x="36" y="19"/>
                  </a:moveTo>
                  <a:cubicBezTo>
                    <a:pt x="10" y="3"/>
                    <a:pt x="10" y="3"/>
                    <a:pt x="10" y="3"/>
                  </a:cubicBezTo>
                  <a:cubicBezTo>
                    <a:pt x="4" y="0"/>
                    <a:pt x="0" y="2"/>
                    <a:pt x="0" y="8"/>
                  </a:cubicBezTo>
                  <a:cubicBezTo>
                    <a:pt x="0" y="42"/>
                    <a:pt x="0" y="42"/>
                    <a:pt x="0" y="42"/>
                  </a:cubicBezTo>
                  <a:cubicBezTo>
                    <a:pt x="0" y="49"/>
                    <a:pt x="4" y="51"/>
                    <a:pt x="10" y="48"/>
                  </a:cubicBezTo>
                  <a:cubicBezTo>
                    <a:pt x="36" y="31"/>
                    <a:pt x="36" y="31"/>
                    <a:pt x="36" y="31"/>
                  </a:cubicBezTo>
                  <a:cubicBezTo>
                    <a:pt x="41" y="28"/>
                    <a:pt x="41" y="23"/>
                    <a:pt x="36" y="19"/>
                  </a:cubicBezTo>
                  <a:moveTo>
                    <a:pt x="205" y="8"/>
                  </a:moveTo>
                  <a:cubicBezTo>
                    <a:pt x="68" y="8"/>
                    <a:pt x="68" y="8"/>
                    <a:pt x="68" y="8"/>
                  </a:cubicBezTo>
                  <a:cubicBezTo>
                    <a:pt x="62" y="8"/>
                    <a:pt x="57" y="13"/>
                    <a:pt x="57" y="20"/>
                  </a:cubicBezTo>
                  <a:cubicBezTo>
                    <a:pt x="57" y="31"/>
                    <a:pt x="57" y="31"/>
                    <a:pt x="57" y="31"/>
                  </a:cubicBezTo>
                  <a:cubicBezTo>
                    <a:pt x="57" y="37"/>
                    <a:pt x="62" y="42"/>
                    <a:pt x="68" y="42"/>
                  </a:cubicBezTo>
                  <a:cubicBezTo>
                    <a:pt x="205" y="42"/>
                    <a:pt x="205" y="42"/>
                    <a:pt x="205" y="42"/>
                  </a:cubicBezTo>
                  <a:cubicBezTo>
                    <a:pt x="211" y="42"/>
                    <a:pt x="216" y="37"/>
                    <a:pt x="216" y="31"/>
                  </a:cubicBezTo>
                  <a:cubicBezTo>
                    <a:pt x="216" y="20"/>
                    <a:pt x="216" y="20"/>
                    <a:pt x="216" y="20"/>
                  </a:cubicBezTo>
                  <a:cubicBezTo>
                    <a:pt x="216" y="13"/>
                    <a:pt x="211" y="8"/>
                    <a:pt x="205" y="8"/>
                  </a:cubicBezTo>
                  <a:moveTo>
                    <a:pt x="10" y="116"/>
                  </a:moveTo>
                  <a:cubicBezTo>
                    <a:pt x="36" y="100"/>
                    <a:pt x="36" y="100"/>
                    <a:pt x="36" y="100"/>
                  </a:cubicBezTo>
                  <a:cubicBezTo>
                    <a:pt x="41" y="96"/>
                    <a:pt x="41" y="91"/>
                    <a:pt x="35" y="89"/>
                  </a:cubicBezTo>
                  <a:cubicBezTo>
                    <a:pt x="10" y="76"/>
                    <a:pt x="10" y="76"/>
                    <a:pt x="10" y="76"/>
                  </a:cubicBezTo>
                  <a:cubicBezTo>
                    <a:pt x="5" y="73"/>
                    <a:pt x="0" y="76"/>
                    <a:pt x="0" y="82"/>
                  </a:cubicBezTo>
                  <a:cubicBezTo>
                    <a:pt x="0" y="111"/>
                    <a:pt x="0" y="111"/>
                    <a:pt x="0" y="111"/>
                  </a:cubicBezTo>
                  <a:cubicBezTo>
                    <a:pt x="0" y="117"/>
                    <a:pt x="4" y="119"/>
                    <a:pt x="10" y="116"/>
                  </a:cubicBezTo>
                  <a:moveTo>
                    <a:pt x="205" y="77"/>
                  </a:moveTo>
                  <a:cubicBezTo>
                    <a:pt x="68" y="77"/>
                    <a:pt x="68" y="77"/>
                    <a:pt x="68" y="77"/>
                  </a:cubicBezTo>
                  <a:cubicBezTo>
                    <a:pt x="62" y="77"/>
                    <a:pt x="57" y="82"/>
                    <a:pt x="57" y="88"/>
                  </a:cubicBezTo>
                  <a:cubicBezTo>
                    <a:pt x="57" y="99"/>
                    <a:pt x="57" y="99"/>
                    <a:pt x="57" y="99"/>
                  </a:cubicBezTo>
                  <a:cubicBezTo>
                    <a:pt x="57" y="106"/>
                    <a:pt x="62" y="111"/>
                    <a:pt x="68" y="111"/>
                  </a:cubicBezTo>
                  <a:cubicBezTo>
                    <a:pt x="205" y="111"/>
                    <a:pt x="205" y="111"/>
                    <a:pt x="205" y="111"/>
                  </a:cubicBezTo>
                  <a:cubicBezTo>
                    <a:pt x="211" y="111"/>
                    <a:pt x="216" y="106"/>
                    <a:pt x="216" y="99"/>
                  </a:cubicBezTo>
                  <a:cubicBezTo>
                    <a:pt x="216" y="88"/>
                    <a:pt x="216" y="88"/>
                    <a:pt x="216" y="88"/>
                  </a:cubicBezTo>
                  <a:cubicBezTo>
                    <a:pt x="216" y="82"/>
                    <a:pt x="211" y="77"/>
                    <a:pt x="205" y="77"/>
                  </a:cubicBezTo>
                  <a:moveTo>
                    <a:pt x="36" y="156"/>
                  </a:moveTo>
                  <a:cubicBezTo>
                    <a:pt x="10" y="139"/>
                    <a:pt x="10" y="139"/>
                    <a:pt x="10" y="139"/>
                  </a:cubicBezTo>
                  <a:cubicBezTo>
                    <a:pt x="4" y="136"/>
                    <a:pt x="0" y="138"/>
                    <a:pt x="0" y="145"/>
                  </a:cubicBezTo>
                  <a:cubicBezTo>
                    <a:pt x="0" y="179"/>
                    <a:pt x="0" y="179"/>
                    <a:pt x="0" y="179"/>
                  </a:cubicBezTo>
                  <a:cubicBezTo>
                    <a:pt x="0" y="185"/>
                    <a:pt x="4" y="188"/>
                    <a:pt x="10" y="184"/>
                  </a:cubicBezTo>
                  <a:cubicBezTo>
                    <a:pt x="36" y="168"/>
                    <a:pt x="36" y="168"/>
                    <a:pt x="36" y="168"/>
                  </a:cubicBezTo>
                  <a:cubicBezTo>
                    <a:pt x="41" y="165"/>
                    <a:pt x="41" y="159"/>
                    <a:pt x="36" y="156"/>
                  </a:cubicBezTo>
                  <a:moveTo>
                    <a:pt x="205" y="145"/>
                  </a:moveTo>
                  <a:cubicBezTo>
                    <a:pt x="68" y="145"/>
                    <a:pt x="68" y="145"/>
                    <a:pt x="68" y="145"/>
                  </a:cubicBezTo>
                  <a:cubicBezTo>
                    <a:pt x="62" y="145"/>
                    <a:pt x="57" y="150"/>
                    <a:pt x="57" y="156"/>
                  </a:cubicBezTo>
                  <a:cubicBezTo>
                    <a:pt x="57" y="167"/>
                    <a:pt x="57" y="167"/>
                    <a:pt x="57" y="167"/>
                  </a:cubicBezTo>
                  <a:cubicBezTo>
                    <a:pt x="57" y="174"/>
                    <a:pt x="62" y="179"/>
                    <a:pt x="68" y="179"/>
                  </a:cubicBezTo>
                  <a:cubicBezTo>
                    <a:pt x="205" y="179"/>
                    <a:pt x="205" y="179"/>
                    <a:pt x="205" y="179"/>
                  </a:cubicBezTo>
                  <a:cubicBezTo>
                    <a:pt x="211" y="179"/>
                    <a:pt x="216" y="174"/>
                    <a:pt x="216" y="167"/>
                  </a:cubicBezTo>
                  <a:cubicBezTo>
                    <a:pt x="216" y="156"/>
                    <a:pt x="216" y="156"/>
                    <a:pt x="216" y="156"/>
                  </a:cubicBezTo>
                  <a:cubicBezTo>
                    <a:pt x="216" y="150"/>
                    <a:pt x="211" y="145"/>
                    <a:pt x="205" y="145"/>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77" name="Freeform 26">
              <a:extLst>
                <a:ext uri="{FF2B5EF4-FFF2-40B4-BE49-F238E27FC236}">
                  <a16:creationId xmlns:a16="http://schemas.microsoft.com/office/drawing/2014/main" id="{8B440B6D-9597-7989-683C-987C4CCB420F}"/>
                </a:ext>
              </a:extLst>
            </p:cNvPr>
            <p:cNvSpPr>
              <a:spLocks/>
            </p:cNvSpPr>
            <p:nvPr/>
          </p:nvSpPr>
          <p:spPr bwMode="auto">
            <a:xfrm>
              <a:off x="7789284" y="4661884"/>
              <a:ext cx="127537" cy="142987"/>
            </a:xfrm>
            <a:custGeom>
              <a:avLst/>
              <a:gdLst>
                <a:gd name="T0" fmla="*/ 157 w 175"/>
                <a:gd name="T1" fmla="*/ 3 h 197"/>
                <a:gd name="T2" fmla="*/ 74 w 175"/>
                <a:gd name="T3" fmla="*/ 28 h 197"/>
                <a:gd name="T4" fmla="*/ 55 w 175"/>
                <a:gd name="T5" fmla="*/ 52 h 197"/>
                <a:gd name="T6" fmla="*/ 55 w 175"/>
                <a:gd name="T7" fmla="*/ 138 h 197"/>
                <a:gd name="T8" fmla="*/ 55 w 175"/>
                <a:gd name="T9" fmla="*/ 140 h 197"/>
                <a:gd name="T10" fmla="*/ 36 w 175"/>
                <a:gd name="T11" fmla="*/ 137 h 197"/>
                <a:gd name="T12" fmla="*/ 0 w 175"/>
                <a:gd name="T13" fmla="*/ 171 h 197"/>
                <a:gd name="T14" fmla="*/ 36 w 175"/>
                <a:gd name="T15" fmla="*/ 194 h 197"/>
                <a:gd name="T16" fmla="*/ 70 w 175"/>
                <a:gd name="T17" fmla="*/ 161 h 197"/>
                <a:gd name="T18" fmla="*/ 70 w 175"/>
                <a:gd name="T19" fmla="*/ 86 h 197"/>
                <a:gd name="T20" fmla="*/ 79 w 175"/>
                <a:gd name="T21" fmla="*/ 76 h 197"/>
                <a:gd name="T22" fmla="*/ 152 w 175"/>
                <a:gd name="T23" fmla="*/ 52 h 197"/>
                <a:gd name="T24" fmla="*/ 160 w 175"/>
                <a:gd name="T25" fmla="*/ 57 h 197"/>
                <a:gd name="T26" fmla="*/ 160 w 175"/>
                <a:gd name="T27" fmla="*/ 117 h 197"/>
                <a:gd name="T28" fmla="*/ 160 w 175"/>
                <a:gd name="T29" fmla="*/ 118 h 197"/>
                <a:gd name="T30" fmla="*/ 139 w 175"/>
                <a:gd name="T31" fmla="*/ 115 h 197"/>
                <a:gd name="T32" fmla="*/ 104 w 175"/>
                <a:gd name="T33" fmla="*/ 148 h 197"/>
                <a:gd name="T34" fmla="*/ 139 w 175"/>
                <a:gd name="T35" fmla="*/ 172 h 197"/>
                <a:gd name="T36" fmla="*/ 175 w 175"/>
                <a:gd name="T37" fmla="*/ 138 h 197"/>
                <a:gd name="T38" fmla="*/ 175 w 175"/>
                <a:gd name="T39" fmla="*/ 16 h 197"/>
                <a:gd name="T40" fmla="*/ 157 w 175"/>
                <a:gd name="T41" fmla="*/ 3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5" h="197">
                  <a:moveTo>
                    <a:pt x="157" y="3"/>
                  </a:moveTo>
                  <a:cubicBezTo>
                    <a:pt x="74" y="28"/>
                    <a:pt x="74" y="28"/>
                    <a:pt x="74" y="28"/>
                  </a:cubicBezTo>
                  <a:cubicBezTo>
                    <a:pt x="63" y="31"/>
                    <a:pt x="55" y="42"/>
                    <a:pt x="55" y="52"/>
                  </a:cubicBezTo>
                  <a:cubicBezTo>
                    <a:pt x="55" y="138"/>
                    <a:pt x="55" y="138"/>
                    <a:pt x="55" y="138"/>
                  </a:cubicBezTo>
                  <a:cubicBezTo>
                    <a:pt x="55" y="140"/>
                    <a:pt x="55" y="140"/>
                    <a:pt x="55" y="140"/>
                  </a:cubicBezTo>
                  <a:cubicBezTo>
                    <a:pt x="55" y="140"/>
                    <a:pt x="49" y="135"/>
                    <a:pt x="36" y="137"/>
                  </a:cubicBezTo>
                  <a:cubicBezTo>
                    <a:pt x="16" y="140"/>
                    <a:pt x="0" y="155"/>
                    <a:pt x="0" y="171"/>
                  </a:cubicBezTo>
                  <a:cubicBezTo>
                    <a:pt x="0" y="187"/>
                    <a:pt x="16" y="197"/>
                    <a:pt x="36" y="194"/>
                  </a:cubicBezTo>
                  <a:cubicBezTo>
                    <a:pt x="56" y="191"/>
                    <a:pt x="70" y="177"/>
                    <a:pt x="70" y="161"/>
                  </a:cubicBezTo>
                  <a:cubicBezTo>
                    <a:pt x="70" y="86"/>
                    <a:pt x="70" y="86"/>
                    <a:pt x="70" y="86"/>
                  </a:cubicBezTo>
                  <a:cubicBezTo>
                    <a:pt x="70" y="79"/>
                    <a:pt x="79" y="76"/>
                    <a:pt x="79" y="76"/>
                  </a:cubicBezTo>
                  <a:cubicBezTo>
                    <a:pt x="152" y="52"/>
                    <a:pt x="152" y="52"/>
                    <a:pt x="152" y="52"/>
                  </a:cubicBezTo>
                  <a:cubicBezTo>
                    <a:pt x="152" y="52"/>
                    <a:pt x="160" y="50"/>
                    <a:pt x="160" y="57"/>
                  </a:cubicBezTo>
                  <a:cubicBezTo>
                    <a:pt x="160" y="117"/>
                    <a:pt x="160" y="117"/>
                    <a:pt x="160" y="117"/>
                  </a:cubicBezTo>
                  <a:cubicBezTo>
                    <a:pt x="160" y="118"/>
                    <a:pt x="160" y="118"/>
                    <a:pt x="160" y="118"/>
                  </a:cubicBezTo>
                  <a:cubicBezTo>
                    <a:pt x="160" y="118"/>
                    <a:pt x="153" y="113"/>
                    <a:pt x="139" y="115"/>
                  </a:cubicBezTo>
                  <a:cubicBezTo>
                    <a:pt x="120" y="117"/>
                    <a:pt x="104" y="132"/>
                    <a:pt x="104" y="148"/>
                  </a:cubicBezTo>
                  <a:cubicBezTo>
                    <a:pt x="104" y="164"/>
                    <a:pt x="120" y="174"/>
                    <a:pt x="139" y="172"/>
                  </a:cubicBezTo>
                  <a:cubicBezTo>
                    <a:pt x="159" y="169"/>
                    <a:pt x="175" y="154"/>
                    <a:pt x="175" y="138"/>
                  </a:cubicBezTo>
                  <a:cubicBezTo>
                    <a:pt x="175" y="16"/>
                    <a:pt x="175" y="16"/>
                    <a:pt x="175" y="16"/>
                  </a:cubicBezTo>
                  <a:cubicBezTo>
                    <a:pt x="175" y="6"/>
                    <a:pt x="167" y="0"/>
                    <a:pt x="157" y="3"/>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78" name="Freeform 30">
              <a:extLst>
                <a:ext uri="{FF2B5EF4-FFF2-40B4-BE49-F238E27FC236}">
                  <a16:creationId xmlns:a16="http://schemas.microsoft.com/office/drawing/2014/main" id="{57A43026-38C8-795D-B3FC-2C618644CD07}"/>
                </a:ext>
              </a:extLst>
            </p:cNvPr>
            <p:cNvSpPr>
              <a:spLocks/>
            </p:cNvSpPr>
            <p:nvPr/>
          </p:nvSpPr>
          <p:spPr bwMode="auto">
            <a:xfrm>
              <a:off x="6826165" y="4505313"/>
              <a:ext cx="268298" cy="202527"/>
            </a:xfrm>
            <a:custGeom>
              <a:avLst/>
              <a:gdLst>
                <a:gd name="T0" fmla="*/ 192 w 389"/>
                <a:gd name="T1" fmla="*/ 293 h 293"/>
                <a:gd name="T2" fmla="*/ 183 w 389"/>
                <a:gd name="T3" fmla="*/ 285 h 293"/>
                <a:gd name="T4" fmla="*/ 235 w 389"/>
                <a:gd name="T5" fmla="*/ 233 h 293"/>
                <a:gd name="T6" fmla="*/ 145 w 389"/>
                <a:gd name="T7" fmla="*/ 238 h 293"/>
                <a:gd name="T8" fmla="*/ 141 w 389"/>
                <a:gd name="T9" fmla="*/ 241 h 293"/>
                <a:gd name="T10" fmla="*/ 88 w 389"/>
                <a:gd name="T11" fmla="*/ 188 h 293"/>
                <a:gd name="T12" fmla="*/ 93 w 389"/>
                <a:gd name="T13" fmla="*/ 184 h 293"/>
                <a:gd name="T14" fmla="*/ 288 w 389"/>
                <a:gd name="T15" fmla="*/ 180 h 293"/>
                <a:gd name="T16" fmla="*/ 325 w 389"/>
                <a:gd name="T17" fmla="*/ 144 h 293"/>
                <a:gd name="T18" fmla="*/ 254 w 389"/>
                <a:gd name="T19" fmla="*/ 102 h 293"/>
                <a:gd name="T20" fmla="*/ 56 w 389"/>
                <a:gd name="T21" fmla="*/ 149 h 293"/>
                <a:gd name="T22" fmla="*/ 52 w 389"/>
                <a:gd name="T23" fmla="*/ 152 h 293"/>
                <a:gd name="T24" fmla="*/ 0 w 389"/>
                <a:gd name="T25" fmla="*/ 101 h 293"/>
                <a:gd name="T26" fmla="*/ 4 w 389"/>
                <a:gd name="T27" fmla="*/ 96 h 293"/>
                <a:gd name="T28" fmla="*/ 120 w 389"/>
                <a:gd name="T29" fmla="*/ 26 h 293"/>
                <a:gd name="T30" fmla="*/ 389 w 389"/>
                <a:gd name="T31" fmla="*/ 96 h 293"/>
                <a:gd name="T32" fmla="*/ 381 w 389"/>
                <a:gd name="T33" fmla="*/ 105 h 293"/>
                <a:gd name="T34" fmla="*/ 124 w 389"/>
                <a:gd name="T35" fmla="*/ 38 h 293"/>
                <a:gd name="T36" fmla="*/ 17 w 389"/>
                <a:gd name="T37" fmla="*/ 101 h 293"/>
                <a:gd name="T38" fmla="*/ 53 w 389"/>
                <a:gd name="T39" fmla="*/ 136 h 293"/>
                <a:gd name="T40" fmla="*/ 258 w 389"/>
                <a:gd name="T41" fmla="*/ 91 h 293"/>
                <a:gd name="T42" fmla="*/ 338 w 389"/>
                <a:gd name="T43" fmla="*/ 140 h 293"/>
                <a:gd name="T44" fmla="*/ 342 w 389"/>
                <a:gd name="T45" fmla="*/ 144 h 293"/>
                <a:gd name="T46" fmla="*/ 288 w 389"/>
                <a:gd name="T47" fmla="*/ 197 h 293"/>
                <a:gd name="T48" fmla="*/ 284 w 389"/>
                <a:gd name="T49" fmla="*/ 193 h 293"/>
                <a:gd name="T50" fmla="*/ 106 w 389"/>
                <a:gd name="T51" fmla="*/ 189 h 293"/>
                <a:gd name="T52" fmla="*/ 142 w 389"/>
                <a:gd name="T53" fmla="*/ 225 h 293"/>
                <a:gd name="T54" fmla="*/ 248 w 389"/>
                <a:gd name="T55" fmla="*/ 229 h 293"/>
                <a:gd name="T56" fmla="*/ 252 w 389"/>
                <a:gd name="T57" fmla="*/ 233 h 293"/>
                <a:gd name="T58" fmla="*/ 192 w 389"/>
                <a:gd name="T59" fmla="*/ 293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9" h="293">
                  <a:moveTo>
                    <a:pt x="192" y="293"/>
                  </a:moveTo>
                  <a:cubicBezTo>
                    <a:pt x="183" y="285"/>
                    <a:pt x="183" y="285"/>
                    <a:pt x="183" y="285"/>
                  </a:cubicBezTo>
                  <a:cubicBezTo>
                    <a:pt x="235" y="233"/>
                    <a:pt x="235" y="233"/>
                    <a:pt x="235" y="233"/>
                  </a:cubicBezTo>
                  <a:cubicBezTo>
                    <a:pt x="224" y="223"/>
                    <a:pt x="191" y="201"/>
                    <a:pt x="145" y="238"/>
                  </a:cubicBezTo>
                  <a:cubicBezTo>
                    <a:pt x="141" y="241"/>
                    <a:pt x="141" y="241"/>
                    <a:pt x="141" y="241"/>
                  </a:cubicBezTo>
                  <a:cubicBezTo>
                    <a:pt x="88" y="188"/>
                    <a:pt x="88" y="188"/>
                    <a:pt x="88" y="188"/>
                  </a:cubicBezTo>
                  <a:cubicBezTo>
                    <a:pt x="93" y="184"/>
                    <a:pt x="93" y="184"/>
                    <a:pt x="93" y="184"/>
                  </a:cubicBezTo>
                  <a:cubicBezTo>
                    <a:pt x="94" y="183"/>
                    <a:pt x="202" y="101"/>
                    <a:pt x="288" y="180"/>
                  </a:cubicBezTo>
                  <a:cubicBezTo>
                    <a:pt x="325" y="144"/>
                    <a:pt x="325" y="144"/>
                    <a:pt x="325" y="144"/>
                  </a:cubicBezTo>
                  <a:cubicBezTo>
                    <a:pt x="316" y="135"/>
                    <a:pt x="291" y="114"/>
                    <a:pt x="254" y="102"/>
                  </a:cubicBezTo>
                  <a:cubicBezTo>
                    <a:pt x="191" y="82"/>
                    <a:pt x="124" y="97"/>
                    <a:pt x="56" y="149"/>
                  </a:cubicBezTo>
                  <a:cubicBezTo>
                    <a:pt x="52" y="152"/>
                    <a:pt x="52" y="152"/>
                    <a:pt x="52" y="152"/>
                  </a:cubicBezTo>
                  <a:cubicBezTo>
                    <a:pt x="0" y="101"/>
                    <a:pt x="0" y="101"/>
                    <a:pt x="0" y="101"/>
                  </a:cubicBezTo>
                  <a:cubicBezTo>
                    <a:pt x="4" y="96"/>
                    <a:pt x="4" y="96"/>
                    <a:pt x="4" y="96"/>
                  </a:cubicBezTo>
                  <a:cubicBezTo>
                    <a:pt x="6" y="94"/>
                    <a:pt x="50" y="49"/>
                    <a:pt x="120" y="26"/>
                  </a:cubicBezTo>
                  <a:cubicBezTo>
                    <a:pt x="185" y="5"/>
                    <a:pt x="284" y="0"/>
                    <a:pt x="389" y="96"/>
                  </a:cubicBezTo>
                  <a:cubicBezTo>
                    <a:pt x="381" y="105"/>
                    <a:pt x="381" y="105"/>
                    <a:pt x="381" y="105"/>
                  </a:cubicBezTo>
                  <a:cubicBezTo>
                    <a:pt x="300" y="31"/>
                    <a:pt x="213" y="8"/>
                    <a:pt x="124" y="38"/>
                  </a:cubicBezTo>
                  <a:cubicBezTo>
                    <a:pt x="69" y="56"/>
                    <a:pt x="29" y="89"/>
                    <a:pt x="17" y="101"/>
                  </a:cubicBezTo>
                  <a:cubicBezTo>
                    <a:pt x="53" y="136"/>
                    <a:pt x="53" y="136"/>
                    <a:pt x="53" y="136"/>
                  </a:cubicBezTo>
                  <a:cubicBezTo>
                    <a:pt x="102" y="100"/>
                    <a:pt x="177" y="64"/>
                    <a:pt x="258" y="91"/>
                  </a:cubicBezTo>
                  <a:cubicBezTo>
                    <a:pt x="308" y="107"/>
                    <a:pt x="337" y="139"/>
                    <a:pt x="338" y="140"/>
                  </a:cubicBezTo>
                  <a:cubicBezTo>
                    <a:pt x="342" y="144"/>
                    <a:pt x="342" y="144"/>
                    <a:pt x="342" y="144"/>
                  </a:cubicBezTo>
                  <a:cubicBezTo>
                    <a:pt x="288" y="197"/>
                    <a:pt x="288" y="197"/>
                    <a:pt x="288" y="197"/>
                  </a:cubicBezTo>
                  <a:cubicBezTo>
                    <a:pt x="284" y="193"/>
                    <a:pt x="284" y="193"/>
                    <a:pt x="284" y="193"/>
                  </a:cubicBezTo>
                  <a:cubicBezTo>
                    <a:pt x="215" y="125"/>
                    <a:pt x="129" y="174"/>
                    <a:pt x="106" y="189"/>
                  </a:cubicBezTo>
                  <a:cubicBezTo>
                    <a:pt x="142" y="225"/>
                    <a:pt x="142" y="225"/>
                    <a:pt x="142" y="225"/>
                  </a:cubicBezTo>
                  <a:cubicBezTo>
                    <a:pt x="204" y="179"/>
                    <a:pt x="247" y="229"/>
                    <a:pt x="248" y="229"/>
                  </a:cubicBezTo>
                  <a:cubicBezTo>
                    <a:pt x="252" y="233"/>
                    <a:pt x="252" y="233"/>
                    <a:pt x="252" y="233"/>
                  </a:cubicBezTo>
                  <a:lnTo>
                    <a:pt x="192" y="293"/>
                  </a:lnTo>
                  <a:close/>
                </a:path>
              </a:pathLst>
            </a:custGeom>
            <a:solidFill>
              <a:srgbClr val="B4DE2C"/>
            </a:solidFill>
            <a:ln w="12700">
              <a:solidFill>
                <a:schemeClr val="bg1"/>
              </a:solidFill>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grpSp>
          <p:nvGrpSpPr>
            <p:cNvPr id="79" name="Group 78">
              <a:extLst>
                <a:ext uri="{FF2B5EF4-FFF2-40B4-BE49-F238E27FC236}">
                  <a16:creationId xmlns:a16="http://schemas.microsoft.com/office/drawing/2014/main" id="{3AE85888-056A-7498-DD8D-C92B4B906D8D}"/>
                </a:ext>
              </a:extLst>
            </p:cNvPr>
            <p:cNvGrpSpPr/>
            <p:nvPr/>
          </p:nvGrpSpPr>
          <p:grpSpPr>
            <a:xfrm>
              <a:off x="7414994" y="2583648"/>
              <a:ext cx="242553" cy="292645"/>
              <a:chOff x="134906" y="3220464"/>
              <a:chExt cx="730251" cy="881063"/>
            </a:xfrm>
            <a:noFill/>
          </p:grpSpPr>
          <p:sp>
            <p:nvSpPr>
              <p:cNvPr id="173" name="Freeform 34">
                <a:extLst>
                  <a:ext uri="{FF2B5EF4-FFF2-40B4-BE49-F238E27FC236}">
                    <a16:creationId xmlns:a16="http://schemas.microsoft.com/office/drawing/2014/main" id="{C5E0C93A-2156-4A54-A386-69FDFE50FBEE}"/>
                  </a:ext>
                </a:extLst>
              </p:cNvPr>
              <p:cNvSpPr>
                <a:spLocks/>
              </p:cNvSpPr>
              <p:nvPr/>
            </p:nvSpPr>
            <p:spPr bwMode="auto">
              <a:xfrm>
                <a:off x="134906" y="3220464"/>
                <a:ext cx="730251" cy="577851"/>
              </a:xfrm>
              <a:custGeom>
                <a:avLst/>
                <a:gdLst>
                  <a:gd name="T0" fmla="*/ 124 w 192"/>
                  <a:gd name="T1" fmla="*/ 96 h 152"/>
                  <a:gd name="T2" fmla="*/ 116 w 192"/>
                  <a:gd name="T3" fmla="*/ 92 h 152"/>
                  <a:gd name="T4" fmla="*/ 116 w 192"/>
                  <a:gd name="T5" fmla="*/ 80 h 152"/>
                  <a:gd name="T6" fmla="*/ 120 w 192"/>
                  <a:gd name="T7" fmla="*/ 60 h 152"/>
                  <a:gd name="T8" fmla="*/ 121 w 192"/>
                  <a:gd name="T9" fmla="*/ 25 h 152"/>
                  <a:gd name="T10" fmla="*/ 96 w 192"/>
                  <a:gd name="T11" fmla="*/ 0 h 152"/>
                  <a:gd name="T12" fmla="*/ 72 w 192"/>
                  <a:gd name="T13" fmla="*/ 24 h 152"/>
                  <a:gd name="T14" fmla="*/ 72 w 192"/>
                  <a:gd name="T15" fmla="*/ 60 h 152"/>
                  <a:gd name="T16" fmla="*/ 76 w 192"/>
                  <a:gd name="T17" fmla="*/ 80 h 152"/>
                  <a:gd name="T18" fmla="*/ 76 w 192"/>
                  <a:gd name="T19" fmla="*/ 92 h 152"/>
                  <a:gd name="T20" fmla="*/ 68 w 192"/>
                  <a:gd name="T21" fmla="*/ 96 h 152"/>
                  <a:gd name="T22" fmla="*/ 16 w 192"/>
                  <a:gd name="T23" fmla="*/ 96 h 152"/>
                  <a:gd name="T24" fmla="*/ 0 w 192"/>
                  <a:gd name="T25" fmla="*/ 116 h 152"/>
                  <a:gd name="T26" fmla="*/ 0 w 192"/>
                  <a:gd name="T27" fmla="*/ 152 h 152"/>
                  <a:gd name="T28" fmla="*/ 192 w 192"/>
                  <a:gd name="T29" fmla="*/ 152 h 152"/>
                  <a:gd name="T30" fmla="*/ 192 w 192"/>
                  <a:gd name="T31" fmla="*/ 116 h 152"/>
                  <a:gd name="T32" fmla="*/ 176 w 192"/>
                  <a:gd name="T33" fmla="*/ 96 h 152"/>
                  <a:gd name="T34" fmla="*/ 124 w 192"/>
                  <a:gd name="T35" fmla="*/ 9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152">
                    <a:moveTo>
                      <a:pt x="124" y="96"/>
                    </a:moveTo>
                    <a:cubicBezTo>
                      <a:pt x="121" y="96"/>
                      <a:pt x="118" y="95"/>
                      <a:pt x="116" y="92"/>
                    </a:cubicBezTo>
                    <a:cubicBezTo>
                      <a:pt x="114" y="89"/>
                      <a:pt x="115" y="83"/>
                      <a:pt x="116" y="80"/>
                    </a:cubicBezTo>
                    <a:cubicBezTo>
                      <a:pt x="119" y="72"/>
                      <a:pt x="120" y="68"/>
                      <a:pt x="120" y="60"/>
                    </a:cubicBezTo>
                    <a:cubicBezTo>
                      <a:pt x="121" y="25"/>
                      <a:pt x="121" y="25"/>
                      <a:pt x="121" y="25"/>
                    </a:cubicBezTo>
                    <a:cubicBezTo>
                      <a:pt x="121" y="11"/>
                      <a:pt x="110" y="0"/>
                      <a:pt x="96" y="0"/>
                    </a:cubicBezTo>
                    <a:cubicBezTo>
                      <a:pt x="82" y="0"/>
                      <a:pt x="72" y="10"/>
                      <a:pt x="72" y="24"/>
                    </a:cubicBezTo>
                    <a:cubicBezTo>
                      <a:pt x="72" y="60"/>
                      <a:pt x="72" y="60"/>
                      <a:pt x="72" y="60"/>
                    </a:cubicBezTo>
                    <a:cubicBezTo>
                      <a:pt x="72" y="68"/>
                      <a:pt x="73" y="72"/>
                      <a:pt x="76" y="80"/>
                    </a:cubicBezTo>
                    <a:cubicBezTo>
                      <a:pt x="77" y="83"/>
                      <a:pt x="78" y="89"/>
                      <a:pt x="76" y="92"/>
                    </a:cubicBezTo>
                    <a:cubicBezTo>
                      <a:pt x="74" y="95"/>
                      <a:pt x="71" y="96"/>
                      <a:pt x="68" y="96"/>
                    </a:cubicBezTo>
                    <a:cubicBezTo>
                      <a:pt x="16" y="96"/>
                      <a:pt x="16" y="96"/>
                      <a:pt x="16" y="96"/>
                    </a:cubicBezTo>
                    <a:cubicBezTo>
                      <a:pt x="8" y="96"/>
                      <a:pt x="0" y="108"/>
                      <a:pt x="0" y="116"/>
                    </a:cubicBezTo>
                    <a:cubicBezTo>
                      <a:pt x="0" y="152"/>
                      <a:pt x="0" y="152"/>
                      <a:pt x="0" y="152"/>
                    </a:cubicBezTo>
                    <a:cubicBezTo>
                      <a:pt x="192" y="152"/>
                      <a:pt x="192" y="152"/>
                      <a:pt x="192" y="152"/>
                    </a:cubicBezTo>
                    <a:cubicBezTo>
                      <a:pt x="192" y="116"/>
                      <a:pt x="192" y="116"/>
                      <a:pt x="192" y="116"/>
                    </a:cubicBezTo>
                    <a:cubicBezTo>
                      <a:pt x="192" y="108"/>
                      <a:pt x="184" y="96"/>
                      <a:pt x="176" y="96"/>
                    </a:cubicBezTo>
                    <a:lnTo>
                      <a:pt x="124" y="96"/>
                    </a:lnTo>
                    <a:close/>
                  </a:path>
                </a:pathLst>
              </a:custGeom>
              <a:grpFill/>
              <a:ln w="1587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174" name="Freeform 35">
                <a:extLst>
                  <a:ext uri="{FF2B5EF4-FFF2-40B4-BE49-F238E27FC236}">
                    <a16:creationId xmlns:a16="http://schemas.microsoft.com/office/drawing/2014/main" id="{EBC0C755-EFFF-AC8A-B34E-AB1443B97BB0}"/>
                  </a:ext>
                </a:extLst>
              </p:cNvPr>
              <p:cNvSpPr>
                <a:spLocks/>
              </p:cNvSpPr>
              <p:nvPr/>
            </p:nvSpPr>
            <p:spPr bwMode="auto">
              <a:xfrm>
                <a:off x="165069" y="3798314"/>
                <a:ext cx="669926" cy="303213"/>
              </a:xfrm>
              <a:custGeom>
                <a:avLst/>
                <a:gdLst>
                  <a:gd name="T0" fmla="*/ 422 w 422"/>
                  <a:gd name="T1" fmla="*/ 191 h 191"/>
                  <a:gd name="T2" fmla="*/ 115 w 422"/>
                  <a:gd name="T3" fmla="*/ 191 h 191"/>
                  <a:gd name="T4" fmla="*/ 115 w 422"/>
                  <a:gd name="T5" fmla="*/ 95 h 191"/>
                  <a:gd name="T6" fmla="*/ 67 w 422"/>
                  <a:gd name="T7" fmla="*/ 191 h 191"/>
                  <a:gd name="T8" fmla="*/ 0 w 422"/>
                  <a:gd name="T9" fmla="*/ 191 h 191"/>
                  <a:gd name="T10" fmla="*/ 0 w 422"/>
                  <a:gd name="T11" fmla="*/ 0 h 191"/>
                  <a:gd name="T12" fmla="*/ 422 w 422"/>
                  <a:gd name="T13" fmla="*/ 0 h 191"/>
                  <a:gd name="T14" fmla="*/ 422 w 422"/>
                  <a:gd name="T15" fmla="*/ 191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2" h="191">
                    <a:moveTo>
                      <a:pt x="422" y="191"/>
                    </a:moveTo>
                    <a:lnTo>
                      <a:pt x="115" y="191"/>
                    </a:lnTo>
                    <a:lnTo>
                      <a:pt x="115" y="95"/>
                    </a:lnTo>
                    <a:lnTo>
                      <a:pt x="67" y="191"/>
                    </a:lnTo>
                    <a:lnTo>
                      <a:pt x="0" y="191"/>
                    </a:lnTo>
                    <a:lnTo>
                      <a:pt x="0" y="0"/>
                    </a:lnTo>
                    <a:lnTo>
                      <a:pt x="422" y="0"/>
                    </a:lnTo>
                    <a:lnTo>
                      <a:pt x="422" y="191"/>
                    </a:lnTo>
                    <a:close/>
                  </a:path>
                </a:pathLst>
              </a:custGeom>
              <a:grpFill/>
              <a:ln w="1587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175" name="Line 36">
                <a:extLst>
                  <a:ext uri="{FF2B5EF4-FFF2-40B4-BE49-F238E27FC236}">
                    <a16:creationId xmlns:a16="http://schemas.microsoft.com/office/drawing/2014/main" id="{324EB5E5-A683-1ED5-C7D8-036783FDA426}"/>
                  </a:ext>
                </a:extLst>
              </p:cNvPr>
              <p:cNvSpPr>
                <a:spLocks noChangeShapeType="1"/>
              </p:cNvSpPr>
              <p:nvPr/>
            </p:nvSpPr>
            <p:spPr bwMode="auto">
              <a:xfrm>
                <a:off x="742919" y="3904677"/>
                <a:ext cx="0" cy="196850"/>
              </a:xfrm>
              <a:prstGeom prst="line">
                <a:avLst/>
              </a:prstGeom>
              <a:grpFill/>
              <a:ln w="1587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176" name="Line 37">
                <a:extLst>
                  <a:ext uri="{FF2B5EF4-FFF2-40B4-BE49-F238E27FC236}">
                    <a16:creationId xmlns:a16="http://schemas.microsoft.com/office/drawing/2014/main" id="{D7E61251-1EED-3FCD-F139-990290638AB7}"/>
                  </a:ext>
                </a:extLst>
              </p:cNvPr>
              <p:cNvSpPr>
                <a:spLocks noChangeShapeType="1"/>
              </p:cNvSpPr>
              <p:nvPr/>
            </p:nvSpPr>
            <p:spPr bwMode="auto">
              <a:xfrm>
                <a:off x="652432" y="3949127"/>
                <a:ext cx="0" cy="152400"/>
              </a:xfrm>
              <a:prstGeom prst="line">
                <a:avLst/>
              </a:prstGeom>
              <a:grpFill/>
              <a:ln w="1587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177" name="Line 38">
                <a:extLst>
                  <a:ext uri="{FF2B5EF4-FFF2-40B4-BE49-F238E27FC236}">
                    <a16:creationId xmlns:a16="http://schemas.microsoft.com/office/drawing/2014/main" id="{A80AD09D-1F5A-4AD8-9E8F-E931DD01934D}"/>
                  </a:ext>
                </a:extLst>
              </p:cNvPr>
              <p:cNvSpPr>
                <a:spLocks noChangeShapeType="1"/>
              </p:cNvSpPr>
              <p:nvPr/>
            </p:nvSpPr>
            <p:spPr bwMode="auto">
              <a:xfrm>
                <a:off x="560357" y="4011039"/>
                <a:ext cx="0" cy="90488"/>
              </a:xfrm>
              <a:prstGeom prst="line">
                <a:avLst/>
              </a:prstGeom>
              <a:grpFill/>
              <a:ln w="1587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178" name="Oval 39">
                <a:extLst>
                  <a:ext uri="{FF2B5EF4-FFF2-40B4-BE49-F238E27FC236}">
                    <a16:creationId xmlns:a16="http://schemas.microsoft.com/office/drawing/2014/main" id="{C39FD811-07DC-CEDA-93BB-D85BD880B202}"/>
                  </a:ext>
                </a:extLst>
              </p:cNvPr>
              <p:cNvSpPr>
                <a:spLocks noChangeArrowheads="1"/>
              </p:cNvSpPr>
              <p:nvPr/>
            </p:nvSpPr>
            <p:spPr bwMode="auto">
              <a:xfrm>
                <a:off x="480981" y="3296664"/>
                <a:ext cx="38100" cy="38100"/>
              </a:xfrm>
              <a:prstGeom prst="ellipse">
                <a:avLst/>
              </a:prstGeom>
              <a:grpFill/>
              <a:ln w="1587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grpSp>
        <p:grpSp>
          <p:nvGrpSpPr>
            <p:cNvPr id="80" name="Group 79">
              <a:extLst>
                <a:ext uri="{FF2B5EF4-FFF2-40B4-BE49-F238E27FC236}">
                  <a16:creationId xmlns:a16="http://schemas.microsoft.com/office/drawing/2014/main" id="{7FE74C9C-C8BD-00E1-9B19-F380D695BC9E}"/>
                </a:ext>
              </a:extLst>
            </p:cNvPr>
            <p:cNvGrpSpPr/>
            <p:nvPr/>
          </p:nvGrpSpPr>
          <p:grpSpPr>
            <a:xfrm>
              <a:off x="6561466" y="2178844"/>
              <a:ext cx="137112" cy="180000"/>
              <a:chOff x="139667" y="3898841"/>
              <a:chExt cx="669925" cy="879475"/>
            </a:xfrm>
          </p:grpSpPr>
          <p:sp>
            <p:nvSpPr>
              <p:cNvPr id="170" name="Freeform 43">
                <a:extLst>
                  <a:ext uri="{FF2B5EF4-FFF2-40B4-BE49-F238E27FC236}">
                    <a16:creationId xmlns:a16="http://schemas.microsoft.com/office/drawing/2014/main" id="{3C2B6E95-2E6E-83FF-4D17-80DFF965495F}"/>
                  </a:ext>
                </a:extLst>
              </p:cNvPr>
              <p:cNvSpPr>
                <a:spLocks/>
              </p:cNvSpPr>
              <p:nvPr/>
            </p:nvSpPr>
            <p:spPr bwMode="auto">
              <a:xfrm>
                <a:off x="139667" y="3898841"/>
                <a:ext cx="669925" cy="879475"/>
              </a:xfrm>
              <a:custGeom>
                <a:avLst/>
                <a:gdLst>
                  <a:gd name="T0" fmla="*/ 176 w 176"/>
                  <a:gd name="T1" fmla="*/ 212 h 232"/>
                  <a:gd name="T2" fmla="*/ 156 w 176"/>
                  <a:gd name="T3" fmla="*/ 232 h 232"/>
                  <a:gd name="T4" fmla="*/ 20 w 176"/>
                  <a:gd name="T5" fmla="*/ 232 h 232"/>
                  <a:gd name="T6" fmla="*/ 0 w 176"/>
                  <a:gd name="T7" fmla="*/ 212 h 232"/>
                  <a:gd name="T8" fmla="*/ 0 w 176"/>
                  <a:gd name="T9" fmla="*/ 20 h 232"/>
                  <a:gd name="T10" fmla="*/ 20 w 176"/>
                  <a:gd name="T11" fmla="*/ 0 h 232"/>
                  <a:gd name="T12" fmla="*/ 156 w 176"/>
                  <a:gd name="T13" fmla="*/ 0 h 232"/>
                  <a:gd name="T14" fmla="*/ 176 w 176"/>
                  <a:gd name="T15" fmla="*/ 20 h 232"/>
                  <a:gd name="T16" fmla="*/ 176 w 176"/>
                  <a:gd name="T17" fmla="*/ 212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6" h="232">
                    <a:moveTo>
                      <a:pt x="176" y="212"/>
                    </a:moveTo>
                    <a:cubicBezTo>
                      <a:pt x="176" y="223"/>
                      <a:pt x="167" y="232"/>
                      <a:pt x="156" y="232"/>
                    </a:cubicBezTo>
                    <a:cubicBezTo>
                      <a:pt x="20" y="232"/>
                      <a:pt x="20" y="232"/>
                      <a:pt x="20" y="232"/>
                    </a:cubicBezTo>
                    <a:cubicBezTo>
                      <a:pt x="9" y="232"/>
                      <a:pt x="0" y="223"/>
                      <a:pt x="0" y="212"/>
                    </a:cubicBezTo>
                    <a:cubicBezTo>
                      <a:pt x="0" y="20"/>
                      <a:pt x="0" y="20"/>
                      <a:pt x="0" y="20"/>
                    </a:cubicBezTo>
                    <a:cubicBezTo>
                      <a:pt x="0" y="9"/>
                      <a:pt x="9" y="0"/>
                      <a:pt x="20" y="0"/>
                    </a:cubicBezTo>
                    <a:cubicBezTo>
                      <a:pt x="156" y="0"/>
                      <a:pt x="156" y="0"/>
                      <a:pt x="156" y="0"/>
                    </a:cubicBezTo>
                    <a:cubicBezTo>
                      <a:pt x="167" y="0"/>
                      <a:pt x="176" y="9"/>
                      <a:pt x="176" y="20"/>
                    </a:cubicBezTo>
                    <a:lnTo>
                      <a:pt x="176" y="212"/>
                    </a:lnTo>
                    <a:close/>
                  </a:path>
                </a:pathLst>
              </a:custGeom>
              <a:noFill/>
              <a:ln w="12700" cap="rnd">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171" name="Rectangle 44">
                <a:extLst>
                  <a:ext uri="{FF2B5EF4-FFF2-40B4-BE49-F238E27FC236}">
                    <a16:creationId xmlns:a16="http://schemas.microsoft.com/office/drawing/2014/main" id="{569DBB22-FA99-A0D9-621D-FC50B3BE6268}"/>
                  </a:ext>
                </a:extLst>
              </p:cNvPr>
              <p:cNvSpPr>
                <a:spLocks noChangeArrowheads="1"/>
              </p:cNvSpPr>
              <p:nvPr/>
            </p:nvSpPr>
            <p:spPr bwMode="auto">
              <a:xfrm>
                <a:off x="230154" y="4019491"/>
                <a:ext cx="487362" cy="577850"/>
              </a:xfrm>
              <a:prstGeom prst="rect">
                <a:avLst/>
              </a:prstGeom>
              <a:noFill/>
              <a:ln w="12700" cap="rnd">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172" name="Oval 46">
                <a:extLst>
                  <a:ext uri="{FF2B5EF4-FFF2-40B4-BE49-F238E27FC236}">
                    <a16:creationId xmlns:a16="http://schemas.microsoft.com/office/drawing/2014/main" id="{35A55F9E-B2DD-6B4D-5B8A-B70C56D6FDCB}"/>
                  </a:ext>
                </a:extLst>
              </p:cNvPr>
              <p:cNvSpPr>
                <a:spLocks noChangeArrowheads="1"/>
              </p:cNvSpPr>
              <p:nvPr/>
            </p:nvSpPr>
            <p:spPr bwMode="auto">
              <a:xfrm>
                <a:off x="444467" y="4657666"/>
                <a:ext cx="60325" cy="60325"/>
              </a:xfrm>
              <a:prstGeom prst="ellipse">
                <a:avLst/>
              </a:prstGeom>
              <a:noFill/>
              <a:ln w="12700" cap="rnd">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grpSp>
        <p:grpSp>
          <p:nvGrpSpPr>
            <p:cNvPr id="81" name="Group 80">
              <a:extLst>
                <a:ext uri="{FF2B5EF4-FFF2-40B4-BE49-F238E27FC236}">
                  <a16:creationId xmlns:a16="http://schemas.microsoft.com/office/drawing/2014/main" id="{8E545F1B-B2E0-0FC0-6E6B-975D36C0D520}"/>
                </a:ext>
              </a:extLst>
            </p:cNvPr>
            <p:cNvGrpSpPr/>
            <p:nvPr/>
          </p:nvGrpSpPr>
          <p:grpSpPr>
            <a:xfrm>
              <a:off x="7715370" y="3499967"/>
              <a:ext cx="149764" cy="228566"/>
              <a:chOff x="6553" y="1835403"/>
              <a:chExt cx="576263" cy="879476"/>
            </a:xfrm>
          </p:grpSpPr>
          <p:sp>
            <p:nvSpPr>
              <p:cNvPr id="166" name="Freeform 50">
                <a:extLst>
                  <a:ext uri="{FF2B5EF4-FFF2-40B4-BE49-F238E27FC236}">
                    <a16:creationId xmlns:a16="http://schemas.microsoft.com/office/drawing/2014/main" id="{13F023C2-B888-664D-D748-8BCF3199C7F3}"/>
                  </a:ext>
                </a:extLst>
              </p:cNvPr>
              <p:cNvSpPr>
                <a:spLocks/>
              </p:cNvSpPr>
              <p:nvPr/>
            </p:nvSpPr>
            <p:spPr bwMode="auto">
              <a:xfrm>
                <a:off x="63703" y="1835403"/>
                <a:ext cx="442913" cy="150813"/>
              </a:xfrm>
              <a:custGeom>
                <a:avLst/>
                <a:gdLst>
                  <a:gd name="T0" fmla="*/ 231 w 279"/>
                  <a:gd name="T1" fmla="*/ 95 h 95"/>
                  <a:gd name="T2" fmla="*/ 58 w 279"/>
                  <a:gd name="T3" fmla="*/ 95 h 95"/>
                  <a:gd name="T4" fmla="*/ 0 w 279"/>
                  <a:gd name="T5" fmla="*/ 0 h 95"/>
                  <a:gd name="T6" fmla="*/ 279 w 279"/>
                  <a:gd name="T7" fmla="*/ 0 h 95"/>
                  <a:gd name="T8" fmla="*/ 231 w 279"/>
                  <a:gd name="T9" fmla="*/ 95 h 95"/>
                </a:gdLst>
                <a:ahLst/>
                <a:cxnLst>
                  <a:cxn ang="0">
                    <a:pos x="T0" y="T1"/>
                  </a:cxn>
                  <a:cxn ang="0">
                    <a:pos x="T2" y="T3"/>
                  </a:cxn>
                  <a:cxn ang="0">
                    <a:pos x="T4" y="T5"/>
                  </a:cxn>
                  <a:cxn ang="0">
                    <a:pos x="T6" y="T7"/>
                  </a:cxn>
                  <a:cxn ang="0">
                    <a:pos x="T8" y="T9"/>
                  </a:cxn>
                </a:cxnLst>
                <a:rect l="0" t="0" r="r" b="b"/>
                <a:pathLst>
                  <a:path w="279" h="95">
                    <a:moveTo>
                      <a:pt x="231" y="95"/>
                    </a:moveTo>
                    <a:lnTo>
                      <a:pt x="58" y="95"/>
                    </a:lnTo>
                    <a:lnTo>
                      <a:pt x="0" y="0"/>
                    </a:lnTo>
                    <a:lnTo>
                      <a:pt x="279" y="0"/>
                    </a:lnTo>
                    <a:lnTo>
                      <a:pt x="231" y="95"/>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167" name="Freeform 51">
                <a:extLst>
                  <a:ext uri="{FF2B5EF4-FFF2-40B4-BE49-F238E27FC236}">
                    <a16:creationId xmlns:a16="http://schemas.microsoft.com/office/drawing/2014/main" id="{897D957B-24AB-7E43-0B6C-0A724BF8304D}"/>
                  </a:ext>
                </a:extLst>
              </p:cNvPr>
              <p:cNvSpPr>
                <a:spLocks/>
              </p:cNvSpPr>
              <p:nvPr/>
            </p:nvSpPr>
            <p:spPr bwMode="auto">
              <a:xfrm>
                <a:off x="6553" y="1986216"/>
                <a:ext cx="576263" cy="728663"/>
              </a:xfrm>
              <a:custGeom>
                <a:avLst/>
                <a:gdLst>
                  <a:gd name="T0" fmla="*/ 219 w 363"/>
                  <a:gd name="T1" fmla="*/ 459 h 459"/>
                  <a:gd name="T2" fmla="*/ 142 w 363"/>
                  <a:gd name="T3" fmla="*/ 459 h 459"/>
                  <a:gd name="T4" fmla="*/ 0 w 363"/>
                  <a:gd name="T5" fmla="*/ 158 h 459"/>
                  <a:gd name="T6" fmla="*/ 94 w 363"/>
                  <a:gd name="T7" fmla="*/ 0 h 459"/>
                  <a:gd name="T8" fmla="*/ 267 w 363"/>
                  <a:gd name="T9" fmla="*/ 0 h 459"/>
                  <a:gd name="T10" fmla="*/ 363 w 363"/>
                  <a:gd name="T11" fmla="*/ 158 h 459"/>
                  <a:gd name="T12" fmla="*/ 219 w 363"/>
                  <a:gd name="T13" fmla="*/ 459 h 459"/>
                </a:gdLst>
                <a:ahLst/>
                <a:cxnLst>
                  <a:cxn ang="0">
                    <a:pos x="T0" y="T1"/>
                  </a:cxn>
                  <a:cxn ang="0">
                    <a:pos x="T2" y="T3"/>
                  </a:cxn>
                  <a:cxn ang="0">
                    <a:pos x="T4" y="T5"/>
                  </a:cxn>
                  <a:cxn ang="0">
                    <a:pos x="T6" y="T7"/>
                  </a:cxn>
                  <a:cxn ang="0">
                    <a:pos x="T8" y="T9"/>
                  </a:cxn>
                  <a:cxn ang="0">
                    <a:pos x="T10" y="T11"/>
                  </a:cxn>
                  <a:cxn ang="0">
                    <a:pos x="T12" y="T13"/>
                  </a:cxn>
                </a:cxnLst>
                <a:rect l="0" t="0" r="r" b="b"/>
                <a:pathLst>
                  <a:path w="363" h="459">
                    <a:moveTo>
                      <a:pt x="219" y="459"/>
                    </a:moveTo>
                    <a:lnTo>
                      <a:pt x="142" y="459"/>
                    </a:lnTo>
                    <a:lnTo>
                      <a:pt x="0" y="158"/>
                    </a:lnTo>
                    <a:lnTo>
                      <a:pt x="94" y="0"/>
                    </a:lnTo>
                    <a:lnTo>
                      <a:pt x="267" y="0"/>
                    </a:lnTo>
                    <a:lnTo>
                      <a:pt x="363" y="158"/>
                    </a:lnTo>
                    <a:lnTo>
                      <a:pt x="219" y="459"/>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168" name="Line 52">
                <a:extLst>
                  <a:ext uri="{FF2B5EF4-FFF2-40B4-BE49-F238E27FC236}">
                    <a16:creationId xmlns:a16="http://schemas.microsoft.com/office/drawing/2014/main" id="{6D2A7803-3693-58D2-1E54-7C49B6368365}"/>
                  </a:ext>
                </a:extLst>
              </p:cNvPr>
              <p:cNvSpPr>
                <a:spLocks noChangeShapeType="1"/>
              </p:cNvSpPr>
              <p:nvPr/>
            </p:nvSpPr>
            <p:spPr bwMode="auto">
              <a:xfrm>
                <a:off x="292303" y="2291016"/>
                <a:ext cx="0" cy="423863"/>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169" name="Oval 53">
                <a:extLst>
                  <a:ext uri="{FF2B5EF4-FFF2-40B4-BE49-F238E27FC236}">
                    <a16:creationId xmlns:a16="http://schemas.microsoft.com/office/drawing/2014/main" id="{CC2BF5D0-F0A8-9CD6-1E1D-F906C1FFB8BF}"/>
                  </a:ext>
                </a:extLst>
              </p:cNvPr>
              <p:cNvSpPr>
                <a:spLocks noChangeArrowheads="1"/>
              </p:cNvSpPr>
              <p:nvPr/>
            </p:nvSpPr>
            <p:spPr bwMode="auto">
              <a:xfrm>
                <a:off x="216103" y="2138616"/>
                <a:ext cx="152400" cy="152400"/>
              </a:xfrm>
              <a:prstGeom prst="ellipse">
                <a:avLst/>
              </a:pr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grpSp>
        <p:grpSp>
          <p:nvGrpSpPr>
            <p:cNvPr id="82" name="Group 81">
              <a:extLst>
                <a:ext uri="{FF2B5EF4-FFF2-40B4-BE49-F238E27FC236}">
                  <a16:creationId xmlns:a16="http://schemas.microsoft.com/office/drawing/2014/main" id="{E0AAFC60-FC0D-8494-101C-592D0D36ECD5}"/>
                </a:ext>
              </a:extLst>
            </p:cNvPr>
            <p:cNvGrpSpPr/>
            <p:nvPr/>
          </p:nvGrpSpPr>
          <p:grpSpPr>
            <a:xfrm>
              <a:off x="8188708" y="3047792"/>
              <a:ext cx="184598" cy="121954"/>
              <a:chOff x="17463" y="11113"/>
              <a:chExt cx="879475" cy="581025"/>
            </a:xfrm>
          </p:grpSpPr>
          <p:sp>
            <p:nvSpPr>
              <p:cNvPr id="162" name="Freeform 5">
                <a:extLst>
                  <a:ext uri="{FF2B5EF4-FFF2-40B4-BE49-F238E27FC236}">
                    <a16:creationId xmlns:a16="http://schemas.microsoft.com/office/drawing/2014/main" id="{A109CEAE-EEC7-D9FF-0914-971B49A58ADF}"/>
                  </a:ext>
                </a:extLst>
              </p:cNvPr>
              <p:cNvSpPr>
                <a:spLocks/>
              </p:cNvSpPr>
              <p:nvPr/>
            </p:nvSpPr>
            <p:spPr bwMode="auto">
              <a:xfrm>
                <a:off x="17463" y="11113"/>
                <a:ext cx="879475" cy="581025"/>
              </a:xfrm>
              <a:custGeom>
                <a:avLst/>
                <a:gdLst>
                  <a:gd name="T0" fmla="*/ 232 w 232"/>
                  <a:gd name="T1" fmla="*/ 136 h 152"/>
                  <a:gd name="T2" fmla="*/ 216 w 232"/>
                  <a:gd name="T3" fmla="*/ 152 h 152"/>
                  <a:gd name="T4" fmla="*/ 16 w 232"/>
                  <a:gd name="T5" fmla="*/ 152 h 152"/>
                  <a:gd name="T6" fmla="*/ 0 w 232"/>
                  <a:gd name="T7" fmla="*/ 136 h 152"/>
                  <a:gd name="T8" fmla="*/ 0 w 232"/>
                  <a:gd name="T9" fmla="*/ 16 h 152"/>
                  <a:gd name="T10" fmla="*/ 16 w 232"/>
                  <a:gd name="T11" fmla="*/ 0 h 152"/>
                  <a:gd name="T12" fmla="*/ 216 w 232"/>
                  <a:gd name="T13" fmla="*/ 0 h 152"/>
                  <a:gd name="T14" fmla="*/ 232 w 232"/>
                  <a:gd name="T15" fmla="*/ 16 h 152"/>
                  <a:gd name="T16" fmla="*/ 232 w 232"/>
                  <a:gd name="T17" fmla="*/ 13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2" h="152">
                    <a:moveTo>
                      <a:pt x="232" y="136"/>
                    </a:moveTo>
                    <a:cubicBezTo>
                      <a:pt x="232" y="145"/>
                      <a:pt x="224" y="152"/>
                      <a:pt x="216" y="152"/>
                    </a:cubicBezTo>
                    <a:cubicBezTo>
                      <a:pt x="16" y="152"/>
                      <a:pt x="16" y="152"/>
                      <a:pt x="16" y="152"/>
                    </a:cubicBezTo>
                    <a:cubicBezTo>
                      <a:pt x="8" y="152"/>
                      <a:pt x="0" y="145"/>
                      <a:pt x="0" y="136"/>
                    </a:cubicBezTo>
                    <a:cubicBezTo>
                      <a:pt x="0" y="16"/>
                      <a:pt x="0" y="16"/>
                      <a:pt x="0" y="16"/>
                    </a:cubicBezTo>
                    <a:cubicBezTo>
                      <a:pt x="0" y="8"/>
                      <a:pt x="8" y="0"/>
                      <a:pt x="16" y="0"/>
                    </a:cubicBezTo>
                    <a:cubicBezTo>
                      <a:pt x="216" y="0"/>
                      <a:pt x="216" y="0"/>
                      <a:pt x="216" y="0"/>
                    </a:cubicBezTo>
                    <a:cubicBezTo>
                      <a:pt x="224" y="0"/>
                      <a:pt x="232" y="8"/>
                      <a:pt x="232" y="16"/>
                    </a:cubicBezTo>
                    <a:lnTo>
                      <a:pt x="232" y="136"/>
                    </a:lnTo>
                    <a:close/>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163" name="Freeform 6">
                <a:extLst>
                  <a:ext uri="{FF2B5EF4-FFF2-40B4-BE49-F238E27FC236}">
                    <a16:creationId xmlns:a16="http://schemas.microsoft.com/office/drawing/2014/main" id="{CADF8577-CEA8-1249-88C8-5C14193DD4FF}"/>
                  </a:ext>
                </a:extLst>
              </p:cNvPr>
              <p:cNvSpPr>
                <a:spLocks/>
              </p:cNvSpPr>
              <p:nvPr/>
            </p:nvSpPr>
            <p:spPr bwMode="auto">
              <a:xfrm>
                <a:off x="138113" y="165100"/>
                <a:ext cx="638175" cy="212725"/>
              </a:xfrm>
              <a:custGeom>
                <a:avLst/>
                <a:gdLst>
                  <a:gd name="T0" fmla="*/ 402 w 402"/>
                  <a:gd name="T1" fmla="*/ 0 h 134"/>
                  <a:gd name="T2" fmla="*/ 201 w 402"/>
                  <a:gd name="T3" fmla="*/ 134 h 134"/>
                  <a:gd name="T4" fmla="*/ 0 w 402"/>
                  <a:gd name="T5" fmla="*/ 0 h 134"/>
                </a:gdLst>
                <a:ahLst/>
                <a:cxnLst>
                  <a:cxn ang="0">
                    <a:pos x="T0" y="T1"/>
                  </a:cxn>
                  <a:cxn ang="0">
                    <a:pos x="T2" y="T3"/>
                  </a:cxn>
                  <a:cxn ang="0">
                    <a:pos x="T4" y="T5"/>
                  </a:cxn>
                </a:cxnLst>
                <a:rect l="0" t="0" r="r" b="b"/>
                <a:pathLst>
                  <a:path w="402" h="134">
                    <a:moveTo>
                      <a:pt x="402" y="0"/>
                    </a:moveTo>
                    <a:lnTo>
                      <a:pt x="201" y="134"/>
                    </a:lnTo>
                    <a:lnTo>
                      <a:pt x="0" y="0"/>
                    </a:lnTo>
                  </a:path>
                </a:pathLst>
              </a:custGeom>
              <a:noFill/>
              <a:ln w="12700"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164" name="Line 7">
                <a:extLst>
                  <a:ext uri="{FF2B5EF4-FFF2-40B4-BE49-F238E27FC236}">
                    <a16:creationId xmlns:a16="http://schemas.microsoft.com/office/drawing/2014/main" id="{99273EC1-B771-736F-3E74-ACB3365589FA}"/>
                  </a:ext>
                </a:extLst>
              </p:cNvPr>
              <p:cNvSpPr>
                <a:spLocks noChangeShapeType="1"/>
              </p:cNvSpPr>
              <p:nvPr/>
            </p:nvSpPr>
            <p:spPr bwMode="auto">
              <a:xfrm flipV="1">
                <a:off x="138113" y="363538"/>
                <a:ext cx="136525" cy="92075"/>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sp>
            <p:nvSpPr>
              <p:cNvPr id="165" name="Line 8">
                <a:extLst>
                  <a:ext uri="{FF2B5EF4-FFF2-40B4-BE49-F238E27FC236}">
                    <a16:creationId xmlns:a16="http://schemas.microsoft.com/office/drawing/2014/main" id="{5EC73F79-C52D-1E53-D1F7-68D32C6F473F}"/>
                  </a:ext>
                </a:extLst>
              </p:cNvPr>
              <p:cNvSpPr>
                <a:spLocks noChangeShapeType="1"/>
              </p:cNvSpPr>
              <p:nvPr/>
            </p:nvSpPr>
            <p:spPr bwMode="auto">
              <a:xfrm flipH="1" flipV="1">
                <a:off x="639763" y="363538"/>
                <a:ext cx="136525" cy="92075"/>
              </a:xfrm>
              <a:prstGeom prst="line">
                <a:avLst/>
              </a:prstGeom>
              <a:noFill/>
              <a:ln w="12700"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grpSp>
        <p:sp>
          <p:nvSpPr>
            <p:cNvPr id="83" name="Freeform 12">
              <a:extLst>
                <a:ext uri="{FF2B5EF4-FFF2-40B4-BE49-F238E27FC236}">
                  <a16:creationId xmlns:a16="http://schemas.microsoft.com/office/drawing/2014/main" id="{8994507F-BC9D-3294-BC5B-C8B170EBBD1C}"/>
                </a:ext>
              </a:extLst>
            </p:cNvPr>
            <p:cNvSpPr>
              <a:spLocks noEditPoints="1"/>
            </p:cNvSpPr>
            <p:nvPr/>
          </p:nvSpPr>
          <p:spPr bwMode="auto">
            <a:xfrm>
              <a:off x="7455477" y="4251534"/>
              <a:ext cx="190185" cy="157667"/>
            </a:xfrm>
            <a:custGeom>
              <a:avLst/>
              <a:gdLst>
                <a:gd name="T0" fmla="*/ 221 w 242"/>
                <a:gd name="T1" fmla="*/ 0 h 200"/>
                <a:gd name="T2" fmla="*/ 171 w 242"/>
                <a:gd name="T3" fmla="*/ 0 h 200"/>
                <a:gd name="T4" fmla="*/ 135 w 242"/>
                <a:gd name="T5" fmla="*/ 15 h 200"/>
                <a:gd name="T6" fmla="*/ 51 w 242"/>
                <a:gd name="T7" fmla="*/ 99 h 200"/>
                <a:gd name="T8" fmla="*/ 51 w 242"/>
                <a:gd name="T9" fmla="*/ 129 h 200"/>
                <a:gd name="T10" fmla="*/ 113 w 242"/>
                <a:gd name="T11" fmla="*/ 192 h 200"/>
                <a:gd name="T12" fmla="*/ 143 w 242"/>
                <a:gd name="T13" fmla="*/ 192 h 200"/>
                <a:gd name="T14" fmla="*/ 227 w 242"/>
                <a:gd name="T15" fmla="*/ 108 h 200"/>
                <a:gd name="T16" fmla="*/ 242 w 242"/>
                <a:gd name="T17" fmla="*/ 71 h 200"/>
                <a:gd name="T18" fmla="*/ 242 w 242"/>
                <a:gd name="T19" fmla="*/ 22 h 200"/>
                <a:gd name="T20" fmla="*/ 221 w 242"/>
                <a:gd name="T21" fmla="*/ 0 h 200"/>
                <a:gd name="T22" fmla="*/ 192 w 242"/>
                <a:gd name="T23" fmla="*/ 71 h 200"/>
                <a:gd name="T24" fmla="*/ 171 w 242"/>
                <a:gd name="T25" fmla="*/ 50 h 200"/>
                <a:gd name="T26" fmla="*/ 192 w 242"/>
                <a:gd name="T27" fmla="*/ 29 h 200"/>
                <a:gd name="T28" fmla="*/ 214 w 242"/>
                <a:gd name="T29" fmla="*/ 50 h 200"/>
                <a:gd name="T30" fmla="*/ 192 w 242"/>
                <a:gd name="T31" fmla="*/ 71 h 200"/>
                <a:gd name="T32" fmla="*/ 19 w 242"/>
                <a:gd name="T33" fmla="*/ 119 h 200"/>
                <a:gd name="T34" fmla="*/ 95 w 242"/>
                <a:gd name="T35" fmla="*/ 196 h 200"/>
                <a:gd name="T36" fmla="*/ 70 w 242"/>
                <a:gd name="T37" fmla="*/ 192 h 200"/>
                <a:gd name="T38" fmla="*/ 8 w 242"/>
                <a:gd name="T39" fmla="*/ 129 h 200"/>
                <a:gd name="T40" fmla="*/ 8 w 242"/>
                <a:gd name="T41" fmla="*/ 99 h 200"/>
                <a:gd name="T42" fmla="*/ 92 w 242"/>
                <a:gd name="T43" fmla="*/ 15 h 200"/>
                <a:gd name="T44" fmla="*/ 128 w 242"/>
                <a:gd name="T45" fmla="*/ 0 h 200"/>
                <a:gd name="T46" fmla="*/ 19 w 242"/>
                <a:gd name="T47" fmla="*/ 109 h 200"/>
                <a:gd name="T48" fmla="*/ 19 w 242"/>
                <a:gd name="T49" fmla="*/ 11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2" h="200">
                  <a:moveTo>
                    <a:pt x="221" y="0"/>
                  </a:moveTo>
                  <a:cubicBezTo>
                    <a:pt x="171" y="0"/>
                    <a:pt x="171" y="0"/>
                    <a:pt x="171" y="0"/>
                  </a:cubicBezTo>
                  <a:cubicBezTo>
                    <a:pt x="159" y="0"/>
                    <a:pt x="143" y="7"/>
                    <a:pt x="135" y="15"/>
                  </a:cubicBezTo>
                  <a:cubicBezTo>
                    <a:pt x="51" y="99"/>
                    <a:pt x="51" y="99"/>
                    <a:pt x="51" y="99"/>
                  </a:cubicBezTo>
                  <a:cubicBezTo>
                    <a:pt x="42" y="107"/>
                    <a:pt x="42" y="121"/>
                    <a:pt x="51" y="129"/>
                  </a:cubicBezTo>
                  <a:cubicBezTo>
                    <a:pt x="113" y="192"/>
                    <a:pt x="113" y="192"/>
                    <a:pt x="113" y="192"/>
                  </a:cubicBezTo>
                  <a:cubicBezTo>
                    <a:pt x="121" y="200"/>
                    <a:pt x="135" y="200"/>
                    <a:pt x="143" y="192"/>
                  </a:cubicBezTo>
                  <a:cubicBezTo>
                    <a:pt x="227" y="108"/>
                    <a:pt x="227" y="108"/>
                    <a:pt x="227" y="108"/>
                  </a:cubicBezTo>
                  <a:cubicBezTo>
                    <a:pt x="236" y="100"/>
                    <a:pt x="242" y="83"/>
                    <a:pt x="242" y="71"/>
                  </a:cubicBezTo>
                  <a:cubicBezTo>
                    <a:pt x="242" y="22"/>
                    <a:pt x="242" y="22"/>
                    <a:pt x="242" y="22"/>
                  </a:cubicBezTo>
                  <a:cubicBezTo>
                    <a:pt x="242" y="10"/>
                    <a:pt x="233" y="0"/>
                    <a:pt x="221" y="0"/>
                  </a:cubicBezTo>
                  <a:moveTo>
                    <a:pt x="192" y="71"/>
                  </a:moveTo>
                  <a:cubicBezTo>
                    <a:pt x="181" y="71"/>
                    <a:pt x="171" y="62"/>
                    <a:pt x="171" y="50"/>
                  </a:cubicBezTo>
                  <a:cubicBezTo>
                    <a:pt x="171" y="38"/>
                    <a:pt x="181" y="29"/>
                    <a:pt x="192" y="29"/>
                  </a:cubicBezTo>
                  <a:cubicBezTo>
                    <a:pt x="204" y="29"/>
                    <a:pt x="214" y="38"/>
                    <a:pt x="214" y="50"/>
                  </a:cubicBezTo>
                  <a:cubicBezTo>
                    <a:pt x="214" y="62"/>
                    <a:pt x="204" y="71"/>
                    <a:pt x="192" y="71"/>
                  </a:cubicBezTo>
                  <a:moveTo>
                    <a:pt x="19" y="119"/>
                  </a:moveTo>
                  <a:cubicBezTo>
                    <a:pt x="95" y="196"/>
                    <a:pt x="95" y="196"/>
                    <a:pt x="95" y="196"/>
                  </a:cubicBezTo>
                  <a:cubicBezTo>
                    <a:pt x="87" y="200"/>
                    <a:pt x="77" y="199"/>
                    <a:pt x="70" y="192"/>
                  </a:cubicBezTo>
                  <a:cubicBezTo>
                    <a:pt x="8" y="129"/>
                    <a:pt x="8" y="129"/>
                    <a:pt x="8" y="129"/>
                  </a:cubicBezTo>
                  <a:cubicBezTo>
                    <a:pt x="0" y="121"/>
                    <a:pt x="0" y="107"/>
                    <a:pt x="8" y="99"/>
                  </a:cubicBezTo>
                  <a:cubicBezTo>
                    <a:pt x="92" y="15"/>
                    <a:pt x="92" y="15"/>
                    <a:pt x="92" y="15"/>
                  </a:cubicBezTo>
                  <a:cubicBezTo>
                    <a:pt x="100" y="7"/>
                    <a:pt x="116" y="0"/>
                    <a:pt x="128" y="0"/>
                  </a:cubicBezTo>
                  <a:cubicBezTo>
                    <a:pt x="19" y="109"/>
                    <a:pt x="19" y="109"/>
                    <a:pt x="19" y="109"/>
                  </a:cubicBezTo>
                  <a:cubicBezTo>
                    <a:pt x="16" y="112"/>
                    <a:pt x="16" y="117"/>
                    <a:pt x="19" y="119"/>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latin typeface="Raleway" panose="020B0003030101060003" pitchFamily="34" charset="0"/>
              </a:endParaRPr>
            </a:p>
          </p:txBody>
        </p:sp>
        <p:grpSp>
          <p:nvGrpSpPr>
            <p:cNvPr id="84" name="Group 83">
              <a:extLst>
                <a:ext uri="{FF2B5EF4-FFF2-40B4-BE49-F238E27FC236}">
                  <a16:creationId xmlns:a16="http://schemas.microsoft.com/office/drawing/2014/main" id="{1A829646-D1B0-CBC9-7574-AB818E617DB8}"/>
                </a:ext>
              </a:extLst>
            </p:cNvPr>
            <p:cNvGrpSpPr/>
            <p:nvPr/>
          </p:nvGrpSpPr>
          <p:grpSpPr>
            <a:xfrm>
              <a:off x="7758706" y="3026694"/>
              <a:ext cx="219019" cy="219019"/>
              <a:chOff x="2501147" y="287196"/>
              <a:chExt cx="879475" cy="879475"/>
            </a:xfrm>
          </p:grpSpPr>
          <p:sp>
            <p:nvSpPr>
              <p:cNvPr id="149" name="Rectangle 19">
                <a:extLst>
                  <a:ext uri="{FF2B5EF4-FFF2-40B4-BE49-F238E27FC236}">
                    <a16:creationId xmlns:a16="http://schemas.microsoft.com/office/drawing/2014/main" id="{D8639252-4187-E43B-58C2-878100527CE1}"/>
                  </a:ext>
                </a:extLst>
              </p:cNvPr>
              <p:cNvSpPr>
                <a:spLocks noChangeArrowheads="1"/>
              </p:cNvSpPr>
              <p:nvPr/>
            </p:nvSpPr>
            <p:spPr bwMode="auto">
              <a:xfrm>
                <a:off x="2501147" y="287196"/>
                <a:ext cx="879475" cy="879475"/>
              </a:xfrm>
              <a:prstGeom prst="rect">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0" name="Line 20">
                <a:extLst>
                  <a:ext uri="{FF2B5EF4-FFF2-40B4-BE49-F238E27FC236}">
                    <a16:creationId xmlns:a16="http://schemas.microsoft.com/office/drawing/2014/main" id="{EAA63FC7-8C71-F596-6450-CEAFB926312C}"/>
                  </a:ext>
                </a:extLst>
              </p:cNvPr>
              <p:cNvSpPr>
                <a:spLocks noChangeShapeType="1"/>
              </p:cNvSpPr>
              <p:nvPr/>
            </p:nvSpPr>
            <p:spPr bwMode="auto">
              <a:xfrm flipV="1">
                <a:off x="2956760" y="560246"/>
                <a:ext cx="0" cy="261938"/>
              </a:xfrm>
              <a:prstGeom prst="line">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1" name="Line 21">
                <a:extLst>
                  <a:ext uri="{FF2B5EF4-FFF2-40B4-BE49-F238E27FC236}">
                    <a16:creationId xmlns:a16="http://schemas.microsoft.com/office/drawing/2014/main" id="{A9AA9316-1D63-59C0-0DC4-C569F38F218D}"/>
                  </a:ext>
                </a:extLst>
              </p:cNvPr>
              <p:cNvSpPr>
                <a:spLocks noChangeShapeType="1"/>
              </p:cNvSpPr>
              <p:nvPr/>
            </p:nvSpPr>
            <p:spPr bwMode="auto">
              <a:xfrm flipV="1">
                <a:off x="3137735" y="742809"/>
                <a:ext cx="0" cy="79375"/>
              </a:xfrm>
              <a:prstGeom prst="line">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2" name="Line 22">
                <a:extLst>
                  <a:ext uri="{FF2B5EF4-FFF2-40B4-BE49-F238E27FC236}">
                    <a16:creationId xmlns:a16="http://schemas.microsoft.com/office/drawing/2014/main" id="{1ABEE3FE-9FF4-E503-E050-D76AC9BE3930}"/>
                  </a:ext>
                </a:extLst>
              </p:cNvPr>
              <p:cNvSpPr>
                <a:spLocks noChangeShapeType="1"/>
              </p:cNvSpPr>
              <p:nvPr/>
            </p:nvSpPr>
            <p:spPr bwMode="auto">
              <a:xfrm flipV="1">
                <a:off x="2744035" y="399909"/>
                <a:ext cx="0" cy="220663"/>
              </a:xfrm>
              <a:prstGeom prst="line">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3" name="Line 23">
                <a:extLst>
                  <a:ext uri="{FF2B5EF4-FFF2-40B4-BE49-F238E27FC236}">
                    <a16:creationId xmlns:a16="http://schemas.microsoft.com/office/drawing/2014/main" id="{67B5CB23-5459-8930-4643-F2CECB33839D}"/>
                  </a:ext>
                </a:extLst>
              </p:cNvPr>
              <p:cNvSpPr>
                <a:spLocks noChangeShapeType="1"/>
              </p:cNvSpPr>
              <p:nvPr/>
            </p:nvSpPr>
            <p:spPr bwMode="auto">
              <a:xfrm flipV="1">
                <a:off x="2744035" y="680896"/>
                <a:ext cx="0" cy="141288"/>
              </a:xfrm>
              <a:prstGeom prst="line">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4" name="Line 24">
                <a:extLst>
                  <a:ext uri="{FF2B5EF4-FFF2-40B4-BE49-F238E27FC236}">
                    <a16:creationId xmlns:a16="http://schemas.microsoft.com/office/drawing/2014/main" id="{F71F0238-2A03-3CA4-A869-2057653533C5}"/>
                  </a:ext>
                </a:extLst>
              </p:cNvPr>
              <p:cNvSpPr>
                <a:spLocks noChangeShapeType="1"/>
              </p:cNvSpPr>
              <p:nvPr/>
            </p:nvSpPr>
            <p:spPr bwMode="auto">
              <a:xfrm flipV="1">
                <a:off x="3137735" y="399909"/>
                <a:ext cx="0" cy="280988"/>
              </a:xfrm>
              <a:prstGeom prst="line">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5" name="Line 25">
                <a:extLst>
                  <a:ext uri="{FF2B5EF4-FFF2-40B4-BE49-F238E27FC236}">
                    <a16:creationId xmlns:a16="http://schemas.microsoft.com/office/drawing/2014/main" id="{C2CA036A-FA66-B855-F02F-ED1F226DBBBD}"/>
                  </a:ext>
                </a:extLst>
              </p:cNvPr>
              <p:cNvSpPr>
                <a:spLocks noChangeShapeType="1"/>
              </p:cNvSpPr>
              <p:nvPr/>
            </p:nvSpPr>
            <p:spPr bwMode="auto">
              <a:xfrm flipV="1">
                <a:off x="2956760" y="399909"/>
                <a:ext cx="0" cy="98425"/>
              </a:xfrm>
              <a:prstGeom prst="line">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6" name="Rectangle 26">
                <a:extLst>
                  <a:ext uri="{FF2B5EF4-FFF2-40B4-BE49-F238E27FC236}">
                    <a16:creationId xmlns:a16="http://schemas.microsoft.com/office/drawing/2014/main" id="{900B576D-1C84-5563-B4F3-AB7528729A33}"/>
                  </a:ext>
                </a:extLst>
              </p:cNvPr>
              <p:cNvSpPr>
                <a:spLocks noChangeArrowheads="1"/>
              </p:cNvSpPr>
              <p:nvPr/>
            </p:nvSpPr>
            <p:spPr bwMode="auto">
              <a:xfrm>
                <a:off x="3077410" y="680896"/>
                <a:ext cx="122238" cy="61913"/>
              </a:xfrm>
              <a:prstGeom prst="rect">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7" name="Rectangle 27">
                <a:extLst>
                  <a:ext uri="{FF2B5EF4-FFF2-40B4-BE49-F238E27FC236}">
                    <a16:creationId xmlns:a16="http://schemas.microsoft.com/office/drawing/2014/main" id="{B3540997-357B-C80F-E566-1FC29C8F5A80}"/>
                  </a:ext>
                </a:extLst>
              </p:cNvPr>
              <p:cNvSpPr>
                <a:spLocks noChangeArrowheads="1"/>
              </p:cNvSpPr>
              <p:nvPr/>
            </p:nvSpPr>
            <p:spPr bwMode="auto">
              <a:xfrm>
                <a:off x="2894847" y="498334"/>
                <a:ext cx="122238" cy="61913"/>
              </a:xfrm>
              <a:prstGeom prst="rect">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8" name="Rectangle 28">
                <a:extLst>
                  <a:ext uri="{FF2B5EF4-FFF2-40B4-BE49-F238E27FC236}">
                    <a16:creationId xmlns:a16="http://schemas.microsoft.com/office/drawing/2014/main" id="{56B0A3DF-4E93-2A25-5DF6-9868BA54D4E2}"/>
                  </a:ext>
                </a:extLst>
              </p:cNvPr>
              <p:cNvSpPr>
                <a:spLocks noChangeArrowheads="1"/>
              </p:cNvSpPr>
              <p:nvPr/>
            </p:nvSpPr>
            <p:spPr bwMode="auto">
              <a:xfrm>
                <a:off x="2682122" y="620571"/>
                <a:ext cx="122238" cy="60325"/>
              </a:xfrm>
              <a:prstGeom prst="rect">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59" name="Oval 29">
                <a:extLst>
                  <a:ext uri="{FF2B5EF4-FFF2-40B4-BE49-F238E27FC236}">
                    <a16:creationId xmlns:a16="http://schemas.microsoft.com/office/drawing/2014/main" id="{550D1CAA-7B90-8402-7739-AB6D4D8BB762}"/>
                  </a:ext>
                </a:extLst>
              </p:cNvPr>
              <p:cNvSpPr>
                <a:spLocks noChangeArrowheads="1"/>
              </p:cNvSpPr>
              <p:nvPr/>
            </p:nvSpPr>
            <p:spPr bwMode="auto">
              <a:xfrm>
                <a:off x="3077410" y="923784"/>
                <a:ext cx="122238" cy="122238"/>
              </a:xfrm>
              <a:prstGeom prst="ellipse">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0" name="Oval 30">
                <a:extLst>
                  <a:ext uri="{FF2B5EF4-FFF2-40B4-BE49-F238E27FC236}">
                    <a16:creationId xmlns:a16="http://schemas.microsoft.com/office/drawing/2014/main" id="{11237A2C-1169-EEE9-C154-AC12A632A474}"/>
                  </a:ext>
                </a:extLst>
              </p:cNvPr>
              <p:cNvSpPr>
                <a:spLocks noChangeArrowheads="1"/>
              </p:cNvSpPr>
              <p:nvPr/>
            </p:nvSpPr>
            <p:spPr bwMode="auto">
              <a:xfrm>
                <a:off x="2894847" y="923784"/>
                <a:ext cx="122238" cy="122238"/>
              </a:xfrm>
              <a:prstGeom prst="ellipse">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61" name="Oval 31">
                <a:extLst>
                  <a:ext uri="{FF2B5EF4-FFF2-40B4-BE49-F238E27FC236}">
                    <a16:creationId xmlns:a16="http://schemas.microsoft.com/office/drawing/2014/main" id="{B42B8757-57C1-C1DF-E465-9C4E6FC2F0A7}"/>
                  </a:ext>
                </a:extLst>
              </p:cNvPr>
              <p:cNvSpPr>
                <a:spLocks noChangeArrowheads="1"/>
              </p:cNvSpPr>
              <p:nvPr/>
            </p:nvSpPr>
            <p:spPr bwMode="auto">
              <a:xfrm>
                <a:off x="2682122" y="923784"/>
                <a:ext cx="122238" cy="122238"/>
              </a:xfrm>
              <a:prstGeom prst="ellipse">
                <a:avLst/>
              </a:pr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85" name="Group 84">
              <a:extLst>
                <a:ext uri="{FF2B5EF4-FFF2-40B4-BE49-F238E27FC236}">
                  <a16:creationId xmlns:a16="http://schemas.microsoft.com/office/drawing/2014/main" id="{4FF85103-FA27-D783-BDA1-8CA07B7F8A40}"/>
                </a:ext>
              </a:extLst>
            </p:cNvPr>
            <p:cNvGrpSpPr/>
            <p:nvPr/>
          </p:nvGrpSpPr>
          <p:grpSpPr>
            <a:xfrm>
              <a:off x="6979229" y="3036839"/>
              <a:ext cx="227966" cy="220296"/>
              <a:chOff x="20638" y="19050"/>
              <a:chExt cx="849312" cy="820738"/>
            </a:xfrm>
          </p:grpSpPr>
          <p:sp>
            <p:nvSpPr>
              <p:cNvPr id="143" name="Freeform 35">
                <a:extLst>
                  <a:ext uri="{FF2B5EF4-FFF2-40B4-BE49-F238E27FC236}">
                    <a16:creationId xmlns:a16="http://schemas.microsoft.com/office/drawing/2014/main" id="{93D19CA2-6BC7-7099-7FC4-9C5FE6661681}"/>
                  </a:ext>
                </a:extLst>
              </p:cNvPr>
              <p:cNvSpPr>
                <a:spLocks/>
              </p:cNvSpPr>
              <p:nvPr/>
            </p:nvSpPr>
            <p:spPr bwMode="auto">
              <a:xfrm>
                <a:off x="36513" y="719138"/>
                <a:ext cx="817562" cy="120650"/>
              </a:xfrm>
              <a:custGeom>
                <a:avLst/>
                <a:gdLst>
                  <a:gd name="T0" fmla="*/ 196 w 216"/>
                  <a:gd name="T1" fmla="*/ 32 h 32"/>
                  <a:gd name="T2" fmla="*/ 20 w 216"/>
                  <a:gd name="T3" fmla="*/ 32 h 32"/>
                  <a:gd name="T4" fmla="*/ 20 w 216"/>
                  <a:gd name="T5" fmla="*/ 0 h 32"/>
                  <a:gd name="T6" fmla="*/ 196 w 216"/>
                  <a:gd name="T7" fmla="*/ 0 h 32"/>
                  <a:gd name="T8" fmla="*/ 196 w 216"/>
                  <a:gd name="T9" fmla="*/ 32 h 32"/>
                </a:gdLst>
                <a:ahLst/>
                <a:cxnLst>
                  <a:cxn ang="0">
                    <a:pos x="T0" y="T1"/>
                  </a:cxn>
                  <a:cxn ang="0">
                    <a:pos x="T2" y="T3"/>
                  </a:cxn>
                  <a:cxn ang="0">
                    <a:pos x="T4" y="T5"/>
                  </a:cxn>
                  <a:cxn ang="0">
                    <a:pos x="T6" y="T7"/>
                  </a:cxn>
                  <a:cxn ang="0">
                    <a:pos x="T8" y="T9"/>
                  </a:cxn>
                </a:cxnLst>
                <a:rect l="0" t="0" r="r" b="b"/>
                <a:pathLst>
                  <a:path w="216" h="32">
                    <a:moveTo>
                      <a:pt x="196" y="32"/>
                    </a:moveTo>
                    <a:cubicBezTo>
                      <a:pt x="20" y="32"/>
                      <a:pt x="20" y="32"/>
                      <a:pt x="20" y="32"/>
                    </a:cubicBezTo>
                    <a:cubicBezTo>
                      <a:pt x="0" y="32"/>
                      <a:pt x="0" y="0"/>
                      <a:pt x="20" y="0"/>
                    </a:cubicBezTo>
                    <a:cubicBezTo>
                      <a:pt x="196" y="0"/>
                      <a:pt x="196" y="0"/>
                      <a:pt x="196" y="0"/>
                    </a:cubicBezTo>
                    <a:cubicBezTo>
                      <a:pt x="216" y="0"/>
                      <a:pt x="216" y="32"/>
                      <a:pt x="196" y="32"/>
                    </a:cubicBezTo>
                    <a:close/>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44" name="Freeform 36">
                <a:extLst>
                  <a:ext uri="{FF2B5EF4-FFF2-40B4-BE49-F238E27FC236}">
                    <a16:creationId xmlns:a16="http://schemas.microsoft.com/office/drawing/2014/main" id="{72BCC8A2-5E92-F3BC-459E-75F2D431E96C}"/>
                  </a:ext>
                </a:extLst>
              </p:cNvPr>
              <p:cNvSpPr>
                <a:spLocks/>
              </p:cNvSpPr>
              <p:nvPr/>
            </p:nvSpPr>
            <p:spPr bwMode="auto">
              <a:xfrm>
                <a:off x="214313" y="307975"/>
                <a:ext cx="461962" cy="304800"/>
              </a:xfrm>
              <a:custGeom>
                <a:avLst/>
                <a:gdLst>
                  <a:gd name="T0" fmla="*/ 118 w 122"/>
                  <a:gd name="T1" fmla="*/ 80 h 80"/>
                  <a:gd name="T2" fmla="*/ 122 w 122"/>
                  <a:gd name="T3" fmla="*/ 59 h 80"/>
                  <a:gd name="T4" fmla="*/ 61 w 122"/>
                  <a:gd name="T5" fmla="*/ 0 h 80"/>
                  <a:gd name="T6" fmla="*/ 0 w 122"/>
                  <a:gd name="T7" fmla="*/ 59 h 80"/>
                  <a:gd name="T8" fmla="*/ 4 w 122"/>
                  <a:gd name="T9" fmla="*/ 79 h 80"/>
                </a:gdLst>
                <a:ahLst/>
                <a:cxnLst>
                  <a:cxn ang="0">
                    <a:pos x="T0" y="T1"/>
                  </a:cxn>
                  <a:cxn ang="0">
                    <a:pos x="T2" y="T3"/>
                  </a:cxn>
                  <a:cxn ang="0">
                    <a:pos x="T4" y="T5"/>
                  </a:cxn>
                  <a:cxn ang="0">
                    <a:pos x="T6" y="T7"/>
                  </a:cxn>
                  <a:cxn ang="0">
                    <a:pos x="T8" y="T9"/>
                  </a:cxn>
                </a:cxnLst>
                <a:rect l="0" t="0" r="r" b="b"/>
                <a:pathLst>
                  <a:path w="122" h="80">
                    <a:moveTo>
                      <a:pt x="118" y="80"/>
                    </a:moveTo>
                    <a:cubicBezTo>
                      <a:pt x="120" y="73"/>
                      <a:pt x="122" y="66"/>
                      <a:pt x="122" y="59"/>
                    </a:cubicBezTo>
                    <a:cubicBezTo>
                      <a:pt x="122" y="26"/>
                      <a:pt x="94" y="0"/>
                      <a:pt x="61" y="0"/>
                    </a:cubicBezTo>
                    <a:cubicBezTo>
                      <a:pt x="28" y="0"/>
                      <a:pt x="0" y="26"/>
                      <a:pt x="0" y="59"/>
                    </a:cubicBezTo>
                    <a:cubicBezTo>
                      <a:pt x="0" y="66"/>
                      <a:pt x="2" y="73"/>
                      <a:pt x="4" y="79"/>
                    </a:cubicBezTo>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45" name="Oval 37">
                <a:extLst>
                  <a:ext uri="{FF2B5EF4-FFF2-40B4-BE49-F238E27FC236}">
                    <a16:creationId xmlns:a16="http://schemas.microsoft.com/office/drawing/2014/main" id="{2A8BC89F-E198-8B33-AE8E-21B29089962A}"/>
                  </a:ext>
                </a:extLst>
              </p:cNvPr>
              <p:cNvSpPr>
                <a:spLocks noChangeArrowheads="1"/>
              </p:cNvSpPr>
              <p:nvPr/>
            </p:nvSpPr>
            <p:spPr bwMode="auto">
              <a:xfrm>
                <a:off x="354013" y="19050"/>
                <a:ext cx="182562" cy="182563"/>
              </a:xfrm>
              <a:prstGeom prst="ellipse">
                <a:avLst/>
              </a:prstGeom>
              <a:noFill/>
              <a:ln w="12700" cap="flat">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46" name="Line 38">
                <a:extLst>
                  <a:ext uri="{FF2B5EF4-FFF2-40B4-BE49-F238E27FC236}">
                    <a16:creationId xmlns:a16="http://schemas.microsoft.com/office/drawing/2014/main" id="{F422BBF6-6769-60CD-1780-2DE3EAD681FA}"/>
                  </a:ext>
                </a:extLst>
              </p:cNvPr>
              <p:cNvSpPr>
                <a:spLocks noChangeShapeType="1"/>
              </p:cNvSpPr>
              <p:nvPr/>
            </p:nvSpPr>
            <p:spPr bwMode="auto">
              <a:xfrm>
                <a:off x="354013" y="111125"/>
                <a:ext cx="182562" cy="0"/>
              </a:xfrm>
              <a:prstGeom prst="line">
                <a:avLst/>
              </a:prstGeom>
              <a:noFill/>
              <a:ln w="12700" cap="flat">
                <a:solidFill>
                  <a:schemeClr val="bg1">
                    <a:lumMod val="50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47" name="Line 39">
                <a:extLst>
                  <a:ext uri="{FF2B5EF4-FFF2-40B4-BE49-F238E27FC236}">
                    <a16:creationId xmlns:a16="http://schemas.microsoft.com/office/drawing/2014/main" id="{5F8A9CD2-08AA-715D-3436-7609129F9434}"/>
                  </a:ext>
                </a:extLst>
              </p:cNvPr>
              <p:cNvSpPr>
                <a:spLocks noChangeShapeType="1"/>
              </p:cNvSpPr>
              <p:nvPr/>
            </p:nvSpPr>
            <p:spPr bwMode="auto">
              <a:xfrm>
                <a:off x="446088" y="201613"/>
                <a:ext cx="0" cy="106363"/>
              </a:xfrm>
              <a:prstGeom prst="line">
                <a:avLst/>
              </a:prstGeom>
              <a:noFill/>
              <a:ln w="12700" cap="flat">
                <a:solidFill>
                  <a:schemeClr val="bg1">
                    <a:lumMod val="50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48" name="Freeform 40">
                <a:extLst>
                  <a:ext uri="{FF2B5EF4-FFF2-40B4-BE49-F238E27FC236}">
                    <a16:creationId xmlns:a16="http://schemas.microsoft.com/office/drawing/2014/main" id="{9DB39C39-F632-64DD-6F61-E29A4E84850E}"/>
                  </a:ext>
                </a:extLst>
              </p:cNvPr>
              <p:cNvSpPr>
                <a:spLocks/>
              </p:cNvSpPr>
              <p:nvPr/>
            </p:nvSpPr>
            <p:spPr bwMode="auto">
              <a:xfrm>
                <a:off x="20638" y="307975"/>
                <a:ext cx="849312" cy="411163"/>
              </a:xfrm>
              <a:custGeom>
                <a:avLst/>
                <a:gdLst>
                  <a:gd name="T0" fmla="*/ 83 w 224"/>
                  <a:gd name="T1" fmla="*/ 7 h 108"/>
                  <a:gd name="T2" fmla="*/ 56 w 224"/>
                  <a:gd name="T3" fmla="*/ 0 h 108"/>
                  <a:gd name="T4" fmla="*/ 0 w 224"/>
                  <a:gd name="T5" fmla="*/ 60 h 108"/>
                  <a:gd name="T6" fmla="*/ 28 w 224"/>
                  <a:gd name="T7" fmla="*/ 108 h 108"/>
                  <a:gd name="T8" fmla="*/ 196 w 224"/>
                  <a:gd name="T9" fmla="*/ 108 h 108"/>
                  <a:gd name="T10" fmla="*/ 224 w 224"/>
                  <a:gd name="T11" fmla="*/ 60 h 108"/>
                  <a:gd name="T12" fmla="*/ 168 w 224"/>
                  <a:gd name="T13" fmla="*/ 0 h 108"/>
                  <a:gd name="T14" fmla="*/ 141 w 224"/>
                  <a:gd name="T15" fmla="*/ 7 h 1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4" h="108">
                    <a:moveTo>
                      <a:pt x="83" y="7"/>
                    </a:moveTo>
                    <a:cubicBezTo>
                      <a:pt x="74" y="3"/>
                      <a:pt x="66" y="0"/>
                      <a:pt x="56" y="0"/>
                    </a:cubicBezTo>
                    <a:cubicBezTo>
                      <a:pt x="23" y="0"/>
                      <a:pt x="0" y="27"/>
                      <a:pt x="0" y="60"/>
                    </a:cubicBezTo>
                    <a:cubicBezTo>
                      <a:pt x="0" y="81"/>
                      <a:pt x="12" y="97"/>
                      <a:pt x="28" y="108"/>
                    </a:cubicBezTo>
                    <a:cubicBezTo>
                      <a:pt x="196" y="108"/>
                      <a:pt x="196" y="108"/>
                      <a:pt x="196" y="108"/>
                    </a:cubicBezTo>
                    <a:cubicBezTo>
                      <a:pt x="213" y="97"/>
                      <a:pt x="224" y="81"/>
                      <a:pt x="224" y="60"/>
                    </a:cubicBezTo>
                    <a:cubicBezTo>
                      <a:pt x="224" y="27"/>
                      <a:pt x="201" y="0"/>
                      <a:pt x="168" y="0"/>
                    </a:cubicBezTo>
                    <a:cubicBezTo>
                      <a:pt x="158" y="0"/>
                      <a:pt x="150" y="3"/>
                      <a:pt x="141" y="7"/>
                    </a:cubicBezTo>
                  </a:path>
                </a:pathLst>
              </a:custGeom>
              <a:noFill/>
              <a:ln w="12700" cap="flat">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86" name="Group 85">
              <a:extLst>
                <a:ext uri="{FF2B5EF4-FFF2-40B4-BE49-F238E27FC236}">
                  <a16:creationId xmlns:a16="http://schemas.microsoft.com/office/drawing/2014/main" id="{881FE29F-7E77-31DE-D0BD-A986A11CB9C2}"/>
                </a:ext>
              </a:extLst>
            </p:cNvPr>
            <p:cNvGrpSpPr/>
            <p:nvPr/>
          </p:nvGrpSpPr>
          <p:grpSpPr>
            <a:xfrm>
              <a:off x="7022407" y="4815471"/>
              <a:ext cx="175726" cy="224313"/>
              <a:chOff x="12701" y="15875"/>
              <a:chExt cx="688975" cy="879475"/>
            </a:xfrm>
          </p:grpSpPr>
          <p:sp>
            <p:nvSpPr>
              <p:cNvPr id="131" name="Freeform 44">
                <a:extLst>
                  <a:ext uri="{FF2B5EF4-FFF2-40B4-BE49-F238E27FC236}">
                    <a16:creationId xmlns:a16="http://schemas.microsoft.com/office/drawing/2014/main" id="{0B55C639-0E61-B0EF-9219-21DCD8D0615B}"/>
                  </a:ext>
                </a:extLst>
              </p:cNvPr>
              <p:cNvSpPr>
                <a:spLocks/>
              </p:cNvSpPr>
              <p:nvPr/>
            </p:nvSpPr>
            <p:spPr bwMode="auto">
              <a:xfrm>
                <a:off x="546101" y="471488"/>
                <a:ext cx="152400" cy="211138"/>
              </a:xfrm>
              <a:custGeom>
                <a:avLst/>
                <a:gdLst>
                  <a:gd name="T0" fmla="*/ 0 w 40"/>
                  <a:gd name="T1" fmla="*/ 0 h 56"/>
                  <a:gd name="T2" fmla="*/ 12 w 40"/>
                  <a:gd name="T3" fmla="*/ 0 h 56"/>
                  <a:gd name="T4" fmla="*/ 40 w 40"/>
                  <a:gd name="T5" fmla="*/ 28 h 56"/>
                  <a:gd name="T6" fmla="*/ 12 w 40"/>
                  <a:gd name="T7" fmla="*/ 56 h 56"/>
                  <a:gd name="T8" fmla="*/ 0 w 40"/>
                  <a:gd name="T9" fmla="*/ 56 h 56"/>
                </a:gdLst>
                <a:ahLst/>
                <a:cxnLst>
                  <a:cxn ang="0">
                    <a:pos x="T0" y="T1"/>
                  </a:cxn>
                  <a:cxn ang="0">
                    <a:pos x="T2" y="T3"/>
                  </a:cxn>
                  <a:cxn ang="0">
                    <a:pos x="T4" y="T5"/>
                  </a:cxn>
                  <a:cxn ang="0">
                    <a:pos x="T6" y="T7"/>
                  </a:cxn>
                  <a:cxn ang="0">
                    <a:pos x="T8" y="T9"/>
                  </a:cxn>
                </a:cxnLst>
                <a:rect l="0" t="0" r="r" b="b"/>
                <a:pathLst>
                  <a:path w="40" h="56">
                    <a:moveTo>
                      <a:pt x="0" y="0"/>
                    </a:moveTo>
                    <a:cubicBezTo>
                      <a:pt x="12" y="0"/>
                      <a:pt x="12" y="0"/>
                      <a:pt x="12" y="0"/>
                    </a:cubicBezTo>
                    <a:cubicBezTo>
                      <a:pt x="29" y="0"/>
                      <a:pt x="40" y="12"/>
                      <a:pt x="40" y="28"/>
                    </a:cubicBezTo>
                    <a:cubicBezTo>
                      <a:pt x="40" y="44"/>
                      <a:pt x="29" y="56"/>
                      <a:pt x="12" y="56"/>
                    </a:cubicBezTo>
                    <a:cubicBezTo>
                      <a:pt x="0" y="56"/>
                      <a:pt x="0" y="56"/>
                      <a:pt x="0" y="56"/>
                    </a:cubicBezTo>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32" name="Freeform 45">
                <a:extLst>
                  <a:ext uri="{FF2B5EF4-FFF2-40B4-BE49-F238E27FC236}">
                    <a16:creationId xmlns:a16="http://schemas.microsoft.com/office/drawing/2014/main" id="{9BCC60EE-25B5-8DB4-D172-DAEE57CC8691}"/>
                  </a:ext>
                </a:extLst>
              </p:cNvPr>
              <p:cNvSpPr>
                <a:spLocks/>
              </p:cNvSpPr>
              <p:nvPr/>
            </p:nvSpPr>
            <p:spPr bwMode="auto">
              <a:xfrm>
                <a:off x="58738" y="409575"/>
                <a:ext cx="487363" cy="485775"/>
              </a:xfrm>
              <a:custGeom>
                <a:avLst/>
                <a:gdLst>
                  <a:gd name="T0" fmla="*/ 128 w 128"/>
                  <a:gd name="T1" fmla="*/ 108 h 128"/>
                  <a:gd name="T2" fmla="*/ 108 w 128"/>
                  <a:gd name="T3" fmla="*/ 128 h 128"/>
                  <a:gd name="T4" fmla="*/ 20 w 128"/>
                  <a:gd name="T5" fmla="*/ 128 h 128"/>
                  <a:gd name="T6" fmla="*/ 0 w 128"/>
                  <a:gd name="T7" fmla="*/ 108 h 128"/>
                  <a:gd name="T8" fmla="*/ 0 w 128"/>
                  <a:gd name="T9" fmla="*/ 0 h 128"/>
                  <a:gd name="T10" fmla="*/ 128 w 128"/>
                  <a:gd name="T11" fmla="*/ 0 h 128"/>
                  <a:gd name="T12" fmla="*/ 128 w 128"/>
                  <a:gd name="T13" fmla="*/ 108 h 128"/>
                </a:gdLst>
                <a:ahLst/>
                <a:cxnLst>
                  <a:cxn ang="0">
                    <a:pos x="T0" y="T1"/>
                  </a:cxn>
                  <a:cxn ang="0">
                    <a:pos x="T2" y="T3"/>
                  </a:cxn>
                  <a:cxn ang="0">
                    <a:pos x="T4" y="T5"/>
                  </a:cxn>
                  <a:cxn ang="0">
                    <a:pos x="T6" y="T7"/>
                  </a:cxn>
                  <a:cxn ang="0">
                    <a:pos x="T8" y="T9"/>
                  </a:cxn>
                  <a:cxn ang="0">
                    <a:pos x="T10" y="T11"/>
                  </a:cxn>
                  <a:cxn ang="0">
                    <a:pos x="T12" y="T13"/>
                  </a:cxn>
                </a:cxnLst>
                <a:rect l="0" t="0" r="r" b="b"/>
                <a:pathLst>
                  <a:path w="128" h="128">
                    <a:moveTo>
                      <a:pt x="128" y="108"/>
                    </a:moveTo>
                    <a:cubicBezTo>
                      <a:pt x="128" y="120"/>
                      <a:pt x="119" y="128"/>
                      <a:pt x="108" y="128"/>
                    </a:cubicBezTo>
                    <a:cubicBezTo>
                      <a:pt x="20" y="128"/>
                      <a:pt x="20" y="128"/>
                      <a:pt x="20" y="128"/>
                    </a:cubicBezTo>
                    <a:cubicBezTo>
                      <a:pt x="9" y="128"/>
                      <a:pt x="0" y="119"/>
                      <a:pt x="0" y="108"/>
                    </a:cubicBezTo>
                    <a:cubicBezTo>
                      <a:pt x="0" y="0"/>
                      <a:pt x="0" y="0"/>
                      <a:pt x="0" y="0"/>
                    </a:cubicBezTo>
                    <a:cubicBezTo>
                      <a:pt x="128" y="0"/>
                      <a:pt x="128" y="0"/>
                      <a:pt x="128" y="0"/>
                    </a:cubicBezTo>
                    <a:lnTo>
                      <a:pt x="128" y="108"/>
                    </a:lnTo>
                    <a:close/>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33" name="Freeform 46">
                <a:extLst>
                  <a:ext uri="{FF2B5EF4-FFF2-40B4-BE49-F238E27FC236}">
                    <a16:creationId xmlns:a16="http://schemas.microsoft.com/office/drawing/2014/main" id="{784A4737-34B5-7C19-5A33-53BF523AC119}"/>
                  </a:ext>
                </a:extLst>
              </p:cNvPr>
              <p:cNvSpPr>
                <a:spLocks/>
              </p:cNvSpPr>
              <p:nvPr/>
            </p:nvSpPr>
            <p:spPr bwMode="auto">
              <a:xfrm>
                <a:off x="508001" y="19050"/>
                <a:ext cx="193675" cy="254000"/>
              </a:xfrm>
              <a:custGeom>
                <a:avLst/>
                <a:gdLst>
                  <a:gd name="T0" fmla="*/ 12 w 51"/>
                  <a:gd name="T1" fmla="*/ 0 h 67"/>
                  <a:gd name="T2" fmla="*/ 4 w 51"/>
                  <a:gd name="T3" fmla="*/ 33 h 67"/>
                  <a:gd name="T4" fmla="*/ 13 w 51"/>
                  <a:gd name="T5" fmla="*/ 54 h 67"/>
                  <a:gd name="T6" fmla="*/ 12 w 51"/>
                  <a:gd name="T7" fmla="*/ 0 h 67"/>
                </a:gdLst>
                <a:ahLst/>
                <a:cxnLst>
                  <a:cxn ang="0">
                    <a:pos x="T0" y="T1"/>
                  </a:cxn>
                  <a:cxn ang="0">
                    <a:pos x="T2" y="T3"/>
                  </a:cxn>
                  <a:cxn ang="0">
                    <a:pos x="T4" y="T5"/>
                  </a:cxn>
                  <a:cxn ang="0">
                    <a:pos x="T6" y="T7"/>
                  </a:cxn>
                </a:cxnLst>
                <a:rect l="0" t="0" r="r" b="b"/>
                <a:pathLst>
                  <a:path w="51" h="67">
                    <a:moveTo>
                      <a:pt x="12" y="0"/>
                    </a:moveTo>
                    <a:cubicBezTo>
                      <a:pt x="23" y="16"/>
                      <a:pt x="7" y="24"/>
                      <a:pt x="4" y="33"/>
                    </a:cubicBezTo>
                    <a:cubicBezTo>
                      <a:pt x="0" y="42"/>
                      <a:pt x="4" y="50"/>
                      <a:pt x="13" y="54"/>
                    </a:cubicBezTo>
                    <a:cubicBezTo>
                      <a:pt x="42" y="67"/>
                      <a:pt x="51" y="9"/>
                      <a:pt x="12" y="0"/>
                    </a:cubicBezTo>
                    <a:close/>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34" name="Line 47">
                <a:extLst>
                  <a:ext uri="{FF2B5EF4-FFF2-40B4-BE49-F238E27FC236}">
                    <a16:creationId xmlns:a16="http://schemas.microsoft.com/office/drawing/2014/main" id="{128508C3-DE00-A6CE-A603-ACCAEF6F9B14}"/>
                  </a:ext>
                </a:extLst>
              </p:cNvPr>
              <p:cNvSpPr>
                <a:spLocks noChangeShapeType="1"/>
              </p:cNvSpPr>
              <p:nvPr/>
            </p:nvSpPr>
            <p:spPr bwMode="auto">
              <a:xfrm flipV="1">
                <a:off x="439738" y="215900"/>
                <a:ext cx="103188" cy="193675"/>
              </a:xfrm>
              <a:prstGeom prst="line">
                <a:avLst/>
              </a:prstGeom>
              <a:noFill/>
              <a:ln w="12700" cap="rnd">
                <a:solidFill>
                  <a:schemeClr val="bg1">
                    <a:lumMod val="50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35" name="Line 48">
                <a:extLst>
                  <a:ext uri="{FF2B5EF4-FFF2-40B4-BE49-F238E27FC236}">
                    <a16:creationId xmlns:a16="http://schemas.microsoft.com/office/drawing/2014/main" id="{FF056B48-8A68-6C8D-99BA-F3EC60D78906}"/>
                  </a:ext>
                </a:extLst>
              </p:cNvPr>
              <p:cNvSpPr>
                <a:spLocks noChangeShapeType="1"/>
              </p:cNvSpPr>
              <p:nvPr/>
            </p:nvSpPr>
            <p:spPr bwMode="auto">
              <a:xfrm flipH="1">
                <a:off x="515938" y="231775"/>
                <a:ext cx="68263" cy="177800"/>
              </a:xfrm>
              <a:prstGeom prst="line">
                <a:avLst/>
              </a:prstGeom>
              <a:noFill/>
              <a:ln w="12700" cap="rnd">
                <a:solidFill>
                  <a:schemeClr val="bg1">
                    <a:lumMod val="50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36" name="Freeform 49">
                <a:extLst>
                  <a:ext uri="{FF2B5EF4-FFF2-40B4-BE49-F238E27FC236}">
                    <a16:creationId xmlns:a16="http://schemas.microsoft.com/office/drawing/2014/main" id="{86E77E93-B0C2-33E9-8A40-8E66029BBB21}"/>
                  </a:ext>
                </a:extLst>
              </p:cNvPr>
              <p:cNvSpPr>
                <a:spLocks/>
              </p:cNvSpPr>
              <p:nvPr/>
            </p:nvSpPr>
            <p:spPr bwMode="auto">
              <a:xfrm>
                <a:off x="12701" y="166688"/>
                <a:ext cx="198438" cy="242888"/>
              </a:xfrm>
              <a:custGeom>
                <a:avLst/>
                <a:gdLst>
                  <a:gd name="T0" fmla="*/ 125 w 125"/>
                  <a:gd name="T1" fmla="*/ 153 h 153"/>
                  <a:gd name="T2" fmla="*/ 48 w 125"/>
                  <a:gd name="T3" fmla="*/ 153 h 153"/>
                  <a:gd name="T4" fmla="*/ 10 w 125"/>
                  <a:gd name="T5" fmla="*/ 77 h 153"/>
                  <a:gd name="T6" fmla="*/ 0 w 125"/>
                  <a:gd name="T7" fmla="*/ 0 h 153"/>
                  <a:gd name="T8" fmla="*/ 67 w 125"/>
                  <a:gd name="T9" fmla="*/ 38 h 153"/>
                  <a:gd name="T10" fmla="*/ 125 w 125"/>
                  <a:gd name="T11" fmla="*/ 153 h 153"/>
                </a:gdLst>
                <a:ahLst/>
                <a:cxnLst>
                  <a:cxn ang="0">
                    <a:pos x="T0" y="T1"/>
                  </a:cxn>
                  <a:cxn ang="0">
                    <a:pos x="T2" y="T3"/>
                  </a:cxn>
                  <a:cxn ang="0">
                    <a:pos x="T4" y="T5"/>
                  </a:cxn>
                  <a:cxn ang="0">
                    <a:pos x="T6" y="T7"/>
                  </a:cxn>
                  <a:cxn ang="0">
                    <a:pos x="T8" y="T9"/>
                  </a:cxn>
                  <a:cxn ang="0">
                    <a:pos x="T10" y="T11"/>
                  </a:cxn>
                </a:cxnLst>
                <a:rect l="0" t="0" r="r" b="b"/>
                <a:pathLst>
                  <a:path w="125" h="153">
                    <a:moveTo>
                      <a:pt x="125" y="153"/>
                    </a:moveTo>
                    <a:lnTo>
                      <a:pt x="48" y="153"/>
                    </a:lnTo>
                    <a:lnTo>
                      <a:pt x="10" y="77"/>
                    </a:lnTo>
                    <a:lnTo>
                      <a:pt x="0" y="0"/>
                    </a:lnTo>
                    <a:lnTo>
                      <a:pt x="67" y="38"/>
                    </a:lnTo>
                    <a:lnTo>
                      <a:pt x="125" y="153"/>
                    </a:lnTo>
                    <a:close/>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37" name="Line 50">
                <a:extLst>
                  <a:ext uri="{FF2B5EF4-FFF2-40B4-BE49-F238E27FC236}">
                    <a16:creationId xmlns:a16="http://schemas.microsoft.com/office/drawing/2014/main" id="{7897EFBA-3F06-FAFE-8049-E95BC36B18FC}"/>
                  </a:ext>
                </a:extLst>
              </p:cNvPr>
              <p:cNvSpPr>
                <a:spLocks noChangeShapeType="1"/>
              </p:cNvSpPr>
              <p:nvPr/>
            </p:nvSpPr>
            <p:spPr bwMode="auto">
              <a:xfrm flipV="1">
                <a:off x="28576" y="227013"/>
                <a:ext cx="90488" cy="61913"/>
              </a:xfrm>
              <a:prstGeom prst="line">
                <a:avLst/>
              </a:prstGeom>
              <a:noFill/>
              <a:ln w="12700" cap="rnd">
                <a:solidFill>
                  <a:schemeClr val="bg1">
                    <a:lumMod val="50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38" name="Rectangle 51">
                <a:extLst>
                  <a:ext uri="{FF2B5EF4-FFF2-40B4-BE49-F238E27FC236}">
                    <a16:creationId xmlns:a16="http://schemas.microsoft.com/office/drawing/2014/main" id="{D3CE9C86-F2F2-73E3-0AEC-465F35216014}"/>
                  </a:ext>
                </a:extLst>
              </p:cNvPr>
              <p:cNvSpPr>
                <a:spLocks noChangeArrowheads="1"/>
              </p:cNvSpPr>
              <p:nvPr/>
            </p:nvSpPr>
            <p:spPr bwMode="auto">
              <a:xfrm>
                <a:off x="241301" y="15875"/>
                <a:ext cx="182563" cy="393700"/>
              </a:xfrm>
              <a:prstGeom prst="rect">
                <a:avLst/>
              </a:pr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39" name="Line 52">
                <a:extLst>
                  <a:ext uri="{FF2B5EF4-FFF2-40B4-BE49-F238E27FC236}">
                    <a16:creationId xmlns:a16="http://schemas.microsoft.com/office/drawing/2014/main" id="{7140D870-C0B3-404C-C3B6-E5A4953DD6F7}"/>
                  </a:ext>
                </a:extLst>
              </p:cNvPr>
              <p:cNvSpPr>
                <a:spLocks noChangeShapeType="1"/>
              </p:cNvSpPr>
              <p:nvPr/>
            </p:nvSpPr>
            <p:spPr bwMode="auto">
              <a:xfrm flipH="1">
                <a:off x="333376" y="106363"/>
                <a:ext cx="90488" cy="0"/>
              </a:xfrm>
              <a:prstGeom prst="line">
                <a:avLst/>
              </a:prstGeom>
              <a:noFill/>
              <a:ln w="12700" cap="rnd">
                <a:solidFill>
                  <a:schemeClr val="bg1">
                    <a:lumMod val="50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40" name="Line 53">
                <a:extLst>
                  <a:ext uri="{FF2B5EF4-FFF2-40B4-BE49-F238E27FC236}">
                    <a16:creationId xmlns:a16="http://schemas.microsoft.com/office/drawing/2014/main" id="{85E769DA-4A4E-2B55-910B-BB54745FBB04}"/>
                  </a:ext>
                </a:extLst>
              </p:cNvPr>
              <p:cNvSpPr>
                <a:spLocks noChangeShapeType="1"/>
              </p:cNvSpPr>
              <p:nvPr/>
            </p:nvSpPr>
            <p:spPr bwMode="auto">
              <a:xfrm flipH="1">
                <a:off x="363538" y="166688"/>
                <a:ext cx="60325" cy="0"/>
              </a:xfrm>
              <a:prstGeom prst="line">
                <a:avLst/>
              </a:prstGeom>
              <a:noFill/>
              <a:ln w="12700" cap="rnd">
                <a:solidFill>
                  <a:schemeClr val="bg1">
                    <a:lumMod val="50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41" name="Line 54">
                <a:extLst>
                  <a:ext uri="{FF2B5EF4-FFF2-40B4-BE49-F238E27FC236}">
                    <a16:creationId xmlns:a16="http://schemas.microsoft.com/office/drawing/2014/main" id="{EEE1FD00-5464-DA9A-DBD6-1974BC076E81}"/>
                  </a:ext>
                </a:extLst>
              </p:cNvPr>
              <p:cNvSpPr>
                <a:spLocks noChangeShapeType="1"/>
              </p:cNvSpPr>
              <p:nvPr/>
            </p:nvSpPr>
            <p:spPr bwMode="auto">
              <a:xfrm flipH="1">
                <a:off x="333376" y="227013"/>
                <a:ext cx="90488" cy="0"/>
              </a:xfrm>
              <a:prstGeom prst="line">
                <a:avLst/>
              </a:prstGeom>
              <a:noFill/>
              <a:ln w="12700" cap="rnd">
                <a:solidFill>
                  <a:schemeClr val="bg1">
                    <a:lumMod val="50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42" name="Line 55">
                <a:extLst>
                  <a:ext uri="{FF2B5EF4-FFF2-40B4-BE49-F238E27FC236}">
                    <a16:creationId xmlns:a16="http://schemas.microsoft.com/office/drawing/2014/main" id="{D4559E90-CDC1-B161-D589-3B91046B97E5}"/>
                  </a:ext>
                </a:extLst>
              </p:cNvPr>
              <p:cNvSpPr>
                <a:spLocks noChangeShapeType="1"/>
              </p:cNvSpPr>
              <p:nvPr/>
            </p:nvSpPr>
            <p:spPr bwMode="auto">
              <a:xfrm flipH="1">
                <a:off x="363538" y="319088"/>
                <a:ext cx="60325" cy="0"/>
              </a:xfrm>
              <a:prstGeom prst="line">
                <a:avLst/>
              </a:prstGeom>
              <a:noFill/>
              <a:ln w="12700" cap="rnd">
                <a:solidFill>
                  <a:schemeClr val="bg1">
                    <a:lumMod val="50000"/>
                  </a:schemeClr>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87" name="Group 86">
              <a:extLst>
                <a:ext uri="{FF2B5EF4-FFF2-40B4-BE49-F238E27FC236}">
                  <a16:creationId xmlns:a16="http://schemas.microsoft.com/office/drawing/2014/main" id="{A81FDDC9-C14A-AF6D-1624-5837771B42DB}"/>
                </a:ext>
              </a:extLst>
            </p:cNvPr>
            <p:cNvGrpSpPr/>
            <p:nvPr/>
          </p:nvGrpSpPr>
          <p:grpSpPr>
            <a:xfrm>
              <a:off x="6909631" y="2099480"/>
              <a:ext cx="319409" cy="236963"/>
              <a:chOff x="17463" y="19050"/>
              <a:chExt cx="879476" cy="652463"/>
            </a:xfrm>
          </p:grpSpPr>
          <p:sp>
            <p:nvSpPr>
              <p:cNvPr id="126" name="Freeform 59">
                <a:extLst>
                  <a:ext uri="{FF2B5EF4-FFF2-40B4-BE49-F238E27FC236}">
                    <a16:creationId xmlns:a16="http://schemas.microsoft.com/office/drawing/2014/main" id="{47538017-388D-58A0-4565-FCEF6ECA4425}"/>
                  </a:ext>
                </a:extLst>
              </p:cNvPr>
              <p:cNvSpPr>
                <a:spLocks/>
              </p:cNvSpPr>
              <p:nvPr/>
            </p:nvSpPr>
            <p:spPr bwMode="auto">
              <a:xfrm>
                <a:off x="17463" y="396875"/>
                <a:ext cx="90488" cy="168275"/>
              </a:xfrm>
              <a:custGeom>
                <a:avLst/>
                <a:gdLst>
                  <a:gd name="T0" fmla="*/ 24 w 24"/>
                  <a:gd name="T1" fmla="*/ 44 h 44"/>
                  <a:gd name="T2" fmla="*/ 0 w 24"/>
                  <a:gd name="T3" fmla="*/ 22 h 44"/>
                  <a:gd name="T4" fmla="*/ 24 w 24"/>
                  <a:gd name="T5" fmla="*/ 0 h 44"/>
                </a:gdLst>
                <a:ahLst/>
                <a:cxnLst>
                  <a:cxn ang="0">
                    <a:pos x="T0" y="T1"/>
                  </a:cxn>
                  <a:cxn ang="0">
                    <a:pos x="T2" y="T3"/>
                  </a:cxn>
                  <a:cxn ang="0">
                    <a:pos x="T4" y="T5"/>
                  </a:cxn>
                </a:cxnLst>
                <a:rect l="0" t="0" r="r" b="b"/>
                <a:pathLst>
                  <a:path w="24" h="44">
                    <a:moveTo>
                      <a:pt x="24" y="44"/>
                    </a:moveTo>
                    <a:cubicBezTo>
                      <a:pt x="13" y="44"/>
                      <a:pt x="0" y="40"/>
                      <a:pt x="0" y="22"/>
                    </a:cubicBezTo>
                    <a:cubicBezTo>
                      <a:pt x="0" y="4"/>
                      <a:pt x="13" y="0"/>
                      <a:pt x="24" y="0"/>
                    </a:cubicBezTo>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27" name="Freeform 60">
                <a:extLst>
                  <a:ext uri="{FF2B5EF4-FFF2-40B4-BE49-F238E27FC236}">
                    <a16:creationId xmlns:a16="http://schemas.microsoft.com/office/drawing/2014/main" id="{71BF5F2D-1877-A909-97DD-E40EE1C0BD62}"/>
                  </a:ext>
                </a:extLst>
              </p:cNvPr>
              <p:cNvSpPr>
                <a:spLocks/>
              </p:cNvSpPr>
              <p:nvPr/>
            </p:nvSpPr>
            <p:spPr bwMode="auto">
              <a:xfrm>
                <a:off x="107951" y="274638"/>
                <a:ext cx="120650" cy="396875"/>
              </a:xfrm>
              <a:custGeom>
                <a:avLst/>
                <a:gdLst>
                  <a:gd name="T0" fmla="*/ 32 w 32"/>
                  <a:gd name="T1" fmla="*/ 104 h 104"/>
                  <a:gd name="T2" fmla="*/ 16 w 32"/>
                  <a:gd name="T3" fmla="*/ 104 h 104"/>
                  <a:gd name="T4" fmla="*/ 0 w 32"/>
                  <a:gd name="T5" fmla="*/ 84 h 104"/>
                  <a:gd name="T6" fmla="*/ 0 w 32"/>
                  <a:gd name="T7" fmla="*/ 23 h 104"/>
                  <a:gd name="T8" fmla="*/ 16 w 32"/>
                  <a:gd name="T9" fmla="*/ 0 h 104"/>
                  <a:gd name="T10" fmla="*/ 32 w 32"/>
                  <a:gd name="T11" fmla="*/ 0 h 104"/>
                  <a:gd name="T12" fmla="*/ 32 w 32"/>
                  <a:gd name="T13" fmla="*/ 104 h 104"/>
                </a:gdLst>
                <a:ahLst/>
                <a:cxnLst>
                  <a:cxn ang="0">
                    <a:pos x="T0" y="T1"/>
                  </a:cxn>
                  <a:cxn ang="0">
                    <a:pos x="T2" y="T3"/>
                  </a:cxn>
                  <a:cxn ang="0">
                    <a:pos x="T4" y="T5"/>
                  </a:cxn>
                  <a:cxn ang="0">
                    <a:pos x="T6" y="T7"/>
                  </a:cxn>
                  <a:cxn ang="0">
                    <a:pos x="T8" y="T9"/>
                  </a:cxn>
                  <a:cxn ang="0">
                    <a:pos x="T10" y="T11"/>
                  </a:cxn>
                  <a:cxn ang="0">
                    <a:pos x="T12" y="T13"/>
                  </a:cxn>
                </a:cxnLst>
                <a:rect l="0" t="0" r="r" b="b"/>
                <a:pathLst>
                  <a:path w="32" h="104">
                    <a:moveTo>
                      <a:pt x="32" y="104"/>
                    </a:moveTo>
                    <a:cubicBezTo>
                      <a:pt x="16" y="104"/>
                      <a:pt x="16" y="104"/>
                      <a:pt x="16" y="104"/>
                    </a:cubicBezTo>
                    <a:cubicBezTo>
                      <a:pt x="4" y="104"/>
                      <a:pt x="0" y="96"/>
                      <a:pt x="0" y="84"/>
                    </a:cubicBezTo>
                    <a:cubicBezTo>
                      <a:pt x="0" y="23"/>
                      <a:pt x="0" y="23"/>
                      <a:pt x="0" y="23"/>
                    </a:cubicBezTo>
                    <a:cubicBezTo>
                      <a:pt x="0" y="12"/>
                      <a:pt x="5" y="0"/>
                      <a:pt x="16" y="0"/>
                    </a:cubicBezTo>
                    <a:cubicBezTo>
                      <a:pt x="32" y="0"/>
                      <a:pt x="32" y="0"/>
                      <a:pt x="32" y="0"/>
                    </a:cubicBezTo>
                    <a:lnTo>
                      <a:pt x="32" y="104"/>
                    </a:lnTo>
                    <a:close/>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28" name="Freeform 61">
                <a:extLst>
                  <a:ext uri="{FF2B5EF4-FFF2-40B4-BE49-F238E27FC236}">
                    <a16:creationId xmlns:a16="http://schemas.microsoft.com/office/drawing/2014/main" id="{C265F15A-BB96-3B81-2B09-5899855BC5A8}"/>
                  </a:ext>
                </a:extLst>
              </p:cNvPr>
              <p:cNvSpPr>
                <a:spLocks/>
              </p:cNvSpPr>
              <p:nvPr/>
            </p:nvSpPr>
            <p:spPr bwMode="auto">
              <a:xfrm>
                <a:off x="806451" y="396875"/>
                <a:ext cx="90488" cy="152400"/>
              </a:xfrm>
              <a:custGeom>
                <a:avLst/>
                <a:gdLst>
                  <a:gd name="T0" fmla="*/ 0 w 24"/>
                  <a:gd name="T1" fmla="*/ 40 h 40"/>
                  <a:gd name="T2" fmla="*/ 24 w 24"/>
                  <a:gd name="T3" fmla="*/ 20 h 40"/>
                  <a:gd name="T4" fmla="*/ 0 w 24"/>
                  <a:gd name="T5" fmla="*/ 0 h 40"/>
                </a:gdLst>
                <a:ahLst/>
                <a:cxnLst>
                  <a:cxn ang="0">
                    <a:pos x="T0" y="T1"/>
                  </a:cxn>
                  <a:cxn ang="0">
                    <a:pos x="T2" y="T3"/>
                  </a:cxn>
                  <a:cxn ang="0">
                    <a:pos x="T4" y="T5"/>
                  </a:cxn>
                </a:cxnLst>
                <a:rect l="0" t="0" r="r" b="b"/>
                <a:pathLst>
                  <a:path w="24" h="40">
                    <a:moveTo>
                      <a:pt x="0" y="40"/>
                    </a:moveTo>
                    <a:cubicBezTo>
                      <a:pt x="11" y="40"/>
                      <a:pt x="24" y="36"/>
                      <a:pt x="24" y="20"/>
                    </a:cubicBezTo>
                    <a:cubicBezTo>
                      <a:pt x="24" y="4"/>
                      <a:pt x="11" y="0"/>
                      <a:pt x="0" y="0"/>
                    </a:cubicBezTo>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29" name="Freeform 62">
                <a:extLst>
                  <a:ext uri="{FF2B5EF4-FFF2-40B4-BE49-F238E27FC236}">
                    <a16:creationId xmlns:a16="http://schemas.microsoft.com/office/drawing/2014/main" id="{B799D769-E4DC-9D03-2030-5E813D129212}"/>
                  </a:ext>
                </a:extLst>
              </p:cNvPr>
              <p:cNvSpPr>
                <a:spLocks/>
              </p:cNvSpPr>
              <p:nvPr/>
            </p:nvSpPr>
            <p:spPr bwMode="auto">
              <a:xfrm>
                <a:off x="684213" y="274638"/>
                <a:ext cx="122238" cy="396875"/>
              </a:xfrm>
              <a:custGeom>
                <a:avLst/>
                <a:gdLst>
                  <a:gd name="T0" fmla="*/ 0 w 32"/>
                  <a:gd name="T1" fmla="*/ 104 h 104"/>
                  <a:gd name="T2" fmla="*/ 16 w 32"/>
                  <a:gd name="T3" fmla="*/ 104 h 104"/>
                  <a:gd name="T4" fmla="*/ 32 w 32"/>
                  <a:gd name="T5" fmla="*/ 84 h 104"/>
                  <a:gd name="T6" fmla="*/ 32 w 32"/>
                  <a:gd name="T7" fmla="*/ 23 h 104"/>
                  <a:gd name="T8" fmla="*/ 12 w 32"/>
                  <a:gd name="T9" fmla="*/ 0 h 104"/>
                  <a:gd name="T10" fmla="*/ 0 w 32"/>
                  <a:gd name="T11" fmla="*/ 0 h 104"/>
                  <a:gd name="T12" fmla="*/ 0 w 32"/>
                  <a:gd name="T13" fmla="*/ 104 h 104"/>
                </a:gdLst>
                <a:ahLst/>
                <a:cxnLst>
                  <a:cxn ang="0">
                    <a:pos x="T0" y="T1"/>
                  </a:cxn>
                  <a:cxn ang="0">
                    <a:pos x="T2" y="T3"/>
                  </a:cxn>
                  <a:cxn ang="0">
                    <a:pos x="T4" y="T5"/>
                  </a:cxn>
                  <a:cxn ang="0">
                    <a:pos x="T6" y="T7"/>
                  </a:cxn>
                  <a:cxn ang="0">
                    <a:pos x="T8" y="T9"/>
                  </a:cxn>
                  <a:cxn ang="0">
                    <a:pos x="T10" y="T11"/>
                  </a:cxn>
                  <a:cxn ang="0">
                    <a:pos x="T12" y="T13"/>
                  </a:cxn>
                </a:cxnLst>
                <a:rect l="0" t="0" r="r" b="b"/>
                <a:pathLst>
                  <a:path w="32" h="104">
                    <a:moveTo>
                      <a:pt x="0" y="104"/>
                    </a:moveTo>
                    <a:cubicBezTo>
                      <a:pt x="16" y="104"/>
                      <a:pt x="16" y="104"/>
                      <a:pt x="16" y="104"/>
                    </a:cubicBezTo>
                    <a:cubicBezTo>
                      <a:pt x="28" y="104"/>
                      <a:pt x="32" y="96"/>
                      <a:pt x="32" y="84"/>
                    </a:cubicBezTo>
                    <a:cubicBezTo>
                      <a:pt x="32" y="23"/>
                      <a:pt x="32" y="23"/>
                      <a:pt x="32" y="23"/>
                    </a:cubicBezTo>
                    <a:cubicBezTo>
                      <a:pt x="32" y="12"/>
                      <a:pt x="24" y="0"/>
                      <a:pt x="12" y="0"/>
                    </a:cubicBezTo>
                    <a:cubicBezTo>
                      <a:pt x="0" y="0"/>
                      <a:pt x="0" y="0"/>
                      <a:pt x="0" y="0"/>
                    </a:cubicBezTo>
                    <a:lnTo>
                      <a:pt x="0" y="104"/>
                    </a:lnTo>
                    <a:close/>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30" name="Freeform 63">
                <a:extLst>
                  <a:ext uri="{FF2B5EF4-FFF2-40B4-BE49-F238E27FC236}">
                    <a16:creationId xmlns:a16="http://schemas.microsoft.com/office/drawing/2014/main" id="{193E66DC-3A0D-7305-D041-2C6B01BB5CB7}"/>
                  </a:ext>
                </a:extLst>
              </p:cNvPr>
              <p:cNvSpPr>
                <a:spLocks/>
              </p:cNvSpPr>
              <p:nvPr/>
            </p:nvSpPr>
            <p:spPr bwMode="auto">
              <a:xfrm>
                <a:off x="187326" y="19050"/>
                <a:ext cx="539750" cy="255588"/>
              </a:xfrm>
              <a:custGeom>
                <a:avLst/>
                <a:gdLst>
                  <a:gd name="T0" fmla="*/ 0 w 142"/>
                  <a:gd name="T1" fmla="*/ 67 h 67"/>
                  <a:gd name="T2" fmla="*/ 71 w 142"/>
                  <a:gd name="T3" fmla="*/ 0 h 67"/>
                  <a:gd name="T4" fmla="*/ 142 w 142"/>
                  <a:gd name="T5" fmla="*/ 67 h 67"/>
                </a:gdLst>
                <a:ahLst/>
                <a:cxnLst>
                  <a:cxn ang="0">
                    <a:pos x="T0" y="T1"/>
                  </a:cxn>
                  <a:cxn ang="0">
                    <a:pos x="T2" y="T3"/>
                  </a:cxn>
                  <a:cxn ang="0">
                    <a:pos x="T4" y="T5"/>
                  </a:cxn>
                </a:cxnLst>
                <a:rect l="0" t="0" r="r" b="b"/>
                <a:pathLst>
                  <a:path w="142" h="67">
                    <a:moveTo>
                      <a:pt x="0" y="67"/>
                    </a:moveTo>
                    <a:cubicBezTo>
                      <a:pt x="0" y="28"/>
                      <a:pt x="32" y="0"/>
                      <a:pt x="71" y="0"/>
                    </a:cubicBezTo>
                    <a:cubicBezTo>
                      <a:pt x="110" y="0"/>
                      <a:pt x="142" y="28"/>
                      <a:pt x="142" y="67"/>
                    </a:cubicBezTo>
                  </a:path>
                </a:pathLst>
              </a:custGeom>
              <a:noFill/>
              <a:ln w="12700" cap="flat">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88" name="Group 87">
              <a:extLst>
                <a:ext uri="{FF2B5EF4-FFF2-40B4-BE49-F238E27FC236}">
                  <a16:creationId xmlns:a16="http://schemas.microsoft.com/office/drawing/2014/main" id="{DD2AAAD3-E745-F73E-E61E-7E3AB56BBD70}"/>
                </a:ext>
              </a:extLst>
            </p:cNvPr>
            <p:cNvGrpSpPr/>
            <p:nvPr/>
          </p:nvGrpSpPr>
          <p:grpSpPr>
            <a:xfrm>
              <a:off x="6087274" y="3050683"/>
              <a:ext cx="146453" cy="146453"/>
              <a:chOff x="15875" y="15875"/>
              <a:chExt cx="850901" cy="850901"/>
            </a:xfrm>
          </p:grpSpPr>
          <p:sp>
            <p:nvSpPr>
              <p:cNvPr id="120" name="Freeform 67">
                <a:extLst>
                  <a:ext uri="{FF2B5EF4-FFF2-40B4-BE49-F238E27FC236}">
                    <a16:creationId xmlns:a16="http://schemas.microsoft.com/office/drawing/2014/main" id="{85FE0235-69E8-3E06-1F6D-2D1964F82E50}"/>
                  </a:ext>
                </a:extLst>
              </p:cNvPr>
              <p:cNvSpPr>
                <a:spLocks/>
              </p:cNvSpPr>
              <p:nvPr/>
            </p:nvSpPr>
            <p:spPr bwMode="auto">
              <a:xfrm>
                <a:off x="182563" y="182563"/>
                <a:ext cx="684213" cy="684213"/>
              </a:xfrm>
              <a:custGeom>
                <a:avLst/>
                <a:gdLst>
                  <a:gd name="T0" fmla="*/ 431 w 431"/>
                  <a:gd name="T1" fmla="*/ 0 h 431"/>
                  <a:gd name="T2" fmla="*/ 431 w 431"/>
                  <a:gd name="T3" fmla="*/ 431 h 431"/>
                  <a:gd name="T4" fmla="*/ 0 w 431"/>
                  <a:gd name="T5" fmla="*/ 431 h 431"/>
                </a:gdLst>
                <a:ahLst/>
                <a:cxnLst>
                  <a:cxn ang="0">
                    <a:pos x="T0" y="T1"/>
                  </a:cxn>
                  <a:cxn ang="0">
                    <a:pos x="T2" y="T3"/>
                  </a:cxn>
                  <a:cxn ang="0">
                    <a:pos x="T4" y="T5"/>
                  </a:cxn>
                </a:cxnLst>
                <a:rect l="0" t="0" r="r" b="b"/>
                <a:pathLst>
                  <a:path w="431" h="431">
                    <a:moveTo>
                      <a:pt x="431" y="0"/>
                    </a:moveTo>
                    <a:lnTo>
                      <a:pt x="431" y="431"/>
                    </a:lnTo>
                    <a:lnTo>
                      <a:pt x="0" y="431"/>
                    </a:ln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21" name="Freeform 68">
                <a:extLst>
                  <a:ext uri="{FF2B5EF4-FFF2-40B4-BE49-F238E27FC236}">
                    <a16:creationId xmlns:a16="http://schemas.microsoft.com/office/drawing/2014/main" id="{D60045AC-6834-D1CA-1021-A9FBC15520AA}"/>
                  </a:ext>
                </a:extLst>
              </p:cNvPr>
              <p:cNvSpPr>
                <a:spLocks/>
              </p:cNvSpPr>
              <p:nvPr/>
            </p:nvSpPr>
            <p:spPr bwMode="auto">
              <a:xfrm>
                <a:off x="90488" y="90488"/>
                <a:ext cx="715963" cy="715963"/>
              </a:xfrm>
              <a:custGeom>
                <a:avLst/>
                <a:gdLst>
                  <a:gd name="T0" fmla="*/ 451 w 451"/>
                  <a:gd name="T1" fmla="*/ 0 h 451"/>
                  <a:gd name="T2" fmla="*/ 451 w 451"/>
                  <a:gd name="T3" fmla="*/ 451 h 451"/>
                  <a:gd name="T4" fmla="*/ 0 w 451"/>
                  <a:gd name="T5" fmla="*/ 451 h 451"/>
                </a:gdLst>
                <a:ahLst/>
                <a:cxnLst>
                  <a:cxn ang="0">
                    <a:pos x="T0" y="T1"/>
                  </a:cxn>
                  <a:cxn ang="0">
                    <a:pos x="T2" y="T3"/>
                  </a:cxn>
                  <a:cxn ang="0">
                    <a:pos x="T4" y="T5"/>
                  </a:cxn>
                </a:cxnLst>
                <a:rect l="0" t="0" r="r" b="b"/>
                <a:pathLst>
                  <a:path w="451" h="451">
                    <a:moveTo>
                      <a:pt x="451" y="0"/>
                    </a:moveTo>
                    <a:lnTo>
                      <a:pt x="451" y="451"/>
                    </a:lnTo>
                    <a:lnTo>
                      <a:pt x="0" y="451"/>
                    </a:ln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22" name="Rectangle 69">
                <a:extLst>
                  <a:ext uri="{FF2B5EF4-FFF2-40B4-BE49-F238E27FC236}">
                    <a16:creationId xmlns:a16="http://schemas.microsoft.com/office/drawing/2014/main" id="{0D685327-496D-0F71-A472-E8449420001B}"/>
                  </a:ext>
                </a:extLst>
              </p:cNvPr>
              <p:cNvSpPr>
                <a:spLocks noChangeArrowheads="1"/>
              </p:cNvSpPr>
              <p:nvPr/>
            </p:nvSpPr>
            <p:spPr bwMode="auto">
              <a:xfrm>
                <a:off x="15875" y="15875"/>
                <a:ext cx="728663" cy="728663"/>
              </a:xfrm>
              <a:prstGeom prst="rect">
                <a:avLst/>
              </a:pr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23" name="Freeform 70">
                <a:extLst>
                  <a:ext uri="{FF2B5EF4-FFF2-40B4-BE49-F238E27FC236}">
                    <a16:creationId xmlns:a16="http://schemas.microsoft.com/office/drawing/2014/main" id="{07AC1F97-A882-2E91-96A9-A85C006D8C7A}"/>
                  </a:ext>
                </a:extLst>
              </p:cNvPr>
              <p:cNvSpPr>
                <a:spLocks/>
              </p:cNvSpPr>
              <p:nvPr/>
            </p:nvSpPr>
            <p:spPr bwMode="auto">
              <a:xfrm>
                <a:off x="166688" y="285750"/>
                <a:ext cx="482600" cy="307975"/>
              </a:xfrm>
              <a:custGeom>
                <a:avLst/>
                <a:gdLst>
                  <a:gd name="T0" fmla="*/ 304 w 304"/>
                  <a:gd name="T1" fmla="*/ 194 h 194"/>
                  <a:gd name="T2" fmla="*/ 230 w 304"/>
                  <a:gd name="T3" fmla="*/ 0 h 194"/>
                  <a:gd name="T4" fmla="*/ 134 w 304"/>
                  <a:gd name="T5" fmla="*/ 143 h 194"/>
                  <a:gd name="T6" fmla="*/ 75 w 304"/>
                  <a:gd name="T7" fmla="*/ 71 h 194"/>
                  <a:gd name="T8" fmla="*/ 0 w 304"/>
                  <a:gd name="T9" fmla="*/ 194 h 194"/>
                </a:gdLst>
                <a:ahLst/>
                <a:cxnLst>
                  <a:cxn ang="0">
                    <a:pos x="T0" y="T1"/>
                  </a:cxn>
                  <a:cxn ang="0">
                    <a:pos x="T2" y="T3"/>
                  </a:cxn>
                  <a:cxn ang="0">
                    <a:pos x="T4" y="T5"/>
                  </a:cxn>
                  <a:cxn ang="0">
                    <a:pos x="T6" y="T7"/>
                  </a:cxn>
                  <a:cxn ang="0">
                    <a:pos x="T8" y="T9"/>
                  </a:cxn>
                </a:cxnLst>
                <a:rect l="0" t="0" r="r" b="b"/>
                <a:pathLst>
                  <a:path w="304" h="194">
                    <a:moveTo>
                      <a:pt x="304" y="194"/>
                    </a:moveTo>
                    <a:lnTo>
                      <a:pt x="230" y="0"/>
                    </a:lnTo>
                    <a:lnTo>
                      <a:pt x="134" y="143"/>
                    </a:lnTo>
                    <a:lnTo>
                      <a:pt x="75" y="71"/>
                    </a:lnTo>
                    <a:lnTo>
                      <a:pt x="0" y="194"/>
                    </a:lnTo>
                  </a:path>
                </a:pathLst>
              </a:custGeom>
              <a:noFill/>
              <a:ln w="12700"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24" name="Oval 71">
                <a:extLst>
                  <a:ext uri="{FF2B5EF4-FFF2-40B4-BE49-F238E27FC236}">
                    <a16:creationId xmlns:a16="http://schemas.microsoft.com/office/drawing/2014/main" id="{EA6337C2-C61E-5E24-407B-F2B143944F38}"/>
                  </a:ext>
                </a:extLst>
              </p:cNvPr>
              <p:cNvSpPr>
                <a:spLocks noChangeArrowheads="1"/>
              </p:cNvSpPr>
              <p:nvPr/>
            </p:nvSpPr>
            <p:spPr bwMode="auto">
              <a:xfrm>
                <a:off x="166688" y="128588"/>
                <a:ext cx="119063" cy="119063"/>
              </a:xfrm>
              <a:prstGeom prst="ellipse">
                <a:avLst/>
              </a:prstGeom>
              <a:noFill/>
              <a:ln w="12700"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25" name="Line 72">
                <a:extLst>
                  <a:ext uri="{FF2B5EF4-FFF2-40B4-BE49-F238E27FC236}">
                    <a16:creationId xmlns:a16="http://schemas.microsoft.com/office/drawing/2014/main" id="{162CD61D-A907-AE87-B389-53E2DC9BAEDB}"/>
                  </a:ext>
                </a:extLst>
              </p:cNvPr>
              <p:cNvSpPr>
                <a:spLocks noChangeShapeType="1"/>
              </p:cNvSpPr>
              <p:nvPr/>
            </p:nvSpPr>
            <p:spPr bwMode="auto">
              <a:xfrm flipH="1">
                <a:off x="15875" y="593725"/>
                <a:ext cx="728663"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89" name="Group 88">
              <a:extLst>
                <a:ext uri="{FF2B5EF4-FFF2-40B4-BE49-F238E27FC236}">
                  <a16:creationId xmlns:a16="http://schemas.microsoft.com/office/drawing/2014/main" id="{E637621C-5751-4B9C-9325-1824F536BEA6}"/>
                </a:ext>
              </a:extLst>
            </p:cNvPr>
            <p:cNvGrpSpPr/>
            <p:nvPr/>
          </p:nvGrpSpPr>
          <p:grpSpPr>
            <a:xfrm>
              <a:off x="6360962" y="3233314"/>
              <a:ext cx="295742" cy="295742"/>
              <a:chOff x="15875" y="15875"/>
              <a:chExt cx="879475" cy="879475"/>
            </a:xfrm>
          </p:grpSpPr>
          <p:sp>
            <p:nvSpPr>
              <p:cNvPr id="114" name="Rectangle 76">
                <a:extLst>
                  <a:ext uri="{FF2B5EF4-FFF2-40B4-BE49-F238E27FC236}">
                    <a16:creationId xmlns:a16="http://schemas.microsoft.com/office/drawing/2014/main" id="{776AC9F7-F7A8-CD97-8BF1-D7DB89BDACB7}"/>
                  </a:ext>
                </a:extLst>
              </p:cNvPr>
              <p:cNvSpPr>
                <a:spLocks noChangeArrowheads="1"/>
              </p:cNvSpPr>
              <p:nvPr/>
            </p:nvSpPr>
            <p:spPr bwMode="auto">
              <a:xfrm>
                <a:off x="136525" y="106363"/>
                <a:ext cx="638175" cy="365125"/>
              </a:xfrm>
              <a:prstGeom prst="rect">
                <a:avLst/>
              </a:prstGeom>
              <a:noFill/>
              <a:ln w="12700" cap="rnd">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15" name="Line 77">
                <a:extLst>
                  <a:ext uri="{FF2B5EF4-FFF2-40B4-BE49-F238E27FC236}">
                    <a16:creationId xmlns:a16="http://schemas.microsoft.com/office/drawing/2014/main" id="{243E4955-7CC8-D81C-5DC8-82BE7D21E128}"/>
                  </a:ext>
                </a:extLst>
              </p:cNvPr>
              <p:cNvSpPr>
                <a:spLocks noChangeShapeType="1"/>
              </p:cNvSpPr>
              <p:nvPr/>
            </p:nvSpPr>
            <p:spPr bwMode="auto">
              <a:xfrm>
                <a:off x="106363" y="714375"/>
                <a:ext cx="212725" cy="0"/>
              </a:xfrm>
              <a:prstGeom prst="line">
                <a:avLst/>
              </a:prstGeom>
              <a:noFill/>
              <a:ln w="12700" cap="rnd">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16" name="Line 78">
                <a:extLst>
                  <a:ext uri="{FF2B5EF4-FFF2-40B4-BE49-F238E27FC236}">
                    <a16:creationId xmlns:a16="http://schemas.microsoft.com/office/drawing/2014/main" id="{7766FCE5-228B-C8D4-2949-7FF2717DDEE5}"/>
                  </a:ext>
                </a:extLst>
              </p:cNvPr>
              <p:cNvSpPr>
                <a:spLocks noChangeShapeType="1"/>
              </p:cNvSpPr>
              <p:nvPr/>
            </p:nvSpPr>
            <p:spPr bwMode="auto">
              <a:xfrm>
                <a:off x="106363" y="774700"/>
                <a:ext cx="90488" cy="0"/>
              </a:xfrm>
              <a:prstGeom prst="line">
                <a:avLst/>
              </a:prstGeom>
              <a:noFill/>
              <a:ln w="12700" cap="rnd">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17" name="Rectangle 79">
                <a:extLst>
                  <a:ext uri="{FF2B5EF4-FFF2-40B4-BE49-F238E27FC236}">
                    <a16:creationId xmlns:a16="http://schemas.microsoft.com/office/drawing/2014/main" id="{ADFC4568-EE86-1FD3-E67B-4F60177F05DE}"/>
                  </a:ext>
                </a:extLst>
              </p:cNvPr>
              <p:cNvSpPr>
                <a:spLocks noChangeArrowheads="1"/>
              </p:cNvSpPr>
              <p:nvPr/>
            </p:nvSpPr>
            <p:spPr bwMode="auto">
              <a:xfrm>
                <a:off x="471488" y="682625"/>
                <a:ext cx="333375" cy="61913"/>
              </a:xfrm>
              <a:prstGeom prst="rect">
                <a:avLst/>
              </a:prstGeom>
              <a:noFill/>
              <a:ln w="12700" cap="rnd">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18" name="Freeform 80">
                <a:extLst>
                  <a:ext uri="{FF2B5EF4-FFF2-40B4-BE49-F238E27FC236}">
                    <a16:creationId xmlns:a16="http://schemas.microsoft.com/office/drawing/2014/main" id="{074BAEE0-909D-201A-87C2-714ECE1332DF}"/>
                  </a:ext>
                </a:extLst>
              </p:cNvPr>
              <p:cNvSpPr>
                <a:spLocks/>
              </p:cNvSpPr>
              <p:nvPr/>
            </p:nvSpPr>
            <p:spPr bwMode="auto">
              <a:xfrm>
                <a:off x="15875" y="622300"/>
                <a:ext cx="879475" cy="273050"/>
              </a:xfrm>
              <a:custGeom>
                <a:avLst/>
                <a:gdLst>
                  <a:gd name="T0" fmla="*/ 232 w 232"/>
                  <a:gd name="T1" fmla="*/ 16 h 72"/>
                  <a:gd name="T2" fmla="*/ 216 w 232"/>
                  <a:gd name="T3" fmla="*/ 0 h 72"/>
                  <a:gd name="T4" fmla="*/ 16 w 232"/>
                  <a:gd name="T5" fmla="*/ 0 h 72"/>
                  <a:gd name="T6" fmla="*/ 0 w 232"/>
                  <a:gd name="T7" fmla="*/ 16 h 72"/>
                  <a:gd name="T8" fmla="*/ 0 w 232"/>
                  <a:gd name="T9" fmla="*/ 72 h 72"/>
                  <a:gd name="T10" fmla="*/ 232 w 232"/>
                  <a:gd name="T11" fmla="*/ 72 h 72"/>
                  <a:gd name="T12" fmla="*/ 232 w 232"/>
                  <a:gd name="T13" fmla="*/ 16 h 72"/>
                </a:gdLst>
                <a:ahLst/>
                <a:cxnLst>
                  <a:cxn ang="0">
                    <a:pos x="T0" y="T1"/>
                  </a:cxn>
                  <a:cxn ang="0">
                    <a:pos x="T2" y="T3"/>
                  </a:cxn>
                  <a:cxn ang="0">
                    <a:pos x="T4" y="T5"/>
                  </a:cxn>
                  <a:cxn ang="0">
                    <a:pos x="T6" y="T7"/>
                  </a:cxn>
                  <a:cxn ang="0">
                    <a:pos x="T8" y="T9"/>
                  </a:cxn>
                  <a:cxn ang="0">
                    <a:pos x="T10" y="T11"/>
                  </a:cxn>
                  <a:cxn ang="0">
                    <a:pos x="T12" y="T13"/>
                  </a:cxn>
                </a:cxnLst>
                <a:rect l="0" t="0" r="r" b="b"/>
                <a:pathLst>
                  <a:path w="232" h="72">
                    <a:moveTo>
                      <a:pt x="232" y="16"/>
                    </a:moveTo>
                    <a:cubicBezTo>
                      <a:pt x="232" y="7"/>
                      <a:pt x="225" y="0"/>
                      <a:pt x="216" y="0"/>
                    </a:cubicBezTo>
                    <a:cubicBezTo>
                      <a:pt x="16" y="0"/>
                      <a:pt x="16" y="0"/>
                      <a:pt x="16" y="0"/>
                    </a:cubicBezTo>
                    <a:cubicBezTo>
                      <a:pt x="7" y="0"/>
                      <a:pt x="0" y="7"/>
                      <a:pt x="0" y="16"/>
                    </a:cubicBezTo>
                    <a:cubicBezTo>
                      <a:pt x="0" y="72"/>
                      <a:pt x="0" y="72"/>
                      <a:pt x="0" y="72"/>
                    </a:cubicBezTo>
                    <a:cubicBezTo>
                      <a:pt x="232" y="72"/>
                      <a:pt x="232" y="72"/>
                      <a:pt x="232" y="72"/>
                    </a:cubicBezTo>
                    <a:lnTo>
                      <a:pt x="232" y="16"/>
                    </a:lnTo>
                    <a:close/>
                  </a:path>
                </a:pathLst>
              </a:custGeom>
              <a:noFill/>
              <a:ln w="12700" cap="rnd">
                <a:solidFill>
                  <a:schemeClr val="bg1">
                    <a:lumMod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19" name="Freeform 81">
                <a:extLst>
                  <a:ext uri="{FF2B5EF4-FFF2-40B4-BE49-F238E27FC236}">
                    <a16:creationId xmlns:a16="http://schemas.microsoft.com/office/drawing/2014/main" id="{0CEA3337-6BF3-DE45-CC4D-7C0853576D5F}"/>
                  </a:ext>
                </a:extLst>
              </p:cNvPr>
              <p:cNvSpPr>
                <a:spLocks/>
              </p:cNvSpPr>
              <p:nvPr/>
            </p:nvSpPr>
            <p:spPr bwMode="auto">
              <a:xfrm>
                <a:off x="46038" y="15875"/>
                <a:ext cx="819150" cy="546100"/>
              </a:xfrm>
              <a:custGeom>
                <a:avLst/>
                <a:gdLst>
                  <a:gd name="T0" fmla="*/ 216 w 216"/>
                  <a:gd name="T1" fmla="*/ 128 h 144"/>
                  <a:gd name="T2" fmla="*/ 200 w 216"/>
                  <a:gd name="T3" fmla="*/ 144 h 144"/>
                  <a:gd name="T4" fmla="*/ 16 w 216"/>
                  <a:gd name="T5" fmla="*/ 144 h 144"/>
                  <a:gd name="T6" fmla="*/ 0 w 216"/>
                  <a:gd name="T7" fmla="*/ 128 h 144"/>
                  <a:gd name="T8" fmla="*/ 0 w 216"/>
                  <a:gd name="T9" fmla="*/ 16 h 144"/>
                  <a:gd name="T10" fmla="*/ 16 w 216"/>
                  <a:gd name="T11" fmla="*/ 0 h 144"/>
                  <a:gd name="T12" fmla="*/ 200 w 216"/>
                  <a:gd name="T13" fmla="*/ 0 h 144"/>
                  <a:gd name="T14" fmla="*/ 216 w 216"/>
                  <a:gd name="T15" fmla="*/ 16 h 144"/>
                  <a:gd name="T16" fmla="*/ 216 w 216"/>
                  <a:gd name="T17" fmla="*/ 128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6" h="144">
                    <a:moveTo>
                      <a:pt x="216" y="128"/>
                    </a:moveTo>
                    <a:cubicBezTo>
                      <a:pt x="216" y="137"/>
                      <a:pt x="209" y="144"/>
                      <a:pt x="200" y="144"/>
                    </a:cubicBezTo>
                    <a:cubicBezTo>
                      <a:pt x="16" y="144"/>
                      <a:pt x="16" y="144"/>
                      <a:pt x="16" y="144"/>
                    </a:cubicBezTo>
                    <a:cubicBezTo>
                      <a:pt x="7" y="144"/>
                      <a:pt x="0" y="137"/>
                      <a:pt x="0" y="128"/>
                    </a:cubicBezTo>
                    <a:cubicBezTo>
                      <a:pt x="0" y="16"/>
                      <a:pt x="0" y="16"/>
                      <a:pt x="0" y="16"/>
                    </a:cubicBezTo>
                    <a:cubicBezTo>
                      <a:pt x="0" y="7"/>
                      <a:pt x="7" y="0"/>
                      <a:pt x="16" y="0"/>
                    </a:cubicBezTo>
                    <a:cubicBezTo>
                      <a:pt x="200" y="0"/>
                      <a:pt x="200" y="0"/>
                      <a:pt x="200" y="0"/>
                    </a:cubicBezTo>
                    <a:cubicBezTo>
                      <a:pt x="209" y="0"/>
                      <a:pt x="216" y="7"/>
                      <a:pt x="216" y="16"/>
                    </a:cubicBezTo>
                    <a:lnTo>
                      <a:pt x="216" y="128"/>
                    </a:lnTo>
                    <a:close/>
                  </a:path>
                </a:pathLst>
              </a:custGeom>
              <a:noFill/>
              <a:ln w="12700" cap="rnd">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90" name="Group 89">
              <a:extLst>
                <a:ext uri="{FF2B5EF4-FFF2-40B4-BE49-F238E27FC236}">
                  <a16:creationId xmlns:a16="http://schemas.microsoft.com/office/drawing/2014/main" id="{A685C556-68E5-95BD-922C-D8F4BFC02C7A}"/>
                </a:ext>
              </a:extLst>
            </p:cNvPr>
            <p:cNvGrpSpPr/>
            <p:nvPr/>
          </p:nvGrpSpPr>
          <p:grpSpPr>
            <a:xfrm>
              <a:off x="7364222" y="3821621"/>
              <a:ext cx="247917" cy="247917"/>
              <a:chOff x="15875" y="15875"/>
              <a:chExt cx="879476" cy="879475"/>
            </a:xfrm>
          </p:grpSpPr>
          <p:sp>
            <p:nvSpPr>
              <p:cNvPr id="95" name="Freeform 85">
                <a:extLst>
                  <a:ext uri="{FF2B5EF4-FFF2-40B4-BE49-F238E27FC236}">
                    <a16:creationId xmlns:a16="http://schemas.microsoft.com/office/drawing/2014/main" id="{BE2D9CA8-BBAB-8EA0-B98E-CBED052BC0E0}"/>
                  </a:ext>
                </a:extLst>
              </p:cNvPr>
              <p:cNvSpPr>
                <a:spLocks/>
              </p:cNvSpPr>
              <p:nvPr/>
            </p:nvSpPr>
            <p:spPr bwMode="auto">
              <a:xfrm>
                <a:off x="15875" y="15875"/>
                <a:ext cx="515938" cy="879475"/>
              </a:xfrm>
              <a:custGeom>
                <a:avLst/>
                <a:gdLst>
                  <a:gd name="T0" fmla="*/ 136 w 136"/>
                  <a:gd name="T1" fmla="*/ 16 h 232"/>
                  <a:gd name="T2" fmla="*/ 120 w 136"/>
                  <a:gd name="T3" fmla="*/ 0 h 232"/>
                  <a:gd name="T4" fmla="*/ 16 w 136"/>
                  <a:gd name="T5" fmla="*/ 0 h 232"/>
                  <a:gd name="T6" fmla="*/ 0 w 136"/>
                  <a:gd name="T7" fmla="*/ 16 h 232"/>
                  <a:gd name="T8" fmla="*/ 0 w 136"/>
                  <a:gd name="T9" fmla="*/ 216 h 232"/>
                  <a:gd name="T10" fmla="*/ 16 w 136"/>
                  <a:gd name="T11" fmla="*/ 232 h 232"/>
                  <a:gd name="T12" fmla="*/ 120 w 136"/>
                  <a:gd name="T13" fmla="*/ 232 h 232"/>
                  <a:gd name="T14" fmla="*/ 136 w 136"/>
                  <a:gd name="T15" fmla="*/ 216 h 232"/>
                  <a:gd name="T16" fmla="*/ 136 w 136"/>
                  <a:gd name="T17" fmla="*/ 1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6" h="232">
                    <a:moveTo>
                      <a:pt x="136" y="16"/>
                    </a:moveTo>
                    <a:cubicBezTo>
                      <a:pt x="136" y="7"/>
                      <a:pt x="129" y="0"/>
                      <a:pt x="120" y="0"/>
                    </a:cubicBezTo>
                    <a:cubicBezTo>
                      <a:pt x="16" y="0"/>
                      <a:pt x="16" y="0"/>
                      <a:pt x="16" y="0"/>
                    </a:cubicBezTo>
                    <a:cubicBezTo>
                      <a:pt x="7" y="0"/>
                      <a:pt x="0" y="7"/>
                      <a:pt x="0" y="16"/>
                    </a:cubicBezTo>
                    <a:cubicBezTo>
                      <a:pt x="0" y="216"/>
                      <a:pt x="0" y="216"/>
                      <a:pt x="0" y="216"/>
                    </a:cubicBezTo>
                    <a:cubicBezTo>
                      <a:pt x="0" y="225"/>
                      <a:pt x="7" y="232"/>
                      <a:pt x="16" y="232"/>
                    </a:cubicBezTo>
                    <a:cubicBezTo>
                      <a:pt x="120" y="232"/>
                      <a:pt x="120" y="232"/>
                      <a:pt x="120" y="232"/>
                    </a:cubicBezTo>
                    <a:cubicBezTo>
                      <a:pt x="129" y="232"/>
                      <a:pt x="136" y="225"/>
                      <a:pt x="136" y="216"/>
                    </a:cubicBezTo>
                    <a:lnTo>
                      <a:pt x="136" y="16"/>
                    </a:lnTo>
                    <a:close/>
                  </a:path>
                </a:pathLst>
              </a:custGeom>
              <a:noFill/>
              <a:ln w="12700" cap="rnd">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6" name="Line 86">
                <a:extLst>
                  <a:ext uri="{FF2B5EF4-FFF2-40B4-BE49-F238E27FC236}">
                    <a16:creationId xmlns:a16="http://schemas.microsoft.com/office/drawing/2014/main" id="{2E83A2F3-446A-EF59-474D-87033DF64F8E}"/>
                  </a:ext>
                </a:extLst>
              </p:cNvPr>
              <p:cNvSpPr>
                <a:spLocks noChangeShapeType="1"/>
              </p:cNvSpPr>
              <p:nvPr/>
            </p:nvSpPr>
            <p:spPr bwMode="auto">
              <a:xfrm>
                <a:off x="15875" y="531813"/>
                <a:ext cx="515938" cy="0"/>
              </a:xfrm>
              <a:prstGeom prst="line">
                <a:avLst/>
              </a:prstGeom>
              <a:noFill/>
              <a:ln w="12700" cap="rnd">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7" name="Oval 87">
                <a:extLst>
                  <a:ext uri="{FF2B5EF4-FFF2-40B4-BE49-F238E27FC236}">
                    <a16:creationId xmlns:a16="http://schemas.microsoft.com/office/drawing/2014/main" id="{9E02B263-4248-514A-6408-31F86A282613}"/>
                  </a:ext>
                </a:extLst>
              </p:cNvPr>
              <p:cNvSpPr>
                <a:spLocks noChangeArrowheads="1"/>
              </p:cNvSpPr>
              <p:nvPr/>
            </p:nvSpPr>
            <p:spPr bwMode="auto">
              <a:xfrm>
                <a:off x="182563" y="622300"/>
                <a:ext cx="182563" cy="182563"/>
              </a:xfrm>
              <a:prstGeom prst="ellipse">
                <a:avLst/>
              </a:prstGeom>
              <a:noFill/>
              <a:ln w="12700" cap="rnd">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8" name="Freeform 88">
                <a:extLst>
                  <a:ext uri="{FF2B5EF4-FFF2-40B4-BE49-F238E27FC236}">
                    <a16:creationId xmlns:a16="http://schemas.microsoft.com/office/drawing/2014/main" id="{514B9517-63A7-8375-9D45-1FFBBBC2508F}"/>
                  </a:ext>
                </a:extLst>
              </p:cNvPr>
              <p:cNvSpPr>
                <a:spLocks/>
              </p:cNvSpPr>
              <p:nvPr/>
            </p:nvSpPr>
            <p:spPr bwMode="auto">
              <a:xfrm>
                <a:off x="242888" y="668338"/>
                <a:ext cx="76200" cy="90488"/>
              </a:xfrm>
              <a:custGeom>
                <a:avLst/>
                <a:gdLst>
                  <a:gd name="T0" fmla="*/ 0 w 48"/>
                  <a:gd name="T1" fmla="*/ 0 h 57"/>
                  <a:gd name="T2" fmla="*/ 0 w 48"/>
                  <a:gd name="T3" fmla="*/ 57 h 57"/>
                  <a:gd name="T4" fmla="*/ 48 w 48"/>
                  <a:gd name="T5" fmla="*/ 29 h 57"/>
                  <a:gd name="T6" fmla="*/ 0 w 48"/>
                  <a:gd name="T7" fmla="*/ 0 h 57"/>
                  <a:gd name="T8" fmla="*/ 0 w 48"/>
                  <a:gd name="T9" fmla="*/ 0 h 57"/>
                </a:gdLst>
                <a:ahLst/>
                <a:cxnLst>
                  <a:cxn ang="0">
                    <a:pos x="T0" y="T1"/>
                  </a:cxn>
                  <a:cxn ang="0">
                    <a:pos x="T2" y="T3"/>
                  </a:cxn>
                  <a:cxn ang="0">
                    <a:pos x="T4" y="T5"/>
                  </a:cxn>
                  <a:cxn ang="0">
                    <a:pos x="T6" y="T7"/>
                  </a:cxn>
                  <a:cxn ang="0">
                    <a:pos x="T8" y="T9"/>
                  </a:cxn>
                </a:cxnLst>
                <a:rect l="0" t="0" r="r" b="b"/>
                <a:pathLst>
                  <a:path w="48" h="57">
                    <a:moveTo>
                      <a:pt x="0" y="0"/>
                    </a:moveTo>
                    <a:lnTo>
                      <a:pt x="0" y="57"/>
                    </a:lnTo>
                    <a:lnTo>
                      <a:pt x="48" y="29"/>
                    </a:lnTo>
                    <a:lnTo>
                      <a:pt x="0" y="0"/>
                    </a:lnTo>
                    <a:lnTo>
                      <a:pt x="0" y="0"/>
                    </a:lnTo>
                    <a:close/>
                  </a:path>
                </a:pathLst>
              </a:custGeom>
              <a:solidFill>
                <a:srgbClr val="010101"/>
              </a:solidFill>
              <a:ln w="12700">
                <a:solidFill>
                  <a:schemeClr val="bg1">
                    <a:lumMod val="50000"/>
                  </a:schemeClr>
                </a:solidFill>
                <a:round/>
                <a:headEnd/>
                <a:tailEnd/>
              </a:ln>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9" name="Line 89">
                <a:extLst>
                  <a:ext uri="{FF2B5EF4-FFF2-40B4-BE49-F238E27FC236}">
                    <a16:creationId xmlns:a16="http://schemas.microsoft.com/office/drawing/2014/main" id="{C4D43737-A856-4040-3192-74563A12CFE7}"/>
                  </a:ext>
                </a:extLst>
              </p:cNvPr>
              <p:cNvSpPr>
                <a:spLocks noChangeShapeType="1"/>
              </p:cNvSpPr>
              <p:nvPr/>
            </p:nvSpPr>
            <p:spPr bwMode="auto">
              <a:xfrm>
                <a:off x="106363" y="439738"/>
                <a:ext cx="90488"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0" name="Line 90">
                <a:extLst>
                  <a:ext uri="{FF2B5EF4-FFF2-40B4-BE49-F238E27FC236}">
                    <a16:creationId xmlns:a16="http://schemas.microsoft.com/office/drawing/2014/main" id="{3E456CB6-DAA2-931E-FBC7-E0EA40CE06E8}"/>
                  </a:ext>
                </a:extLst>
              </p:cNvPr>
              <p:cNvSpPr>
                <a:spLocks noChangeShapeType="1"/>
              </p:cNvSpPr>
              <p:nvPr/>
            </p:nvSpPr>
            <p:spPr bwMode="auto">
              <a:xfrm>
                <a:off x="106363" y="379413"/>
                <a:ext cx="90488"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1" name="Line 91">
                <a:extLst>
                  <a:ext uri="{FF2B5EF4-FFF2-40B4-BE49-F238E27FC236}">
                    <a16:creationId xmlns:a16="http://schemas.microsoft.com/office/drawing/2014/main" id="{ADD81F1F-8310-313C-3525-D589A71C37A4}"/>
                  </a:ext>
                </a:extLst>
              </p:cNvPr>
              <p:cNvSpPr>
                <a:spLocks noChangeShapeType="1"/>
              </p:cNvSpPr>
              <p:nvPr/>
            </p:nvSpPr>
            <p:spPr bwMode="auto">
              <a:xfrm>
                <a:off x="106363" y="319088"/>
                <a:ext cx="90488"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2" name="Line 92">
                <a:extLst>
                  <a:ext uri="{FF2B5EF4-FFF2-40B4-BE49-F238E27FC236}">
                    <a16:creationId xmlns:a16="http://schemas.microsoft.com/office/drawing/2014/main" id="{5642874F-748F-BABE-78BA-975E809602AF}"/>
                  </a:ext>
                </a:extLst>
              </p:cNvPr>
              <p:cNvSpPr>
                <a:spLocks noChangeShapeType="1"/>
              </p:cNvSpPr>
              <p:nvPr/>
            </p:nvSpPr>
            <p:spPr bwMode="auto">
              <a:xfrm>
                <a:off x="227013" y="439738"/>
                <a:ext cx="92075"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3" name="Line 93">
                <a:extLst>
                  <a:ext uri="{FF2B5EF4-FFF2-40B4-BE49-F238E27FC236}">
                    <a16:creationId xmlns:a16="http://schemas.microsoft.com/office/drawing/2014/main" id="{9827744B-5E82-BA45-BFE8-4A680E340743}"/>
                  </a:ext>
                </a:extLst>
              </p:cNvPr>
              <p:cNvSpPr>
                <a:spLocks noChangeShapeType="1"/>
              </p:cNvSpPr>
              <p:nvPr/>
            </p:nvSpPr>
            <p:spPr bwMode="auto">
              <a:xfrm>
                <a:off x="227013" y="379413"/>
                <a:ext cx="92075"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4" name="Line 94">
                <a:extLst>
                  <a:ext uri="{FF2B5EF4-FFF2-40B4-BE49-F238E27FC236}">
                    <a16:creationId xmlns:a16="http://schemas.microsoft.com/office/drawing/2014/main" id="{04A31922-A71F-AB08-D2F7-38BE8ED14415}"/>
                  </a:ext>
                </a:extLst>
              </p:cNvPr>
              <p:cNvSpPr>
                <a:spLocks noChangeShapeType="1"/>
              </p:cNvSpPr>
              <p:nvPr/>
            </p:nvSpPr>
            <p:spPr bwMode="auto">
              <a:xfrm>
                <a:off x="227013" y="319088"/>
                <a:ext cx="92075"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5" name="Line 95">
                <a:extLst>
                  <a:ext uri="{FF2B5EF4-FFF2-40B4-BE49-F238E27FC236}">
                    <a16:creationId xmlns:a16="http://schemas.microsoft.com/office/drawing/2014/main" id="{73146BBD-2F7B-47E8-A439-E86D1409DB6B}"/>
                  </a:ext>
                </a:extLst>
              </p:cNvPr>
              <p:cNvSpPr>
                <a:spLocks noChangeShapeType="1"/>
              </p:cNvSpPr>
              <p:nvPr/>
            </p:nvSpPr>
            <p:spPr bwMode="auto">
              <a:xfrm>
                <a:off x="349250" y="439738"/>
                <a:ext cx="90488"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6" name="Line 96">
                <a:extLst>
                  <a:ext uri="{FF2B5EF4-FFF2-40B4-BE49-F238E27FC236}">
                    <a16:creationId xmlns:a16="http://schemas.microsoft.com/office/drawing/2014/main" id="{A008EAE6-E2B1-7BBF-C56C-2AF5A420F942}"/>
                  </a:ext>
                </a:extLst>
              </p:cNvPr>
              <p:cNvSpPr>
                <a:spLocks noChangeShapeType="1"/>
              </p:cNvSpPr>
              <p:nvPr/>
            </p:nvSpPr>
            <p:spPr bwMode="auto">
              <a:xfrm>
                <a:off x="349250" y="379413"/>
                <a:ext cx="90488"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7" name="Line 97">
                <a:extLst>
                  <a:ext uri="{FF2B5EF4-FFF2-40B4-BE49-F238E27FC236}">
                    <a16:creationId xmlns:a16="http://schemas.microsoft.com/office/drawing/2014/main" id="{F9F337D8-ED44-10B9-1D59-05FF753D9345}"/>
                  </a:ext>
                </a:extLst>
              </p:cNvPr>
              <p:cNvSpPr>
                <a:spLocks noChangeShapeType="1"/>
              </p:cNvSpPr>
              <p:nvPr/>
            </p:nvSpPr>
            <p:spPr bwMode="auto">
              <a:xfrm>
                <a:off x="349250" y="319088"/>
                <a:ext cx="90488"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8" name="Line 98">
                <a:extLst>
                  <a:ext uri="{FF2B5EF4-FFF2-40B4-BE49-F238E27FC236}">
                    <a16:creationId xmlns:a16="http://schemas.microsoft.com/office/drawing/2014/main" id="{84B393E3-5A75-2A7E-02F2-CE2C6FC79963}"/>
                  </a:ext>
                </a:extLst>
              </p:cNvPr>
              <p:cNvSpPr>
                <a:spLocks noChangeShapeType="1"/>
              </p:cNvSpPr>
              <p:nvPr/>
            </p:nvSpPr>
            <p:spPr bwMode="auto">
              <a:xfrm>
                <a:off x="106363" y="258763"/>
                <a:ext cx="90488"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09" name="Line 99">
                <a:extLst>
                  <a:ext uri="{FF2B5EF4-FFF2-40B4-BE49-F238E27FC236}">
                    <a16:creationId xmlns:a16="http://schemas.microsoft.com/office/drawing/2014/main" id="{B1324F8A-2B5A-E520-9851-75E86E75FB04}"/>
                  </a:ext>
                </a:extLst>
              </p:cNvPr>
              <p:cNvSpPr>
                <a:spLocks noChangeShapeType="1"/>
              </p:cNvSpPr>
              <p:nvPr/>
            </p:nvSpPr>
            <p:spPr bwMode="auto">
              <a:xfrm>
                <a:off x="349250" y="258763"/>
                <a:ext cx="90488"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10" name="Line 100">
                <a:extLst>
                  <a:ext uri="{FF2B5EF4-FFF2-40B4-BE49-F238E27FC236}">
                    <a16:creationId xmlns:a16="http://schemas.microsoft.com/office/drawing/2014/main" id="{0201CF9C-1E71-9EDC-9498-281D458E2AAF}"/>
                  </a:ext>
                </a:extLst>
              </p:cNvPr>
              <p:cNvSpPr>
                <a:spLocks noChangeShapeType="1"/>
              </p:cNvSpPr>
              <p:nvPr/>
            </p:nvSpPr>
            <p:spPr bwMode="auto">
              <a:xfrm>
                <a:off x="106363" y="196850"/>
                <a:ext cx="90488" cy="0"/>
              </a:xfrm>
              <a:prstGeom prst="line">
                <a:avLst/>
              </a:prstGeom>
              <a:noFill/>
              <a:ln w="12700" cap="flat">
                <a:solidFill>
                  <a:schemeClr val="bg1">
                    <a:lumMod val="5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11" name="Freeform 101">
                <a:extLst>
                  <a:ext uri="{FF2B5EF4-FFF2-40B4-BE49-F238E27FC236}">
                    <a16:creationId xmlns:a16="http://schemas.microsoft.com/office/drawing/2014/main" id="{21D2BD2C-F826-6403-3959-C6F544FEBCD5}"/>
                  </a:ext>
                </a:extLst>
              </p:cNvPr>
              <p:cNvSpPr>
                <a:spLocks/>
              </p:cNvSpPr>
              <p:nvPr/>
            </p:nvSpPr>
            <p:spPr bwMode="auto">
              <a:xfrm>
                <a:off x="804863" y="227013"/>
                <a:ext cx="90488" cy="212725"/>
              </a:xfrm>
              <a:custGeom>
                <a:avLst/>
                <a:gdLst>
                  <a:gd name="T0" fmla="*/ 24 w 24"/>
                  <a:gd name="T1" fmla="*/ 44 h 56"/>
                  <a:gd name="T2" fmla="*/ 12 w 24"/>
                  <a:gd name="T3" fmla="*/ 56 h 56"/>
                  <a:gd name="T4" fmla="*/ 12 w 24"/>
                  <a:gd name="T5" fmla="*/ 56 h 56"/>
                  <a:gd name="T6" fmla="*/ 0 w 24"/>
                  <a:gd name="T7" fmla="*/ 44 h 56"/>
                  <a:gd name="T8" fmla="*/ 0 w 24"/>
                  <a:gd name="T9" fmla="*/ 12 h 56"/>
                  <a:gd name="T10" fmla="*/ 12 w 24"/>
                  <a:gd name="T11" fmla="*/ 0 h 56"/>
                  <a:gd name="T12" fmla="*/ 12 w 24"/>
                  <a:gd name="T13" fmla="*/ 0 h 56"/>
                  <a:gd name="T14" fmla="*/ 24 w 24"/>
                  <a:gd name="T15" fmla="*/ 12 h 56"/>
                  <a:gd name="T16" fmla="*/ 24 w 24"/>
                  <a:gd name="T17" fmla="*/ 4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56">
                    <a:moveTo>
                      <a:pt x="24" y="44"/>
                    </a:moveTo>
                    <a:cubicBezTo>
                      <a:pt x="24" y="51"/>
                      <a:pt x="19" y="56"/>
                      <a:pt x="12" y="56"/>
                    </a:cubicBezTo>
                    <a:cubicBezTo>
                      <a:pt x="12" y="56"/>
                      <a:pt x="12" y="56"/>
                      <a:pt x="12" y="56"/>
                    </a:cubicBezTo>
                    <a:cubicBezTo>
                      <a:pt x="5" y="56"/>
                      <a:pt x="0" y="51"/>
                      <a:pt x="0" y="44"/>
                    </a:cubicBezTo>
                    <a:cubicBezTo>
                      <a:pt x="0" y="12"/>
                      <a:pt x="0" y="12"/>
                      <a:pt x="0" y="12"/>
                    </a:cubicBezTo>
                    <a:cubicBezTo>
                      <a:pt x="0" y="5"/>
                      <a:pt x="5" y="0"/>
                      <a:pt x="12" y="0"/>
                    </a:cubicBezTo>
                    <a:cubicBezTo>
                      <a:pt x="12" y="0"/>
                      <a:pt x="12" y="0"/>
                      <a:pt x="12" y="0"/>
                    </a:cubicBezTo>
                    <a:cubicBezTo>
                      <a:pt x="19" y="0"/>
                      <a:pt x="24" y="5"/>
                      <a:pt x="24" y="12"/>
                    </a:cubicBezTo>
                    <a:lnTo>
                      <a:pt x="24" y="44"/>
                    </a:lnTo>
                    <a:close/>
                  </a:path>
                </a:pathLst>
              </a:custGeom>
              <a:noFill/>
              <a:ln w="12700" cap="flat">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12" name="Freeform 102">
                <a:extLst>
                  <a:ext uri="{FF2B5EF4-FFF2-40B4-BE49-F238E27FC236}">
                    <a16:creationId xmlns:a16="http://schemas.microsoft.com/office/drawing/2014/main" id="{2CEA22FF-BD52-2F6D-F2FD-6C823EF9BF6B}"/>
                  </a:ext>
                </a:extLst>
              </p:cNvPr>
              <p:cNvSpPr>
                <a:spLocks/>
              </p:cNvSpPr>
              <p:nvPr/>
            </p:nvSpPr>
            <p:spPr bwMode="auto">
              <a:xfrm>
                <a:off x="744538" y="273050"/>
                <a:ext cx="60325" cy="122238"/>
              </a:xfrm>
              <a:custGeom>
                <a:avLst/>
                <a:gdLst>
                  <a:gd name="T0" fmla="*/ 16 w 16"/>
                  <a:gd name="T1" fmla="*/ 32 h 32"/>
                  <a:gd name="T2" fmla="*/ 0 w 16"/>
                  <a:gd name="T3" fmla="*/ 16 h 32"/>
                  <a:gd name="T4" fmla="*/ 16 w 16"/>
                  <a:gd name="T5" fmla="*/ 0 h 32"/>
                </a:gdLst>
                <a:ahLst/>
                <a:cxnLst>
                  <a:cxn ang="0">
                    <a:pos x="T0" y="T1"/>
                  </a:cxn>
                  <a:cxn ang="0">
                    <a:pos x="T2" y="T3"/>
                  </a:cxn>
                  <a:cxn ang="0">
                    <a:pos x="T4" y="T5"/>
                  </a:cxn>
                </a:cxnLst>
                <a:rect l="0" t="0" r="r" b="b"/>
                <a:pathLst>
                  <a:path w="16" h="32">
                    <a:moveTo>
                      <a:pt x="16" y="32"/>
                    </a:moveTo>
                    <a:cubicBezTo>
                      <a:pt x="7" y="32"/>
                      <a:pt x="0" y="25"/>
                      <a:pt x="0" y="16"/>
                    </a:cubicBezTo>
                    <a:cubicBezTo>
                      <a:pt x="0" y="7"/>
                      <a:pt x="7" y="0"/>
                      <a:pt x="16" y="0"/>
                    </a:cubicBezTo>
                  </a:path>
                </a:pathLst>
              </a:custGeom>
              <a:noFill/>
              <a:ln w="12700" cap="flat">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113" name="Freeform 103">
                <a:extLst>
                  <a:ext uri="{FF2B5EF4-FFF2-40B4-BE49-F238E27FC236}">
                    <a16:creationId xmlns:a16="http://schemas.microsoft.com/office/drawing/2014/main" id="{3FC4316E-A3FD-EFDE-6A87-CC6B5AA51B71}"/>
                  </a:ext>
                </a:extLst>
              </p:cNvPr>
              <p:cNvSpPr>
                <a:spLocks/>
              </p:cNvSpPr>
              <p:nvPr/>
            </p:nvSpPr>
            <p:spPr bwMode="auto">
              <a:xfrm>
                <a:off x="531813" y="133350"/>
                <a:ext cx="333375" cy="682625"/>
              </a:xfrm>
              <a:custGeom>
                <a:avLst/>
                <a:gdLst>
                  <a:gd name="T0" fmla="*/ 88 w 88"/>
                  <a:gd name="T1" fmla="*/ 80 h 180"/>
                  <a:gd name="T2" fmla="*/ 88 w 88"/>
                  <a:gd name="T3" fmla="*/ 152 h 180"/>
                  <a:gd name="T4" fmla="*/ 60 w 88"/>
                  <a:gd name="T5" fmla="*/ 180 h 180"/>
                  <a:gd name="T6" fmla="*/ 32 w 88"/>
                  <a:gd name="T7" fmla="*/ 152 h 180"/>
                  <a:gd name="T8" fmla="*/ 32 w 88"/>
                  <a:gd name="T9" fmla="*/ 16 h 180"/>
                  <a:gd name="T10" fmla="*/ 16 w 88"/>
                  <a:gd name="T11" fmla="*/ 0 h 180"/>
                  <a:gd name="T12" fmla="*/ 0 w 88"/>
                  <a:gd name="T13" fmla="*/ 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88" y="80"/>
                    </a:moveTo>
                    <a:cubicBezTo>
                      <a:pt x="88" y="152"/>
                      <a:pt x="88" y="152"/>
                      <a:pt x="88" y="152"/>
                    </a:cubicBezTo>
                    <a:cubicBezTo>
                      <a:pt x="88" y="168"/>
                      <a:pt x="75" y="180"/>
                      <a:pt x="60" y="180"/>
                    </a:cubicBezTo>
                    <a:cubicBezTo>
                      <a:pt x="45" y="180"/>
                      <a:pt x="32" y="168"/>
                      <a:pt x="32" y="152"/>
                    </a:cubicBezTo>
                    <a:cubicBezTo>
                      <a:pt x="32" y="16"/>
                      <a:pt x="32" y="16"/>
                      <a:pt x="32" y="16"/>
                    </a:cubicBezTo>
                    <a:cubicBezTo>
                      <a:pt x="32" y="7"/>
                      <a:pt x="25" y="0"/>
                      <a:pt x="16" y="0"/>
                    </a:cubicBezTo>
                    <a:cubicBezTo>
                      <a:pt x="0" y="0"/>
                      <a:pt x="0" y="0"/>
                      <a:pt x="0" y="0"/>
                    </a:cubicBezTo>
                  </a:path>
                </a:pathLst>
              </a:custGeom>
              <a:noFill/>
              <a:ln w="12700" cap="flat">
                <a:solidFill>
                  <a:schemeClr val="bg1">
                    <a:lumMod val="5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nvGrpSpPr>
            <p:cNvPr id="91" name="Group 90">
              <a:extLst>
                <a:ext uri="{FF2B5EF4-FFF2-40B4-BE49-F238E27FC236}">
                  <a16:creationId xmlns:a16="http://schemas.microsoft.com/office/drawing/2014/main" id="{14D7CBC6-AF79-DF14-A239-3EAA5C613B24}"/>
                </a:ext>
              </a:extLst>
            </p:cNvPr>
            <p:cNvGrpSpPr/>
            <p:nvPr/>
          </p:nvGrpSpPr>
          <p:grpSpPr>
            <a:xfrm>
              <a:off x="7270473" y="1947576"/>
              <a:ext cx="136756" cy="115466"/>
              <a:chOff x="-1587" y="0"/>
              <a:chExt cx="866775" cy="731838"/>
            </a:xfrm>
            <a:solidFill>
              <a:schemeClr val="bg1"/>
            </a:solidFill>
          </p:grpSpPr>
          <p:sp>
            <p:nvSpPr>
              <p:cNvPr id="92" name="Freeform 91">
                <a:extLst>
                  <a:ext uri="{FF2B5EF4-FFF2-40B4-BE49-F238E27FC236}">
                    <a16:creationId xmlns:a16="http://schemas.microsoft.com/office/drawing/2014/main" id="{B83B4C5E-E42E-9CE1-320C-717188C356B2}"/>
                  </a:ext>
                </a:extLst>
              </p:cNvPr>
              <p:cNvSpPr>
                <a:spLocks/>
              </p:cNvSpPr>
              <p:nvPr/>
            </p:nvSpPr>
            <p:spPr bwMode="auto">
              <a:xfrm>
                <a:off x="-1587" y="503238"/>
                <a:ext cx="866775" cy="228600"/>
              </a:xfrm>
              <a:custGeom>
                <a:avLst/>
                <a:gdLst>
                  <a:gd name="T0" fmla="*/ 354 w 546"/>
                  <a:gd name="T1" fmla="*/ 74 h 144"/>
                  <a:gd name="T2" fmla="*/ 189 w 546"/>
                  <a:gd name="T3" fmla="*/ 74 h 144"/>
                  <a:gd name="T4" fmla="*/ 189 w 546"/>
                  <a:gd name="T5" fmla="*/ 0 h 144"/>
                  <a:gd name="T6" fmla="*/ 0 w 546"/>
                  <a:gd name="T7" fmla="*/ 0 h 144"/>
                  <a:gd name="T8" fmla="*/ 0 w 546"/>
                  <a:gd name="T9" fmla="*/ 144 h 144"/>
                  <a:gd name="T10" fmla="*/ 546 w 546"/>
                  <a:gd name="T11" fmla="*/ 144 h 144"/>
                  <a:gd name="T12" fmla="*/ 546 w 546"/>
                  <a:gd name="T13" fmla="*/ 0 h 144"/>
                  <a:gd name="T14" fmla="*/ 354 w 546"/>
                  <a:gd name="T15" fmla="*/ 0 h 144"/>
                  <a:gd name="T16" fmla="*/ 354 w 546"/>
                  <a:gd name="T17" fmla="*/ 7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6" h="144">
                    <a:moveTo>
                      <a:pt x="354" y="74"/>
                    </a:moveTo>
                    <a:lnTo>
                      <a:pt x="189" y="74"/>
                    </a:lnTo>
                    <a:lnTo>
                      <a:pt x="189" y="0"/>
                    </a:lnTo>
                    <a:lnTo>
                      <a:pt x="0" y="0"/>
                    </a:lnTo>
                    <a:lnTo>
                      <a:pt x="0" y="144"/>
                    </a:lnTo>
                    <a:lnTo>
                      <a:pt x="546" y="144"/>
                    </a:lnTo>
                    <a:lnTo>
                      <a:pt x="546" y="0"/>
                    </a:lnTo>
                    <a:lnTo>
                      <a:pt x="354" y="0"/>
                    </a:lnTo>
                    <a:lnTo>
                      <a:pt x="354"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3" name="Rectangle 92">
                <a:extLst>
                  <a:ext uri="{FF2B5EF4-FFF2-40B4-BE49-F238E27FC236}">
                    <a16:creationId xmlns:a16="http://schemas.microsoft.com/office/drawing/2014/main" id="{E6B4B652-7855-73E5-D6A7-FB6DD6E99AD5}"/>
                  </a:ext>
                </a:extLst>
              </p:cNvPr>
              <p:cNvSpPr>
                <a:spLocks noChangeArrowheads="1"/>
              </p:cNvSpPr>
              <p:nvPr/>
            </p:nvSpPr>
            <p:spPr bwMode="auto">
              <a:xfrm>
                <a:off x="347663" y="503238"/>
                <a:ext cx="163513" cy="682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sp>
            <p:nvSpPr>
              <p:cNvPr id="94" name="Freeform 93">
                <a:extLst>
                  <a:ext uri="{FF2B5EF4-FFF2-40B4-BE49-F238E27FC236}">
                    <a16:creationId xmlns:a16="http://schemas.microsoft.com/office/drawing/2014/main" id="{270DAB9F-391D-FF07-41EA-CD90996D56B7}"/>
                  </a:ext>
                </a:extLst>
              </p:cNvPr>
              <p:cNvSpPr>
                <a:spLocks noEditPoints="1"/>
              </p:cNvSpPr>
              <p:nvPr/>
            </p:nvSpPr>
            <p:spPr bwMode="auto">
              <a:xfrm>
                <a:off x="-1587" y="0"/>
                <a:ext cx="866775" cy="454025"/>
              </a:xfrm>
              <a:custGeom>
                <a:avLst/>
                <a:gdLst>
                  <a:gd name="T0" fmla="*/ 404 w 546"/>
                  <a:gd name="T1" fmla="*/ 106 h 286"/>
                  <a:gd name="T2" fmla="*/ 404 w 546"/>
                  <a:gd name="T3" fmla="*/ 0 h 286"/>
                  <a:gd name="T4" fmla="*/ 273 w 546"/>
                  <a:gd name="T5" fmla="*/ 0 h 286"/>
                  <a:gd name="T6" fmla="*/ 138 w 546"/>
                  <a:gd name="T7" fmla="*/ 0 h 286"/>
                  <a:gd name="T8" fmla="*/ 138 w 546"/>
                  <a:gd name="T9" fmla="*/ 106 h 286"/>
                  <a:gd name="T10" fmla="*/ 0 w 546"/>
                  <a:gd name="T11" fmla="*/ 106 h 286"/>
                  <a:gd name="T12" fmla="*/ 0 w 546"/>
                  <a:gd name="T13" fmla="*/ 286 h 286"/>
                  <a:gd name="T14" fmla="*/ 189 w 546"/>
                  <a:gd name="T15" fmla="*/ 286 h 286"/>
                  <a:gd name="T16" fmla="*/ 273 w 546"/>
                  <a:gd name="T17" fmla="*/ 286 h 286"/>
                  <a:gd name="T18" fmla="*/ 354 w 546"/>
                  <a:gd name="T19" fmla="*/ 286 h 286"/>
                  <a:gd name="T20" fmla="*/ 546 w 546"/>
                  <a:gd name="T21" fmla="*/ 286 h 286"/>
                  <a:gd name="T22" fmla="*/ 546 w 546"/>
                  <a:gd name="T23" fmla="*/ 106 h 286"/>
                  <a:gd name="T24" fmla="*/ 404 w 546"/>
                  <a:gd name="T25" fmla="*/ 106 h 286"/>
                  <a:gd name="T26" fmla="*/ 359 w 546"/>
                  <a:gd name="T27" fmla="*/ 106 h 286"/>
                  <a:gd name="T28" fmla="*/ 273 w 546"/>
                  <a:gd name="T29" fmla="*/ 106 h 286"/>
                  <a:gd name="T30" fmla="*/ 186 w 546"/>
                  <a:gd name="T31" fmla="*/ 106 h 286"/>
                  <a:gd name="T32" fmla="*/ 186 w 546"/>
                  <a:gd name="T33" fmla="*/ 48 h 286"/>
                  <a:gd name="T34" fmla="*/ 273 w 546"/>
                  <a:gd name="T35" fmla="*/ 48 h 286"/>
                  <a:gd name="T36" fmla="*/ 359 w 546"/>
                  <a:gd name="T37" fmla="*/ 48 h 286"/>
                  <a:gd name="T38" fmla="*/ 359 w 546"/>
                  <a:gd name="T39" fmla="*/ 10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46" h="286">
                    <a:moveTo>
                      <a:pt x="404" y="106"/>
                    </a:moveTo>
                    <a:lnTo>
                      <a:pt x="404" y="0"/>
                    </a:lnTo>
                    <a:lnTo>
                      <a:pt x="273" y="0"/>
                    </a:lnTo>
                    <a:lnTo>
                      <a:pt x="138" y="0"/>
                    </a:lnTo>
                    <a:lnTo>
                      <a:pt x="138" y="106"/>
                    </a:lnTo>
                    <a:lnTo>
                      <a:pt x="0" y="106"/>
                    </a:lnTo>
                    <a:lnTo>
                      <a:pt x="0" y="286"/>
                    </a:lnTo>
                    <a:lnTo>
                      <a:pt x="189" y="286"/>
                    </a:lnTo>
                    <a:lnTo>
                      <a:pt x="273" y="286"/>
                    </a:lnTo>
                    <a:lnTo>
                      <a:pt x="354" y="286"/>
                    </a:lnTo>
                    <a:lnTo>
                      <a:pt x="546" y="286"/>
                    </a:lnTo>
                    <a:lnTo>
                      <a:pt x="546" y="106"/>
                    </a:lnTo>
                    <a:lnTo>
                      <a:pt x="404" y="106"/>
                    </a:lnTo>
                    <a:close/>
                    <a:moveTo>
                      <a:pt x="359" y="106"/>
                    </a:moveTo>
                    <a:lnTo>
                      <a:pt x="273" y="106"/>
                    </a:lnTo>
                    <a:lnTo>
                      <a:pt x="186" y="106"/>
                    </a:lnTo>
                    <a:lnTo>
                      <a:pt x="186" y="48"/>
                    </a:lnTo>
                    <a:lnTo>
                      <a:pt x="273" y="48"/>
                    </a:lnTo>
                    <a:lnTo>
                      <a:pt x="359" y="48"/>
                    </a:lnTo>
                    <a:lnTo>
                      <a:pt x="359"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latin typeface="Raleway" panose="020B0003030101060003" pitchFamily="34" charset="0"/>
                </a:endParaRPr>
              </a:p>
            </p:txBody>
          </p:sp>
        </p:grpSp>
      </p:grpSp>
      <p:pic>
        <p:nvPicPr>
          <p:cNvPr id="195" name="Picture 194">
            <a:extLst>
              <a:ext uri="{FF2B5EF4-FFF2-40B4-BE49-F238E27FC236}">
                <a16:creationId xmlns:a16="http://schemas.microsoft.com/office/drawing/2014/main" id="{F84D6FFF-2DFD-9DA0-F619-BC6AF4C8FA0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4551" b="22206"/>
          <a:stretch/>
        </p:blipFill>
        <p:spPr>
          <a:xfrm>
            <a:off x="10886889" y="5084"/>
            <a:ext cx="1305111" cy="1031438"/>
          </a:xfrm>
          <a:prstGeom prst="rect">
            <a:avLst/>
          </a:prstGeom>
        </p:spPr>
      </p:pic>
      <p:cxnSp>
        <p:nvCxnSpPr>
          <p:cNvPr id="196" name="Straight Connector 195">
            <a:extLst>
              <a:ext uri="{FF2B5EF4-FFF2-40B4-BE49-F238E27FC236}">
                <a16:creationId xmlns:a16="http://schemas.microsoft.com/office/drawing/2014/main" id="{7F77FFA5-2B43-79C5-D38F-0B49F4EE1F88}"/>
              </a:ext>
            </a:extLst>
          </p:cNvPr>
          <p:cNvCxnSpPr/>
          <p:nvPr/>
        </p:nvCxnSpPr>
        <p:spPr>
          <a:xfrm>
            <a:off x="134520" y="704743"/>
            <a:ext cx="10826991" cy="2371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8956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30629" y="-159073"/>
            <a:ext cx="12334503" cy="7176146"/>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8"/>
            <a:endParaRPr lang="en-US" sz="2400" dirty="0"/>
          </a:p>
        </p:txBody>
      </p:sp>
      <p:sp>
        <p:nvSpPr>
          <p:cNvPr id="8" name="Content Placeholder 9"/>
          <p:cNvSpPr txBox="1">
            <a:spLocks/>
          </p:cNvSpPr>
          <p:nvPr/>
        </p:nvSpPr>
        <p:spPr>
          <a:xfrm>
            <a:off x="3212085" y="2411989"/>
            <a:ext cx="3434635" cy="27677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hr-HR" sz="1351" dirty="0">
              <a:solidFill>
                <a:srgbClr val="595959"/>
              </a:solidFill>
              <a:latin typeface="Raleway" panose="020B0003030101060003" pitchFamily="34" charset="0"/>
            </a:endParaRPr>
          </a:p>
        </p:txBody>
      </p:sp>
      <p:pic>
        <p:nvPicPr>
          <p:cNvPr id="2" name="Picture 1">
            <a:extLst>
              <a:ext uri="{FF2B5EF4-FFF2-40B4-BE49-F238E27FC236}">
                <a16:creationId xmlns:a16="http://schemas.microsoft.com/office/drawing/2014/main" id="{C76908C1-BC06-12B2-2EAF-1B15DFD83523}"/>
              </a:ext>
            </a:extLst>
          </p:cNvPr>
          <p:cNvPicPr>
            <a:picLocks noChangeAspect="1"/>
          </p:cNvPicPr>
          <p:nvPr/>
        </p:nvPicPr>
        <p:blipFill>
          <a:blip r:embed="rId3"/>
          <a:stretch>
            <a:fillRect/>
          </a:stretch>
        </p:blipFill>
        <p:spPr>
          <a:xfrm>
            <a:off x="562931" y="242693"/>
            <a:ext cx="9200582" cy="6372613"/>
          </a:xfrm>
          <a:prstGeom prst="rect">
            <a:avLst/>
          </a:prstGeom>
        </p:spPr>
      </p:pic>
      <p:grpSp>
        <p:nvGrpSpPr>
          <p:cNvPr id="3" name="Group 2">
            <a:extLst>
              <a:ext uri="{FF2B5EF4-FFF2-40B4-BE49-F238E27FC236}">
                <a16:creationId xmlns:a16="http://schemas.microsoft.com/office/drawing/2014/main" id="{3F71BB2B-DA61-D63A-F9DD-D1F640C32A9E}"/>
              </a:ext>
            </a:extLst>
          </p:cNvPr>
          <p:cNvGrpSpPr/>
          <p:nvPr/>
        </p:nvGrpSpPr>
        <p:grpSpPr>
          <a:xfrm>
            <a:off x="10229326" y="1268211"/>
            <a:ext cx="1528265" cy="1422949"/>
            <a:chOff x="4798766" y="2323832"/>
            <a:chExt cx="1528265" cy="1422949"/>
          </a:xfrm>
        </p:grpSpPr>
        <p:sp>
          <p:nvSpPr>
            <p:cNvPr id="4" name="Oval 3">
              <a:extLst>
                <a:ext uri="{FF2B5EF4-FFF2-40B4-BE49-F238E27FC236}">
                  <a16:creationId xmlns:a16="http://schemas.microsoft.com/office/drawing/2014/main" id="{84B7BAA8-C51E-AF67-56F1-1BD8FD8BE6C2}"/>
                </a:ext>
              </a:extLst>
            </p:cNvPr>
            <p:cNvSpPr/>
            <p:nvPr/>
          </p:nvSpPr>
          <p:spPr>
            <a:xfrm>
              <a:off x="4851425" y="2323832"/>
              <a:ext cx="1422949" cy="142294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solidFill>
                  <a:srgbClr val="CE003D"/>
                </a:solidFill>
                <a:latin typeface="Raleway" panose="020B0503030101060003" pitchFamily="34" charset="-18"/>
              </a:endParaRPr>
            </a:p>
          </p:txBody>
        </p:sp>
        <p:sp>
          <p:nvSpPr>
            <p:cNvPr id="5" name="Rectangle 2">
              <a:extLst>
                <a:ext uri="{FF2B5EF4-FFF2-40B4-BE49-F238E27FC236}">
                  <a16:creationId xmlns:a16="http://schemas.microsoft.com/office/drawing/2014/main" id="{CE6E0B95-383D-EC8C-2F48-DB03D17B70DF}"/>
                </a:ext>
              </a:extLst>
            </p:cNvPr>
            <p:cNvSpPr txBox="1">
              <a:spLocks noChangeArrowheads="1"/>
            </p:cNvSpPr>
            <p:nvPr/>
          </p:nvSpPr>
          <p:spPr bwMode="auto">
            <a:xfrm>
              <a:off x="4798766" y="2714818"/>
              <a:ext cx="1528265" cy="572247"/>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pPr algn="ctr"/>
              <a:r>
                <a:rPr lang="hr-HR" sz="1500" kern="0" dirty="0">
                  <a:solidFill>
                    <a:schemeClr val="bg1"/>
                  </a:solidFill>
                  <a:latin typeface="Raleway" panose="020B0503030101060003" pitchFamily="34" charset="-18"/>
                </a:rPr>
                <a:t>inkubacija</a:t>
              </a:r>
            </a:p>
          </p:txBody>
        </p:sp>
      </p:grpSp>
      <p:sp>
        <p:nvSpPr>
          <p:cNvPr id="9" name="Oval 8">
            <a:extLst>
              <a:ext uri="{FF2B5EF4-FFF2-40B4-BE49-F238E27FC236}">
                <a16:creationId xmlns:a16="http://schemas.microsoft.com/office/drawing/2014/main" id="{A7FFB061-0C5C-F239-B2D4-34CB6009552E}"/>
              </a:ext>
            </a:extLst>
          </p:cNvPr>
          <p:cNvSpPr/>
          <p:nvPr/>
        </p:nvSpPr>
        <p:spPr>
          <a:xfrm>
            <a:off x="10368155" y="3247896"/>
            <a:ext cx="1422949" cy="1422949"/>
          </a:xfrm>
          <a:prstGeom prst="ellipse">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1300" dirty="0">
                <a:solidFill>
                  <a:schemeClr val="tx1"/>
                </a:solidFill>
                <a:latin typeface="Raleway" panose="020B0503030101060003" pitchFamily="34" charset="-18"/>
              </a:rPr>
              <a:t>Pred</a:t>
            </a:r>
          </a:p>
          <a:p>
            <a:pPr algn="ctr"/>
            <a:r>
              <a:rPr lang="hr-HR" sz="1300" dirty="0">
                <a:solidFill>
                  <a:schemeClr val="tx1"/>
                </a:solidFill>
                <a:latin typeface="Raleway" panose="020B0503030101060003" pitchFamily="34" charset="-18"/>
              </a:rPr>
              <a:t>inkubacija</a:t>
            </a:r>
          </a:p>
        </p:txBody>
      </p:sp>
      <p:grpSp>
        <p:nvGrpSpPr>
          <p:cNvPr id="10" name="Group 9">
            <a:extLst>
              <a:ext uri="{FF2B5EF4-FFF2-40B4-BE49-F238E27FC236}">
                <a16:creationId xmlns:a16="http://schemas.microsoft.com/office/drawing/2014/main" id="{1E460547-2D00-6FFD-0AAD-2591B2B3B19E}"/>
              </a:ext>
            </a:extLst>
          </p:cNvPr>
          <p:cNvGrpSpPr/>
          <p:nvPr/>
        </p:nvGrpSpPr>
        <p:grpSpPr>
          <a:xfrm>
            <a:off x="10368155" y="5183234"/>
            <a:ext cx="1422949" cy="1422949"/>
            <a:chOff x="1314395" y="1898482"/>
            <a:chExt cx="1422949" cy="1422949"/>
          </a:xfrm>
        </p:grpSpPr>
        <p:sp>
          <p:nvSpPr>
            <p:cNvPr id="11" name="Oval 10">
              <a:extLst>
                <a:ext uri="{FF2B5EF4-FFF2-40B4-BE49-F238E27FC236}">
                  <a16:creationId xmlns:a16="http://schemas.microsoft.com/office/drawing/2014/main" id="{3EAC82F5-3BEB-E549-B7E8-616E7C88A480}"/>
                </a:ext>
              </a:extLst>
            </p:cNvPr>
            <p:cNvSpPr/>
            <p:nvPr/>
          </p:nvSpPr>
          <p:spPr>
            <a:xfrm>
              <a:off x="1314395" y="1898482"/>
              <a:ext cx="1422949" cy="1422949"/>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latin typeface="Raleway" panose="020B0503030101060003" pitchFamily="34" charset="-18"/>
              </a:endParaRPr>
            </a:p>
          </p:txBody>
        </p:sp>
        <p:sp>
          <p:nvSpPr>
            <p:cNvPr id="12" name="Rectangle 2">
              <a:extLst>
                <a:ext uri="{FF2B5EF4-FFF2-40B4-BE49-F238E27FC236}">
                  <a16:creationId xmlns:a16="http://schemas.microsoft.com/office/drawing/2014/main" id="{78696951-0BD8-A67A-2F85-D55BD73801D2}"/>
                </a:ext>
              </a:extLst>
            </p:cNvPr>
            <p:cNvSpPr txBox="1">
              <a:spLocks noChangeArrowheads="1"/>
            </p:cNvSpPr>
            <p:nvPr/>
          </p:nvSpPr>
          <p:spPr bwMode="auto">
            <a:xfrm>
              <a:off x="1350571" y="2323832"/>
              <a:ext cx="1344506" cy="572247"/>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pPr algn="ctr"/>
              <a:r>
                <a:rPr lang="hr-HR" sz="1500" kern="0" dirty="0">
                  <a:solidFill>
                    <a:schemeClr val="tx1"/>
                  </a:solidFill>
                  <a:latin typeface="Raleway" panose="020B0503030101060003" pitchFamily="34" charset="-18"/>
                </a:rPr>
                <a:t>tranzicija</a:t>
              </a:r>
            </a:p>
          </p:txBody>
        </p:sp>
      </p:grpSp>
    </p:spTree>
    <p:extLst>
      <p:ext uri="{BB962C8B-B14F-4D97-AF65-F5344CB8AC3E}">
        <p14:creationId xmlns:p14="http://schemas.microsoft.com/office/powerpoint/2010/main" val="11959107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30629" y="-159073"/>
            <a:ext cx="12334503" cy="7176146"/>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8"/>
            <a:endParaRPr lang="en-US" sz="2400" dirty="0"/>
          </a:p>
        </p:txBody>
      </p:sp>
      <p:sp>
        <p:nvSpPr>
          <p:cNvPr id="8" name="Content Placeholder 9"/>
          <p:cNvSpPr txBox="1">
            <a:spLocks/>
          </p:cNvSpPr>
          <p:nvPr/>
        </p:nvSpPr>
        <p:spPr>
          <a:xfrm>
            <a:off x="3212085" y="2411989"/>
            <a:ext cx="3434635" cy="27677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hr-HR" sz="1351" dirty="0">
              <a:solidFill>
                <a:srgbClr val="595959"/>
              </a:solidFill>
              <a:latin typeface="Raleway" panose="020B0003030101060003" pitchFamily="34" charset="0"/>
            </a:endParaRPr>
          </a:p>
        </p:txBody>
      </p:sp>
      <p:pic>
        <p:nvPicPr>
          <p:cNvPr id="6" name="Picture 5">
            <a:extLst>
              <a:ext uri="{FF2B5EF4-FFF2-40B4-BE49-F238E27FC236}">
                <a16:creationId xmlns:a16="http://schemas.microsoft.com/office/drawing/2014/main" id="{924F1809-323B-1519-048A-F96EBCD65505}"/>
              </a:ext>
            </a:extLst>
          </p:cNvPr>
          <p:cNvPicPr>
            <a:picLocks noChangeAspect="1"/>
          </p:cNvPicPr>
          <p:nvPr/>
        </p:nvPicPr>
        <p:blipFill>
          <a:blip r:embed="rId3"/>
          <a:stretch>
            <a:fillRect/>
          </a:stretch>
        </p:blipFill>
        <p:spPr>
          <a:xfrm>
            <a:off x="443163" y="997527"/>
            <a:ext cx="9589804" cy="5384051"/>
          </a:xfrm>
          <a:prstGeom prst="rect">
            <a:avLst/>
          </a:prstGeom>
        </p:spPr>
      </p:pic>
      <p:grpSp>
        <p:nvGrpSpPr>
          <p:cNvPr id="9" name="Group 8">
            <a:extLst>
              <a:ext uri="{FF2B5EF4-FFF2-40B4-BE49-F238E27FC236}">
                <a16:creationId xmlns:a16="http://schemas.microsoft.com/office/drawing/2014/main" id="{6F1E268D-F2EB-2F25-1353-5FBF4481D54B}"/>
              </a:ext>
            </a:extLst>
          </p:cNvPr>
          <p:cNvGrpSpPr/>
          <p:nvPr/>
        </p:nvGrpSpPr>
        <p:grpSpPr>
          <a:xfrm>
            <a:off x="10229326" y="1268211"/>
            <a:ext cx="1528265" cy="1422949"/>
            <a:chOff x="4798766" y="2323832"/>
            <a:chExt cx="1528265" cy="1422949"/>
          </a:xfrm>
        </p:grpSpPr>
        <p:sp>
          <p:nvSpPr>
            <p:cNvPr id="10" name="Oval 9">
              <a:extLst>
                <a:ext uri="{FF2B5EF4-FFF2-40B4-BE49-F238E27FC236}">
                  <a16:creationId xmlns:a16="http://schemas.microsoft.com/office/drawing/2014/main" id="{A09F81DE-8DE4-4D27-FE2C-AF4D5BCABD56}"/>
                </a:ext>
              </a:extLst>
            </p:cNvPr>
            <p:cNvSpPr/>
            <p:nvPr/>
          </p:nvSpPr>
          <p:spPr>
            <a:xfrm>
              <a:off x="4851425" y="2323832"/>
              <a:ext cx="1422949" cy="142294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solidFill>
                  <a:srgbClr val="CE003D"/>
                </a:solidFill>
                <a:latin typeface="Raleway" panose="020B0503030101060003" pitchFamily="34" charset="-18"/>
              </a:endParaRPr>
            </a:p>
          </p:txBody>
        </p:sp>
        <p:sp>
          <p:nvSpPr>
            <p:cNvPr id="11" name="Rectangle 2">
              <a:extLst>
                <a:ext uri="{FF2B5EF4-FFF2-40B4-BE49-F238E27FC236}">
                  <a16:creationId xmlns:a16="http://schemas.microsoft.com/office/drawing/2014/main" id="{46FBAFE5-87BB-DF04-AC8A-E3CBD0DCED76}"/>
                </a:ext>
              </a:extLst>
            </p:cNvPr>
            <p:cNvSpPr txBox="1">
              <a:spLocks noChangeArrowheads="1"/>
            </p:cNvSpPr>
            <p:nvPr/>
          </p:nvSpPr>
          <p:spPr bwMode="auto">
            <a:xfrm>
              <a:off x="4798766" y="2714818"/>
              <a:ext cx="1528265" cy="572247"/>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pPr algn="ctr"/>
              <a:r>
                <a:rPr lang="hr-HR" sz="1500" kern="0" dirty="0">
                  <a:solidFill>
                    <a:schemeClr val="bg1"/>
                  </a:solidFill>
                  <a:latin typeface="Raleway" panose="020B0503030101060003" pitchFamily="34" charset="-18"/>
                </a:rPr>
                <a:t>inkubacija</a:t>
              </a:r>
            </a:p>
          </p:txBody>
        </p:sp>
      </p:grpSp>
      <p:sp>
        <p:nvSpPr>
          <p:cNvPr id="12" name="Oval 11">
            <a:extLst>
              <a:ext uri="{FF2B5EF4-FFF2-40B4-BE49-F238E27FC236}">
                <a16:creationId xmlns:a16="http://schemas.microsoft.com/office/drawing/2014/main" id="{E28AFAB1-2F1F-BA71-E0F5-EA998EA24221}"/>
              </a:ext>
            </a:extLst>
          </p:cNvPr>
          <p:cNvSpPr/>
          <p:nvPr/>
        </p:nvSpPr>
        <p:spPr>
          <a:xfrm>
            <a:off x="10368155" y="3247896"/>
            <a:ext cx="1422949" cy="1422949"/>
          </a:xfrm>
          <a:prstGeom prst="ellipse">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1300" dirty="0">
                <a:solidFill>
                  <a:schemeClr val="tx1"/>
                </a:solidFill>
                <a:latin typeface="Raleway" panose="020B0503030101060003" pitchFamily="34" charset="-18"/>
              </a:rPr>
              <a:t>Pred</a:t>
            </a:r>
          </a:p>
          <a:p>
            <a:pPr algn="ctr"/>
            <a:r>
              <a:rPr lang="hr-HR" sz="1300" dirty="0">
                <a:solidFill>
                  <a:schemeClr val="tx1"/>
                </a:solidFill>
                <a:latin typeface="Raleway" panose="020B0503030101060003" pitchFamily="34" charset="-18"/>
              </a:rPr>
              <a:t>inkubacija</a:t>
            </a:r>
          </a:p>
        </p:txBody>
      </p:sp>
      <p:grpSp>
        <p:nvGrpSpPr>
          <p:cNvPr id="13" name="Group 12">
            <a:extLst>
              <a:ext uri="{FF2B5EF4-FFF2-40B4-BE49-F238E27FC236}">
                <a16:creationId xmlns:a16="http://schemas.microsoft.com/office/drawing/2014/main" id="{0E141A03-4D9D-3AB2-7480-8AFB81D53C3B}"/>
              </a:ext>
            </a:extLst>
          </p:cNvPr>
          <p:cNvGrpSpPr/>
          <p:nvPr/>
        </p:nvGrpSpPr>
        <p:grpSpPr>
          <a:xfrm>
            <a:off x="10368155" y="5183234"/>
            <a:ext cx="1422949" cy="1422949"/>
            <a:chOff x="1314395" y="1898482"/>
            <a:chExt cx="1422949" cy="1422949"/>
          </a:xfrm>
        </p:grpSpPr>
        <p:sp>
          <p:nvSpPr>
            <p:cNvPr id="14" name="Oval 13">
              <a:extLst>
                <a:ext uri="{FF2B5EF4-FFF2-40B4-BE49-F238E27FC236}">
                  <a16:creationId xmlns:a16="http://schemas.microsoft.com/office/drawing/2014/main" id="{80A7554B-0924-5748-A085-C14F0799B682}"/>
                </a:ext>
              </a:extLst>
            </p:cNvPr>
            <p:cNvSpPr/>
            <p:nvPr/>
          </p:nvSpPr>
          <p:spPr>
            <a:xfrm>
              <a:off x="1314395" y="1898482"/>
              <a:ext cx="1422949" cy="1422949"/>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latin typeface="Raleway" panose="020B0503030101060003" pitchFamily="34" charset="-18"/>
              </a:endParaRPr>
            </a:p>
          </p:txBody>
        </p:sp>
        <p:sp>
          <p:nvSpPr>
            <p:cNvPr id="15" name="Rectangle 2">
              <a:extLst>
                <a:ext uri="{FF2B5EF4-FFF2-40B4-BE49-F238E27FC236}">
                  <a16:creationId xmlns:a16="http://schemas.microsoft.com/office/drawing/2014/main" id="{42BA5B1E-47F9-C55D-F85C-BD5B38AB4BA5}"/>
                </a:ext>
              </a:extLst>
            </p:cNvPr>
            <p:cNvSpPr txBox="1">
              <a:spLocks noChangeArrowheads="1"/>
            </p:cNvSpPr>
            <p:nvPr/>
          </p:nvSpPr>
          <p:spPr bwMode="auto">
            <a:xfrm>
              <a:off x="1350571" y="2323832"/>
              <a:ext cx="1344506" cy="572247"/>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pPr algn="ctr"/>
              <a:r>
                <a:rPr lang="hr-HR" sz="1500" kern="0" dirty="0">
                  <a:solidFill>
                    <a:schemeClr val="tx1"/>
                  </a:solidFill>
                  <a:latin typeface="Raleway" panose="020B0503030101060003" pitchFamily="34" charset="-18"/>
                </a:rPr>
                <a:t>tranzicija</a:t>
              </a:r>
            </a:p>
          </p:txBody>
        </p:sp>
      </p:grpSp>
    </p:spTree>
    <p:extLst>
      <p:ext uri="{BB962C8B-B14F-4D97-AF65-F5344CB8AC3E}">
        <p14:creationId xmlns:p14="http://schemas.microsoft.com/office/powerpoint/2010/main" val="655579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30629" y="192434"/>
            <a:ext cx="12334503" cy="7176146"/>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8"/>
            <a:endParaRPr lang="en-US" sz="2400" dirty="0"/>
          </a:p>
        </p:txBody>
      </p:sp>
      <p:sp>
        <p:nvSpPr>
          <p:cNvPr id="8" name="Content Placeholder 9"/>
          <p:cNvSpPr txBox="1">
            <a:spLocks/>
          </p:cNvSpPr>
          <p:nvPr/>
        </p:nvSpPr>
        <p:spPr>
          <a:xfrm>
            <a:off x="3212085" y="2411989"/>
            <a:ext cx="3434635" cy="27677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hr-HR" sz="1351" dirty="0">
              <a:solidFill>
                <a:srgbClr val="595959"/>
              </a:solidFill>
              <a:latin typeface="Raleway" panose="020B0003030101060003" pitchFamily="34" charset="0"/>
            </a:endParaRPr>
          </a:p>
        </p:txBody>
      </p:sp>
      <p:grpSp>
        <p:nvGrpSpPr>
          <p:cNvPr id="20" name="Group 19"/>
          <p:cNvGrpSpPr/>
          <p:nvPr/>
        </p:nvGrpSpPr>
        <p:grpSpPr>
          <a:xfrm>
            <a:off x="10229326" y="1268211"/>
            <a:ext cx="1528265" cy="1422949"/>
            <a:chOff x="4798766" y="2323832"/>
            <a:chExt cx="1528265" cy="1422949"/>
          </a:xfrm>
        </p:grpSpPr>
        <p:sp>
          <p:nvSpPr>
            <p:cNvPr id="21" name="Oval 20"/>
            <p:cNvSpPr/>
            <p:nvPr/>
          </p:nvSpPr>
          <p:spPr>
            <a:xfrm>
              <a:off x="4851425" y="2323832"/>
              <a:ext cx="1422949" cy="142294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solidFill>
                  <a:srgbClr val="CE003D"/>
                </a:solidFill>
                <a:latin typeface="Raleway" panose="020B0503030101060003" pitchFamily="34" charset="-18"/>
              </a:endParaRPr>
            </a:p>
          </p:txBody>
        </p:sp>
        <p:sp>
          <p:nvSpPr>
            <p:cNvPr id="23" name="Rectangle 2"/>
            <p:cNvSpPr txBox="1">
              <a:spLocks noChangeArrowheads="1"/>
            </p:cNvSpPr>
            <p:nvPr/>
          </p:nvSpPr>
          <p:spPr bwMode="auto">
            <a:xfrm>
              <a:off x="4798766" y="2714818"/>
              <a:ext cx="1528265" cy="572247"/>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pPr algn="ctr"/>
              <a:r>
                <a:rPr lang="hr-HR" sz="1500" kern="0" dirty="0">
                  <a:solidFill>
                    <a:schemeClr val="bg1"/>
                  </a:solidFill>
                  <a:latin typeface="Raleway" panose="020B0503030101060003" pitchFamily="34" charset="-18"/>
                </a:rPr>
                <a:t>inkubacija</a:t>
              </a:r>
            </a:p>
          </p:txBody>
        </p:sp>
      </p:grpSp>
      <p:sp>
        <p:nvSpPr>
          <p:cNvPr id="25" name="Oval 24"/>
          <p:cNvSpPr/>
          <p:nvPr/>
        </p:nvSpPr>
        <p:spPr>
          <a:xfrm>
            <a:off x="10368155" y="3247896"/>
            <a:ext cx="1422949" cy="1422949"/>
          </a:xfrm>
          <a:prstGeom prst="ellipse">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1300" dirty="0">
                <a:solidFill>
                  <a:schemeClr val="tx1"/>
                </a:solidFill>
                <a:latin typeface="Raleway" panose="020B0503030101060003" pitchFamily="34" charset="-18"/>
              </a:rPr>
              <a:t>Pred</a:t>
            </a:r>
          </a:p>
          <a:p>
            <a:pPr algn="ctr"/>
            <a:r>
              <a:rPr lang="hr-HR" sz="1300" dirty="0">
                <a:solidFill>
                  <a:schemeClr val="tx1"/>
                </a:solidFill>
                <a:latin typeface="Raleway" panose="020B0503030101060003" pitchFamily="34" charset="-18"/>
              </a:rPr>
              <a:t>inkubacija</a:t>
            </a:r>
          </a:p>
        </p:txBody>
      </p:sp>
      <p:grpSp>
        <p:nvGrpSpPr>
          <p:cNvPr id="27" name="Group 26"/>
          <p:cNvGrpSpPr/>
          <p:nvPr/>
        </p:nvGrpSpPr>
        <p:grpSpPr>
          <a:xfrm>
            <a:off x="10368155" y="5183234"/>
            <a:ext cx="1422949" cy="1422949"/>
            <a:chOff x="1314395" y="1898482"/>
            <a:chExt cx="1422949" cy="1422949"/>
          </a:xfrm>
        </p:grpSpPr>
        <p:sp>
          <p:nvSpPr>
            <p:cNvPr id="31" name="Oval 30"/>
            <p:cNvSpPr/>
            <p:nvPr/>
          </p:nvSpPr>
          <p:spPr>
            <a:xfrm>
              <a:off x="1314395" y="1898482"/>
              <a:ext cx="1422949" cy="1422949"/>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latin typeface="Raleway" panose="020B0503030101060003" pitchFamily="34" charset="-18"/>
              </a:endParaRPr>
            </a:p>
          </p:txBody>
        </p:sp>
        <p:sp>
          <p:nvSpPr>
            <p:cNvPr id="32" name="Rectangle 2"/>
            <p:cNvSpPr txBox="1">
              <a:spLocks noChangeArrowheads="1"/>
            </p:cNvSpPr>
            <p:nvPr/>
          </p:nvSpPr>
          <p:spPr bwMode="auto">
            <a:xfrm>
              <a:off x="1350571" y="2323832"/>
              <a:ext cx="1344506" cy="572247"/>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pPr algn="ctr"/>
              <a:r>
                <a:rPr lang="hr-HR" sz="1500" kern="0" dirty="0">
                  <a:solidFill>
                    <a:schemeClr val="tx1"/>
                  </a:solidFill>
                  <a:latin typeface="Raleway" panose="020B0503030101060003" pitchFamily="34" charset="-18"/>
                </a:rPr>
                <a:t>tranzicija</a:t>
              </a:r>
            </a:p>
          </p:txBody>
        </p:sp>
      </p:grpSp>
      <p:pic>
        <p:nvPicPr>
          <p:cNvPr id="3" name="Picture 2">
            <a:extLst>
              <a:ext uri="{FF2B5EF4-FFF2-40B4-BE49-F238E27FC236}">
                <a16:creationId xmlns:a16="http://schemas.microsoft.com/office/drawing/2014/main" id="{2296C483-332F-1DBF-82B3-443D4115A5CB}"/>
              </a:ext>
            </a:extLst>
          </p:cNvPr>
          <p:cNvPicPr>
            <a:picLocks noChangeAspect="1"/>
          </p:cNvPicPr>
          <p:nvPr/>
        </p:nvPicPr>
        <p:blipFill>
          <a:blip r:embed="rId3"/>
          <a:stretch>
            <a:fillRect/>
          </a:stretch>
        </p:blipFill>
        <p:spPr>
          <a:xfrm>
            <a:off x="840676" y="760014"/>
            <a:ext cx="9042203" cy="5337972"/>
          </a:xfrm>
          <a:prstGeom prst="rect">
            <a:avLst/>
          </a:prstGeom>
        </p:spPr>
      </p:pic>
    </p:spTree>
    <p:extLst>
      <p:ext uri="{BB962C8B-B14F-4D97-AF65-F5344CB8AC3E}">
        <p14:creationId xmlns:p14="http://schemas.microsoft.com/office/powerpoint/2010/main" val="5811141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30629" y="-159073"/>
            <a:ext cx="12334503" cy="7176146"/>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8"/>
            <a:endParaRPr lang="en-US" sz="2400" dirty="0"/>
          </a:p>
        </p:txBody>
      </p:sp>
      <p:sp>
        <p:nvSpPr>
          <p:cNvPr id="8" name="Content Placeholder 9"/>
          <p:cNvSpPr txBox="1">
            <a:spLocks/>
          </p:cNvSpPr>
          <p:nvPr/>
        </p:nvSpPr>
        <p:spPr>
          <a:xfrm>
            <a:off x="3212085" y="2411989"/>
            <a:ext cx="3434635" cy="27677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hr-HR" sz="1351" dirty="0">
              <a:solidFill>
                <a:srgbClr val="595959"/>
              </a:solidFill>
              <a:latin typeface="Raleway" panose="020B0003030101060003" pitchFamily="34" charset="0"/>
            </a:endParaRPr>
          </a:p>
        </p:txBody>
      </p:sp>
      <p:pic>
        <p:nvPicPr>
          <p:cNvPr id="3" name="Picture 2">
            <a:extLst>
              <a:ext uri="{FF2B5EF4-FFF2-40B4-BE49-F238E27FC236}">
                <a16:creationId xmlns:a16="http://schemas.microsoft.com/office/drawing/2014/main" id="{2296C483-332F-1DBF-82B3-443D4115A5CB}"/>
              </a:ext>
            </a:extLst>
          </p:cNvPr>
          <p:cNvPicPr>
            <a:picLocks noChangeAspect="1"/>
          </p:cNvPicPr>
          <p:nvPr/>
        </p:nvPicPr>
        <p:blipFill>
          <a:blip r:embed="rId3"/>
          <a:stretch>
            <a:fillRect/>
          </a:stretch>
        </p:blipFill>
        <p:spPr>
          <a:xfrm>
            <a:off x="840676" y="760014"/>
            <a:ext cx="9042203" cy="5337972"/>
          </a:xfrm>
          <a:prstGeom prst="rect">
            <a:avLst/>
          </a:prstGeom>
        </p:spPr>
      </p:pic>
      <p:grpSp>
        <p:nvGrpSpPr>
          <p:cNvPr id="2" name="Group 1">
            <a:extLst>
              <a:ext uri="{FF2B5EF4-FFF2-40B4-BE49-F238E27FC236}">
                <a16:creationId xmlns:a16="http://schemas.microsoft.com/office/drawing/2014/main" id="{D18EAE3A-358A-FE72-D83A-925D4DFCFA0A}"/>
              </a:ext>
            </a:extLst>
          </p:cNvPr>
          <p:cNvGrpSpPr/>
          <p:nvPr/>
        </p:nvGrpSpPr>
        <p:grpSpPr>
          <a:xfrm>
            <a:off x="10229326" y="1268211"/>
            <a:ext cx="1528265" cy="1422949"/>
            <a:chOff x="4798766" y="2323832"/>
            <a:chExt cx="1528265" cy="1422949"/>
          </a:xfrm>
        </p:grpSpPr>
        <p:sp>
          <p:nvSpPr>
            <p:cNvPr id="4" name="Oval 3">
              <a:extLst>
                <a:ext uri="{FF2B5EF4-FFF2-40B4-BE49-F238E27FC236}">
                  <a16:creationId xmlns:a16="http://schemas.microsoft.com/office/drawing/2014/main" id="{A46512CF-0938-A8ED-FAE4-A7EA139170B6}"/>
                </a:ext>
              </a:extLst>
            </p:cNvPr>
            <p:cNvSpPr/>
            <p:nvPr/>
          </p:nvSpPr>
          <p:spPr>
            <a:xfrm>
              <a:off x="4851425" y="2323832"/>
              <a:ext cx="1422949" cy="142294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solidFill>
                  <a:srgbClr val="CE003D"/>
                </a:solidFill>
                <a:latin typeface="Raleway" panose="020B0503030101060003" pitchFamily="34" charset="-18"/>
              </a:endParaRPr>
            </a:p>
          </p:txBody>
        </p:sp>
        <p:sp>
          <p:nvSpPr>
            <p:cNvPr id="5" name="Rectangle 2">
              <a:extLst>
                <a:ext uri="{FF2B5EF4-FFF2-40B4-BE49-F238E27FC236}">
                  <a16:creationId xmlns:a16="http://schemas.microsoft.com/office/drawing/2014/main" id="{0554E0FD-EE5C-55F5-A19F-6E1B6F33AF17}"/>
                </a:ext>
              </a:extLst>
            </p:cNvPr>
            <p:cNvSpPr txBox="1">
              <a:spLocks noChangeArrowheads="1"/>
            </p:cNvSpPr>
            <p:nvPr/>
          </p:nvSpPr>
          <p:spPr bwMode="auto">
            <a:xfrm>
              <a:off x="4798766" y="2714818"/>
              <a:ext cx="1528265" cy="572247"/>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pPr algn="ctr"/>
              <a:r>
                <a:rPr lang="hr-HR" sz="1500" kern="0" dirty="0">
                  <a:solidFill>
                    <a:schemeClr val="bg1"/>
                  </a:solidFill>
                  <a:latin typeface="Raleway" panose="020B0503030101060003" pitchFamily="34" charset="-18"/>
                </a:rPr>
                <a:t>inkubacija</a:t>
              </a:r>
            </a:p>
          </p:txBody>
        </p:sp>
      </p:grpSp>
      <p:sp>
        <p:nvSpPr>
          <p:cNvPr id="6" name="Oval 5">
            <a:extLst>
              <a:ext uri="{FF2B5EF4-FFF2-40B4-BE49-F238E27FC236}">
                <a16:creationId xmlns:a16="http://schemas.microsoft.com/office/drawing/2014/main" id="{0ED00522-A2D0-CFA5-3490-C7972D4BD3EC}"/>
              </a:ext>
            </a:extLst>
          </p:cNvPr>
          <p:cNvSpPr/>
          <p:nvPr/>
        </p:nvSpPr>
        <p:spPr>
          <a:xfrm>
            <a:off x="10368155" y="3247896"/>
            <a:ext cx="1422949" cy="1422949"/>
          </a:xfrm>
          <a:prstGeom prst="ellipse">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1300" dirty="0">
                <a:solidFill>
                  <a:schemeClr val="tx1"/>
                </a:solidFill>
                <a:latin typeface="Raleway" panose="020B0503030101060003" pitchFamily="34" charset="-18"/>
              </a:rPr>
              <a:t>Pred</a:t>
            </a:r>
          </a:p>
          <a:p>
            <a:pPr algn="ctr"/>
            <a:r>
              <a:rPr lang="hr-HR" sz="1300" dirty="0">
                <a:solidFill>
                  <a:schemeClr val="tx1"/>
                </a:solidFill>
                <a:latin typeface="Raleway" panose="020B0503030101060003" pitchFamily="34" charset="-18"/>
              </a:rPr>
              <a:t>inkubacija</a:t>
            </a:r>
          </a:p>
        </p:txBody>
      </p:sp>
      <p:grpSp>
        <p:nvGrpSpPr>
          <p:cNvPr id="9" name="Group 8">
            <a:extLst>
              <a:ext uri="{FF2B5EF4-FFF2-40B4-BE49-F238E27FC236}">
                <a16:creationId xmlns:a16="http://schemas.microsoft.com/office/drawing/2014/main" id="{AC172700-EE84-25E2-ABF2-29CD92C8F563}"/>
              </a:ext>
            </a:extLst>
          </p:cNvPr>
          <p:cNvGrpSpPr/>
          <p:nvPr/>
        </p:nvGrpSpPr>
        <p:grpSpPr>
          <a:xfrm>
            <a:off x="10368155" y="5183234"/>
            <a:ext cx="1422949" cy="1422949"/>
            <a:chOff x="1314395" y="1898482"/>
            <a:chExt cx="1422949" cy="1422949"/>
          </a:xfrm>
        </p:grpSpPr>
        <p:sp>
          <p:nvSpPr>
            <p:cNvPr id="10" name="Oval 9">
              <a:extLst>
                <a:ext uri="{FF2B5EF4-FFF2-40B4-BE49-F238E27FC236}">
                  <a16:creationId xmlns:a16="http://schemas.microsoft.com/office/drawing/2014/main" id="{6E587191-E84E-D373-2689-B3BF1E9D45ED}"/>
                </a:ext>
              </a:extLst>
            </p:cNvPr>
            <p:cNvSpPr/>
            <p:nvPr/>
          </p:nvSpPr>
          <p:spPr>
            <a:xfrm>
              <a:off x="1314395" y="1898482"/>
              <a:ext cx="1422949" cy="1422949"/>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latin typeface="Raleway" panose="020B0503030101060003" pitchFamily="34" charset="-18"/>
              </a:endParaRPr>
            </a:p>
          </p:txBody>
        </p:sp>
        <p:sp>
          <p:nvSpPr>
            <p:cNvPr id="11" name="Rectangle 2">
              <a:extLst>
                <a:ext uri="{FF2B5EF4-FFF2-40B4-BE49-F238E27FC236}">
                  <a16:creationId xmlns:a16="http://schemas.microsoft.com/office/drawing/2014/main" id="{9E6EA460-47A6-0668-93E2-00C665F006CE}"/>
                </a:ext>
              </a:extLst>
            </p:cNvPr>
            <p:cNvSpPr txBox="1">
              <a:spLocks noChangeArrowheads="1"/>
            </p:cNvSpPr>
            <p:nvPr/>
          </p:nvSpPr>
          <p:spPr bwMode="auto">
            <a:xfrm>
              <a:off x="1350571" y="2323832"/>
              <a:ext cx="1344506" cy="572247"/>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pPr algn="ctr"/>
              <a:r>
                <a:rPr lang="hr-HR" sz="1500" kern="0" dirty="0">
                  <a:solidFill>
                    <a:schemeClr val="tx1"/>
                  </a:solidFill>
                  <a:latin typeface="Raleway" panose="020B0503030101060003" pitchFamily="34" charset="-18"/>
                </a:rPr>
                <a:t>tranzicija</a:t>
              </a:r>
            </a:p>
          </p:txBody>
        </p:sp>
      </p:grpSp>
    </p:spTree>
    <p:extLst>
      <p:ext uri="{BB962C8B-B14F-4D97-AF65-F5344CB8AC3E}">
        <p14:creationId xmlns:p14="http://schemas.microsoft.com/office/powerpoint/2010/main" val="40006399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30629" y="114060"/>
            <a:ext cx="12334503" cy="7176146"/>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8"/>
            <a:endParaRPr lang="en-US" sz="2400" dirty="0"/>
          </a:p>
        </p:txBody>
      </p:sp>
      <p:sp>
        <p:nvSpPr>
          <p:cNvPr id="8" name="Content Placeholder 9"/>
          <p:cNvSpPr txBox="1">
            <a:spLocks/>
          </p:cNvSpPr>
          <p:nvPr/>
        </p:nvSpPr>
        <p:spPr>
          <a:xfrm>
            <a:off x="3212085" y="2411989"/>
            <a:ext cx="3434635" cy="27677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hr-HR" sz="1351" dirty="0">
              <a:solidFill>
                <a:srgbClr val="595959"/>
              </a:solidFill>
              <a:latin typeface="Raleway" panose="020B0003030101060003" pitchFamily="34" charset="0"/>
            </a:endParaRPr>
          </a:p>
        </p:txBody>
      </p:sp>
      <p:pic>
        <p:nvPicPr>
          <p:cNvPr id="5" name="Picture 4">
            <a:extLst>
              <a:ext uri="{FF2B5EF4-FFF2-40B4-BE49-F238E27FC236}">
                <a16:creationId xmlns:a16="http://schemas.microsoft.com/office/drawing/2014/main" id="{353180AD-2AA4-1C89-C88D-680122014B37}"/>
              </a:ext>
            </a:extLst>
          </p:cNvPr>
          <p:cNvPicPr>
            <a:picLocks noChangeAspect="1"/>
          </p:cNvPicPr>
          <p:nvPr/>
        </p:nvPicPr>
        <p:blipFill>
          <a:blip r:embed="rId3"/>
          <a:stretch>
            <a:fillRect/>
          </a:stretch>
        </p:blipFill>
        <p:spPr>
          <a:xfrm>
            <a:off x="702966" y="913735"/>
            <a:ext cx="8991161" cy="5830205"/>
          </a:xfrm>
          <a:prstGeom prst="rect">
            <a:avLst/>
          </a:prstGeom>
        </p:spPr>
      </p:pic>
      <p:grpSp>
        <p:nvGrpSpPr>
          <p:cNvPr id="6" name="Group 5">
            <a:extLst>
              <a:ext uri="{FF2B5EF4-FFF2-40B4-BE49-F238E27FC236}">
                <a16:creationId xmlns:a16="http://schemas.microsoft.com/office/drawing/2014/main" id="{C1EB9266-9504-8CED-7D3D-0D1922580BE7}"/>
              </a:ext>
            </a:extLst>
          </p:cNvPr>
          <p:cNvGrpSpPr/>
          <p:nvPr/>
        </p:nvGrpSpPr>
        <p:grpSpPr>
          <a:xfrm>
            <a:off x="10229326" y="1268211"/>
            <a:ext cx="1528265" cy="1422949"/>
            <a:chOff x="4798766" y="2323832"/>
            <a:chExt cx="1528265" cy="1422949"/>
          </a:xfrm>
        </p:grpSpPr>
        <p:sp>
          <p:nvSpPr>
            <p:cNvPr id="9" name="Oval 8">
              <a:extLst>
                <a:ext uri="{FF2B5EF4-FFF2-40B4-BE49-F238E27FC236}">
                  <a16:creationId xmlns:a16="http://schemas.microsoft.com/office/drawing/2014/main" id="{312BF3D8-95FA-12A3-25B7-E9249BF678A0}"/>
                </a:ext>
              </a:extLst>
            </p:cNvPr>
            <p:cNvSpPr/>
            <p:nvPr/>
          </p:nvSpPr>
          <p:spPr>
            <a:xfrm>
              <a:off x="4851425" y="2323832"/>
              <a:ext cx="1422949" cy="142294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solidFill>
                  <a:srgbClr val="CE003D"/>
                </a:solidFill>
                <a:latin typeface="Raleway" panose="020B0503030101060003" pitchFamily="34" charset="-18"/>
              </a:endParaRPr>
            </a:p>
          </p:txBody>
        </p:sp>
        <p:sp>
          <p:nvSpPr>
            <p:cNvPr id="10" name="Rectangle 2">
              <a:extLst>
                <a:ext uri="{FF2B5EF4-FFF2-40B4-BE49-F238E27FC236}">
                  <a16:creationId xmlns:a16="http://schemas.microsoft.com/office/drawing/2014/main" id="{C2AAFDA0-207A-BCB5-B293-48A386E3D2FF}"/>
                </a:ext>
              </a:extLst>
            </p:cNvPr>
            <p:cNvSpPr txBox="1">
              <a:spLocks noChangeArrowheads="1"/>
            </p:cNvSpPr>
            <p:nvPr/>
          </p:nvSpPr>
          <p:spPr bwMode="auto">
            <a:xfrm>
              <a:off x="4798766" y="2714818"/>
              <a:ext cx="1528265" cy="572247"/>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pPr algn="ctr"/>
              <a:r>
                <a:rPr lang="hr-HR" sz="1500" kern="0" dirty="0">
                  <a:solidFill>
                    <a:schemeClr val="bg1"/>
                  </a:solidFill>
                  <a:latin typeface="Raleway" panose="020B0503030101060003" pitchFamily="34" charset="-18"/>
                </a:rPr>
                <a:t>inkubacija</a:t>
              </a:r>
            </a:p>
          </p:txBody>
        </p:sp>
      </p:grpSp>
      <p:sp>
        <p:nvSpPr>
          <p:cNvPr id="11" name="Oval 10">
            <a:extLst>
              <a:ext uri="{FF2B5EF4-FFF2-40B4-BE49-F238E27FC236}">
                <a16:creationId xmlns:a16="http://schemas.microsoft.com/office/drawing/2014/main" id="{E2988A68-C628-DE81-A698-B6F0B6ED9DCA}"/>
              </a:ext>
            </a:extLst>
          </p:cNvPr>
          <p:cNvSpPr/>
          <p:nvPr/>
        </p:nvSpPr>
        <p:spPr>
          <a:xfrm>
            <a:off x="10368155" y="3247896"/>
            <a:ext cx="1422949" cy="1422949"/>
          </a:xfrm>
          <a:prstGeom prst="ellipse">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r-HR" sz="1300" dirty="0">
                <a:solidFill>
                  <a:schemeClr val="tx1"/>
                </a:solidFill>
                <a:latin typeface="Raleway" panose="020B0503030101060003" pitchFamily="34" charset="-18"/>
              </a:rPr>
              <a:t>Pred</a:t>
            </a:r>
          </a:p>
          <a:p>
            <a:pPr algn="ctr"/>
            <a:r>
              <a:rPr lang="hr-HR" sz="1300" dirty="0">
                <a:solidFill>
                  <a:schemeClr val="tx1"/>
                </a:solidFill>
                <a:latin typeface="Raleway" panose="020B0503030101060003" pitchFamily="34" charset="-18"/>
              </a:rPr>
              <a:t>inkubacija</a:t>
            </a:r>
          </a:p>
        </p:txBody>
      </p:sp>
      <p:grpSp>
        <p:nvGrpSpPr>
          <p:cNvPr id="12" name="Group 11">
            <a:extLst>
              <a:ext uri="{FF2B5EF4-FFF2-40B4-BE49-F238E27FC236}">
                <a16:creationId xmlns:a16="http://schemas.microsoft.com/office/drawing/2014/main" id="{F6375C6E-2C3D-7FDC-7AB5-67CB4BE2C150}"/>
              </a:ext>
            </a:extLst>
          </p:cNvPr>
          <p:cNvGrpSpPr/>
          <p:nvPr/>
        </p:nvGrpSpPr>
        <p:grpSpPr>
          <a:xfrm>
            <a:off x="10368155" y="5183234"/>
            <a:ext cx="1422949" cy="1422949"/>
            <a:chOff x="1314395" y="1898482"/>
            <a:chExt cx="1422949" cy="1422949"/>
          </a:xfrm>
        </p:grpSpPr>
        <p:sp>
          <p:nvSpPr>
            <p:cNvPr id="13" name="Oval 12">
              <a:extLst>
                <a:ext uri="{FF2B5EF4-FFF2-40B4-BE49-F238E27FC236}">
                  <a16:creationId xmlns:a16="http://schemas.microsoft.com/office/drawing/2014/main" id="{6F51BAD6-B69F-7632-7F68-C8C8BCF48E7B}"/>
                </a:ext>
              </a:extLst>
            </p:cNvPr>
            <p:cNvSpPr/>
            <p:nvPr/>
          </p:nvSpPr>
          <p:spPr>
            <a:xfrm>
              <a:off x="1314395" y="1898482"/>
              <a:ext cx="1422949" cy="1422949"/>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latin typeface="Raleway" panose="020B0503030101060003" pitchFamily="34" charset="-18"/>
              </a:endParaRPr>
            </a:p>
          </p:txBody>
        </p:sp>
        <p:sp>
          <p:nvSpPr>
            <p:cNvPr id="14" name="Rectangle 2">
              <a:extLst>
                <a:ext uri="{FF2B5EF4-FFF2-40B4-BE49-F238E27FC236}">
                  <a16:creationId xmlns:a16="http://schemas.microsoft.com/office/drawing/2014/main" id="{3DE7DE06-CEC5-73E0-8A84-51B6E0963CB8}"/>
                </a:ext>
              </a:extLst>
            </p:cNvPr>
            <p:cNvSpPr txBox="1">
              <a:spLocks noChangeArrowheads="1"/>
            </p:cNvSpPr>
            <p:nvPr/>
          </p:nvSpPr>
          <p:spPr bwMode="auto">
            <a:xfrm>
              <a:off x="1350571" y="2323832"/>
              <a:ext cx="1344506" cy="572247"/>
            </a:xfrm>
            <a:prstGeom prst="rect">
              <a:avLst/>
            </a:prstGeom>
            <a:noFill/>
            <a:ln w="9525">
              <a:noFill/>
              <a:miter lim="800000"/>
              <a:headEnd/>
              <a:tailEnd/>
            </a:ln>
          </p:spPr>
          <p:txBody>
            <a:bodyPr vert="horz" wrap="square" lIns="51435" tIns="25719" rIns="51435" bIns="25719" numCol="1" anchor="ctr" anchorCtr="0" compatLnSpc="1">
              <a:prstTxWarp prst="textNoShape">
                <a:avLst/>
              </a:prstTxWarp>
            </a:bodyPr>
            <a:lstStyle>
              <a:lvl1pPr algn="l" rtl="0" eaLnBrk="0" fontAlgn="base" hangingPunct="0">
                <a:spcBef>
                  <a:spcPct val="0"/>
                </a:spcBef>
                <a:spcAft>
                  <a:spcPct val="0"/>
                </a:spcAft>
                <a:defRPr sz="2400">
                  <a:solidFill>
                    <a:srgbClr val="CE003D"/>
                  </a:solidFill>
                  <a:latin typeface="+mj-lt"/>
                  <a:ea typeface="+mj-ea"/>
                  <a:cs typeface="+mj-cs"/>
                </a:defRPr>
              </a:lvl1pPr>
              <a:lvl2pPr algn="l" rtl="0" eaLnBrk="0" fontAlgn="base" hangingPunct="0">
                <a:spcBef>
                  <a:spcPct val="0"/>
                </a:spcBef>
                <a:spcAft>
                  <a:spcPct val="0"/>
                </a:spcAft>
                <a:defRPr sz="2400">
                  <a:solidFill>
                    <a:srgbClr val="CE003D"/>
                  </a:solidFill>
                  <a:latin typeface="Tahoma" charset="0"/>
                </a:defRPr>
              </a:lvl2pPr>
              <a:lvl3pPr algn="l" rtl="0" eaLnBrk="0" fontAlgn="base" hangingPunct="0">
                <a:spcBef>
                  <a:spcPct val="0"/>
                </a:spcBef>
                <a:spcAft>
                  <a:spcPct val="0"/>
                </a:spcAft>
                <a:defRPr sz="2400">
                  <a:solidFill>
                    <a:srgbClr val="CE003D"/>
                  </a:solidFill>
                  <a:latin typeface="Tahoma" charset="0"/>
                </a:defRPr>
              </a:lvl3pPr>
              <a:lvl4pPr algn="l" rtl="0" eaLnBrk="0" fontAlgn="base" hangingPunct="0">
                <a:spcBef>
                  <a:spcPct val="0"/>
                </a:spcBef>
                <a:spcAft>
                  <a:spcPct val="0"/>
                </a:spcAft>
                <a:defRPr sz="2400">
                  <a:solidFill>
                    <a:srgbClr val="CE003D"/>
                  </a:solidFill>
                  <a:latin typeface="Tahoma" charset="0"/>
                </a:defRPr>
              </a:lvl4pPr>
              <a:lvl5pPr algn="l" rtl="0" eaLnBrk="0" fontAlgn="base" hangingPunct="0">
                <a:spcBef>
                  <a:spcPct val="0"/>
                </a:spcBef>
                <a:spcAft>
                  <a:spcPct val="0"/>
                </a:spcAft>
                <a:defRPr sz="2400">
                  <a:solidFill>
                    <a:srgbClr val="CE003D"/>
                  </a:solidFill>
                  <a:latin typeface="Tahoma" charset="0"/>
                </a:defRPr>
              </a:lvl5pPr>
              <a:lvl6pPr marL="457200" algn="l" rtl="0" fontAlgn="base">
                <a:spcBef>
                  <a:spcPct val="0"/>
                </a:spcBef>
                <a:spcAft>
                  <a:spcPct val="0"/>
                </a:spcAft>
                <a:defRPr sz="2400">
                  <a:solidFill>
                    <a:srgbClr val="CE003D"/>
                  </a:solidFill>
                  <a:latin typeface="Tahoma" charset="0"/>
                </a:defRPr>
              </a:lvl6pPr>
              <a:lvl7pPr marL="914400" algn="l" rtl="0" fontAlgn="base">
                <a:spcBef>
                  <a:spcPct val="0"/>
                </a:spcBef>
                <a:spcAft>
                  <a:spcPct val="0"/>
                </a:spcAft>
                <a:defRPr sz="2400">
                  <a:solidFill>
                    <a:srgbClr val="CE003D"/>
                  </a:solidFill>
                  <a:latin typeface="Tahoma" charset="0"/>
                </a:defRPr>
              </a:lvl7pPr>
              <a:lvl8pPr marL="1371600" algn="l" rtl="0" fontAlgn="base">
                <a:spcBef>
                  <a:spcPct val="0"/>
                </a:spcBef>
                <a:spcAft>
                  <a:spcPct val="0"/>
                </a:spcAft>
                <a:defRPr sz="2400">
                  <a:solidFill>
                    <a:srgbClr val="CE003D"/>
                  </a:solidFill>
                  <a:latin typeface="Tahoma" charset="0"/>
                </a:defRPr>
              </a:lvl8pPr>
              <a:lvl9pPr marL="1828800" algn="l" rtl="0" fontAlgn="base">
                <a:spcBef>
                  <a:spcPct val="0"/>
                </a:spcBef>
                <a:spcAft>
                  <a:spcPct val="0"/>
                </a:spcAft>
                <a:defRPr sz="2400">
                  <a:solidFill>
                    <a:srgbClr val="CE003D"/>
                  </a:solidFill>
                  <a:latin typeface="Tahoma" charset="0"/>
                </a:defRPr>
              </a:lvl9pPr>
            </a:lstStyle>
            <a:p>
              <a:pPr algn="ctr"/>
              <a:r>
                <a:rPr lang="hr-HR" sz="1500" kern="0" dirty="0">
                  <a:solidFill>
                    <a:schemeClr val="tx1"/>
                  </a:solidFill>
                  <a:latin typeface="Raleway" panose="020B0503030101060003" pitchFamily="34" charset="-18"/>
                </a:rPr>
                <a:t>tranzicija</a:t>
              </a:r>
            </a:p>
          </p:txBody>
        </p:sp>
      </p:grpSp>
    </p:spTree>
    <p:extLst>
      <p:ext uri="{BB962C8B-B14F-4D97-AF65-F5344CB8AC3E}">
        <p14:creationId xmlns:p14="http://schemas.microsoft.com/office/powerpoint/2010/main" val="4090740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lika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26773" y="296882"/>
            <a:ext cx="7962916" cy="6365401"/>
          </a:xfrm>
          <a:prstGeom prst="rect">
            <a:avLst/>
          </a:prstGeom>
        </p:spPr>
      </p:pic>
      <p:sp>
        <p:nvSpPr>
          <p:cNvPr id="8" name="TekstniOkvir 7"/>
          <p:cNvSpPr txBox="1"/>
          <p:nvPr/>
        </p:nvSpPr>
        <p:spPr>
          <a:xfrm>
            <a:off x="5855246" y="3366986"/>
            <a:ext cx="1882246" cy="400110"/>
          </a:xfrm>
          <a:prstGeom prst="rect">
            <a:avLst/>
          </a:prstGeom>
          <a:noFill/>
        </p:spPr>
        <p:txBody>
          <a:bodyPr wrap="none" rtlCol="0">
            <a:spAutoFit/>
          </a:bodyPr>
          <a:lstStyle/>
          <a:p>
            <a:pPr algn="ctr"/>
            <a:r>
              <a:rPr lang="hr-HR" sz="2000" dirty="0">
                <a:solidFill>
                  <a:schemeClr val="bg1"/>
                </a:solidFill>
                <a:latin typeface="Raleway" panose="020B0503030101060003" pitchFamily="34" charset="-18"/>
              </a:rPr>
              <a:t>INFORMACIJE</a:t>
            </a:r>
          </a:p>
        </p:txBody>
      </p:sp>
      <p:sp>
        <p:nvSpPr>
          <p:cNvPr id="10" name="TekstniOkvir 9"/>
          <p:cNvSpPr txBox="1"/>
          <p:nvPr/>
        </p:nvSpPr>
        <p:spPr>
          <a:xfrm>
            <a:off x="6016348" y="1208768"/>
            <a:ext cx="1439817" cy="400110"/>
          </a:xfrm>
          <a:prstGeom prst="rect">
            <a:avLst/>
          </a:prstGeom>
          <a:noFill/>
        </p:spPr>
        <p:txBody>
          <a:bodyPr wrap="none" rtlCol="0">
            <a:spAutoFit/>
          </a:bodyPr>
          <a:lstStyle/>
          <a:p>
            <a:pPr algn="ctr"/>
            <a:r>
              <a:rPr lang="hr-HR" sz="2000" dirty="0">
                <a:solidFill>
                  <a:schemeClr val="bg1"/>
                </a:solidFill>
                <a:latin typeface="Raleway" panose="020B0503030101060003" pitchFamily="34" charset="-18"/>
              </a:rPr>
              <a:t>Povjerenje</a:t>
            </a:r>
          </a:p>
        </p:txBody>
      </p:sp>
      <p:sp>
        <p:nvSpPr>
          <p:cNvPr id="11" name="TekstniOkvir 10"/>
          <p:cNvSpPr txBox="1"/>
          <p:nvPr/>
        </p:nvSpPr>
        <p:spPr>
          <a:xfrm>
            <a:off x="7765674" y="2299579"/>
            <a:ext cx="1715534" cy="400110"/>
          </a:xfrm>
          <a:prstGeom prst="rect">
            <a:avLst/>
          </a:prstGeom>
          <a:noFill/>
        </p:spPr>
        <p:txBody>
          <a:bodyPr wrap="none" rtlCol="0">
            <a:spAutoFit/>
          </a:bodyPr>
          <a:lstStyle/>
          <a:p>
            <a:pPr algn="ctr"/>
            <a:r>
              <a:rPr lang="hr-HR" sz="2000" dirty="0">
                <a:solidFill>
                  <a:schemeClr val="bg1"/>
                </a:solidFill>
                <a:latin typeface="Raleway" panose="020B0503030101060003" pitchFamily="34" charset="-18"/>
              </a:rPr>
              <a:t>Zadovoljstvo</a:t>
            </a:r>
          </a:p>
        </p:txBody>
      </p:sp>
      <p:sp>
        <p:nvSpPr>
          <p:cNvPr id="12" name="TekstniOkvir 11"/>
          <p:cNvSpPr txBox="1"/>
          <p:nvPr/>
        </p:nvSpPr>
        <p:spPr>
          <a:xfrm>
            <a:off x="5932991" y="5547383"/>
            <a:ext cx="1606529" cy="400110"/>
          </a:xfrm>
          <a:prstGeom prst="rect">
            <a:avLst/>
          </a:prstGeom>
          <a:noFill/>
        </p:spPr>
        <p:txBody>
          <a:bodyPr wrap="none" rtlCol="0">
            <a:spAutoFit/>
          </a:bodyPr>
          <a:lstStyle/>
          <a:p>
            <a:pPr algn="ctr"/>
            <a:r>
              <a:rPr lang="hr-HR" sz="2000" dirty="0">
                <a:solidFill>
                  <a:schemeClr val="bg1"/>
                </a:solidFill>
                <a:latin typeface="Raleway" panose="020B0503030101060003" pitchFamily="34" charset="-18"/>
              </a:rPr>
              <a:t>Participacija</a:t>
            </a:r>
          </a:p>
        </p:txBody>
      </p:sp>
      <p:sp>
        <p:nvSpPr>
          <p:cNvPr id="13" name="TekstniOkvir 12"/>
          <p:cNvSpPr txBox="1"/>
          <p:nvPr/>
        </p:nvSpPr>
        <p:spPr>
          <a:xfrm>
            <a:off x="7876281" y="4452961"/>
            <a:ext cx="1494320" cy="400110"/>
          </a:xfrm>
          <a:prstGeom prst="rect">
            <a:avLst/>
          </a:prstGeom>
          <a:noFill/>
        </p:spPr>
        <p:txBody>
          <a:bodyPr wrap="none" rtlCol="0">
            <a:spAutoFit/>
          </a:bodyPr>
          <a:lstStyle/>
          <a:p>
            <a:pPr algn="ctr"/>
            <a:r>
              <a:rPr lang="hr-HR" sz="2000" dirty="0">
                <a:solidFill>
                  <a:schemeClr val="bg1"/>
                </a:solidFill>
                <a:latin typeface="Raleway" panose="020B0503030101060003" pitchFamily="34" charset="-18"/>
              </a:rPr>
              <a:t>Poštovanje</a:t>
            </a:r>
          </a:p>
        </p:txBody>
      </p:sp>
      <p:sp>
        <p:nvSpPr>
          <p:cNvPr id="14" name="TekstniOkvir 13"/>
          <p:cNvSpPr txBox="1"/>
          <p:nvPr/>
        </p:nvSpPr>
        <p:spPr>
          <a:xfrm>
            <a:off x="9871117" y="3222981"/>
            <a:ext cx="1268296" cy="400110"/>
          </a:xfrm>
          <a:prstGeom prst="rect">
            <a:avLst/>
          </a:prstGeom>
          <a:noFill/>
        </p:spPr>
        <p:txBody>
          <a:bodyPr wrap="none" rtlCol="0">
            <a:spAutoFit/>
          </a:bodyPr>
          <a:lstStyle/>
          <a:p>
            <a:pPr algn="ctr"/>
            <a:r>
              <a:rPr lang="hr-HR" sz="2000" dirty="0">
                <a:solidFill>
                  <a:schemeClr val="bg1"/>
                </a:solidFill>
                <a:latin typeface="Raleway" panose="020B0503030101060003" pitchFamily="34" charset="-18"/>
              </a:rPr>
              <a:t>VRIJEME</a:t>
            </a:r>
          </a:p>
        </p:txBody>
      </p:sp>
      <p:sp>
        <p:nvSpPr>
          <p:cNvPr id="16" name="TekstniOkvir 9"/>
          <p:cNvSpPr txBox="1"/>
          <p:nvPr/>
        </p:nvSpPr>
        <p:spPr>
          <a:xfrm>
            <a:off x="4355210" y="2360603"/>
            <a:ext cx="1067152" cy="400110"/>
          </a:xfrm>
          <a:prstGeom prst="rect">
            <a:avLst/>
          </a:prstGeom>
          <a:noFill/>
        </p:spPr>
        <p:txBody>
          <a:bodyPr wrap="none" rtlCol="0">
            <a:spAutoFit/>
          </a:bodyPr>
          <a:lstStyle/>
          <a:p>
            <a:pPr algn="ctr"/>
            <a:r>
              <a:rPr lang="hr-HR" sz="2000">
                <a:solidFill>
                  <a:schemeClr val="bg1"/>
                </a:solidFill>
                <a:latin typeface="Raleway" panose="020B0503030101060003" pitchFamily="34" charset="-18"/>
              </a:rPr>
              <a:t>NOVAC</a:t>
            </a:r>
            <a:endParaRPr lang="hr-HR" sz="2000" dirty="0">
              <a:solidFill>
                <a:schemeClr val="bg1"/>
              </a:solidFill>
              <a:latin typeface="Raleway" panose="020B0503030101060003" pitchFamily="34" charset="-18"/>
            </a:endParaRPr>
          </a:p>
        </p:txBody>
      </p:sp>
      <p:sp>
        <p:nvSpPr>
          <p:cNvPr id="17" name="TekstniOkvir 9"/>
          <p:cNvSpPr txBox="1"/>
          <p:nvPr/>
        </p:nvSpPr>
        <p:spPr>
          <a:xfrm>
            <a:off x="4439785" y="4409246"/>
            <a:ext cx="898003" cy="400110"/>
          </a:xfrm>
          <a:prstGeom prst="rect">
            <a:avLst/>
          </a:prstGeom>
          <a:noFill/>
        </p:spPr>
        <p:txBody>
          <a:bodyPr wrap="none" rtlCol="0">
            <a:spAutoFit/>
          </a:bodyPr>
          <a:lstStyle/>
          <a:p>
            <a:pPr algn="ctr"/>
            <a:r>
              <a:rPr lang="hr-HR" sz="2000" dirty="0">
                <a:solidFill>
                  <a:schemeClr val="bg1"/>
                </a:solidFill>
                <a:latin typeface="Raleway" panose="020B0503030101060003" pitchFamily="34" charset="-18"/>
              </a:rPr>
              <a:t>LJUDI</a:t>
            </a:r>
          </a:p>
        </p:txBody>
      </p:sp>
      <p:sp>
        <p:nvSpPr>
          <p:cNvPr id="2" name="TextBox 1">
            <a:extLst>
              <a:ext uri="{FF2B5EF4-FFF2-40B4-BE49-F238E27FC236}">
                <a16:creationId xmlns:a16="http://schemas.microsoft.com/office/drawing/2014/main" id="{F407E38D-6719-55C3-BF8B-5953B0CBF6D1}"/>
              </a:ext>
            </a:extLst>
          </p:cNvPr>
          <p:cNvSpPr txBox="1"/>
          <p:nvPr/>
        </p:nvSpPr>
        <p:spPr>
          <a:xfrm>
            <a:off x="890650" y="1828800"/>
            <a:ext cx="2635778" cy="3416320"/>
          </a:xfrm>
          <a:prstGeom prst="rect">
            <a:avLst/>
          </a:prstGeom>
          <a:noFill/>
        </p:spPr>
        <p:txBody>
          <a:bodyPr wrap="square" rtlCol="0">
            <a:spAutoFit/>
          </a:bodyPr>
          <a:lstStyle/>
          <a:p>
            <a:r>
              <a:rPr lang="en-HR" dirty="0"/>
              <a:t>Kontakti:</a:t>
            </a:r>
          </a:p>
          <a:p>
            <a:r>
              <a:rPr lang="en-HR" dirty="0"/>
              <a:t>Slađana Miočić</a:t>
            </a:r>
          </a:p>
          <a:p>
            <a:r>
              <a:rPr lang="en-GB" dirty="0">
                <a:hlinkClick r:id="rId3"/>
              </a:rPr>
              <a:t>Sladana.Miocic@varazdin.hr</a:t>
            </a:r>
            <a:endParaRPr lang="en-HR" dirty="0"/>
          </a:p>
          <a:p>
            <a:endParaRPr lang="en-HR" dirty="0"/>
          </a:p>
          <a:p>
            <a:r>
              <a:rPr lang="en-GB" dirty="0"/>
              <a:t>P</a:t>
            </a:r>
            <a:r>
              <a:rPr lang="en-HR" dirty="0"/>
              <a:t>rof.dr.sc. Nina Begičević Ređep</a:t>
            </a:r>
          </a:p>
          <a:p>
            <a:r>
              <a:rPr lang="en-HR" dirty="0">
                <a:hlinkClick r:id="rId4"/>
              </a:rPr>
              <a:t>nbegicev@foi.unizg.hr</a:t>
            </a:r>
            <a:endParaRPr lang="en-HR" dirty="0"/>
          </a:p>
          <a:p>
            <a:endParaRPr lang="en-HR" dirty="0"/>
          </a:p>
          <a:p>
            <a:endParaRPr lang="en-HR" dirty="0"/>
          </a:p>
          <a:p>
            <a:endParaRPr lang="en-HR" dirty="0"/>
          </a:p>
          <a:p>
            <a:endParaRPr lang="en-HR" dirty="0"/>
          </a:p>
        </p:txBody>
      </p:sp>
      <p:sp>
        <p:nvSpPr>
          <p:cNvPr id="3" name="TextBox 2">
            <a:extLst>
              <a:ext uri="{FF2B5EF4-FFF2-40B4-BE49-F238E27FC236}">
                <a16:creationId xmlns:a16="http://schemas.microsoft.com/office/drawing/2014/main" id="{3C48E7F3-0BEA-0CB9-D391-8032313979D6}"/>
              </a:ext>
            </a:extLst>
          </p:cNvPr>
          <p:cNvSpPr txBox="1"/>
          <p:nvPr/>
        </p:nvSpPr>
        <p:spPr>
          <a:xfrm>
            <a:off x="1052587" y="5640779"/>
            <a:ext cx="2123910" cy="369332"/>
          </a:xfrm>
          <a:prstGeom prst="rect">
            <a:avLst/>
          </a:prstGeom>
          <a:noFill/>
        </p:spPr>
        <p:txBody>
          <a:bodyPr wrap="square" rtlCol="0">
            <a:spAutoFit/>
          </a:bodyPr>
          <a:lstStyle/>
          <a:p>
            <a:r>
              <a:rPr lang="en-HR" dirty="0"/>
              <a:t>HVALA NA PAŽNJI!</a:t>
            </a:r>
          </a:p>
        </p:txBody>
      </p:sp>
    </p:spTree>
    <p:extLst>
      <p:ext uri="{BB962C8B-B14F-4D97-AF65-F5344CB8AC3E}">
        <p14:creationId xmlns:p14="http://schemas.microsoft.com/office/powerpoint/2010/main" val="494558465"/>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2713</TotalTime>
  <Words>3752</Words>
  <Application>Microsoft Office PowerPoint</Application>
  <PresentationFormat>Široki zaslon</PresentationFormat>
  <Paragraphs>492</Paragraphs>
  <Slides>24</Slides>
  <Notes>10</Notes>
  <HiddenSlides>2</HiddenSlides>
  <MMClips>0</MMClips>
  <ScaleCrop>false</ScaleCrop>
  <HeadingPairs>
    <vt:vector size="6" baseType="variant">
      <vt:variant>
        <vt:lpstr>Korišteni fontovi</vt:lpstr>
      </vt:variant>
      <vt:variant>
        <vt:i4>9</vt:i4>
      </vt:variant>
      <vt:variant>
        <vt:lpstr>Tema</vt:lpstr>
      </vt:variant>
      <vt:variant>
        <vt:i4>1</vt:i4>
      </vt:variant>
      <vt:variant>
        <vt:lpstr>Naslovi slajdova</vt:lpstr>
      </vt:variant>
      <vt:variant>
        <vt:i4>24</vt:i4>
      </vt:variant>
    </vt:vector>
  </HeadingPairs>
  <TitlesOfParts>
    <vt:vector size="34" baseType="lpstr">
      <vt:lpstr>Arial</vt:lpstr>
      <vt:lpstr>Calibri</vt:lpstr>
      <vt:lpstr>Calibri Light</vt:lpstr>
      <vt:lpstr>Courier New</vt:lpstr>
      <vt:lpstr>Raleway</vt:lpstr>
      <vt:lpstr>Raleway Black</vt:lpstr>
      <vt:lpstr>Times New Roman</vt:lpstr>
      <vt:lpstr>Verdana</vt:lpstr>
      <vt:lpstr>Wingdings 2</vt:lpstr>
      <vt:lpstr>Custom Design</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vector>
  </TitlesOfParts>
  <Company>SignAddict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AbuSina</dc:creator>
  <cp:lastModifiedBy>Tena Jagačić</cp:lastModifiedBy>
  <cp:revision>1805</cp:revision>
  <cp:lastPrinted>2019-04-15T13:24:36Z</cp:lastPrinted>
  <dcterms:created xsi:type="dcterms:W3CDTF">2014-06-26T04:26:33Z</dcterms:created>
  <dcterms:modified xsi:type="dcterms:W3CDTF">2023-03-29T07:55:02Z</dcterms:modified>
</cp:coreProperties>
</file>