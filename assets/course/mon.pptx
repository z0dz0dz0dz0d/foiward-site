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7" r:id="rId4"/>
  </p:sldMasterIdLst>
  <p:notesMasterIdLst>
    <p:notesMasterId r:id="rId60"/>
  </p:notesMasterIdLst>
  <p:sldIdLst>
    <p:sldId id="256" r:id="rId5"/>
    <p:sldId id="313" r:id="rId6"/>
    <p:sldId id="314" r:id="rId7"/>
    <p:sldId id="315" r:id="rId8"/>
    <p:sldId id="1254" r:id="rId9"/>
    <p:sldId id="316" r:id="rId10"/>
    <p:sldId id="1220" r:id="rId11"/>
    <p:sldId id="318" r:id="rId12"/>
    <p:sldId id="1209" r:id="rId13"/>
    <p:sldId id="472" r:id="rId14"/>
    <p:sldId id="1276" r:id="rId15"/>
    <p:sldId id="1287" r:id="rId16"/>
    <p:sldId id="1224" r:id="rId17"/>
    <p:sldId id="1226" r:id="rId18"/>
    <p:sldId id="1286" r:id="rId19"/>
    <p:sldId id="1225" r:id="rId20"/>
    <p:sldId id="1228" r:id="rId21"/>
    <p:sldId id="1288" r:id="rId22"/>
    <p:sldId id="1229" r:id="rId23"/>
    <p:sldId id="1289" r:id="rId24"/>
    <p:sldId id="1290" r:id="rId25"/>
    <p:sldId id="1275" r:id="rId26"/>
    <p:sldId id="1237" r:id="rId27"/>
    <p:sldId id="1238" r:id="rId28"/>
    <p:sldId id="1247" r:id="rId29"/>
    <p:sldId id="1233" r:id="rId30"/>
    <p:sldId id="1239" r:id="rId31"/>
    <p:sldId id="1240" r:id="rId32"/>
    <p:sldId id="1241" r:id="rId33"/>
    <p:sldId id="1242" r:id="rId34"/>
    <p:sldId id="1316" r:id="rId35"/>
    <p:sldId id="1243" r:id="rId36"/>
    <p:sldId id="1244" r:id="rId37"/>
    <p:sldId id="1267" r:id="rId38"/>
    <p:sldId id="1268" r:id="rId39"/>
    <p:sldId id="1269" r:id="rId40"/>
    <p:sldId id="1270" r:id="rId41"/>
    <p:sldId id="1271" r:id="rId42"/>
    <p:sldId id="1273" r:id="rId43"/>
    <p:sldId id="1272" r:id="rId44"/>
    <p:sldId id="1248" r:id="rId45"/>
    <p:sldId id="1249" r:id="rId46"/>
    <p:sldId id="1250" r:id="rId47"/>
    <p:sldId id="1251" r:id="rId48"/>
    <p:sldId id="1302" r:id="rId49"/>
    <p:sldId id="1304" r:id="rId50"/>
    <p:sldId id="1305" r:id="rId51"/>
    <p:sldId id="1274" r:id="rId52"/>
    <p:sldId id="1312" r:id="rId53"/>
    <p:sldId id="1293" r:id="rId54"/>
    <p:sldId id="1308" r:id="rId55"/>
    <p:sldId id="1310" r:id="rId56"/>
    <p:sldId id="1307" r:id="rId57"/>
    <p:sldId id="1313" r:id="rId58"/>
    <p:sldId id="1245" r:id="rId59"/>
  </p:sldIdLst>
  <p:sldSz cx="18288000" cy="10287000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Calibri Light" panose="020F0302020204030204" pitchFamily="34" charset="0"/>
      <p:regular r:id="rId65"/>
      <p:italic r:id="rId66"/>
    </p:embeddedFont>
    <p:embeddedFont>
      <p:font typeface="Century Gothic" panose="020B0502020202020204" pitchFamily="34" charset="0"/>
      <p:regular r:id="rId67"/>
      <p:bold r:id="rId68"/>
      <p:italic r:id="rId69"/>
      <p:boldItalic r:id="rId70"/>
    </p:embeddedFont>
    <p:embeddedFont>
      <p:font typeface="Nunito Sans Regular" panose="020B0604020202020204" charset="-18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AEF0"/>
    <a:srgbClr val="E6E7E9"/>
    <a:srgbClr val="E4E4E4"/>
    <a:srgbClr val="E7E8E9"/>
    <a:srgbClr val="9E6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6.fntdata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30328-A3AA-4DBA-989F-BF1FE97DB97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05FC7-F3B9-4600-BD3D-9A3392C0A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6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05FC7-F3B9-4600-BD3D-9A3392C0AC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11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US" sz="2700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3128EA-BFDE-4DEF-AC38-3F2ECE77BD56}" type="slidenum">
              <a:rPr lang="fr-FR" smtClean="0"/>
              <a:pPr>
                <a:defRPr/>
              </a:pPr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38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4A069-A297-44E7-8587-2D9C8E0556B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25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3128EA-BFDE-4DEF-AC38-3F2ECE77BD56}" type="slidenum">
              <a:rPr lang="fr-FR" smtClean="0"/>
              <a:pPr>
                <a:defRPr/>
              </a:pPr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33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4A069-A297-44E7-8587-2D9C8E0556BD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92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4A069-A297-44E7-8587-2D9C8E0556B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27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4A069-A297-44E7-8587-2D9C8E0556BD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5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4A069-A297-44E7-8587-2D9C8E0556B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89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428566" y="9965529"/>
            <a:ext cx="17430872" cy="321471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</a:lstStyle>
          <a:p>
            <a:r>
              <a:rPr lang="en-US">
                <a:latin typeface="Century Gothic" pitchFamily="34" charset="0"/>
              </a:rPr>
              <a:t>Copyright 2016 by Sharon Tal and Marc Gruber. All rights reserved. This material may not be reproduced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44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914400" y="2400301"/>
            <a:ext cx="16459200" cy="67889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444626" y="6610351"/>
            <a:ext cx="15544800" cy="2043113"/>
          </a:xfrm>
          <a:prstGeom prst="rect">
            <a:avLst/>
          </a:prstGeo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914400" y="2400301"/>
            <a:ext cx="8077200" cy="6788945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9296400" y="2400301"/>
            <a:ext cx="8077200" cy="6788945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9290051" y="2302670"/>
            <a:ext cx="8083550" cy="9596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9290051" y="3262313"/>
            <a:ext cx="8083550" cy="592693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1" y="409575"/>
            <a:ext cx="6016626" cy="1743075"/>
          </a:xfrm>
          <a:prstGeom prst="rect">
            <a:avLst/>
          </a:prstGeo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7150100" y="409576"/>
            <a:ext cx="10223500" cy="877967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914401" y="2152651"/>
            <a:ext cx="6016626" cy="7036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914400" y="2400301"/>
            <a:ext cx="16459200" cy="678894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4114800" cy="877728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CEC9AE1A-D79C-4EF3-BBF8-4EF2D81EA48B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/>
          <a:lstStyle/>
          <a:p>
            <a:fld id="{39DF25BD-A99E-466B-A8DA-D4137FFC8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428564" y="9965529"/>
            <a:ext cx="17430872" cy="321471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</a:lstStyle>
          <a:p>
            <a:r>
              <a:rPr lang="en-US">
                <a:latin typeface="Century Gothic" pitchFamily="34" charset="0"/>
              </a:rPr>
              <a:t>Copyright 2016 by Sharon Tal and Marc Gruber. All rights reserved. This material may not be reproduced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05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428564" y="9965529"/>
            <a:ext cx="17430872" cy="321471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</a:lstStyle>
          <a:p>
            <a:r>
              <a:rPr lang="en-US">
                <a:latin typeface="Century Gothic" pitchFamily="34" charset="0"/>
              </a:rPr>
              <a:t>Copyright 2016 by Sharon Tal and Marc Gruber. All rights reserved. This material may not be reproduced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415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428564" y="9965529"/>
            <a:ext cx="17430872" cy="321471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</a:lstStyle>
          <a:p>
            <a:r>
              <a:rPr lang="en-US">
                <a:latin typeface="Century Gothic" pitchFamily="34" charset="0"/>
              </a:rPr>
              <a:t>Copyright 2016 by Sharon Tal and Marc Gruber. All rights reserved. This material may not be reproduced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6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קבוצה 6"/>
          <p:cNvGrpSpPr/>
          <p:nvPr userDrawn="1"/>
        </p:nvGrpSpPr>
        <p:grpSpPr>
          <a:xfrm>
            <a:off x="1081136" y="0"/>
            <a:ext cx="16073756" cy="10287000"/>
            <a:chOff x="540568" y="0"/>
            <a:chExt cx="8036878" cy="6858000"/>
          </a:xfrm>
        </p:grpSpPr>
        <p:grpSp>
          <p:nvGrpSpPr>
            <p:cNvPr id="8" name="קבוצה 7"/>
            <p:cNvGrpSpPr/>
            <p:nvPr/>
          </p:nvGrpSpPr>
          <p:grpSpPr>
            <a:xfrm>
              <a:off x="638173" y="0"/>
              <a:ext cx="7894267" cy="6858000"/>
              <a:chOff x="638173" y="0"/>
              <a:chExt cx="7894267" cy="6858000"/>
            </a:xfrm>
          </p:grpSpPr>
          <p:cxnSp>
            <p:nvCxnSpPr>
              <p:cNvPr id="12" name="מחבר ישר 11"/>
              <p:cNvCxnSpPr/>
              <p:nvPr/>
            </p:nvCxnSpPr>
            <p:spPr>
              <a:xfrm>
                <a:off x="638173" y="0"/>
                <a:ext cx="0" cy="6858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מחבר ישר 12"/>
              <p:cNvCxnSpPr/>
              <p:nvPr/>
            </p:nvCxnSpPr>
            <p:spPr>
              <a:xfrm>
                <a:off x="8532440" y="0"/>
                <a:ext cx="0" cy="6858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קבוצה 8"/>
            <p:cNvGrpSpPr/>
            <p:nvPr/>
          </p:nvGrpSpPr>
          <p:grpSpPr>
            <a:xfrm>
              <a:off x="540568" y="620688"/>
              <a:ext cx="8036878" cy="648072"/>
              <a:chOff x="540568" y="620688"/>
              <a:chExt cx="8036878" cy="648072"/>
            </a:xfrm>
          </p:grpSpPr>
          <p:cxnSp>
            <p:nvCxnSpPr>
              <p:cNvPr id="10" name="מחבר ישר 9"/>
              <p:cNvCxnSpPr/>
              <p:nvPr/>
            </p:nvCxnSpPr>
            <p:spPr>
              <a:xfrm>
                <a:off x="540568" y="620688"/>
                <a:ext cx="7991872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מחבר ישר 10"/>
              <p:cNvCxnSpPr/>
              <p:nvPr/>
            </p:nvCxnSpPr>
            <p:spPr>
              <a:xfrm>
                <a:off x="585574" y="1268760"/>
                <a:ext cx="7991872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מלבן 13"/>
          <p:cNvSpPr/>
          <p:nvPr userDrawn="1"/>
        </p:nvSpPr>
        <p:spPr>
          <a:xfrm>
            <a:off x="-73024" y="0"/>
            <a:ext cx="18361024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62" r:id="rId12"/>
    <p:sldLayoutId id="2147483665" r:id="rId13"/>
    <p:sldLayoutId id="2147483666" r:id="rId14"/>
  </p:sldLayoutIdLst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1028698" y="2628900"/>
            <a:ext cx="16230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hr-HR" sz="8000" b="1" err="1">
                <a:solidFill>
                  <a:srgbClr val="002060"/>
                </a:solidFill>
                <a:latin typeface="Nunito Sans Regular" panose="020B0604020202020204" charset="-18"/>
              </a:rPr>
              <a:t>From</a:t>
            </a:r>
            <a:r>
              <a:rPr lang="hr-HR" sz="8000" b="1">
                <a:solidFill>
                  <a:srgbClr val="002060"/>
                </a:solidFill>
                <a:latin typeface="Nunito Sans Regular" panose="020B0604020202020204" charset="-18"/>
              </a:rPr>
              <a:t> MVP to </a:t>
            </a:r>
            <a:r>
              <a:rPr lang="hr-HR" sz="8000" b="1" err="1">
                <a:solidFill>
                  <a:srgbClr val="002060"/>
                </a:solidFill>
                <a:latin typeface="Nunito Sans Regular" panose="020B0604020202020204" charset="-18"/>
              </a:rPr>
              <a:t>first</a:t>
            </a:r>
            <a:r>
              <a:rPr lang="hr-HR" sz="8000" b="1">
                <a:solidFill>
                  <a:srgbClr val="002060"/>
                </a:solidFill>
                <a:latin typeface="Nunito Sans Regular" panose="020B0604020202020204" charset="-18"/>
              </a:rPr>
              <a:t> </a:t>
            </a:r>
            <a:r>
              <a:rPr lang="hr-HR" sz="8000" b="1" err="1">
                <a:solidFill>
                  <a:srgbClr val="002060"/>
                </a:solidFill>
                <a:latin typeface="Nunito Sans Regular" panose="020B0604020202020204" charset="-18"/>
              </a:rPr>
              <a:t>customer</a:t>
            </a:r>
            <a:endParaRPr lang="en-US" sz="8000" b="1">
              <a:solidFill>
                <a:srgbClr val="002060"/>
              </a:solidFill>
              <a:latin typeface="Nunito Sans Regular" panose="020B0604020202020204" charset="-18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8C887AA1-4A81-4148-B2BD-56BFB0C021B0}"/>
              </a:ext>
            </a:extLst>
          </p:cNvPr>
          <p:cNvSpPr txBox="1"/>
          <p:nvPr/>
        </p:nvSpPr>
        <p:spPr>
          <a:xfrm>
            <a:off x="6485678" y="9532743"/>
            <a:ext cx="5316643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hr-HR" sz="2400" err="1">
                <a:solidFill>
                  <a:srgbClr val="002060"/>
                </a:solidFill>
                <a:latin typeface="Nunito Sans Regular"/>
              </a:rPr>
              <a:t>January</a:t>
            </a:r>
            <a:r>
              <a:rPr lang="hr-HR" sz="2400">
                <a:solidFill>
                  <a:srgbClr val="002060"/>
                </a:solidFill>
                <a:latin typeface="Nunito Sans Regular"/>
              </a:rPr>
              <a:t>/</a:t>
            </a:r>
            <a:r>
              <a:rPr lang="hr-HR" sz="2400" err="1">
                <a:solidFill>
                  <a:srgbClr val="002060"/>
                </a:solidFill>
                <a:latin typeface="Nunito Sans Regular"/>
              </a:rPr>
              <a:t>February</a:t>
            </a:r>
            <a:r>
              <a:rPr lang="en-US" sz="2400">
                <a:solidFill>
                  <a:srgbClr val="002060"/>
                </a:solidFill>
                <a:latin typeface="Nunito Sans Regular"/>
              </a:rPr>
              <a:t> 202</a:t>
            </a:r>
            <a:r>
              <a:rPr lang="hr-HR" sz="2400">
                <a:solidFill>
                  <a:srgbClr val="002060"/>
                </a:solidFill>
                <a:latin typeface="Nunito Sans Regular"/>
              </a:rPr>
              <a:t>3</a:t>
            </a:r>
          </a:p>
        </p:txBody>
      </p:sp>
      <p:sp>
        <p:nvSpPr>
          <p:cNvPr id="4" name="Pravokotnik 3">
            <a:extLst>
              <a:ext uri="{FF2B5EF4-FFF2-40B4-BE49-F238E27FC236}">
                <a16:creationId xmlns:a16="http://schemas.microsoft.com/office/drawing/2014/main" id="{32BA830B-ACA2-E06C-0810-72CEA5099471}"/>
              </a:ext>
            </a:extLst>
          </p:cNvPr>
          <p:cNvSpPr/>
          <p:nvPr/>
        </p:nvSpPr>
        <p:spPr>
          <a:xfrm>
            <a:off x="10287000" y="4533900"/>
            <a:ext cx="1676400" cy="1231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15" name="Slika 14" descr="Slika, ki vsebuje besede besedilo&#10;&#10;Opis je samodejno ustvarjen">
            <a:extLst>
              <a:ext uri="{FF2B5EF4-FFF2-40B4-BE49-F238E27FC236}">
                <a16:creationId xmlns:a16="http://schemas.microsoft.com/office/drawing/2014/main" id="{9DE17C2E-0622-5A56-5A37-430D07708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0" y="5434502"/>
            <a:ext cx="2880360" cy="1261872"/>
          </a:xfrm>
          <a:prstGeom prst="rect">
            <a:avLst/>
          </a:prstGeom>
        </p:spPr>
      </p:pic>
      <p:grpSp>
        <p:nvGrpSpPr>
          <p:cNvPr id="2" name="Skupina 1">
            <a:extLst>
              <a:ext uri="{FF2B5EF4-FFF2-40B4-BE49-F238E27FC236}">
                <a16:creationId xmlns:a16="http://schemas.microsoft.com/office/drawing/2014/main" id="{4E0F8818-E034-8908-3743-C36CB68C6AB1}"/>
              </a:ext>
            </a:extLst>
          </p:cNvPr>
          <p:cNvGrpSpPr/>
          <p:nvPr/>
        </p:nvGrpSpPr>
        <p:grpSpPr>
          <a:xfrm>
            <a:off x="152400" y="22860"/>
            <a:ext cx="17898666" cy="10215697"/>
            <a:chOff x="152400" y="22860"/>
            <a:chExt cx="17898666" cy="1021569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D0B14F9-BC37-487E-9861-0EB33C2E3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44600" y="22860"/>
              <a:ext cx="4106466" cy="1171574"/>
            </a:xfrm>
            <a:prstGeom prst="rect">
              <a:avLst/>
            </a:prstGeom>
          </p:spPr>
        </p:pic>
        <p:pic>
          <p:nvPicPr>
            <p:cNvPr id="6" name="Picture 5" descr="Logo&#10;&#10;Description automatically generated">
              <a:extLst>
                <a:ext uri="{FF2B5EF4-FFF2-40B4-BE49-F238E27FC236}">
                  <a16:creationId xmlns:a16="http://schemas.microsoft.com/office/drawing/2014/main" id="{17564E6A-C7AB-49E7-B187-D44354423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9246275"/>
              <a:ext cx="2577092" cy="992282"/>
            </a:xfrm>
            <a:prstGeom prst="rect">
              <a:avLst/>
            </a:prstGeom>
          </p:spPr>
        </p:pic>
        <p:pic>
          <p:nvPicPr>
            <p:cNvPr id="13" name="Slika 12" descr="Slika, ki vsebuje besede besedilo&#10;&#10;Opis je samodejno ustvarjen">
              <a:extLst>
                <a:ext uri="{FF2B5EF4-FFF2-40B4-BE49-F238E27FC236}">
                  <a16:creationId xmlns:a16="http://schemas.microsoft.com/office/drawing/2014/main" id="{6F901CB1-F1F1-D2E2-1E1E-5D5CC3183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2199" y="5143501"/>
              <a:ext cx="3373495" cy="1676400"/>
            </a:xfrm>
            <a:prstGeom prst="rect">
              <a:avLst/>
            </a:prstGeom>
          </p:spPr>
        </p:pic>
        <p:pic>
          <p:nvPicPr>
            <p:cNvPr id="17" name="Slika 16" descr="Slika, ki vsebuje besede besedilo&#10;&#10;Opis je samodejno ustvarjen">
              <a:extLst>
                <a:ext uri="{FF2B5EF4-FFF2-40B4-BE49-F238E27FC236}">
                  <a16:creationId xmlns:a16="http://schemas.microsoft.com/office/drawing/2014/main" id="{893E5824-878D-8330-6832-B1C234F05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6159" y="5475850"/>
              <a:ext cx="4213066" cy="10772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 descr="Slika, ki vsebuje besede besedilo&#10;&#10;Opis je samodejno ustvarjen">
            <a:extLst>
              <a:ext uri="{FF2B5EF4-FFF2-40B4-BE49-F238E27FC236}">
                <a16:creationId xmlns:a16="http://schemas.microsoft.com/office/drawing/2014/main" id="{2760BC19-6AEB-852C-27CE-EF2CE8802F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6"/>
          <a:stretch/>
        </p:blipFill>
        <p:spPr>
          <a:xfrm>
            <a:off x="0" y="0"/>
            <a:ext cx="18288000" cy="963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2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 descr="Slika, ki vsebuje besede besedilo&#10;&#10;Opis je samodejno ustvarjen">
            <a:extLst>
              <a:ext uri="{FF2B5EF4-FFF2-40B4-BE49-F238E27FC236}">
                <a16:creationId xmlns:a16="http://schemas.microsoft.com/office/drawing/2014/main" id="{00D3E1C9-C025-D390-52DD-07E31BA632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6"/>
          <a:stretch/>
        </p:blipFill>
        <p:spPr>
          <a:xfrm>
            <a:off x="0" y="0"/>
            <a:ext cx="18288000" cy="963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3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398A504E-3892-8842-7350-297EE51E2E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358" b="925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Pravokotnik 4">
            <a:extLst>
              <a:ext uri="{FF2B5EF4-FFF2-40B4-BE49-F238E27FC236}">
                <a16:creationId xmlns:a16="http://schemas.microsoft.com/office/drawing/2014/main" id="{9B2ADD22-3F61-FF4F-03DF-5670C3AC68D0}"/>
              </a:ext>
            </a:extLst>
          </p:cNvPr>
          <p:cNvSpPr/>
          <p:nvPr/>
        </p:nvSpPr>
        <p:spPr>
          <a:xfrm>
            <a:off x="3962400" y="8877300"/>
            <a:ext cx="3200400" cy="992282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6461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43DD975-6E15-8191-B331-42B0ED78A048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WHO ARE YOU?</a:t>
            </a:r>
            <a:endParaRPr lang="sl-SI"/>
          </a:p>
        </p:txBody>
      </p:sp>
      <p:sp>
        <p:nvSpPr>
          <p:cNvPr id="3" name="Puščica: levo-desno 2">
            <a:extLst>
              <a:ext uri="{FF2B5EF4-FFF2-40B4-BE49-F238E27FC236}">
                <a16:creationId xmlns:a16="http://schemas.microsoft.com/office/drawing/2014/main" id="{6A11C8EF-AB72-E73B-1A6A-A800CCAA6F55}"/>
              </a:ext>
            </a:extLst>
          </p:cNvPr>
          <p:cNvSpPr/>
          <p:nvPr/>
        </p:nvSpPr>
        <p:spPr>
          <a:xfrm>
            <a:off x="2913255" y="3401122"/>
            <a:ext cx="11750597" cy="557560"/>
          </a:xfrm>
          <a:prstGeom prst="left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F260F3BA-4B89-06D9-2B9B-FED0C64905CD}"/>
              </a:ext>
            </a:extLst>
          </p:cNvPr>
          <p:cNvGrpSpPr/>
          <p:nvPr/>
        </p:nvGrpSpPr>
        <p:grpSpPr>
          <a:xfrm>
            <a:off x="596654" y="4711391"/>
            <a:ext cx="4628547" cy="1143001"/>
            <a:chOff x="780585" y="4711391"/>
            <a:chExt cx="4628547" cy="1143001"/>
          </a:xfrm>
        </p:grpSpPr>
        <p:sp>
          <p:nvSpPr>
            <p:cNvPr id="11" name="Pravokotnik 10">
              <a:extLst>
                <a:ext uri="{FF2B5EF4-FFF2-40B4-BE49-F238E27FC236}">
                  <a16:creationId xmlns:a16="http://schemas.microsoft.com/office/drawing/2014/main" id="{88CB865F-9259-20F7-FFE5-7ADF993E6FF2}"/>
                </a:ext>
              </a:extLst>
            </p:cNvPr>
            <p:cNvSpPr/>
            <p:nvPr/>
          </p:nvSpPr>
          <p:spPr>
            <a:xfrm>
              <a:off x="780585" y="4711391"/>
              <a:ext cx="4628547" cy="11430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13" name="PoljeZBesedilom 12">
              <a:extLst>
                <a:ext uri="{FF2B5EF4-FFF2-40B4-BE49-F238E27FC236}">
                  <a16:creationId xmlns:a16="http://schemas.microsoft.com/office/drawing/2014/main" id="{040EAAF5-46CC-882C-7515-7223489FD7C2}"/>
                </a:ext>
              </a:extLst>
            </p:cNvPr>
            <p:cNvSpPr txBox="1"/>
            <p:nvPr/>
          </p:nvSpPr>
          <p:spPr>
            <a:xfrm>
              <a:off x="1233603" y="5011080"/>
              <a:ext cx="3613925" cy="63094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3500" b="1">
                  <a:solidFill>
                    <a:srgbClr val="00AEF0"/>
                  </a:solidFill>
                </a:rPr>
                <a:t>IDEA GENERATION</a:t>
              </a:r>
              <a:endParaRPr lang="en-GB" sz="3500">
                <a:cs typeface="Calibri"/>
              </a:endParaRPr>
            </a:p>
          </p:txBody>
        </p:sp>
      </p:grpSp>
      <p:grpSp>
        <p:nvGrpSpPr>
          <p:cNvPr id="2" name="Skupina 1">
            <a:extLst>
              <a:ext uri="{FF2B5EF4-FFF2-40B4-BE49-F238E27FC236}">
                <a16:creationId xmlns:a16="http://schemas.microsoft.com/office/drawing/2014/main" id="{6358E572-73CE-5341-4A8D-B848C1C80EE2}"/>
              </a:ext>
            </a:extLst>
          </p:cNvPr>
          <p:cNvGrpSpPr/>
          <p:nvPr/>
        </p:nvGrpSpPr>
        <p:grpSpPr>
          <a:xfrm>
            <a:off x="12346451" y="4712319"/>
            <a:ext cx="4628547" cy="1143001"/>
            <a:chOff x="5659244" y="4712319"/>
            <a:chExt cx="4628547" cy="1143001"/>
          </a:xfrm>
        </p:grpSpPr>
        <p:sp>
          <p:nvSpPr>
            <p:cNvPr id="14" name="Pravokotnik 13">
              <a:extLst>
                <a:ext uri="{FF2B5EF4-FFF2-40B4-BE49-F238E27FC236}">
                  <a16:creationId xmlns:a16="http://schemas.microsoft.com/office/drawing/2014/main" id="{7CD20D14-3B79-D245-A891-13CE87550F08}"/>
                </a:ext>
              </a:extLst>
            </p:cNvPr>
            <p:cNvSpPr/>
            <p:nvPr/>
          </p:nvSpPr>
          <p:spPr>
            <a:xfrm>
              <a:off x="5659244" y="4712319"/>
              <a:ext cx="4628547" cy="11430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15" name="PoljeZBesedilom 14">
              <a:extLst>
                <a:ext uri="{FF2B5EF4-FFF2-40B4-BE49-F238E27FC236}">
                  <a16:creationId xmlns:a16="http://schemas.microsoft.com/office/drawing/2014/main" id="{F635C1E7-4534-A263-D804-2190D12F5F94}"/>
                </a:ext>
              </a:extLst>
            </p:cNvPr>
            <p:cNvSpPr txBox="1"/>
            <p:nvPr/>
          </p:nvSpPr>
          <p:spPr>
            <a:xfrm>
              <a:off x="6990421" y="4964407"/>
              <a:ext cx="1969120" cy="63094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3500" b="1">
                  <a:solidFill>
                    <a:srgbClr val="00AEF0"/>
                  </a:solidFill>
                </a:rPr>
                <a:t>SCALE-UP</a:t>
              </a:r>
              <a:endParaRPr lang="sl-SI"/>
            </a:p>
          </p:txBody>
        </p:sp>
      </p:grpSp>
      <p:sp>
        <p:nvSpPr>
          <p:cNvPr id="5" name="Zvezda: 5 krakov 4">
            <a:extLst>
              <a:ext uri="{FF2B5EF4-FFF2-40B4-BE49-F238E27FC236}">
                <a16:creationId xmlns:a16="http://schemas.microsoft.com/office/drawing/2014/main" id="{5DD89279-6D5B-9D98-4E97-1FA00D699732}"/>
              </a:ext>
            </a:extLst>
          </p:cNvPr>
          <p:cNvSpPr/>
          <p:nvPr/>
        </p:nvSpPr>
        <p:spPr>
          <a:xfrm>
            <a:off x="5575737" y="2617076"/>
            <a:ext cx="2023241" cy="189186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6019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3" name="Slika 2">
            <a:extLst>
              <a:ext uri="{FF2B5EF4-FFF2-40B4-BE49-F238E27FC236}">
                <a16:creationId xmlns:a16="http://schemas.microsoft.com/office/drawing/2014/main" id="{09ACD1E5-1FA4-0B51-2745-9DA46CD7C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155" y="342900"/>
            <a:ext cx="13491689" cy="895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1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6F1FB5F0-22CE-BC23-4009-84BA8352FB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596"/>
          <a:stretch/>
        </p:blipFill>
        <p:spPr>
          <a:xfrm>
            <a:off x="2171500" y="1562100"/>
            <a:ext cx="13945000" cy="7010400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43DD975-6E15-8191-B331-42B0ED78A048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ARE YOU RUNNING IN THE RIGHT DIRECTION?</a:t>
            </a:r>
          </a:p>
        </p:txBody>
      </p:sp>
    </p:spTree>
    <p:extLst>
      <p:ext uri="{BB962C8B-B14F-4D97-AF65-F5344CB8AC3E}">
        <p14:creationId xmlns:p14="http://schemas.microsoft.com/office/powerpoint/2010/main" val="108160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8A268454-D9C0-2BC2-8A31-157DC4E42D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480"/>
          <a:stretch/>
        </p:blipFill>
        <p:spPr>
          <a:xfrm>
            <a:off x="2176685" y="1562100"/>
            <a:ext cx="13939815" cy="7842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THE MARKET OPPORTUNITY NAVIGATOR</a:t>
            </a:r>
          </a:p>
        </p:txBody>
      </p:sp>
    </p:spTree>
    <p:extLst>
      <p:ext uri="{BB962C8B-B14F-4D97-AF65-F5344CB8AC3E}">
        <p14:creationId xmlns:p14="http://schemas.microsoft.com/office/powerpoint/2010/main" val="36645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כותרת 1"/>
          <p:cNvSpPr txBox="1">
            <a:spLocks/>
          </p:cNvSpPr>
          <p:nvPr/>
        </p:nvSpPr>
        <p:spPr bwMode="auto">
          <a:xfrm>
            <a:off x="4175448" y="1576097"/>
            <a:ext cx="9313665" cy="80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3150">
              <a:solidFill>
                <a:srgbClr val="FFFFFF"/>
              </a:solidFill>
              <a:latin typeface="Calibri" panose="020F0502020204030204" pitchFamily="34" charset="0"/>
              <a:ea typeface="Roboto"/>
              <a:cs typeface="Roboto"/>
            </a:endParaRPr>
          </a:p>
        </p:txBody>
      </p:sp>
      <p:sp>
        <p:nvSpPr>
          <p:cNvPr id="10243" name="מלבן 7"/>
          <p:cNvSpPr>
            <a:spLocks noChangeArrowheads="1"/>
          </p:cNvSpPr>
          <p:nvPr/>
        </p:nvSpPr>
        <p:spPr bwMode="auto">
          <a:xfrm>
            <a:off x="7157048" y="10519035"/>
            <a:ext cx="889028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Calibri" panose="020F0502020204030204" pitchFamily="34" charset="0"/>
                <a:ea typeface="Roboto"/>
                <a:cs typeface="Roboto"/>
              </a:rPr>
              <a:t>Copyright 2016 by Sharon Tal and Marc Gruber. All rights reserved. This material may not be reproduced</a:t>
            </a:r>
          </a:p>
        </p:txBody>
      </p:sp>
      <p:pic>
        <p:nvPicPr>
          <p:cNvPr id="1024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05"/>
          <a:stretch/>
        </p:blipFill>
        <p:spPr bwMode="auto">
          <a:xfrm>
            <a:off x="1441781" y="561257"/>
            <a:ext cx="14605554" cy="497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E3496A70-CB0F-4AAE-ACB7-523A404FA7A1}"/>
              </a:ext>
            </a:extLst>
          </p:cNvPr>
          <p:cNvGrpSpPr/>
          <p:nvPr/>
        </p:nvGrpSpPr>
        <p:grpSpPr>
          <a:xfrm>
            <a:off x="3084487" y="5219949"/>
            <a:ext cx="12119026" cy="3947160"/>
            <a:chOff x="1464752" y="4581128"/>
            <a:chExt cx="4689963" cy="1728192"/>
          </a:xfrm>
        </p:grpSpPr>
        <p:pic>
          <p:nvPicPr>
            <p:cNvPr id="7" name="Picture 2" descr="Navigator_illustration1">
              <a:extLst>
                <a:ext uri="{FF2B5EF4-FFF2-40B4-BE49-F238E27FC236}">
                  <a16:creationId xmlns:a16="http://schemas.microsoft.com/office/drawing/2014/main" id="{B531A5B0-54AE-42E5-929D-15DD358620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687"/>
            <a:stretch/>
          </p:blipFill>
          <p:spPr bwMode="auto">
            <a:xfrm>
              <a:off x="1464752" y="4581128"/>
              <a:ext cx="1523072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Navigator_illustration2">
              <a:extLst>
                <a:ext uri="{FF2B5EF4-FFF2-40B4-BE49-F238E27FC236}">
                  <a16:creationId xmlns:a16="http://schemas.microsoft.com/office/drawing/2014/main" id="{6CD24A2C-68BB-41BC-A9D5-DDDD5F8B8A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15" r="33043"/>
            <a:stretch/>
          </p:blipFill>
          <p:spPr bwMode="auto">
            <a:xfrm>
              <a:off x="3059832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Navigator_illustration3">
              <a:extLst>
                <a:ext uri="{FF2B5EF4-FFF2-40B4-BE49-F238E27FC236}">
                  <a16:creationId xmlns:a16="http://schemas.microsoft.com/office/drawing/2014/main" id="{7650B0CE-E8E4-49E8-AD91-12A8811444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57"/>
            <a:stretch/>
          </p:blipFill>
          <p:spPr bwMode="auto">
            <a:xfrm>
              <a:off x="4644008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6A00FC9C-B7FC-C521-1D44-B3BEF859E1F2}"/>
              </a:ext>
            </a:extLst>
          </p:cNvPr>
          <p:cNvSpPr txBox="1"/>
          <p:nvPr/>
        </p:nvSpPr>
        <p:spPr>
          <a:xfrm>
            <a:off x="3276600" y="9167109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MARKET OPPORTUNITY SET</a:t>
            </a:r>
          </a:p>
        </p:txBody>
      </p:sp>
      <p:sp>
        <p:nvSpPr>
          <p:cNvPr id="4" name="PoljeZBesedilom 3">
            <a:extLst>
              <a:ext uri="{FF2B5EF4-FFF2-40B4-BE49-F238E27FC236}">
                <a16:creationId xmlns:a16="http://schemas.microsoft.com/office/drawing/2014/main" id="{70C9F7D0-E650-D71F-75F5-BE87A887EFC3}"/>
              </a:ext>
            </a:extLst>
          </p:cNvPr>
          <p:cNvSpPr txBox="1"/>
          <p:nvPr/>
        </p:nvSpPr>
        <p:spPr>
          <a:xfrm>
            <a:off x="7288197" y="9167108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ATTRACTIVENESS MAP</a:t>
            </a:r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5592E43A-5832-5E2F-C0B6-142AEBA24907}"/>
              </a:ext>
            </a:extLst>
          </p:cNvPr>
          <p:cNvSpPr txBox="1"/>
          <p:nvPr/>
        </p:nvSpPr>
        <p:spPr>
          <a:xfrm>
            <a:off x="11365912" y="9167107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AGILE FOCUS DARTBOARD</a:t>
            </a:r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533E1B2A-9FDF-8A11-DB0B-0B3A0273AAF1}"/>
              </a:ext>
            </a:extLst>
          </p:cNvPr>
          <p:cNvSpPr txBox="1"/>
          <p:nvPr/>
        </p:nvSpPr>
        <p:spPr>
          <a:xfrm>
            <a:off x="0" y="162374"/>
            <a:ext cx="18288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5000" b="1">
                <a:solidFill>
                  <a:srgbClr val="00AEF0"/>
                </a:solidFill>
              </a:rPr>
              <a:t>WORKING WITH THE MARKET OPPORTUNITY NAVIGATOR</a:t>
            </a:r>
          </a:p>
        </p:txBody>
      </p:sp>
    </p:spTree>
    <p:extLst>
      <p:ext uri="{BB962C8B-B14F-4D97-AF65-F5344CB8AC3E}">
        <p14:creationId xmlns:p14="http://schemas.microsoft.com/office/powerpoint/2010/main" val="322770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9E8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D903F9D6-3101-89F6-5737-441BD3495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71" y="346842"/>
            <a:ext cx="15896897" cy="953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0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3">
            <a:extLst>
              <a:ext uri="{FF2B5EF4-FFF2-40B4-BE49-F238E27FC236}">
                <a16:creationId xmlns:a16="http://schemas.microsoft.com/office/drawing/2014/main" id="{63114A31-419F-AF5E-AB2F-D75BC3A12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630" y="0"/>
            <a:ext cx="7661610" cy="103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02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כותרת 1"/>
          <p:cNvSpPr txBox="1">
            <a:spLocks/>
          </p:cNvSpPr>
          <p:nvPr/>
        </p:nvSpPr>
        <p:spPr bwMode="auto">
          <a:xfrm>
            <a:off x="4175448" y="1576097"/>
            <a:ext cx="9313665" cy="80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3150">
              <a:solidFill>
                <a:srgbClr val="FFFFFF"/>
              </a:solidFill>
              <a:latin typeface="Calibri" panose="020F0502020204030204" pitchFamily="34" charset="0"/>
              <a:ea typeface="Roboto"/>
              <a:cs typeface="Roboto"/>
            </a:endParaRPr>
          </a:p>
        </p:txBody>
      </p:sp>
      <p:sp>
        <p:nvSpPr>
          <p:cNvPr id="10243" name="מלבן 7"/>
          <p:cNvSpPr>
            <a:spLocks noChangeArrowheads="1"/>
          </p:cNvSpPr>
          <p:nvPr/>
        </p:nvSpPr>
        <p:spPr bwMode="auto">
          <a:xfrm>
            <a:off x="7157048" y="10519035"/>
            <a:ext cx="889028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Calibri" panose="020F0502020204030204" pitchFamily="34" charset="0"/>
                <a:ea typeface="Roboto"/>
                <a:cs typeface="Roboto"/>
              </a:rPr>
              <a:t>Copyright 2016 by Sharon Tal and Marc Gruber. All rights reserved. This material may not be reproduced</a:t>
            </a:r>
          </a:p>
        </p:txBody>
      </p:sp>
      <p:pic>
        <p:nvPicPr>
          <p:cNvPr id="1024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05"/>
          <a:stretch/>
        </p:blipFill>
        <p:spPr bwMode="auto">
          <a:xfrm>
            <a:off x="1441781" y="561257"/>
            <a:ext cx="14605554" cy="497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E3496A70-CB0F-4AAE-ACB7-523A404FA7A1}"/>
              </a:ext>
            </a:extLst>
          </p:cNvPr>
          <p:cNvGrpSpPr/>
          <p:nvPr/>
        </p:nvGrpSpPr>
        <p:grpSpPr>
          <a:xfrm>
            <a:off x="3084487" y="5219949"/>
            <a:ext cx="12119026" cy="3947160"/>
            <a:chOff x="1464752" y="4581128"/>
            <a:chExt cx="4689963" cy="1728192"/>
          </a:xfrm>
        </p:grpSpPr>
        <p:pic>
          <p:nvPicPr>
            <p:cNvPr id="7" name="Picture 2" descr="Navigator_illustration1">
              <a:extLst>
                <a:ext uri="{FF2B5EF4-FFF2-40B4-BE49-F238E27FC236}">
                  <a16:creationId xmlns:a16="http://schemas.microsoft.com/office/drawing/2014/main" id="{B531A5B0-54AE-42E5-929D-15DD358620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687"/>
            <a:stretch/>
          </p:blipFill>
          <p:spPr bwMode="auto">
            <a:xfrm>
              <a:off x="1464752" y="4581128"/>
              <a:ext cx="1523072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Navigator_illustration2">
              <a:extLst>
                <a:ext uri="{FF2B5EF4-FFF2-40B4-BE49-F238E27FC236}">
                  <a16:creationId xmlns:a16="http://schemas.microsoft.com/office/drawing/2014/main" id="{6CD24A2C-68BB-41BC-A9D5-DDDD5F8B8A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15" r="33043"/>
            <a:stretch/>
          </p:blipFill>
          <p:spPr bwMode="auto">
            <a:xfrm>
              <a:off x="3059832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Navigator_illustration3">
              <a:extLst>
                <a:ext uri="{FF2B5EF4-FFF2-40B4-BE49-F238E27FC236}">
                  <a16:creationId xmlns:a16="http://schemas.microsoft.com/office/drawing/2014/main" id="{7650B0CE-E8E4-49E8-AD91-12A8811444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57"/>
            <a:stretch/>
          </p:blipFill>
          <p:spPr bwMode="auto">
            <a:xfrm>
              <a:off x="4644008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6A00FC9C-B7FC-C521-1D44-B3BEF859E1F2}"/>
              </a:ext>
            </a:extLst>
          </p:cNvPr>
          <p:cNvSpPr txBox="1"/>
          <p:nvPr/>
        </p:nvSpPr>
        <p:spPr>
          <a:xfrm>
            <a:off x="3276600" y="9167109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MARKET OPPORTUNITY SET</a:t>
            </a:r>
          </a:p>
        </p:txBody>
      </p:sp>
      <p:sp>
        <p:nvSpPr>
          <p:cNvPr id="4" name="PoljeZBesedilom 3">
            <a:extLst>
              <a:ext uri="{FF2B5EF4-FFF2-40B4-BE49-F238E27FC236}">
                <a16:creationId xmlns:a16="http://schemas.microsoft.com/office/drawing/2014/main" id="{70C9F7D0-E650-D71F-75F5-BE87A887EFC3}"/>
              </a:ext>
            </a:extLst>
          </p:cNvPr>
          <p:cNvSpPr txBox="1"/>
          <p:nvPr/>
        </p:nvSpPr>
        <p:spPr>
          <a:xfrm>
            <a:off x="7288197" y="9167108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ATTRACTIVENESS MAP</a:t>
            </a:r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5592E43A-5832-5E2F-C0B6-142AEBA24907}"/>
              </a:ext>
            </a:extLst>
          </p:cNvPr>
          <p:cNvSpPr txBox="1"/>
          <p:nvPr/>
        </p:nvSpPr>
        <p:spPr>
          <a:xfrm>
            <a:off x="11365912" y="9167107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AGILE FOCUS DARTBOARD</a:t>
            </a:r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533E1B2A-9FDF-8A11-DB0B-0B3A0273AAF1}"/>
              </a:ext>
            </a:extLst>
          </p:cNvPr>
          <p:cNvSpPr txBox="1"/>
          <p:nvPr/>
        </p:nvSpPr>
        <p:spPr>
          <a:xfrm>
            <a:off x="0" y="162374"/>
            <a:ext cx="18288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5000" b="1">
                <a:solidFill>
                  <a:srgbClr val="00AEF0"/>
                </a:solidFill>
              </a:rPr>
              <a:t>WORKING WITH THE MARKET OPPORTUNITY NAVIGATOR</a:t>
            </a:r>
          </a:p>
        </p:txBody>
      </p:sp>
      <p:sp>
        <p:nvSpPr>
          <p:cNvPr id="12" name="Pravokotnik 11">
            <a:extLst>
              <a:ext uri="{FF2B5EF4-FFF2-40B4-BE49-F238E27FC236}">
                <a16:creationId xmlns:a16="http://schemas.microsoft.com/office/drawing/2014/main" id="{84DBCF95-ACDD-34DF-31F6-133F1C2D24E2}"/>
              </a:ext>
            </a:extLst>
          </p:cNvPr>
          <p:cNvSpPr/>
          <p:nvPr/>
        </p:nvSpPr>
        <p:spPr>
          <a:xfrm>
            <a:off x="7041931" y="1072055"/>
            <a:ext cx="8276896" cy="8776137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69259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STEP 1: MARKET OPPORTUNITY SET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>
                <a:solidFill>
                  <a:srgbClr val="00AEF0"/>
                </a:solidFill>
              </a:rPr>
              <a:t>DE-LINKING PROCESS</a:t>
            </a:r>
          </a:p>
          <a:p>
            <a:endParaRPr lang="en-GB" sz="6000"/>
          </a:p>
          <a:p>
            <a:r>
              <a:rPr lang="en-GB" sz="6000"/>
              <a:t>Describe your unique abilities or core technological elements</a:t>
            </a:r>
          </a:p>
          <a:p>
            <a:endParaRPr lang="en-GB" sz="3500"/>
          </a:p>
          <a:p>
            <a:r>
              <a:rPr lang="en-GB" sz="3500"/>
              <a:t>Elements should be independent of their application in a specific product!</a:t>
            </a: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</p:spTree>
    <p:extLst>
      <p:ext uri="{BB962C8B-B14F-4D97-AF65-F5344CB8AC3E}">
        <p14:creationId xmlns:p14="http://schemas.microsoft.com/office/powerpoint/2010/main" val="348723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STEP 1: MARKET OPPORTUNITY SET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799" y="1866900"/>
            <a:ext cx="13520515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>
                <a:solidFill>
                  <a:srgbClr val="00AEF0"/>
                </a:solidFill>
              </a:rPr>
              <a:t>DE-LINKING PROCESS</a:t>
            </a:r>
          </a:p>
          <a:p>
            <a:endParaRPr lang="en-GB" sz="3500"/>
          </a:p>
          <a:p>
            <a:r>
              <a:rPr lang="en-GB" sz="3500"/>
              <a:t>Think about the main building blocks of your competences, such as: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Core technology elements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Important know-how about specific process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A rare resource that you own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A special capability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etc.</a:t>
            </a:r>
          </a:p>
          <a:p>
            <a:pPr marL="457200" indent="-457200">
              <a:buFontTx/>
              <a:buChar char="-"/>
            </a:pPr>
            <a:endParaRPr lang="en-GB" sz="3500"/>
          </a:p>
          <a:p>
            <a:r>
              <a:rPr lang="en-GB" sz="3500"/>
              <a:t>Describe their main properties as well as the functions they can perform.</a:t>
            </a: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</p:spTree>
    <p:extLst>
      <p:ext uri="{BB962C8B-B14F-4D97-AF65-F5344CB8AC3E}">
        <p14:creationId xmlns:p14="http://schemas.microsoft.com/office/powerpoint/2010/main" val="339106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9E8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3" name="Picture 1" descr="worksheet1.jpg">
            <a:extLst>
              <a:ext uri="{FF2B5EF4-FFF2-40B4-BE49-F238E27FC236}">
                <a16:creationId xmlns:a16="http://schemas.microsoft.com/office/drawing/2014/main" id="{326FDEB3-F3A9-94C6-C8A4-0A11CCA737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0287000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EF020A2E-7BD9-BAA1-6735-43DFACE8C697}"/>
              </a:ext>
            </a:extLst>
          </p:cNvPr>
          <p:cNvSpPr txBox="1"/>
          <p:nvPr/>
        </p:nvSpPr>
        <p:spPr>
          <a:xfrm>
            <a:off x="3322667" y="1985132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#1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8E0811D-BDEB-DB51-4E45-28183AF87D98}"/>
              </a:ext>
            </a:extLst>
          </p:cNvPr>
          <p:cNvSpPr txBox="1"/>
          <p:nvPr/>
        </p:nvSpPr>
        <p:spPr>
          <a:xfrm>
            <a:off x="3035596" y="2477987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84D10237-E083-4F15-4D93-92EF607584E7}"/>
              </a:ext>
            </a:extLst>
          </p:cNvPr>
          <p:cNvSpPr txBox="1"/>
          <p:nvPr/>
        </p:nvSpPr>
        <p:spPr>
          <a:xfrm>
            <a:off x="6544333" y="1987276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#2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825EE7FF-F117-4EDA-401E-EC33CD0B2396}"/>
              </a:ext>
            </a:extLst>
          </p:cNvPr>
          <p:cNvSpPr txBox="1"/>
          <p:nvPr/>
        </p:nvSpPr>
        <p:spPr>
          <a:xfrm>
            <a:off x="6257261" y="2480130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3F835EB4-42D8-6AAC-26FA-4EC6C63554F5}"/>
              </a:ext>
            </a:extLst>
          </p:cNvPr>
          <p:cNvSpPr txBox="1"/>
          <p:nvPr/>
        </p:nvSpPr>
        <p:spPr>
          <a:xfrm>
            <a:off x="9739415" y="1987276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#3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B9E9BCC6-6C61-A960-F836-A9472809D8DF}"/>
              </a:ext>
            </a:extLst>
          </p:cNvPr>
          <p:cNvSpPr txBox="1"/>
          <p:nvPr/>
        </p:nvSpPr>
        <p:spPr>
          <a:xfrm>
            <a:off x="9452344" y="2480130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EBF6E81-073B-7289-1B2F-24E36497988F}"/>
              </a:ext>
            </a:extLst>
          </p:cNvPr>
          <p:cNvSpPr txBox="1"/>
          <p:nvPr/>
        </p:nvSpPr>
        <p:spPr>
          <a:xfrm>
            <a:off x="12945133" y="1971793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#4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15AE1F2-A5D0-E748-3B73-4754D23EA313}"/>
              </a:ext>
            </a:extLst>
          </p:cNvPr>
          <p:cNvSpPr txBox="1"/>
          <p:nvPr/>
        </p:nvSpPr>
        <p:spPr>
          <a:xfrm>
            <a:off x="12658061" y="2464647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17319BE5-15BE-F876-863B-FD0DCE79E536}"/>
              </a:ext>
            </a:extLst>
          </p:cNvPr>
          <p:cNvSpPr txBox="1"/>
          <p:nvPr/>
        </p:nvSpPr>
        <p:spPr>
          <a:xfrm>
            <a:off x="3545958" y="5038582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#1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0FE0DFC-2C42-A7A4-1F87-F574C91D9C1D}"/>
              </a:ext>
            </a:extLst>
          </p:cNvPr>
          <p:cNvSpPr txBox="1"/>
          <p:nvPr/>
        </p:nvSpPr>
        <p:spPr>
          <a:xfrm>
            <a:off x="7860114" y="5038582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#2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C5DD6786-FA96-6A7C-A051-278E22D5C813}"/>
              </a:ext>
            </a:extLst>
          </p:cNvPr>
          <p:cNvSpPr txBox="1"/>
          <p:nvPr/>
        </p:nvSpPr>
        <p:spPr>
          <a:xfrm>
            <a:off x="12211488" y="5026699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#3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A0D29438-470F-4BC6-6E07-1D014A6CB153}"/>
              </a:ext>
            </a:extLst>
          </p:cNvPr>
          <p:cNvSpPr txBox="1"/>
          <p:nvPr/>
        </p:nvSpPr>
        <p:spPr>
          <a:xfrm>
            <a:off x="3785200" y="6144366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2A90AC3F-38D6-CEEF-723A-805587A4B1A3}"/>
              </a:ext>
            </a:extLst>
          </p:cNvPr>
          <p:cNvSpPr txBox="1"/>
          <p:nvPr/>
        </p:nvSpPr>
        <p:spPr>
          <a:xfrm>
            <a:off x="3163193" y="6751677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886A0D0D-10D6-0CB1-361B-B863D1D06B5B}"/>
              </a:ext>
            </a:extLst>
          </p:cNvPr>
          <p:cNvSpPr txBox="1"/>
          <p:nvPr/>
        </p:nvSpPr>
        <p:spPr>
          <a:xfrm>
            <a:off x="4476358" y="6756984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" name="מחבר ישר 25">
            <a:extLst>
              <a:ext uri="{FF2B5EF4-FFF2-40B4-BE49-F238E27FC236}">
                <a16:creationId xmlns:a16="http://schemas.microsoft.com/office/drawing/2014/main" id="{DD8891CD-B184-3900-BF55-82B5D27177EE}"/>
              </a:ext>
            </a:extLst>
          </p:cNvPr>
          <p:cNvCxnSpPr/>
          <p:nvPr/>
        </p:nvCxnSpPr>
        <p:spPr>
          <a:xfrm flipH="1">
            <a:off x="3785200" y="6513698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6">
            <a:extLst>
              <a:ext uri="{FF2B5EF4-FFF2-40B4-BE49-F238E27FC236}">
                <a16:creationId xmlns:a16="http://schemas.microsoft.com/office/drawing/2014/main" id="{2850269E-094E-8FD9-1509-CA067C0CCF02}"/>
              </a:ext>
            </a:extLst>
          </p:cNvPr>
          <p:cNvCxnSpPr/>
          <p:nvPr/>
        </p:nvCxnSpPr>
        <p:spPr>
          <a:xfrm>
            <a:off x="4917560" y="6497747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32">
            <a:extLst>
              <a:ext uri="{FF2B5EF4-FFF2-40B4-BE49-F238E27FC236}">
                <a16:creationId xmlns:a16="http://schemas.microsoft.com/office/drawing/2014/main" id="{56E406F4-5BC4-B68A-5F99-207E98B05B69}"/>
              </a:ext>
            </a:extLst>
          </p:cNvPr>
          <p:cNvCxnSpPr/>
          <p:nvPr/>
        </p:nvCxnSpPr>
        <p:spPr>
          <a:xfrm>
            <a:off x="5544935" y="6497747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6">
            <a:extLst>
              <a:ext uri="{FF2B5EF4-FFF2-40B4-BE49-F238E27FC236}">
                <a16:creationId xmlns:a16="http://schemas.microsoft.com/office/drawing/2014/main" id="{F59A3E44-AA5E-39F4-8487-9CFD480827A7}"/>
              </a:ext>
            </a:extLst>
          </p:cNvPr>
          <p:cNvSpPr txBox="1"/>
          <p:nvPr/>
        </p:nvSpPr>
        <p:spPr>
          <a:xfrm>
            <a:off x="12339083" y="475308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Your project/ startup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37">
            <a:extLst>
              <a:ext uri="{FF2B5EF4-FFF2-40B4-BE49-F238E27FC236}">
                <a16:creationId xmlns:a16="http://schemas.microsoft.com/office/drawing/2014/main" id="{9D53BC78-3E63-DB9D-70EB-0588D72CA17E}"/>
              </a:ext>
            </a:extLst>
          </p:cNvPr>
          <p:cNvSpPr txBox="1"/>
          <p:nvPr/>
        </p:nvSpPr>
        <p:spPr>
          <a:xfrm>
            <a:off x="8958145" y="6022077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38">
            <a:extLst>
              <a:ext uri="{FF2B5EF4-FFF2-40B4-BE49-F238E27FC236}">
                <a16:creationId xmlns:a16="http://schemas.microsoft.com/office/drawing/2014/main" id="{22C44300-FF9D-8EF3-66A7-0999A535CC49}"/>
              </a:ext>
            </a:extLst>
          </p:cNvPr>
          <p:cNvSpPr txBox="1"/>
          <p:nvPr/>
        </p:nvSpPr>
        <p:spPr>
          <a:xfrm>
            <a:off x="8336138" y="6629388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180027AD-667D-08DC-66DA-75F2C1DD787F}"/>
              </a:ext>
            </a:extLst>
          </p:cNvPr>
          <p:cNvSpPr txBox="1"/>
          <p:nvPr/>
        </p:nvSpPr>
        <p:spPr>
          <a:xfrm>
            <a:off x="9649303" y="6634695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מחבר ישר 40">
            <a:extLst>
              <a:ext uri="{FF2B5EF4-FFF2-40B4-BE49-F238E27FC236}">
                <a16:creationId xmlns:a16="http://schemas.microsoft.com/office/drawing/2014/main" id="{3A9C2DB9-56DB-A9D6-4E23-737E8BCDE7AC}"/>
              </a:ext>
            </a:extLst>
          </p:cNvPr>
          <p:cNvCxnSpPr/>
          <p:nvPr/>
        </p:nvCxnSpPr>
        <p:spPr>
          <a:xfrm flipH="1">
            <a:off x="8958145" y="6391409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ישר 41">
            <a:extLst>
              <a:ext uri="{FF2B5EF4-FFF2-40B4-BE49-F238E27FC236}">
                <a16:creationId xmlns:a16="http://schemas.microsoft.com/office/drawing/2014/main" id="{90A75442-3E13-9E63-08EC-729A9B030D09}"/>
              </a:ext>
            </a:extLst>
          </p:cNvPr>
          <p:cNvCxnSpPr/>
          <p:nvPr/>
        </p:nvCxnSpPr>
        <p:spPr>
          <a:xfrm>
            <a:off x="10090505" y="6375458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42">
            <a:extLst>
              <a:ext uri="{FF2B5EF4-FFF2-40B4-BE49-F238E27FC236}">
                <a16:creationId xmlns:a16="http://schemas.microsoft.com/office/drawing/2014/main" id="{17F5A0AB-DF72-D8BA-4E41-79F388778B20}"/>
              </a:ext>
            </a:extLst>
          </p:cNvPr>
          <p:cNvCxnSpPr/>
          <p:nvPr/>
        </p:nvCxnSpPr>
        <p:spPr>
          <a:xfrm>
            <a:off x="10717880" y="6375458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43">
            <a:extLst>
              <a:ext uri="{FF2B5EF4-FFF2-40B4-BE49-F238E27FC236}">
                <a16:creationId xmlns:a16="http://schemas.microsoft.com/office/drawing/2014/main" id="{5DA35EB1-6A42-51E6-6777-435274DD963A}"/>
              </a:ext>
            </a:extLst>
          </p:cNvPr>
          <p:cNvSpPr txBox="1"/>
          <p:nvPr/>
        </p:nvSpPr>
        <p:spPr>
          <a:xfrm>
            <a:off x="8102179" y="7733981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44">
            <a:extLst>
              <a:ext uri="{FF2B5EF4-FFF2-40B4-BE49-F238E27FC236}">
                <a16:creationId xmlns:a16="http://schemas.microsoft.com/office/drawing/2014/main" id="{E6CC4016-373F-BC26-31EA-33A8D8C9DB97}"/>
              </a:ext>
            </a:extLst>
          </p:cNvPr>
          <p:cNvSpPr txBox="1"/>
          <p:nvPr/>
        </p:nvSpPr>
        <p:spPr>
          <a:xfrm>
            <a:off x="7480172" y="8341292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7910D25D-D0A3-6550-262D-F46D04D31059}"/>
              </a:ext>
            </a:extLst>
          </p:cNvPr>
          <p:cNvSpPr txBox="1"/>
          <p:nvPr/>
        </p:nvSpPr>
        <p:spPr>
          <a:xfrm>
            <a:off x="8793337" y="8346599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מחבר ישר 46">
            <a:extLst>
              <a:ext uri="{FF2B5EF4-FFF2-40B4-BE49-F238E27FC236}">
                <a16:creationId xmlns:a16="http://schemas.microsoft.com/office/drawing/2014/main" id="{647FA9E3-827D-1D77-4EAC-66B0A62117B1}"/>
              </a:ext>
            </a:extLst>
          </p:cNvPr>
          <p:cNvCxnSpPr/>
          <p:nvPr/>
        </p:nvCxnSpPr>
        <p:spPr>
          <a:xfrm flipH="1">
            <a:off x="8102179" y="8103313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47">
            <a:extLst>
              <a:ext uri="{FF2B5EF4-FFF2-40B4-BE49-F238E27FC236}">
                <a16:creationId xmlns:a16="http://schemas.microsoft.com/office/drawing/2014/main" id="{B5E2007F-2936-1EB6-AC72-02999E67EB56}"/>
              </a:ext>
            </a:extLst>
          </p:cNvPr>
          <p:cNvCxnSpPr/>
          <p:nvPr/>
        </p:nvCxnSpPr>
        <p:spPr>
          <a:xfrm>
            <a:off x="9234539" y="8087362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49">
            <a:extLst>
              <a:ext uri="{FF2B5EF4-FFF2-40B4-BE49-F238E27FC236}">
                <a16:creationId xmlns:a16="http://schemas.microsoft.com/office/drawing/2014/main" id="{18439916-D1A9-F5DE-ED00-DA9E729F7348}"/>
              </a:ext>
            </a:extLst>
          </p:cNvPr>
          <p:cNvSpPr txBox="1"/>
          <p:nvPr/>
        </p:nvSpPr>
        <p:spPr>
          <a:xfrm>
            <a:off x="12807281" y="6250677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A331E18A-DAAB-8273-E58B-D724D5968171}"/>
              </a:ext>
            </a:extLst>
          </p:cNvPr>
          <p:cNvSpPr txBox="1"/>
          <p:nvPr/>
        </p:nvSpPr>
        <p:spPr>
          <a:xfrm>
            <a:off x="12185274" y="6857988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653110FA-8C80-EF03-DE32-68F863E2D007}"/>
              </a:ext>
            </a:extLst>
          </p:cNvPr>
          <p:cNvSpPr txBox="1"/>
          <p:nvPr/>
        </p:nvSpPr>
        <p:spPr>
          <a:xfrm>
            <a:off x="13498439" y="6863295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מחבר ישר 52">
            <a:extLst>
              <a:ext uri="{FF2B5EF4-FFF2-40B4-BE49-F238E27FC236}">
                <a16:creationId xmlns:a16="http://schemas.microsoft.com/office/drawing/2014/main" id="{7838F382-3540-76E7-F66D-3E2CEC724F61}"/>
              </a:ext>
            </a:extLst>
          </p:cNvPr>
          <p:cNvCxnSpPr/>
          <p:nvPr/>
        </p:nvCxnSpPr>
        <p:spPr>
          <a:xfrm flipH="1">
            <a:off x="12807281" y="6620009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מחבר ישר 53">
            <a:extLst>
              <a:ext uri="{FF2B5EF4-FFF2-40B4-BE49-F238E27FC236}">
                <a16:creationId xmlns:a16="http://schemas.microsoft.com/office/drawing/2014/main" id="{F41390F3-B35C-C424-38B9-2498500E23E7}"/>
              </a:ext>
            </a:extLst>
          </p:cNvPr>
          <p:cNvCxnSpPr/>
          <p:nvPr/>
        </p:nvCxnSpPr>
        <p:spPr>
          <a:xfrm>
            <a:off x="13939642" y="6604058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ישר 54">
            <a:extLst>
              <a:ext uri="{FF2B5EF4-FFF2-40B4-BE49-F238E27FC236}">
                <a16:creationId xmlns:a16="http://schemas.microsoft.com/office/drawing/2014/main" id="{09C1AFF0-2C5C-DC12-EEEF-D58EBB33B330}"/>
              </a:ext>
            </a:extLst>
          </p:cNvPr>
          <p:cNvCxnSpPr/>
          <p:nvPr/>
        </p:nvCxnSpPr>
        <p:spPr>
          <a:xfrm>
            <a:off x="14567016" y="6604058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55">
            <a:extLst>
              <a:ext uri="{FF2B5EF4-FFF2-40B4-BE49-F238E27FC236}">
                <a16:creationId xmlns:a16="http://schemas.microsoft.com/office/drawing/2014/main" id="{08299915-C379-62FD-C72A-3895D79CF13B}"/>
              </a:ext>
            </a:extLst>
          </p:cNvPr>
          <p:cNvSpPr txBox="1"/>
          <p:nvPr/>
        </p:nvSpPr>
        <p:spPr>
          <a:xfrm>
            <a:off x="5869271" y="6778241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….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Pravokotnik 1">
            <a:extLst>
              <a:ext uri="{FF2B5EF4-FFF2-40B4-BE49-F238E27FC236}">
                <a16:creationId xmlns:a16="http://schemas.microsoft.com/office/drawing/2014/main" id="{8EF7A821-0919-4887-F7D5-FACDE92E68C2}"/>
              </a:ext>
            </a:extLst>
          </p:cNvPr>
          <p:cNvSpPr/>
          <p:nvPr/>
        </p:nvSpPr>
        <p:spPr>
          <a:xfrm>
            <a:off x="2165130" y="1051034"/>
            <a:ext cx="14123275" cy="34421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56440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STEP 2: MARKET OPPORTUNITY SET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817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>
                <a:solidFill>
                  <a:srgbClr val="00AEF0"/>
                </a:solidFill>
              </a:rPr>
              <a:t>RE-LINKING PROCESS</a:t>
            </a:r>
          </a:p>
          <a:p>
            <a:endParaRPr lang="en-GB" sz="6000"/>
          </a:p>
          <a:p>
            <a:r>
              <a:rPr lang="en-GB" sz="6000"/>
              <a:t>Search for different possible applications that these unique abilities can establish, and who might need this different applications</a:t>
            </a: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</p:spTree>
    <p:extLst>
      <p:ext uri="{BB962C8B-B14F-4D97-AF65-F5344CB8AC3E}">
        <p14:creationId xmlns:p14="http://schemas.microsoft.com/office/powerpoint/2010/main" val="3912305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STEP 2: MARKET OPPORTUNITY SET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>
                <a:solidFill>
                  <a:srgbClr val="00AEF0"/>
                </a:solidFill>
              </a:rPr>
              <a:t>RE-LINKING PROCESS</a:t>
            </a:r>
          </a:p>
          <a:p>
            <a:endParaRPr lang="en-GB" sz="6000"/>
          </a:p>
          <a:p>
            <a:r>
              <a:rPr lang="en-GB" sz="3500"/>
              <a:t>An </a:t>
            </a:r>
            <a:r>
              <a:rPr lang="en-GB" sz="3500" b="1">
                <a:solidFill>
                  <a:srgbClr val="00AEF0"/>
                </a:solidFill>
              </a:rPr>
              <a:t>APLICATION</a:t>
            </a:r>
            <a:r>
              <a:rPr lang="en-GB" sz="3500"/>
              <a:t> means a specific usage or function created with your core abilities. </a:t>
            </a:r>
          </a:p>
          <a:p>
            <a:endParaRPr lang="en-GB" sz="3500"/>
          </a:p>
          <a:p>
            <a:r>
              <a:rPr lang="en-GB" sz="3500"/>
              <a:t>As you uncover potential applications, you should also think who might have the need for them </a:t>
            </a:r>
            <a:r>
              <a:rPr lang="en-GB" sz="3500">
                <a:sym typeface="Wingdings" panose="05000000000000000000" pitchFamily="2" charset="2"/>
              </a:rPr>
              <a:t> possible sets of </a:t>
            </a:r>
            <a:r>
              <a:rPr lang="en-GB" sz="3500" b="1">
                <a:solidFill>
                  <a:srgbClr val="00AEF0"/>
                </a:solidFill>
                <a:sym typeface="Wingdings" panose="05000000000000000000" pitchFamily="2" charset="2"/>
              </a:rPr>
              <a:t>CUSTOMERS</a:t>
            </a:r>
            <a:r>
              <a:rPr lang="en-GB" sz="3500">
                <a:sym typeface="Wingdings" panose="05000000000000000000" pitchFamily="2" charset="2"/>
              </a:rPr>
              <a:t>. </a:t>
            </a:r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</p:spTree>
    <p:extLst>
      <p:ext uri="{BB962C8B-B14F-4D97-AF65-F5344CB8AC3E}">
        <p14:creationId xmlns:p14="http://schemas.microsoft.com/office/powerpoint/2010/main" val="277292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9E8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3" name="Picture 1" descr="worksheet1.jpg">
            <a:extLst>
              <a:ext uri="{FF2B5EF4-FFF2-40B4-BE49-F238E27FC236}">
                <a16:creationId xmlns:a16="http://schemas.microsoft.com/office/drawing/2014/main" id="{326FDEB3-F3A9-94C6-C8A4-0A11CCA737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0287000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EF020A2E-7BD9-BAA1-6735-43DFACE8C697}"/>
              </a:ext>
            </a:extLst>
          </p:cNvPr>
          <p:cNvSpPr txBox="1"/>
          <p:nvPr/>
        </p:nvSpPr>
        <p:spPr>
          <a:xfrm>
            <a:off x="3322667" y="1985132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#1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8E0811D-BDEB-DB51-4E45-28183AF87D98}"/>
              </a:ext>
            </a:extLst>
          </p:cNvPr>
          <p:cNvSpPr txBox="1"/>
          <p:nvPr/>
        </p:nvSpPr>
        <p:spPr>
          <a:xfrm>
            <a:off x="3035596" y="2477987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84D10237-E083-4F15-4D93-92EF607584E7}"/>
              </a:ext>
            </a:extLst>
          </p:cNvPr>
          <p:cNvSpPr txBox="1"/>
          <p:nvPr/>
        </p:nvSpPr>
        <p:spPr>
          <a:xfrm>
            <a:off x="6544333" y="1987276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#2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825EE7FF-F117-4EDA-401E-EC33CD0B2396}"/>
              </a:ext>
            </a:extLst>
          </p:cNvPr>
          <p:cNvSpPr txBox="1"/>
          <p:nvPr/>
        </p:nvSpPr>
        <p:spPr>
          <a:xfrm>
            <a:off x="6257261" y="2480130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3F835EB4-42D8-6AAC-26FA-4EC6C63554F5}"/>
              </a:ext>
            </a:extLst>
          </p:cNvPr>
          <p:cNvSpPr txBox="1"/>
          <p:nvPr/>
        </p:nvSpPr>
        <p:spPr>
          <a:xfrm>
            <a:off x="9739415" y="1987276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#3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B9E9BCC6-6C61-A960-F836-A9472809D8DF}"/>
              </a:ext>
            </a:extLst>
          </p:cNvPr>
          <p:cNvSpPr txBox="1"/>
          <p:nvPr/>
        </p:nvSpPr>
        <p:spPr>
          <a:xfrm>
            <a:off x="9452344" y="2480130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EBF6E81-073B-7289-1B2F-24E36497988F}"/>
              </a:ext>
            </a:extLst>
          </p:cNvPr>
          <p:cNvSpPr txBox="1"/>
          <p:nvPr/>
        </p:nvSpPr>
        <p:spPr>
          <a:xfrm>
            <a:off x="12945133" y="1971793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#4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15AE1F2-A5D0-E748-3B73-4754D23EA313}"/>
              </a:ext>
            </a:extLst>
          </p:cNvPr>
          <p:cNvSpPr txBox="1"/>
          <p:nvPr/>
        </p:nvSpPr>
        <p:spPr>
          <a:xfrm>
            <a:off x="12658061" y="2464647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17319BE5-15BE-F876-863B-FD0DCE79E536}"/>
              </a:ext>
            </a:extLst>
          </p:cNvPr>
          <p:cNvSpPr txBox="1"/>
          <p:nvPr/>
        </p:nvSpPr>
        <p:spPr>
          <a:xfrm>
            <a:off x="3545958" y="5038582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#1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0FE0DFC-2C42-A7A4-1F87-F574C91D9C1D}"/>
              </a:ext>
            </a:extLst>
          </p:cNvPr>
          <p:cNvSpPr txBox="1"/>
          <p:nvPr/>
        </p:nvSpPr>
        <p:spPr>
          <a:xfrm>
            <a:off x="7860114" y="5038582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#2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C5DD6786-FA96-6A7C-A051-278E22D5C813}"/>
              </a:ext>
            </a:extLst>
          </p:cNvPr>
          <p:cNvSpPr txBox="1"/>
          <p:nvPr/>
        </p:nvSpPr>
        <p:spPr>
          <a:xfrm>
            <a:off x="12211488" y="5026699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#3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A0D29438-470F-4BC6-6E07-1D014A6CB153}"/>
              </a:ext>
            </a:extLst>
          </p:cNvPr>
          <p:cNvSpPr txBox="1"/>
          <p:nvPr/>
        </p:nvSpPr>
        <p:spPr>
          <a:xfrm>
            <a:off x="3785200" y="6144366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2A90AC3F-38D6-CEEF-723A-805587A4B1A3}"/>
              </a:ext>
            </a:extLst>
          </p:cNvPr>
          <p:cNvSpPr txBox="1"/>
          <p:nvPr/>
        </p:nvSpPr>
        <p:spPr>
          <a:xfrm>
            <a:off x="3163193" y="6751677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886A0D0D-10D6-0CB1-361B-B863D1D06B5B}"/>
              </a:ext>
            </a:extLst>
          </p:cNvPr>
          <p:cNvSpPr txBox="1"/>
          <p:nvPr/>
        </p:nvSpPr>
        <p:spPr>
          <a:xfrm>
            <a:off x="4476358" y="6756984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" name="מחבר ישר 25">
            <a:extLst>
              <a:ext uri="{FF2B5EF4-FFF2-40B4-BE49-F238E27FC236}">
                <a16:creationId xmlns:a16="http://schemas.microsoft.com/office/drawing/2014/main" id="{DD8891CD-B184-3900-BF55-82B5D27177EE}"/>
              </a:ext>
            </a:extLst>
          </p:cNvPr>
          <p:cNvCxnSpPr/>
          <p:nvPr/>
        </p:nvCxnSpPr>
        <p:spPr>
          <a:xfrm flipH="1">
            <a:off x="3785200" y="6513698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6">
            <a:extLst>
              <a:ext uri="{FF2B5EF4-FFF2-40B4-BE49-F238E27FC236}">
                <a16:creationId xmlns:a16="http://schemas.microsoft.com/office/drawing/2014/main" id="{2850269E-094E-8FD9-1509-CA067C0CCF02}"/>
              </a:ext>
            </a:extLst>
          </p:cNvPr>
          <p:cNvCxnSpPr/>
          <p:nvPr/>
        </p:nvCxnSpPr>
        <p:spPr>
          <a:xfrm>
            <a:off x="4917560" y="6497747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32">
            <a:extLst>
              <a:ext uri="{FF2B5EF4-FFF2-40B4-BE49-F238E27FC236}">
                <a16:creationId xmlns:a16="http://schemas.microsoft.com/office/drawing/2014/main" id="{56E406F4-5BC4-B68A-5F99-207E98B05B69}"/>
              </a:ext>
            </a:extLst>
          </p:cNvPr>
          <p:cNvCxnSpPr/>
          <p:nvPr/>
        </p:nvCxnSpPr>
        <p:spPr>
          <a:xfrm>
            <a:off x="5544935" y="6497747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6">
            <a:extLst>
              <a:ext uri="{FF2B5EF4-FFF2-40B4-BE49-F238E27FC236}">
                <a16:creationId xmlns:a16="http://schemas.microsoft.com/office/drawing/2014/main" id="{F59A3E44-AA5E-39F4-8487-9CFD480827A7}"/>
              </a:ext>
            </a:extLst>
          </p:cNvPr>
          <p:cNvSpPr txBox="1"/>
          <p:nvPr/>
        </p:nvSpPr>
        <p:spPr>
          <a:xfrm>
            <a:off x="12339083" y="475308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Your project/ startup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37">
            <a:extLst>
              <a:ext uri="{FF2B5EF4-FFF2-40B4-BE49-F238E27FC236}">
                <a16:creationId xmlns:a16="http://schemas.microsoft.com/office/drawing/2014/main" id="{9D53BC78-3E63-DB9D-70EB-0588D72CA17E}"/>
              </a:ext>
            </a:extLst>
          </p:cNvPr>
          <p:cNvSpPr txBox="1"/>
          <p:nvPr/>
        </p:nvSpPr>
        <p:spPr>
          <a:xfrm>
            <a:off x="8958145" y="6022077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38">
            <a:extLst>
              <a:ext uri="{FF2B5EF4-FFF2-40B4-BE49-F238E27FC236}">
                <a16:creationId xmlns:a16="http://schemas.microsoft.com/office/drawing/2014/main" id="{22C44300-FF9D-8EF3-66A7-0999A535CC49}"/>
              </a:ext>
            </a:extLst>
          </p:cNvPr>
          <p:cNvSpPr txBox="1"/>
          <p:nvPr/>
        </p:nvSpPr>
        <p:spPr>
          <a:xfrm>
            <a:off x="8336138" y="6629388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180027AD-667D-08DC-66DA-75F2C1DD787F}"/>
              </a:ext>
            </a:extLst>
          </p:cNvPr>
          <p:cNvSpPr txBox="1"/>
          <p:nvPr/>
        </p:nvSpPr>
        <p:spPr>
          <a:xfrm>
            <a:off x="9649303" y="6634695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מחבר ישר 40">
            <a:extLst>
              <a:ext uri="{FF2B5EF4-FFF2-40B4-BE49-F238E27FC236}">
                <a16:creationId xmlns:a16="http://schemas.microsoft.com/office/drawing/2014/main" id="{3A9C2DB9-56DB-A9D6-4E23-737E8BCDE7AC}"/>
              </a:ext>
            </a:extLst>
          </p:cNvPr>
          <p:cNvCxnSpPr/>
          <p:nvPr/>
        </p:nvCxnSpPr>
        <p:spPr>
          <a:xfrm flipH="1">
            <a:off x="8958145" y="6391409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ישר 41">
            <a:extLst>
              <a:ext uri="{FF2B5EF4-FFF2-40B4-BE49-F238E27FC236}">
                <a16:creationId xmlns:a16="http://schemas.microsoft.com/office/drawing/2014/main" id="{90A75442-3E13-9E63-08EC-729A9B030D09}"/>
              </a:ext>
            </a:extLst>
          </p:cNvPr>
          <p:cNvCxnSpPr/>
          <p:nvPr/>
        </p:nvCxnSpPr>
        <p:spPr>
          <a:xfrm>
            <a:off x="10090505" y="6375458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42">
            <a:extLst>
              <a:ext uri="{FF2B5EF4-FFF2-40B4-BE49-F238E27FC236}">
                <a16:creationId xmlns:a16="http://schemas.microsoft.com/office/drawing/2014/main" id="{17F5A0AB-DF72-D8BA-4E41-79F388778B20}"/>
              </a:ext>
            </a:extLst>
          </p:cNvPr>
          <p:cNvCxnSpPr/>
          <p:nvPr/>
        </p:nvCxnSpPr>
        <p:spPr>
          <a:xfrm>
            <a:off x="10717880" y="6375458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43">
            <a:extLst>
              <a:ext uri="{FF2B5EF4-FFF2-40B4-BE49-F238E27FC236}">
                <a16:creationId xmlns:a16="http://schemas.microsoft.com/office/drawing/2014/main" id="{5DA35EB1-6A42-51E6-6777-435274DD963A}"/>
              </a:ext>
            </a:extLst>
          </p:cNvPr>
          <p:cNvSpPr txBox="1"/>
          <p:nvPr/>
        </p:nvSpPr>
        <p:spPr>
          <a:xfrm>
            <a:off x="8102179" y="7733981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44">
            <a:extLst>
              <a:ext uri="{FF2B5EF4-FFF2-40B4-BE49-F238E27FC236}">
                <a16:creationId xmlns:a16="http://schemas.microsoft.com/office/drawing/2014/main" id="{E6CC4016-373F-BC26-31EA-33A8D8C9DB97}"/>
              </a:ext>
            </a:extLst>
          </p:cNvPr>
          <p:cNvSpPr txBox="1"/>
          <p:nvPr/>
        </p:nvSpPr>
        <p:spPr>
          <a:xfrm>
            <a:off x="7480172" y="8341292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7910D25D-D0A3-6550-262D-F46D04D31059}"/>
              </a:ext>
            </a:extLst>
          </p:cNvPr>
          <p:cNvSpPr txBox="1"/>
          <p:nvPr/>
        </p:nvSpPr>
        <p:spPr>
          <a:xfrm>
            <a:off x="8793337" y="8346599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מחבר ישר 46">
            <a:extLst>
              <a:ext uri="{FF2B5EF4-FFF2-40B4-BE49-F238E27FC236}">
                <a16:creationId xmlns:a16="http://schemas.microsoft.com/office/drawing/2014/main" id="{647FA9E3-827D-1D77-4EAC-66B0A62117B1}"/>
              </a:ext>
            </a:extLst>
          </p:cNvPr>
          <p:cNvCxnSpPr/>
          <p:nvPr/>
        </p:nvCxnSpPr>
        <p:spPr>
          <a:xfrm flipH="1">
            <a:off x="8102179" y="8103313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47">
            <a:extLst>
              <a:ext uri="{FF2B5EF4-FFF2-40B4-BE49-F238E27FC236}">
                <a16:creationId xmlns:a16="http://schemas.microsoft.com/office/drawing/2014/main" id="{B5E2007F-2936-1EB6-AC72-02999E67EB56}"/>
              </a:ext>
            </a:extLst>
          </p:cNvPr>
          <p:cNvCxnSpPr/>
          <p:nvPr/>
        </p:nvCxnSpPr>
        <p:spPr>
          <a:xfrm>
            <a:off x="9234539" y="8087362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49">
            <a:extLst>
              <a:ext uri="{FF2B5EF4-FFF2-40B4-BE49-F238E27FC236}">
                <a16:creationId xmlns:a16="http://schemas.microsoft.com/office/drawing/2014/main" id="{18439916-D1A9-F5DE-ED00-DA9E729F7348}"/>
              </a:ext>
            </a:extLst>
          </p:cNvPr>
          <p:cNvSpPr txBox="1"/>
          <p:nvPr/>
        </p:nvSpPr>
        <p:spPr>
          <a:xfrm>
            <a:off x="12807281" y="6250677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A331E18A-DAAB-8273-E58B-D724D5968171}"/>
              </a:ext>
            </a:extLst>
          </p:cNvPr>
          <p:cNvSpPr txBox="1"/>
          <p:nvPr/>
        </p:nvSpPr>
        <p:spPr>
          <a:xfrm>
            <a:off x="12185274" y="6857988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653110FA-8C80-EF03-DE32-68F863E2D007}"/>
              </a:ext>
            </a:extLst>
          </p:cNvPr>
          <p:cNvSpPr txBox="1"/>
          <p:nvPr/>
        </p:nvSpPr>
        <p:spPr>
          <a:xfrm>
            <a:off x="13498439" y="6863295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מחבר ישר 52">
            <a:extLst>
              <a:ext uri="{FF2B5EF4-FFF2-40B4-BE49-F238E27FC236}">
                <a16:creationId xmlns:a16="http://schemas.microsoft.com/office/drawing/2014/main" id="{7838F382-3540-76E7-F66D-3E2CEC724F61}"/>
              </a:ext>
            </a:extLst>
          </p:cNvPr>
          <p:cNvCxnSpPr/>
          <p:nvPr/>
        </p:nvCxnSpPr>
        <p:spPr>
          <a:xfrm flipH="1">
            <a:off x="12807281" y="6620009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מחבר ישר 53">
            <a:extLst>
              <a:ext uri="{FF2B5EF4-FFF2-40B4-BE49-F238E27FC236}">
                <a16:creationId xmlns:a16="http://schemas.microsoft.com/office/drawing/2014/main" id="{F41390F3-B35C-C424-38B9-2498500E23E7}"/>
              </a:ext>
            </a:extLst>
          </p:cNvPr>
          <p:cNvCxnSpPr/>
          <p:nvPr/>
        </p:nvCxnSpPr>
        <p:spPr>
          <a:xfrm>
            <a:off x="13939642" y="6604058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ישר 54">
            <a:extLst>
              <a:ext uri="{FF2B5EF4-FFF2-40B4-BE49-F238E27FC236}">
                <a16:creationId xmlns:a16="http://schemas.microsoft.com/office/drawing/2014/main" id="{09C1AFF0-2C5C-DC12-EEEF-D58EBB33B330}"/>
              </a:ext>
            </a:extLst>
          </p:cNvPr>
          <p:cNvCxnSpPr/>
          <p:nvPr/>
        </p:nvCxnSpPr>
        <p:spPr>
          <a:xfrm>
            <a:off x="14567016" y="6604058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55">
            <a:extLst>
              <a:ext uri="{FF2B5EF4-FFF2-40B4-BE49-F238E27FC236}">
                <a16:creationId xmlns:a16="http://schemas.microsoft.com/office/drawing/2014/main" id="{08299915-C379-62FD-C72A-3895D79CF13B}"/>
              </a:ext>
            </a:extLst>
          </p:cNvPr>
          <p:cNvSpPr txBox="1"/>
          <p:nvPr/>
        </p:nvSpPr>
        <p:spPr>
          <a:xfrm>
            <a:off x="5869271" y="6778241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….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Pravokotnik 1">
            <a:extLst>
              <a:ext uri="{FF2B5EF4-FFF2-40B4-BE49-F238E27FC236}">
                <a16:creationId xmlns:a16="http://schemas.microsoft.com/office/drawing/2014/main" id="{8EF7A821-0919-4887-F7D5-FACDE92E68C2}"/>
              </a:ext>
            </a:extLst>
          </p:cNvPr>
          <p:cNvSpPr/>
          <p:nvPr/>
        </p:nvSpPr>
        <p:spPr>
          <a:xfrm>
            <a:off x="2112578" y="4072758"/>
            <a:ext cx="14123275" cy="61091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62615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02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STEP 3: INITIAL SCREENING OF YOUR OPTIONS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063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300" b="1">
                <a:solidFill>
                  <a:srgbClr val="00AEF0"/>
                </a:solidFill>
              </a:rPr>
              <a:t>SELECTION OF MOST PROMISSING OPPORTUNITIES</a:t>
            </a:r>
          </a:p>
          <a:p>
            <a:endParaRPr lang="en-GB" sz="6000"/>
          </a:p>
          <a:p>
            <a:pPr marL="457200" indent="-45720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Does you customer need exist?</a:t>
            </a:r>
          </a:p>
          <a:p>
            <a:pPr marL="457200" indent="-45720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Can we really satisfy the customer need, and better than existing solutions?</a:t>
            </a:r>
          </a:p>
          <a:p>
            <a:pPr marL="457200" indent="-45720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Are there severe restrictions that would hinder us from executing on this market opportunity?</a:t>
            </a:r>
          </a:p>
          <a:p>
            <a:pPr marL="457200" indent="-45720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Will this opportunity be in conflict with any of our core values?</a:t>
            </a:r>
          </a:p>
          <a:p>
            <a:pPr marL="457200" indent="-45720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etc.</a:t>
            </a: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</p:spTree>
    <p:extLst>
      <p:ext uri="{BB962C8B-B14F-4D97-AF65-F5344CB8AC3E}">
        <p14:creationId xmlns:p14="http://schemas.microsoft.com/office/powerpoint/2010/main" val="290430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9E8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3" name="Picture 1" descr="worksheet1.jpg">
            <a:extLst>
              <a:ext uri="{FF2B5EF4-FFF2-40B4-BE49-F238E27FC236}">
                <a16:creationId xmlns:a16="http://schemas.microsoft.com/office/drawing/2014/main" id="{326FDEB3-F3A9-94C6-C8A4-0A11CCA737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0287000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EF020A2E-7BD9-BAA1-6735-43DFACE8C697}"/>
              </a:ext>
            </a:extLst>
          </p:cNvPr>
          <p:cNvSpPr txBox="1"/>
          <p:nvPr/>
        </p:nvSpPr>
        <p:spPr>
          <a:xfrm>
            <a:off x="3322667" y="1985132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#1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8E0811D-BDEB-DB51-4E45-28183AF87D98}"/>
              </a:ext>
            </a:extLst>
          </p:cNvPr>
          <p:cNvSpPr txBox="1"/>
          <p:nvPr/>
        </p:nvSpPr>
        <p:spPr>
          <a:xfrm>
            <a:off x="3035596" y="2477987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84D10237-E083-4F15-4D93-92EF607584E7}"/>
              </a:ext>
            </a:extLst>
          </p:cNvPr>
          <p:cNvSpPr txBox="1"/>
          <p:nvPr/>
        </p:nvSpPr>
        <p:spPr>
          <a:xfrm>
            <a:off x="6544333" y="1987276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#2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825EE7FF-F117-4EDA-401E-EC33CD0B2396}"/>
              </a:ext>
            </a:extLst>
          </p:cNvPr>
          <p:cNvSpPr txBox="1"/>
          <p:nvPr/>
        </p:nvSpPr>
        <p:spPr>
          <a:xfrm>
            <a:off x="6257261" y="2480130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3F835EB4-42D8-6AAC-26FA-4EC6C63554F5}"/>
              </a:ext>
            </a:extLst>
          </p:cNvPr>
          <p:cNvSpPr txBox="1"/>
          <p:nvPr/>
        </p:nvSpPr>
        <p:spPr>
          <a:xfrm>
            <a:off x="9739415" y="1987276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#3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B9E9BCC6-6C61-A960-F836-A9472809D8DF}"/>
              </a:ext>
            </a:extLst>
          </p:cNvPr>
          <p:cNvSpPr txBox="1"/>
          <p:nvPr/>
        </p:nvSpPr>
        <p:spPr>
          <a:xfrm>
            <a:off x="9452344" y="2480130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EBF6E81-073B-7289-1B2F-24E36497988F}"/>
              </a:ext>
            </a:extLst>
          </p:cNvPr>
          <p:cNvSpPr txBox="1"/>
          <p:nvPr/>
        </p:nvSpPr>
        <p:spPr>
          <a:xfrm>
            <a:off x="12945133" y="1971793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Unique ability #4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15AE1F2-A5D0-E748-3B73-4754D23EA313}"/>
              </a:ext>
            </a:extLst>
          </p:cNvPr>
          <p:cNvSpPr txBox="1"/>
          <p:nvPr/>
        </p:nvSpPr>
        <p:spPr>
          <a:xfrm>
            <a:off x="12658061" y="2464647"/>
            <a:ext cx="2886740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Functions and properties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17319BE5-15BE-F876-863B-FD0DCE79E536}"/>
              </a:ext>
            </a:extLst>
          </p:cNvPr>
          <p:cNvSpPr txBox="1"/>
          <p:nvPr/>
        </p:nvSpPr>
        <p:spPr>
          <a:xfrm>
            <a:off x="3545958" y="5038582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#1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0FE0DFC-2C42-A7A4-1F87-F574C91D9C1D}"/>
              </a:ext>
            </a:extLst>
          </p:cNvPr>
          <p:cNvSpPr txBox="1"/>
          <p:nvPr/>
        </p:nvSpPr>
        <p:spPr>
          <a:xfrm>
            <a:off x="7860114" y="5038582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#2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C5DD6786-FA96-6A7C-A051-278E22D5C813}"/>
              </a:ext>
            </a:extLst>
          </p:cNvPr>
          <p:cNvSpPr txBox="1"/>
          <p:nvPr/>
        </p:nvSpPr>
        <p:spPr>
          <a:xfrm>
            <a:off x="12211488" y="5026699"/>
            <a:ext cx="338115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Application  #3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A0D29438-470F-4BC6-6E07-1D014A6CB153}"/>
              </a:ext>
            </a:extLst>
          </p:cNvPr>
          <p:cNvSpPr txBox="1"/>
          <p:nvPr/>
        </p:nvSpPr>
        <p:spPr>
          <a:xfrm>
            <a:off x="3785200" y="6144366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2A90AC3F-38D6-CEEF-723A-805587A4B1A3}"/>
              </a:ext>
            </a:extLst>
          </p:cNvPr>
          <p:cNvSpPr txBox="1"/>
          <p:nvPr/>
        </p:nvSpPr>
        <p:spPr>
          <a:xfrm>
            <a:off x="3163193" y="6751677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886A0D0D-10D6-0CB1-361B-B863D1D06B5B}"/>
              </a:ext>
            </a:extLst>
          </p:cNvPr>
          <p:cNvSpPr txBox="1"/>
          <p:nvPr/>
        </p:nvSpPr>
        <p:spPr>
          <a:xfrm>
            <a:off x="4476358" y="6756984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" name="מחבר ישר 25">
            <a:extLst>
              <a:ext uri="{FF2B5EF4-FFF2-40B4-BE49-F238E27FC236}">
                <a16:creationId xmlns:a16="http://schemas.microsoft.com/office/drawing/2014/main" id="{DD8891CD-B184-3900-BF55-82B5D27177EE}"/>
              </a:ext>
            </a:extLst>
          </p:cNvPr>
          <p:cNvCxnSpPr/>
          <p:nvPr/>
        </p:nvCxnSpPr>
        <p:spPr>
          <a:xfrm flipH="1">
            <a:off x="3785200" y="6513698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6">
            <a:extLst>
              <a:ext uri="{FF2B5EF4-FFF2-40B4-BE49-F238E27FC236}">
                <a16:creationId xmlns:a16="http://schemas.microsoft.com/office/drawing/2014/main" id="{2850269E-094E-8FD9-1509-CA067C0CCF02}"/>
              </a:ext>
            </a:extLst>
          </p:cNvPr>
          <p:cNvCxnSpPr/>
          <p:nvPr/>
        </p:nvCxnSpPr>
        <p:spPr>
          <a:xfrm>
            <a:off x="4917560" y="6497747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32">
            <a:extLst>
              <a:ext uri="{FF2B5EF4-FFF2-40B4-BE49-F238E27FC236}">
                <a16:creationId xmlns:a16="http://schemas.microsoft.com/office/drawing/2014/main" id="{56E406F4-5BC4-B68A-5F99-207E98B05B69}"/>
              </a:ext>
            </a:extLst>
          </p:cNvPr>
          <p:cNvCxnSpPr/>
          <p:nvPr/>
        </p:nvCxnSpPr>
        <p:spPr>
          <a:xfrm>
            <a:off x="5544935" y="6497747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6">
            <a:extLst>
              <a:ext uri="{FF2B5EF4-FFF2-40B4-BE49-F238E27FC236}">
                <a16:creationId xmlns:a16="http://schemas.microsoft.com/office/drawing/2014/main" id="{F59A3E44-AA5E-39F4-8487-9CFD480827A7}"/>
              </a:ext>
            </a:extLst>
          </p:cNvPr>
          <p:cNvSpPr txBox="1"/>
          <p:nvPr/>
        </p:nvSpPr>
        <p:spPr>
          <a:xfrm>
            <a:off x="12339083" y="475308"/>
            <a:ext cx="2376377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Your project/ startup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37">
            <a:extLst>
              <a:ext uri="{FF2B5EF4-FFF2-40B4-BE49-F238E27FC236}">
                <a16:creationId xmlns:a16="http://schemas.microsoft.com/office/drawing/2014/main" id="{9D53BC78-3E63-DB9D-70EB-0588D72CA17E}"/>
              </a:ext>
            </a:extLst>
          </p:cNvPr>
          <p:cNvSpPr txBox="1"/>
          <p:nvPr/>
        </p:nvSpPr>
        <p:spPr>
          <a:xfrm>
            <a:off x="8958145" y="6022077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38">
            <a:extLst>
              <a:ext uri="{FF2B5EF4-FFF2-40B4-BE49-F238E27FC236}">
                <a16:creationId xmlns:a16="http://schemas.microsoft.com/office/drawing/2014/main" id="{22C44300-FF9D-8EF3-66A7-0999A535CC49}"/>
              </a:ext>
            </a:extLst>
          </p:cNvPr>
          <p:cNvSpPr txBox="1"/>
          <p:nvPr/>
        </p:nvSpPr>
        <p:spPr>
          <a:xfrm>
            <a:off x="8336138" y="6629388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180027AD-667D-08DC-66DA-75F2C1DD787F}"/>
              </a:ext>
            </a:extLst>
          </p:cNvPr>
          <p:cNvSpPr txBox="1"/>
          <p:nvPr/>
        </p:nvSpPr>
        <p:spPr>
          <a:xfrm>
            <a:off x="9649303" y="6634695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מחבר ישר 40">
            <a:extLst>
              <a:ext uri="{FF2B5EF4-FFF2-40B4-BE49-F238E27FC236}">
                <a16:creationId xmlns:a16="http://schemas.microsoft.com/office/drawing/2014/main" id="{3A9C2DB9-56DB-A9D6-4E23-737E8BCDE7AC}"/>
              </a:ext>
            </a:extLst>
          </p:cNvPr>
          <p:cNvCxnSpPr/>
          <p:nvPr/>
        </p:nvCxnSpPr>
        <p:spPr>
          <a:xfrm flipH="1">
            <a:off x="8958145" y="6391409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ישר 41">
            <a:extLst>
              <a:ext uri="{FF2B5EF4-FFF2-40B4-BE49-F238E27FC236}">
                <a16:creationId xmlns:a16="http://schemas.microsoft.com/office/drawing/2014/main" id="{90A75442-3E13-9E63-08EC-729A9B030D09}"/>
              </a:ext>
            </a:extLst>
          </p:cNvPr>
          <p:cNvCxnSpPr/>
          <p:nvPr/>
        </p:nvCxnSpPr>
        <p:spPr>
          <a:xfrm>
            <a:off x="10090505" y="6375458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42">
            <a:extLst>
              <a:ext uri="{FF2B5EF4-FFF2-40B4-BE49-F238E27FC236}">
                <a16:creationId xmlns:a16="http://schemas.microsoft.com/office/drawing/2014/main" id="{17F5A0AB-DF72-D8BA-4E41-79F388778B20}"/>
              </a:ext>
            </a:extLst>
          </p:cNvPr>
          <p:cNvCxnSpPr/>
          <p:nvPr/>
        </p:nvCxnSpPr>
        <p:spPr>
          <a:xfrm>
            <a:off x="10717880" y="6375458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43">
            <a:extLst>
              <a:ext uri="{FF2B5EF4-FFF2-40B4-BE49-F238E27FC236}">
                <a16:creationId xmlns:a16="http://schemas.microsoft.com/office/drawing/2014/main" id="{5DA35EB1-6A42-51E6-6777-435274DD963A}"/>
              </a:ext>
            </a:extLst>
          </p:cNvPr>
          <p:cNvSpPr txBox="1"/>
          <p:nvPr/>
        </p:nvSpPr>
        <p:spPr>
          <a:xfrm>
            <a:off x="8102179" y="7733981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44">
            <a:extLst>
              <a:ext uri="{FF2B5EF4-FFF2-40B4-BE49-F238E27FC236}">
                <a16:creationId xmlns:a16="http://schemas.microsoft.com/office/drawing/2014/main" id="{E6CC4016-373F-BC26-31EA-33A8D8C9DB97}"/>
              </a:ext>
            </a:extLst>
          </p:cNvPr>
          <p:cNvSpPr txBox="1"/>
          <p:nvPr/>
        </p:nvSpPr>
        <p:spPr>
          <a:xfrm>
            <a:off x="7480172" y="8341292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7910D25D-D0A3-6550-262D-F46D04D31059}"/>
              </a:ext>
            </a:extLst>
          </p:cNvPr>
          <p:cNvSpPr txBox="1"/>
          <p:nvPr/>
        </p:nvSpPr>
        <p:spPr>
          <a:xfrm>
            <a:off x="8793337" y="8346599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מחבר ישר 46">
            <a:extLst>
              <a:ext uri="{FF2B5EF4-FFF2-40B4-BE49-F238E27FC236}">
                <a16:creationId xmlns:a16="http://schemas.microsoft.com/office/drawing/2014/main" id="{647FA9E3-827D-1D77-4EAC-66B0A62117B1}"/>
              </a:ext>
            </a:extLst>
          </p:cNvPr>
          <p:cNvCxnSpPr/>
          <p:nvPr/>
        </p:nvCxnSpPr>
        <p:spPr>
          <a:xfrm flipH="1">
            <a:off x="8102179" y="8103313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47">
            <a:extLst>
              <a:ext uri="{FF2B5EF4-FFF2-40B4-BE49-F238E27FC236}">
                <a16:creationId xmlns:a16="http://schemas.microsoft.com/office/drawing/2014/main" id="{B5E2007F-2936-1EB6-AC72-02999E67EB56}"/>
              </a:ext>
            </a:extLst>
          </p:cNvPr>
          <p:cNvCxnSpPr/>
          <p:nvPr/>
        </p:nvCxnSpPr>
        <p:spPr>
          <a:xfrm>
            <a:off x="9234539" y="8087362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49">
            <a:extLst>
              <a:ext uri="{FF2B5EF4-FFF2-40B4-BE49-F238E27FC236}">
                <a16:creationId xmlns:a16="http://schemas.microsoft.com/office/drawing/2014/main" id="{18439916-D1A9-F5DE-ED00-DA9E729F7348}"/>
              </a:ext>
            </a:extLst>
          </p:cNvPr>
          <p:cNvSpPr txBox="1"/>
          <p:nvPr/>
        </p:nvSpPr>
        <p:spPr>
          <a:xfrm>
            <a:off x="12807281" y="6250677"/>
            <a:ext cx="1881965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Customer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A331E18A-DAAB-8273-E58B-D724D5968171}"/>
              </a:ext>
            </a:extLst>
          </p:cNvPr>
          <p:cNvSpPr txBox="1"/>
          <p:nvPr/>
        </p:nvSpPr>
        <p:spPr>
          <a:xfrm>
            <a:off x="12185274" y="6857988"/>
            <a:ext cx="134766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653110FA-8C80-EF03-DE32-68F863E2D007}"/>
              </a:ext>
            </a:extLst>
          </p:cNvPr>
          <p:cNvSpPr txBox="1"/>
          <p:nvPr/>
        </p:nvSpPr>
        <p:spPr>
          <a:xfrm>
            <a:off x="13498439" y="6863295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Sub segment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מחבר ישר 52">
            <a:extLst>
              <a:ext uri="{FF2B5EF4-FFF2-40B4-BE49-F238E27FC236}">
                <a16:creationId xmlns:a16="http://schemas.microsoft.com/office/drawing/2014/main" id="{7838F382-3540-76E7-F66D-3E2CEC724F61}"/>
              </a:ext>
            </a:extLst>
          </p:cNvPr>
          <p:cNvCxnSpPr/>
          <p:nvPr/>
        </p:nvCxnSpPr>
        <p:spPr>
          <a:xfrm flipH="1">
            <a:off x="12807281" y="6620009"/>
            <a:ext cx="318974" cy="24328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מחבר ישר 53">
            <a:extLst>
              <a:ext uri="{FF2B5EF4-FFF2-40B4-BE49-F238E27FC236}">
                <a16:creationId xmlns:a16="http://schemas.microsoft.com/office/drawing/2014/main" id="{F41390F3-B35C-C424-38B9-2498500E23E7}"/>
              </a:ext>
            </a:extLst>
          </p:cNvPr>
          <p:cNvCxnSpPr/>
          <p:nvPr/>
        </p:nvCxnSpPr>
        <p:spPr>
          <a:xfrm>
            <a:off x="13939642" y="6604058"/>
            <a:ext cx="79748" cy="2911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ישר 54">
            <a:extLst>
              <a:ext uri="{FF2B5EF4-FFF2-40B4-BE49-F238E27FC236}">
                <a16:creationId xmlns:a16="http://schemas.microsoft.com/office/drawing/2014/main" id="{09C1AFF0-2C5C-DC12-EEEF-D58EBB33B330}"/>
              </a:ext>
            </a:extLst>
          </p:cNvPr>
          <p:cNvCxnSpPr/>
          <p:nvPr/>
        </p:nvCxnSpPr>
        <p:spPr>
          <a:xfrm>
            <a:off x="14567016" y="6604058"/>
            <a:ext cx="461130" cy="27518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55">
            <a:extLst>
              <a:ext uri="{FF2B5EF4-FFF2-40B4-BE49-F238E27FC236}">
                <a16:creationId xmlns:a16="http://schemas.microsoft.com/office/drawing/2014/main" id="{08299915-C379-62FD-C72A-3895D79CF13B}"/>
              </a:ext>
            </a:extLst>
          </p:cNvPr>
          <p:cNvSpPr txBox="1"/>
          <p:nvPr/>
        </p:nvSpPr>
        <p:spPr>
          <a:xfrm>
            <a:off x="5869271" y="6778241"/>
            <a:ext cx="1402112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….</a:t>
            </a:r>
            <a:endParaRPr lang="he-IL"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Pravokotnik 1">
            <a:extLst>
              <a:ext uri="{FF2B5EF4-FFF2-40B4-BE49-F238E27FC236}">
                <a16:creationId xmlns:a16="http://schemas.microsoft.com/office/drawing/2014/main" id="{8EF7A821-0919-4887-F7D5-FACDE92E68C2}"/>
              </a:ext>
            </a:extLst>
          </p:cNvPr>
          <p:cNvSpPr/>
          <p:nvPr/>
        </p:nvSpPr>
        <p:spPr>
          <a:xfrm>
            <a:off x="7394026" y="7974723"/>
            <a:ext cx="1326931" cy="10510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" name="Pravokotnik 3">
            <a:extLst>
              <a:ext uri="{FF2B5EF4-FFF2-40B4-BE49-F238E27FC236}">
                <a16:creationId xmlns:a16="http://schemas.microsoft.com/office/drawing/2014/main" id="{7AF4B8CE-8ABB-778D-8883-6C20E2197630}"/>
              </a:ext>
            </a:extLst>
          </p:cNvPr>
          <p:cNvSpPr/>
          <p:nvPr/>
        </p:nvSpPr>
        <p:spPr>
          <a:xfrm>
            <a:off x="9548646" y="6306206"/>
            <a:ext cx="1326931" cy="10510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2" name="Pravokotnik 41">
            <a:extLst>
              <a:ext uri="{FF2B5EF4-FFF2-40B4-BE49-F238E27FC236}">
                <a16:creationId xmlns:a16="http://schemas.microsoft.com/office/drawing/2014/main" id="{5A14F8DE-FFAC-973E-B75B-B6D067A8D552}"/>
              </a:ext>
            </a:extLst>
          </p:cNvPr>
          <p:cNvSpPr/>
          <p:nvPr/>
        </p:nvSpPr>
        <p:spPr>
          <a:xfrm>
            <a:off x="12110542" y="6503275"/>
            <a:ext cx="1326931" cy="10510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43933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כותרת 1"/>
          <p:cNvSpPr txBox="1">
            <a:spLocks/>
          </p:cNvSpPr>
          <p:nvPr/>
        </p:nvSpPr>
        <p:spPr bwMode="auto">
          <a:xfrm>
            <a:off x="4175448" y="1576097"/>
            <a:ext cx="9313665" cy="80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3150">
              <a:solidFill>
                <a:srgbClr val="FFFFFF"/>
              </a:solidFill>
              <a:latin typeface="Calibri" panose="020F0502020204030204" pitchFamily="34" charset="0"/>
              <a:ea typeface="Roboto"/>
              <a:cs typeface="Roboto"/>
            </a:endParaRPr>
          </a:p>
        </p:txBody>
      </p:sp>
      <p:sp>
        <p:nvSpPr>
          <p:cNvPr id="10243" name="מלבן 7"/>
          <p:cNvSpPr>
            <a:spLocks noChangeArrowheads="1"/>
          </p:cNvSpPr>
          <p:nvPr/>
        </p:nvSpPr>
        <p:spPr bwMode="auto">
          <a:xfrm>
            <a:off x="7157048" y="10519035"/>
            <a:ext cx="889028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Calibri" panose="020F0502020204030204" pitchFamily="34" charset="0"/>
                <a:ea typeface="Roboto"/>
                <a:cs typeface="Roboto"/>
              </a:rPr>
              <a:t>Copyright 2016 by Sharon Tal and Marc Gruber. All rights reserved. This material may not be reproduced</a:t>
            </a:r>
          </a:p>
        </p:txBody>
      </p:sp>
      <p:pic>
        <p:nvPicPr>
          <p:cNvPr id="1024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05"/>
          <a:stretch/>
        </p:blipFill>
        <p:spPr bwMode="auto">
          <a:xfrm>
            <a:off x="1441781" y="561257"/>
            <a:ext cx="14605554" cy="497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E3496A70-CB0F-4AAE-ACB7-523A404FA7A1}"/>
              </a:ext>
            </a:extLst>
          </p:cNvPr>
          <p:cNvGrpSpPr/>
          <p:nvPr/>
        </p:nvGrpSpPr>
        <p:grpSpPr>
          <a:xfrm>
            <a:off x="3084487" y="5219949"/>
            <a:ext cx="12119026" cy="3947160"/>
            <a:chOff x="1464752" y="4581128"/>
            <a:chExt cx="4689963" cy="1728192"/>
          </a:xfrm>
        </p:grpSpPr>
        <p:pic>
          <p:nvPicPr>
            <p:cNvPr id="7" name="Picture 2" descr="Navigator_illustration1">
              <a:extLst>
                <a:ext uri="{FF2B5EF4-FFF2-40B4-BE49-F238E27FC236}">
                  <a16:creationId xmlns:a16="http://schemas.microsoft.com/office/drawing/2014/main" id="{B531A5B0-54AE-42E5-929D-15DD358620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687"/>
            <a:stretch/>
          </p:blipFill>
          <p:spPr bwMode="auto">
            <a:xfrm>
              <a:off x="1464752" y="4581128"/>
              <a:ext cx="1523072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Navigator_illustration2">
              <a:extLst>
                <a:ext uri="{FF2B5EF4-FFF2-40B4-BE49-F238E27FC236}">
                  <a16:creationId xmlns:a16="http://schemas.microsoft.com/office/drawing/2014/main" id="{6CD24A2C-68BB-41BC-A9D5-DDDD5F8B8A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15" r="33043"/>
            <a:stretch/>
          </p:blipFill>
          <p:spPr bwMode="auto">
            <a:xfrm>
              <a:off x="3059832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Navigator_illustration3">
              <a:extLst>
                <a:ext uri="{FF2B5EF4-FFF2-40B4-BE49-F238E27FC236}">
                  <a16:creationId xmlns:a16="http://schemas.microsoft.com/office/drawing/2014/main" id="{7650B0CE-E8E4-49E8-AD91-12A8811444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57"/>
            <a:stretch/>
          </p:blipFill>
          <p:spPr bwMode="auto">
            <a:xfrm>
              <a:off x="4644008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6A00FC9C-B7FC-C521-1D44-B3BEF859E1F2}"/>
              </a:ext>
            </a:extLst>
          </p:cNvPr>
          <p:cNvSpPr txBox="1"/>
          <p:nvPr/>
        </p:nvSpPr>
        <p:spPr>
          <a:xfrm>
            <a:off x="3276600" y="9167109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MARKET OPPORTUNITY SET</a:t>
            </a:r>
          </a:p>
        </p:txBody>
      </p:sp>
      <p:sp>
        <p:nvSpPr>
          <p:cNvPr id="4" name="PoljeZBesedilom 3">
            <a:extLst>
              <a:ext uri="{FF2B5EF4-FFF2-40B4-BE49-F238E27FC236}">
                <a16:creationId xmlns:a16="http://schemas.microsoft.com/office/drawing/2014/main" id="{70C9F7D0-E650-D71F-75F5-BE87A887EFC3}"/>
              </a:ext>
            </a:extLst>
          </p:cNvPr>
          <p:cNvSpPr txBox="1"/>
          <p:nvPr/>
        </p:nvSpPr>
        <p:spPr>
          <a:xfrm>
            <a:off x="7288197" y="9167108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ATTRACTIVENESS MAP</a:t>
            </a:r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5592E43A-5832-5E2F-C0B6-142AEBA24907}"/>
              </a:ext>
            </a:extLst>
          </p:cNvPr>
          <p:cNvSpPr txBox="1"/>
          <p:nvPr/>
        </p:nvSpPr>
        <p:spPr>
          <a:xfrm>
            <a:off x="11365912" y="9167107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AGILE FOCUS DARTBOARD</a:t>
            </a:r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533E1B2A-9FDF-8A11-DB0B-0B3A0273AAF1}"/>
              </a:ext>
            </a:extLst>
          </p:cNvPr>
          <p:cNvSpPr txBox="1"/>
          <p:nvPr/>
        </p:nvSpPr>
        <p:spPr>
          <a:xfrm>
            <a:off x="0" y="162374"/>
            <a:ext cx="18288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5000" b="1">
                <a:solidFill>
                  <a:srgbClr val="00AEF0"/>
                </a:solidFill>
              </a:rPr>
              <a:t>WORKING WITH THE MARKET OPPORTUNITY NAVIGATOR</a:t>
            </a:r>
          </a:p>
        </p:txBody>
      </p:sp>
      <p:sp>
        <p:nvSpPr>
          <p:cNvPr id="13" name="Pravokotnik 12">
            <a:extLst>
              <a:ext uri="{FF2B5EF4-FFF2-40B4-BE49-F238E27FC236}">
                <a16:creationId xmlns:a16="http://schemas.microsoft.com/office/drawing/2014/main" id="{FD3BE44E-EF20-B1A9-935D-9846212C47D3}"/>
              </a:ext>
            </a:extLst>
          </p:cNvPr>
          <p:cNvSpPr/>
          <p:nvPr/>
        </p:nvSpPr>
        <p:spPr>
          <a:xfrm>
            <a:off x="11167242" y="1072055"/>
            <a:ext cx="4755930" cy="8776137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4" name="Pravokotnik 13">
            <a:extLst>
              <a:ext uri="{FF2B5EF4-FFF2-40B4-BE49-F238E27FC236}">
                <a16:creationId xmlns:a16="http://schemas.microsoft.com/office/drawing/2014/main" id="{EF995684-FBCD-A31D-F2FE-AA8F64385C79}"/>
              </a:ext>
            </a:extLst>
          </p:cNvPr>
          <p:cNvSpPr/>
          <p:nvPr/>
        </p:nvSpPr>
        <p:spPr>
          <a:xfrm>
            <a:off x="2194035" y="966951"/>
            <a:ext cx="4755930" cy="8776137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70527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EVALUATING YOUR MARKET OPPORTUNITIES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092672" y="1562100"/>
            <a:ext cx="1436023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420007" y="2536934"/>
            <a:ext cx="13710744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000"/>
              <a:t>Market opportunities differ on their level of </a:t>
            </a:r>
            <a:r>
              <a:rPr lang="en-GB" sz="9600" b="1">
                <a:solidFill>
                  <a:srgbClr val="00AEF0"/>
                </a:solidFill>
              </a:rPr>
              <a:t>POTENTIAL</a:t>
            </a:r>
            <a:r>
              <a:rPr lang="en-GB" sz="9600"/>
              <a:t> </a:t>
            </a:r>
            <a:endParaRPr lang="en-GB" sz="9600">
              <a:cs typeface="Calibri"/>
            </a:endParaRPr>
          </a:p>
          <a:p>
            <a:r>
              <a:rPr lang="en-GB" sz="6000"/>
              <a:t>and </a:t>
            </a:r>
            <a:endParaRPr lang="en-GB" sz="6000">
              <a:solidFill>
                <a:srgbClr val="000000"/>
              </a:solidFill>
            </a:endParaRPr>
          </a:p>
          <a:p>
            <a:r>
              <a:rPr lang="en-GB" sz="9600" b="1">
                <a:solidFill>
                  <a:srgbClr val="00AEF0"/>
                </a:solidFill>
              </a:rPr>
              <a:t>CHALLENGE</a:t>
            </a:r>
            <a:r>
              <a:rPr lang="en-GB" sz="9600"/>
              <a:t>.</a:t>
            </a:r>
            <a:endParaRPr lang="en-GB" sz="9600">
              <a:cs typeface="Calibri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428E04EC-3264-AD06-509E-8B88072A4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7410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EVALUATING YOUR MARKET OPPORTUNITIES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55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6000"/>
          </a:p>
          <a:p>
            <a:r>
              <a:rPr lang="sl-SI" sz="6000" b="1">
                <a:solidFill>
                  <a:srgbClr val="00AEF0"/>
                </a:solidFill>
              </a:rPr>
              <a:t>POTENTIAL</a:t>
            </a:r>
          </a:p>
          <a:p>
            <a:endParaRPr lang="sl-SI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US" sz="3500"/>
              <a:t>How big is this opportunity?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US" sz="3500"/>
              <a:t>Is it at all worth pursuing? 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US" sz="3500"/>
              <a:t>And if so – how much value can we create if we choose this path? </a:t>
            </a:r>
          </a:p>
          <a:p>
            <a:endParaRPr lang="sl-SI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FEE8923C-091F-05C1-96C9-4BC621A2E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7024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EVALUATING YOUR MARKET OPPORTUNITIES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6000"/>
          </a:p>
          <a:p>
            <a:r>
              <a:rPr lang="sl-SI" sz="6000" b="1">
                <a:solidFill>
                  <a:srgbClr val="00AEF0"/>
                </a:solidFill>
              </a:rPr>
              <a:t>CHALLENGE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Which obstacles lie ahead of us if we decide to pursue this option?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What are our main challenges and risks?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difficult will it be to overcome them and conquer this opportunity?</a:t>
            </a:r>
          </a:p>
          <a:p>
            <a:endParaRPr lang="sl-SI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7333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87C6C09B-5E23-E697-7652-24C5EFEA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66" y="-170767"/>
            <a:ext cx="15676067" cy="1107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9E8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2" name="Picture 1" descr="worksheet2.jpg">
            <a:extLst>
              <a:ext uri="{FF2B5EF4-FFF2-40B4-BE49-F238E27FC236}">
                <a16:creationId xmlns:a16="http://schemas.microsoft.com/office/drawing/2014/main" id="{8AD86577-9440-8DAD-F938-FF7C9A98D0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0287000"/>
          </a:xfrm>
          <a:prstGeom prst="rect">
            <a:avLst/>
          </a:prstGeom>
        </p:spPr>
      </p:pic>
      <p:pic>
        <p:nvPicPr>
          <p:cNvPr id="3" name="Slika 2" descr="Slika, ki vsebuje besede besedilo&#10;&#10;Opis je samodejno ustvarjen">
            <a:extLst>
              <a:ext uri="{FF2B5EF4-FFF2-40B4-BE49-F238E27FC236}">
                <a16:creationId xmlns:a16="http://schemas.microsoft.com/office/drawing/2014/main" id="{54DAA6B3-2A8E-E4FB-0731-574FBF4683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3" t="51481" r="38333" b="27778"/>
          <a:stretch/>
        </p:blipFill>
        <p:spPr>
          <a:xfrm>
            <a:off x="320168" y="3051941"/>
            <a:ext cx="3432422" cy="1628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EDEFA430-94A3-6462-ABFF-94DEFAA4D8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83" t="52963" r="4167" b="27037"/>
          <a:stretch/>
        </p:blipFill>
        <p:spPr>
          <a:xfrm>
            <a:off x="317938" y="5057130"/>
            <a:ext cx="3434652" cy="1623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98D6FEC9-7430-AEEA-78A3-B24A42EA6B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17" t="29259" r="3750" b="11782"/>
          <a:stretch/>
        </p:blipFill>
        <p:spPr>
          <a:xfrm>
            <a:off x="12901448" y="215457"/>
            <a:ext cx="5055822" cy="2874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44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POTENTIAL FOR VALUE CREATION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87870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#1		COMPELLING REASON TO BUY</a:t>
            </a: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00AEF0"/>
                </a:solidFill>
              </a:rPr>
              <a:t>Will someone really want our offer and be willing to pay for it?</a:t>
            </a:r>
            <a:endParaRPr lang="en-GB" sz="3500" b="1">
              <a:solidFill>
                <a:srgbClr val="00AEF0"/>
              </a:solidFill>
              <a:cs typeface="Calibri"/>
            </a:endParaRP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Is there a real unmet need?</a:t>
            </a:r>
            <a:endParaRPr lang="en-GB" sz="3500">
              <a:cs typeface="Calibri"/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Can we provide an effective solution to this need?</a:t>
            </a:r>
            <a:endParaRPr lang="en-GB"/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Can we address it better than current solutions?</a:t>
            </a:r>
            <a:endParaRPr lang="en-GB" sz="3500">
              <a:cs typeface="Calibri"/>
            </a:endParaRPr>
          </a:p>
          <a:p>
            <a:endParaRPr lang="en-GB" sz="60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FF0000"/>
                </a:solidFill>
              </a:rPr>
              <a:t>Desk research is not enough! </a:t>
            </a:r>
            <a:endParaRPr lang="en-GB" sz="3500" b="1">
              <a:solidFill>
                <a:srgbClr val="FF0000"/>
              </a:solidFill>
              <a:cs typeface="Calibri"/>
            </a:endParaRPr>
          </a:p>
          <a:p>
            <a:r>
              <a:rPr lang="en-GB" sz="3500" b="1">
                <a:solidFill>
                  <a:srgbClr val="FF0000"/>
                </a:solidFill>
              </a:rPr>
              <a:t>GET OUT OF THE BUILING AND TALK TO PEOPLE!</a:t>
            </a:r>
            <a:endParaRPr lang="en-GB" sz="3500" b="1">
              <a:solidFill>
                <a:srgbClr val="FF0000"/>
              </a:solidFill>
              <a:cs typeface="Calibri"/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D4667BC4-2A2A-D16D-A3B6-459268315A1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3" t="51481" r="38333" b="27778"/>
          <a:stretch/>
        </p:blipFill>
        <p:spPr>
          <a:xfrm rot="20941861">
            <a:off x="12130720" y="6000229"/>
            <a:ext cx="5796128" cy="2750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704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POTENTIAL FOR VALUE CREATION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</a:t>
            </a:r>
            <a:r>
              <a:rPr lang="sl-SI" sz="6000" b="1">
                <a:solidFill>
                  <a:srgbClr val="00AEF0"/>
                </a:solidFill>
              </a:rPr>
              <a:t>2</a:t>
            </a:r>
            <a:r>
              <a:rPr lang="en-GB" sz="6000" b="1">
                <a:solidFill>
                  <a:srgbClr val="00AEF0"/>
                </a:solidFill>
              </a:rPr>
              <a:t>		</a:t>
            </a:r>
            <a:r>
              <a:rPr lang="sl-SI" sz="6000" b="1">
                <a:solidFill>
                  <a:srgbClr val="00AEF0"/>
                </a:solidFill>
              </a:rPr>
              <a:t>MARKET VOLUME</a:t>
            </a:r>
            <a:endParaRPr lang="en-GB" sz="6000" b="1">
              <a:solidFill>
                <a:srgbClr val="00AEF0"/>
              </a:solidFill>
            </a:endParaRP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sl-SI" sz="3500" b="1">
                <a:solidFill>
                  <a:srgbClr val="00AEF0"/>
                </a:solidFill>
              </a:rPr>
              <a:t>How big is </a:t>
            </a:r>
            <a:r>
              <a:rPr lang="sl-SI" sz="3500" b="1" err="1">
                <a:solidFill>
                  <a:srgbClr val="00AEF0"/>
                </a:solidFill>
              </a:rPr>
              <a:t>this</a:t>
            </a:r>
            <a:r>
              <a:rPr lang="sl-SI" sz="3500" b="1">
                <a:solidFill>
                  <a:srgbClr val="00AEF0"/>
                </a:solidFill>
              </a:rPr>
              <a:t> market, </a:t>
            </a:r>
            <a:r>
              <a:rPr lang="sl-SI" sz="3500" b="1" err="1">
                <a:solidFill>
                  <a:srgbClr val="00AEF0"/>
                </a:solidFill>
              </a:rPr>
              <a:t>now</a:t>
            </a:r>
            <a:r>
              <a:rPr lang="sl-SI" sz="3500" b="1">
                <a:solidFill>
                  <a:srgbClr val="00AEF0"/>
                </a:solidFill>
              </a:rPr>
              <a:t> </a:t>
            </a:r>
            <a:r>
              <a:rPr lang="sl-SI" sz="3500" b="1" err="1">
                <a:solidFill>
                  <a:srgbClr val="00AEF0"/>
                </a:solidFill>
              </a:rPr>
              <a:t>and</a:t>
            </a:r>
            <a:r>
              <a:rPr lang="sl-SI" sz="3500" b="1">
                <a:solidFill>
                  <a:srgbClr val="00AEF0"/>
                </a:solidFill>
              </a:rPr>
              <a:t> in </a:t>
            </a:r>
            <a:r>
              <a:rPr lang="sl-SI" sz="3500" b="1" err="1">
                <a:solidFill>
                  <a:srgbClr val="00AEF0"/>
                </a:solidFill>
              </a:rPr>
              <a:t>the</a:t>
            </a:r>
            <a:r>
              <a:rPr lang="sl-SI" sz="3500" b="1">
                <a:solidFill>
                  <a:srgbClr val="00AEF0"/>
                </a:solidFill>
              </a:rPr>
              <a:t> </a:t>
            </a:r>
            <a:r>
              <a:rPr lang="sl-SI" sz="3500" b="1" err="1">
                <a:solidFill>
                  <a:srgbClr val="00AEF0"/>
                </a:solidFill>
              </a:rPr>
              <a:t>near</a:t>
            </a:r>
            <a:r>
              <a:rPr lang="sl-SI" sz="3500" b="1">
                <a:solidFill>
                  <a:srgbClr val="00AEF0"/>
                </a:solidFill>
              </a:rPr>
              <a:t> future</a:t>
            </a:r>
            <a:r>
              <a:rPr lang="en-GB" sz="3500" b="1">
                <a:solidFill>
                  <a:srgbClr val="00AEF0"/>
                </a:solidFill>
              </a:rPr>
              <a:t>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sl-SI" sz="3500" err="1"/>
              <a:t>What</a:t>
            </a:r>
            <a:r>
              <a:rPr lang="sl-SI" sz="3500"/>
              <a:t> is </a:t>
            </a:r>
            <a:r>
              <a:rPr lang="sl-SI" sz="3500" err="1"/>
              <a:t>the</a:t>
            </a:r>
            <a:r>
              <a:rPr lang="sl-SI" sz="3500"/>
              <a:t> </a:t>
            </a:r>
            <a:r>
              <a:rPr lang="sl-SI" sz="3500" err="1"/>
              <a:t>size</a:t>
            </a:r>
            <a:r>
              <a:rPr lang="sl-SI" sz="3500"/>
              <a:t> </a:t>
            </a:r>
            <a:r>
              <a:rPr lang="sl-SI" sz="3500" err="1"/>
              <a:t>of</a:t>
            </a:r>
            <a:r>
              <a:rPr lang="sl-SI" sz="3500"/>
              <a:t> </a:t>
            </a:r>
            <a:r>
              <a:rPr lang="sl-SI" sz="3500" err="1"/>
              <a:t>the</a:t>
            </a:r>
            <a:r>
              <a:rPr lang="sl-SI" sz="3500"/>
              <a:t> </a:t>
            </a:r>
            <a:r>
              <a:rPr lang="sl-SI" sz="3500" err="1"/>
              <a:t>current</a:t>
            </a:r>
            <a:r>
              <a:rPr lang="sl-SI" sz="3500"/>
              <a:t> market</a:t>
            </a:r>
            <a:r>
              <a:rPr lang="en-GB" sz="3500"/>
              <a:t>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sl-SI" sz="3500"/>
              <a:t>How </a:t>
            </a:r>
            <a:r>
              <a:rPr lang="sl-SI" sz="3500" err="1"/>
              <a:t>much</a:t>
            </a:r>
            <a:r>
              <a:rPr lang="sl-SI" sz="3500"/>
              <a:t> is it </a:t>
            </a:r>
            <a:r>
              <a:rPr lang="sl-SI" sz="3500" err="1"/>
              <a:t>expected</a:t>
            </a:r>
            <a:r>
              <a:rPr lang="sl-SI" sz="3500"/>
              <a:t> to </a:t>
            </a:r>
            <a:r>
              <a:rPr lang="sl-SI" sz="3500" err="1"/>
              <a:t>grow</a:t>
            </a:r>
            <a:r>
              <a:rPr lang="sl-SI" sz="3500"/>
              <a:t> </a:t>
            </a:r>
            <a:r>
              <a:rPr lang="sl-SI" sz="3500" err="1"/>
              <a:t>over</a:t>
            </a:r>
            <a:r>
              <a:rPr lang="sl-SI" sz="3500"/>
              <a:t> time</a:t>
            </a:r>
            <a:r>
              <a:rPr lang="en-GB" sz="3500"/>
              <a:t>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4FF0D549-3213-531C-98FF-5C5F9303B20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83" t="52963" r="4167" b="27037"/>
          <a:stretch/>
        </p:blipFill>
        <p:spPr>
          <a:xfrm rot="20822019">
            <a:off x="12434170" y="6054958"/>
            <a:ext cx="5433618" cy="2573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4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POTENTIAL FOR VALUE CREATION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</a:t>
            </a:r>
            <a:r>
              <a:rPr lang="sl-SI" sz="6000" b="1">
                <a:solidFill>
                  <a:srgbClr val="00AEF0"/>
                </a:solidFill>
              </a:rPr>
              <a:t>3</a:t>
            </a:r>
            <a:r>
              <a:rPr lang="en-GB" sz="6000" b="1">
                <a:solidFill>
                  <a:srgbClr val="00AEF0"/>
                </a:solidFill>
              </a:rPr>
              <a:t>		ECONOMIC VIABILITY</a:t>
            </a: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00AEF0"/>
                </a:solidFill>
              </a:rPr>
              <a:t>Is it worthwhile from a business perspective to pursue this market?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Do you have a sizable margins?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Are the customers well-funded enough to pay the price?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sticky will customers be?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304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CHALLENGE IN CAPTURING VALUE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#1		IMPLEMENTATION OBSTACLES</a:t>
            </a: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00AEF0"/>
                </a:solidFill>
              </a:rPr>
              <a:t>How difficult will it be for you to create and deliver your offer?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difficult will it be for you to develop the product?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difficult will it be for you to access the market?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challenging will it be for </a:t>
            </a:r>
            <a:r>
              <a:rPr lang="sl-SI" sz="3500"/>
              <a:t>y</a:t>
            </a:r>
            <a:r>
              <a:rPr lang="en-GB" sz="3500" err="1"/>
              <a:t>ou</a:t>
            </a:r>
            <a:r>
              <a:rPr lang="en-GB" sz="3500"/>
              <a:t> to raise funding for this option?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6577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CHALLENGE IN CAPTURING VALUE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#1		IMPLEMENTATION OBSTACLES</a:t>
            </a: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00AEF0"/>
                </a:solidFill>
              </a:rPr>
              <a:t>How difficult will it be for you to create and deliver your offer?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difficult will it be for you to develop the product?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difficult will it be for you to access the market?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challenging will it be for sou to raise funding for this option?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Slika 15" descr="Slika, ki vsebuje besede besedilo&#10;&#10;Opis je samodejno ustvarjen">
            <a:extLst>
              <a:ext uri="{FF2B5EF4-FFF2-40B4-BE49-F238E27FC236}">
                <a16:creationId xmlns:a16="http://schemas.microsoft.com/office/drawing/2014/main" id="{910EC95A-28CE-B176-7FF5-70E72E311DF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17" t="29259" r="3750" b="11782"/>
          <a:stretch/>
        </p:blipFill>
        <p:spPr>
          <a:xfrm rot="21091034">
            <a:off x="7473218" y="3328715"/>
            <a:ext cx="10668000" cy="6065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640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CHALLENGE IN CAPTURING VALUE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#2		TIME TO REVENUE</a:t>
            </a: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00AEF0"/>
                </a:solidFill>
              </a:rPr>
              <a:t>How long will it take until you can generate cash flow through sales?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What is estimated time for development?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Will we need to wait until the market is ready for our offer?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long is the sale cycle expected to be?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9193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CHALLENGE IN CAPTURING VALUE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9EEA589-1A47-1B9E-19B2-D7C1AEC0EAAD}"/>
              </a:ext>
            </a:extLst>
          </p:cNvPr>
          <p:cNvSpPr txBox="1"/>
          <p:nvPr/>
        </p:nvSpPr>
        <p:spPr>
          <a:xfrm>
            <a:off x="2590800" y="1866900"/>
            <a:ext cx="13106400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rgbClr val="00AEF0"/>
                </a:solidFill>
              </a:rPr>
              <a:t>#3		EXTERNAL RISKS</a:t>
            </a:r>
          </a:p>
          <a:p>
            <a:endParaRPr lang="en-GB" sz="3500" b="1">
              <a:solidFill>
                <a:srgbClr val="00AEF0"/>
              </a:solidFill>
            </a:endParaRPr>
          </a:p>
          <a:p>
            <a:r>
              <a:rPr lang="en-GB" sz="3500" b="1">
                <a:solidFill>
                  <a:srgbClr val="00AEF0"/>
                </a:solidFill>
              </a:rPr>
              <a:t>What obstacles in your business environment can stand in your way?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</a:t>
            </a:r>
            <a:r>
              <a:rPr lang="en-GB" sz="3500" err="1"/>
              <a:t>threatend</a:t>
            </a:r>
            <a:r>
              <a:rPr lang="en-GB" sz="3500"/>
              <a:t> are you by competition?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dependent are you on other companies or players?</a:t>
            </a:r>
          </a:p>
          <a:p>
            <a:pPr marL="857250" indent="-857250">
              <a:buClr>
                <a:srgbClr val="00AEF0"/>
              </a:buClr>
              <a:buFont typeface="Wingdings" panose="05000000000000000000" pitchFamily="2" charset="2"/>
              <a:buChar char="ü"/>
            </a:pPr>
            <a:r>
              <a:rPr lang="en-GB" sz="3500"/>
              <a:t>How exposed are you to adoption barriers?</a:t>
            </a:r>
          </a:p>
          <a:p>
            <a:endParaRPr lang="en-GB" sz="6000" b="1">
              <a:solidFill>
                <a:srgbClr val="00AEF0"/>
              </a:solidFill>
            </a:endParaRPr>
          </a:p>
          <a:p>
            <a:endParaRPr lang="en-GB" sz="3500"/>
          </a:p>
          <a:p>
            <a:endParaRPr lang="en-GB" sz="3500"/>
          </a:p>
          <a:p>
            <a:endParaRPr lang="en-GB" sz="3500"/>
          </a:p>
          <a:p>
            <a:endParaRPr lang="en-GB" sz="350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5369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87C6C09B-5E23-E697-7652-24C5EFEA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66" y="-170767"/>
            <a:ext cx="15676067" cy="1107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99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F6001A9-4AA8-1338-194B-BBD2C6F46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0"/>
          <a:stretch/>
        </p:blipFill>
        <p:spPr>
          <a:xfrm>
            <a:off x="1978090" y="66970"/>
            <a:ext cx="14455722" cy="10220030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E5ADB7F5-15A2-418C-F965-2353933D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614" y="66970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49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7AECC00-4D75-50BF-725D-BF45BB4EB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022" y="163780"/>
            <a:ext cx="14321956" cy="10123220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E5ADB7F5-15A2-418C-F965-2353933D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614" y="66970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990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D4A53C37-D1A3-070E-C4E5-FE123545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928" y="115647"/>
            <a:ext cx="14350144" cy="10171353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E5ADB7F5-15A2-418C-F965-2353933D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614" y="66970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0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3BE8C3F2-807C-6630-4562-233213259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91" y="30165"/>
            <a:ext cx="14555417" cy="1022666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E5ADB7F5-15A2-418C-F965-2353933D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614" y="66970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8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0ABF6092-EBE4-6437-D85E-6858EB5C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02" y="66970"/>
            <a:ext cx="14758395" cy="10332728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E5ADB7F5-15A2-418C-F965-2353933D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614" y="66970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23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8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5675DF2-FB33-B873-4026-9D73A49D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725" y="1266283"/>
            <a:ext cx="15217747" cy="7665375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BE56E32-E9C2-939F-E846-BD0FCC14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0086" y="202656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27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ANALYSING THE ATTRACTIVENESS MAP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תמונה 6">
            <a:extLst>
              <a:ext uri="{FF2B5EF4-FFF2-40B4-BE49-F238E27FC236}">
                <a16:creationId xmlns:a16="http://schemas.microsoft.com/office/drawing/2014/main" id="{36B417E0-5C26-69B4-C308-9D3850A04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21737" y="1821635"/>
            <a:ext cx="1500198" cy="146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7F9996-3134-6090-230B-1B423A552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043" y="2143105"/>
            <a:ext cx="10287072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sl-SI" sz="3600" b="1">
                <a:solidFill>
                  <a:srgbClr val="00AEF0"/>
                </a:solidFill>
              </a:rPr>
              <a:t>GOLD MINE</a:t>
            </a:r>
            <a:endParaRPr lang="en-US" sz="3600" b="1">
              <a:solidFill>
                <a:srgbClr val="00AEF0"/>
              </a:solidFill>
            </a:endParaRPr>
          </a:p>
        </p:txBody>
      </p:sp>
      <p:sp>
        <p:nvSpPr>
          <p:cNvPr id="12" name="מלבן 5">
            <a:extLst>
              <a:ext uri="{FF2B5EF4-FFF2-40B4-BE49-F238E27FC236}">
                <a16:creationId xmlns:a16="http://schemas.microsoft.com/office/drawing/2014/main" id="{9AEF0E6C-CA37-4EE3-32E8-539B743E8594}"/>
              </a:ext>
            </a:extLst>
          </p:cNvPr>
          <p:cNvSpPr/>
          <p:nvPr/>
        </p:nvSpPr>
        <p:spPr>
          <a:xfrm>
            <a:off x="4429043" y="3214674"/>
            <a:ext cx="10179915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Market opportunities with relatively high potential and low challenge. </a:t>
            </a:r>
          </a:p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They are ideally located but relatively rare.</a:t>
            </a:r>
          </a:p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A gold-mine option is usually a result of identifying a significant unmet need–one that no one has addressed before. Or, you may possess unique know-how to overcome a challenging hurdle, one that others simply cannot overcome.  </a:t>
            </a:r>
          </a:p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If you do have a gold-mine opportunity, it has the features that would make it your primary market opportunity. </a:t>
            </a:r>
          </a:p>
        </p:txBody>
      </p:sp>
    </p:spTree>
    <p:extLst>
      <p:ext uri="{BB962C8B-B14F-4D97-AF65-F5344CB8AC3E}">
        <p14:creationId xmlns:p14="http://schemas.microsoft.com/office/powerpoint/2010/main" val="4145662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ANALYSING THE ATTRACTIVENESS MAP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8A1156F3-0D7D-27D8-B0F3-3ECD51190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092" y="2166931"/>
            <a:ext cx="10287072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sl-SI" sz="3600" b="1">
                <a:solidFill>
                  <a:srgbClr val="00AEF0"/>
                </a:solidFill>
              </a:rPr>
              <a:t>MOON</a:t>
            </a:r>
            <a:r>
              <a:rPr lang="sl-SI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sl-SI" sz="3600" b="1">
                <a:solidFill>
                  <a:srgbClr val="00AEF0"/>
                </a:solidFill>
              </a:rPr>
              <a:t>SHOT</a:t>
            </a:r>
            <a:endParaRPr lang="en-US" sz="3600" b="1">
              <a:solidFill>
                <a:srgbClr val="00AEF0"/>
              </a:solidFill>
            </a:endParaRPr>
          </a:p>
        </p:txBody>
      </p:sp>
      <p:sp>
        <p:nvSpPr>
          <p:cNvPr id="13" name="מלבן 5">
            <a:extLst>
              <a:ext uri="{FF2B5EF4-FFF2-40B4-BE49-F238E27FC236}">
                <a16:creationId xmlns:a16="http://schemas.microsoft.com/office/drawing/2014/main" id="{CDD0CAFB-02DE-ECAC-CE95-18FEEEBE950E}"/>
              </a:ext>
            </a:extLst>
          </p:cNvPr>
          <p:cNvSpPr/>
          <p:nvPr/>
        </p:nvSpPr>
        <p:spPr>
          <a:xfrm>
            <a:off x="4429092" y="3238500"/>
            <a:ext cx="11344308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Market opportunities with relatively high potential but also high challenge. </a:t>
            </a:r>
          </a:p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Truly innovative offers are usually located in this quarter of the Attractiveness Map, bearing high risk and high returns simultaneously. </a:t>
            </a:r>
          </a:p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Some investors would argue that these are the most interesting options to invest in, if you believe that the team is qualified to overcome the major challenges that it entails. </a:t>
            </a:r>
          </a:p>
          <a:p>
            <a:pPr>
              <a:spcAft>
                <a:spcPts val="1800"/>
              </a:spcAft>
              <a:defRPr/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Hence, moon-shot options may fit as your primary market opportunity, or as a long-term growth option</a:t>
            </a:r>
            <a:r>
              <a:rPr lang="sl-SI" sz="30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3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4" name="תמונה 7">
            <a:extLst>
              <a:ext uri="{FF2B5EF4-FFF2-40B4-BE49-F238E27FC236}">
                <a16:creationId xmlns:a16="http://schemas.microsoft.com/office/drawing/2014/main" id="{FC6F2866-6758-4469-1061-D498E2778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09814" y="1738303"/>
            <a:ext cx="1412121" cy="13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27046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ANALYSING THE ATTRACTIVENESS MAP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B2F171CC-0463-2829-4ACF-B0353FF80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092" y="2143105"/>
            <a:ext cx="10287072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sl-SI" sz="3600" b="1">
                <a:solidFill>
                  <a:srgbClr val="00AEF0"/>
                </a:solidFill>
              </a:rPr>
              <a:t>QUICK WIN</a:t>
            </a:r>
            <a:endParaRPr lang="en-US" sz="3600" b="1">
              <a:solidFill>
                <a:srgbClr val="00AEF0"/>
              </a:solidFill>
            </a:endParaRPr>
          </a:p>
        </p:txBody>
      </p:sp>
      <p:sp>
        <p:nvSpPr>
          <p:cNvPr id="5" name="מלבן 5">
            <a:extLst>
              <a:ext uri="{FF2B5EF4-FFF2-40B4-BE49-F238E27FC236}">
                <a16:creationId xmlns:a16="http://schemas.microsoft.com/office/drawing/2014/main" id="{F65142A3-F980-F31E-9245-1FBEBDAA3284}"/>
              </a:ext>
            </a:extLst>
          </p:cNvPr>
          <p:cNvSpPr/>
          <p:nvPr/>
        </p:nvSpPr>
        <p:spPr>
          <a:xfrm>
            <a:off x="4429092" y="3214674"/>
            <a:ext cx="1050138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Market opportunities with relatively low potential and low challenge. </a:t>
            </a:r>
          </a:p>
          <a:p>
            <a:pPr>
              <a:spcAft>
                <a:spcPts val="1800"/>
              </a:spcAft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In the risk-return analogy, they represent the low risk</a:t>
            </a:r>
            <a:r>
              <a:rPr lang="sl-SI" sz="3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sl-SI" sz="3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low return alternatives. They offer limited value creation potential that is relatively safe. </a:t>
            </a:r>
          </a:p>
          <a:p>
            <a:pPr>
              <a:spcAft>
                <a:spcPts val="1800"/>
              </a:spcAft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These options may offer a great jump-start, and may be combined with other opportunities to enhance the long term potential of the firm.  </a:t>
            </a:r>
          </a:p>
        </p:txBody>
      </p:sp>
      <p:pic>
        <p:nvPicPr>
          <p:cNvPr id="12" name="תמונה 8">
            <a:extLst>
              <a:ext uri="{FF2B5EF4-FFF2-40B4-BE49-F238E27FC236}">
                <a16:creationId xmlns:a16="http://schemas.microsoft.com/office/drawing/2014/main" id="{A1F7F072-8A63-377E-B09A-C3F61E3AB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28894" y="1607319"/>
            <a:ext cx="1378530" cy="139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1673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ANALYSING THE ATTRACTIVENESS MAP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ravokotnik 9">
            <a:extLst>
              <a:ext uri="{FF2B5EF4-FFF2-40B4-BE49-F238E27FC236}">
                <a16:creationId xmlns:a16="http://schemas.microsoft.com/office/drawing/2014/main" id="{4C55FD55-6865-AFE2-D27D-F44EDF67272E}"/>
              </a:ext>
            </a:extLst>
          </p:cNvPr>
          <p:cNvSpPr/>
          <p:nvPr/>
        </p:nvSpPr>
        <p:spPr>
          <a:xfrm>
            <a:off x="2171500" y="1562100"/>
            <a:ext cx="1393981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05B9667-97C8-92AE-54E8-54C9D6EF5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7985DE58-A151-3037-3901-EB9D57F72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092" y="2227404"/>
            <a:ext cx="10287072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sl-SI" sz="3600" b="1">
                <a:solidFill>
                  <a:srgbClr val="00AEF0"/>
                </a:solidFill>
              </a:rPr>
              <a:t>QUESTIONABLE</a:t>
            </a:r>
            <a:endParaRPr lang="en-US" sz="3600" b="1">
              <a:solidFill>
                <a:srgbClr val="00AEF0"/>
              </a:solidFill>
            </a:endParaRPr>
          </a:p>
        </p:txBody>
      </p:sp>
      <p:sp>
        <p:nvSpPr>
          <p:cNvPr id="13" name="מלבן 5">
            <a:extLst>
              <a:ext uri="{FF2B5EF4-FFF2-40B4-BE49-F238E27FC236}">
                <a16:creationId xmlns:a16="http://schemas.microsoft.com/office/drawing/2014/main" id="{8B2E5C21-CABF-DCB5-EC39-C82B4798082B}"/>
              </a:ext>
            </a:extLst>
          </p:cNvPr>
          <p:cNvSpPr/>
          <p:nvPr/>
        </p:nvSpPr>
        <p:spPr>
          <a:xfrm>
            <a:off x="4429092" y="3298974"/>
            <a:ext cx="1050138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Market opportunities with relatively low potential and high challenge. </a:t>
            </a:r>
          </a:p>
          <a:p>
            <a:pPr>
              <a:spcAft>
                <a:spcPts val="1800"/>
              </a:spcAft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While you will likely be better off finding a target market opportunity that is located in a different quarter, keep these questionable opportunities in mind, as conditions may change over time and questionable options may become more attractive.</a:t>
            </a:r>
          </a:p>
          <a:p>
            <a:pPr>
              <a:spcAft>
                <a:spcPts val="1800"/>
              </a:spcAft>
            </a:pPr>
            <a:r>
              <a:rPr lang="en-US" sz="3000">
                <a:solidFill>
                  <a:schemeClr val="tx1">
                    <a:lumMod val="65000"/>
                    <a:lumOff val="35000"/>
                  </a:schemeClr>
                </a:solidFill>
              </a:rPr>
              <a:t>Many venture projects fail because they pursue a questionable opportunity, often without even being aware of that</a:t>
            </a:r>
            <a:r>
              <a:rPr lang="sl-SI" sz="30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3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4" name="תמונה 9">
            <a:extLst>
              <a:ext uri="{FF2B5EF4-FFF2-40B4-BE49-F238E27FC236}">
                <a16:creationId xmlns:a16="http://schemas.microsoft.com/office/drawing/2014/main" id="{365D73CA-02BA-3F7B-1836-69729E364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28894" y="1798775"/>
            <a:ext cx="1436574" cy="139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4651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כותרת 1"/>
          <p:cNvSpPr txBox="1">
            <a:spLocks/>
          </p:cNvSpPr>
          <p:nvPr/>
        </p:nvSpPr>
        <p:spPr bwMode="auto">
          <a:xfrm>
            <a:off x="4175448" y="1576097"/>
            <a:ext cx="9313665" cy="80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3150">
              <a:solidFill>
                <a:srgbClr val="FFFFFF"/>
              </a:solidFill>
              <a:latin typeface="Calibri" panose="020F0502020204030204" pitchFamily="34" charset="0"/>
              <a:ea typeface="Roboto"/>
              <a:cs typeface="Roboto"/>
            </a:endParaRPr>
          </a:p>
        </p:txBody>
      </p:sp>
      <p:sp>
        <p:nvSpPr>
          <p:cNvPr id="10243" name="מלבן 7"/>
          <p:cNvSpPr>
            <a:spLocks noChangeArrowheads="1"/>
          </p:cNvSpPr>
          <p:nvPr/>
        </p:nvSpPr>
        <p:spPr bwMode="auto">
          <a:xfrm>
            <a:off x="7157048" y="10519035"/>
            <a:ext cx="889028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4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0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20000"/>
              </a:spcBef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Calibri" panose="020F0502020204030204" pitchFamily="34" charset="0"/>
                <a:ea typeface="Roboto"/>
                <a:cs typeface="Roboto"/>
              </a:rPr>
              <a:t>Copyright 2016 by Sharon Tal and Marc Gruber. All rights reserved. This material may not be reproduced</a:t>
            </a:r>
          </a:p>
        </p:txBody>
      </p:sp>
      <p:pic>
        <p:nvPicPr>
          <p:cNvPr id="1024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05"/>
          <a:stretch/>
        </p:blipFill>
        <p:spPr bwMode="auto">
          <a:xfrm>
            <a:off x="1441781" y="561257"/>
            <a:ext cx="14605554" cy="497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E3496A70-CB0F-4AAE-ACB7-523A404FA7A1}"/>
              </a:ext>
            </a:extLst>
          </p:cNvPr>
          <p:cNvGrpSpPr/>
          <p:nvPr/>
        </p:nvGrpSpPr>
        <p:grpSpPr>
          <a:xfrm>
            <a:off x="3084487" y="5219949"/>
            <a:ext cx="12119026" cy="3947160"/>
            <a:chOff x="1464752" y="4581128"/>
            <a:chExt cx="4689963" cy="1728192"/>
          </a:xfrm>
        </p:grpSpPr>
        <p:pic>
          <p:nvPicPr>
            <p:cNvPr id="7" name="Picture 2" descr="Navigator_illustration1">
              <a:extLst>
                <a:ext uri="{FF2B5EF4-FFF2-40B4-BE49-F238E27FC236}">
                  <a16:creationId xmlns:a16="http://schemas.microsoft.com/office/drawing/2014/main" id="{B531A5B0-54AE-42E5-929D-15DD358620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687"/>
            <a:stretch/>
          </p:blipFill>
          <p:spPr bwMode="auto">
            <a:xfrm>
              <a:off x="1464752" y="4581128"/>
              <a:ext cx="1523072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Navigator_illustration2">
              <a:extLst>
                <a:ext uri="{FF2B5EF4-FFF2-40B4-BE49-F238E27FC236}">
                  <a16:creationId xmlns:a16="http://schemas.microsoft.com/office/drawing/2014/main" id="{6CD24A2C-68BB-41BC-A9D5-DDDD5F8B8A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15" r="33043"/>
            <a:stretch/>
          </p:blipFill>
          <p:spPr bwMode="auto">
            <a:xfrm>
              <a:off x="3059832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Navigator_illustration3">
              <a:extLst>
                <a:ext uri="{FF2B5EF4-FFF2-40B4-BE49-F238E27FC236}">
                  <a16:creationId xmlns:a16="http://schemas.microsoft.com/office/drawing/2014/main" id="{7650B0CE-E8E4-49E8-AD91-12A8811444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57"/>
            <a:stretch/>
          </p:blipFill>
          <p:spPr bwMode="auto">
            <a:xfrm>
              <a:off x="4644008" y="4594820"/>
              <a:ext cx="151070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6A00FC9C-B7FC-C521-1D44-B3BEF859E1F2}"/>
              </a:ext>
            </a:extLst>
          </p:cNvPr>
          <p:cNvSpPr txBox="1"/>
          <p:nvPr/>
        </p:nvSpPr>
        <p:spPr>
          <a:xfrm>
            <a:off x="3276600" y="9167109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MARKET OPPORTUNITY SET</a:t>
            </a:r>
          </a:p>
        </p:txBody>
      </p:sp>
      <p:sp>
        <p:nvSpPr>
          <p:cNvPr id="4" name="PoljeZBesedilom 3">
            <a:extLst>
              <a:ext uri="{FF2B5EF4-FFF2-40B4-BE49-F238E27FC236}">
                <a16:creationId xmlns:a16="http://schemas.microsoft.com/office/drawing/2014/main" id="{70C9F7D0-E650-D71F-75F5-BE87A887EFC3}"/>
              </a:ext>
            </a:extLst>
          </p:cNvPr>
          <p:cNvSpPr txBox="1"/>
          <p:nvPr/>
        </p:nvSpPr>
        <p:spPr>
          <a:xfrm>
            <a:off x="7288197" y="9167108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ATTRACTIVENESS MAP</a:t>
            </a:r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5592E43A-5832-5E2F-C0B6-142AEBA24907}"/>
              </a:ext>
            </a:extLst>
          </p:cNvPr>
          <p:cNvSpPr txBox="1"/>
          <p:nvPr/>
        </p:nvSpPr>
        <p:spPr>
          <a:xfrm>
            <a:off x="11365912" y="9167107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2200" b="1">
                <a:solidFill>
                  <a:srgbClr val="00AEF0"/>
                </a:solidFill>
              </a:rPr>
              <a:t>AGILE FOCUS DARTBOARD</a:t>
            </a:r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533E1B2A-9FDF-8A11-DB0B-0B3A0273AAF1}"/>
              </a:ext>
            </a:extLst>
          </p:cNvPr>
          <p:cNvSpPr txBox="1"/>
          <p:nvPr/>
        </p:nvSpPr>
        <p:spPr>
          <a:xfrm>
            <a:off x="0" y="162374"/>
            <a:ext cx="18288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5000" b="1">
                <a:solidFill>
                  <a:srgbClr val="00AEF0"/>
                </a:solidFill>
              </a:rPr>
              <a:t>WORKING WITH THE MARKET OPPORTUNITY NAVIGATOR</a:t>
            </a:r>
          </a:p>
        </p:txBody>
      </p:sp>
      <p:sp>
        <p:nvSpPr>
          <p:cNvPr id="12" name="Pravokotnik 11">
            <a:extLst>
              <a:ext uri="{FF2B5EF4-FFF2-40B4-BE49-F238E27FC236}">
                <a16:creationId xmlns:a16="http://schemas.microsoft.com/office/drawing/2014/main" id="{84DBCF95-ACDD-34DF-31F6-133F1C2D24E2}"/>
              </a:ext>
            </a:extLst>
          </p:cNvPr>
          <p:cNvSpPr/>
          <p:nvPr/>
        </p:nvSpPr>
        <p:spPr>
          <a:xfrm>
            <a:off x="2522685" y="1072055"/>
            <a:ext cx="8611004" cy="8776137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98726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2178795" y="-1"/>
            <a:ext cx="13823205" cy="157910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800">
              <a:latin typeface="Calibri Light" panose="020F03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08" y="2288487"/>
            <a:ext cx="6912768" cy="7303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037004" y="9915845"/>
            <a:ext cx="8964996" cy="34624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650"/>
              <a:t>Source: </a:t>
            </a:r>
            <a:r>
              <a:rPr lang="en-US" sz="1650" err="1"/>
              <a:t>Nagji</a:t>
            </a:r>
            <a:r>
              <a:rPr lang="en-US" sz="1650"/>
              <a:t>, B., &amp; Tuff, G. (2012). Managing your innovation portfolio. HBR</a:t>
            </a:r>
            <a:endParaRPr lang="he-IL" sz="1650"/>
          </a:p>
        </p:txBody>
      </p:sp>
      <p:sp>
        <p:nvSpPr>
          <p:cNvPr id="9" name="TextBox 8"/>
          <p:cNvSpPr txBox="1"/>
          <p:nvPr/>
        </p:nvSpPr>
        <p:spPr>
          <a:xfrm>
            <a:off x="2879304" y="174948"/>
            <a:ext cx="12529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</a:rPr>
              <a:t>Key benefit: Design a balanced portfolio</a:t>
            </a:r>
          </a:p>
        </p:txBody>
      </p:sp>
    </p:spTree>
    <p:extLst>
      <p:ext uri="{BB962C8B-B14F-4D97-AF65-F5344CB8AC3E}">
        <p14:creationId xmlns:p14="http://schemas.microsoft.com/office/powerpoint/2010/main" val="3601349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16"/>
          <p:cNvSpPr/>
          <p:nvPr/>
        </p:nvSpPr>
        <p:spPr>
          <a:xfrm>
            <a:off x="2178795" y="0"/>
            <a:ext cx="13823205" cy="157910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800">
              <a:latin typeface="Calibri Light" panose="020F0302020204030204" pitchFamily="34" charset="0"/>
            </a:endParaRPr>
          </a:p>
        </p:txBody>
      </p:sp>
      <p:cxnSp>
        <p:nvCxnSpPr>
          <p:cNvPr id="7" name="מחבר ישר 6"/>
          <p:cNvCxnSpPr/>
          <p:nvPr/>
        </p:nvCxnSpPr>
        <p:spPr>
          <a:xfrm>
            <a:off x="2607423" y="1039044"/>
            <a:ext cx="12965997" cy="2382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כותרת 1"/>
          <p:cNvSpPr txBox="1">
            <a:spLocks/>
          </p:cNvSpPr>
          <p:nvPr/>
        </p:nvSpPr>
        <p:spPr>
          <a:xfrm>
            <a:off x="3055935" y="254195"/>
            <a:ext cx="12419856" cy="107071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800">
              <a:solidFill>
                <a:schemeClr val="bg1"/>
              </a:solidFill>
              <a:latin typeface="+mn-lt"/>
            </a:endParaRPr>
          </a:p>
          <a:p>
            <a:pPr algn="l"/>
            <a:endParaRPr lang="en-US" sz="4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3845" y="9785646"/>
            <a:ext cx="9721080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100"/>
              <a:t>Source: </a:t>
            </a:r>
            <a:r>
              <a:rPr lang="en-US" sz="2100" err="1"/>
              <a:t>Bahgai</a:t>
            </a:r>
            <a:r>
              <a:rPr lang="en-US" sz="2100"/>
              <a:t>, Coley &amp; White, 1999: The Alchemy of Growth</a:t>
            </a:r>
            <a:endParaRPr lang="he-IL" sz="2100"/>
          </a:p>
        </p:txBody>
      </p:sp>
      <p:sp>
        <p:nvSpPr>
          <p:cNvPr id="12" name="TextBox 11"/>
          <p:cNvSpPr txBox="1"/>
          <p:nvPr/>
        </p:nvSpPr>
        <p:spPr>
          <a:xfrm>
            <a:off x="2879304" y="289379"/>
            <a:ext cx="12529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</a:rPr>
              <a:t>Constantly nourish all 3 Horizons</a:t>
            </a:r>
          </a:p>
        </p:txBody>
      </p:sp>
      <p:pic>
        <p:nvPicPr>
          <p:cNvPr id="9218" name="Picture 2" descr="Principle 3 - Innovation Framework&#10;Company must develop innovation frameworks to&#10;guide teams as they do their work.&#10; 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7" r="12916" b="27612"/>
          <a:stretch/>
        </p:blipFill>
        <p:spPr bwMode="auto">
          <a:xfrm>
            <a:off x="2510463" y="2031094"/>
            <a:ext cx="13350801" cy="71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316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E7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2458482-AD9C-A478-397F-2BEB7323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897" y="66970"/>
            <a:ext cx="14360061" cy="1012092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E5ADB7F5-15A2-418C-F965-2353933D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614" y="66970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98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5"/>
          <p:cNvSpPr/>
          <p:nvPr/>
        </p:nvSpPr>
        <p:spPr>
          <a:xfrm>
            <a:off x="2178795" y="-36"/>
            <a:ext cx="13823205" cy="12550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800">
              <a:latin typeface="Calibri Light" panose="020F030202020403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627414" y="274144"/>
            <a:ext cx="12061748" cy="1247072"/>
          </a:xfrm>
        </p:spPr>
        <p:txBody>
          <a:bodyPr/>
          <a:lstStyle/>
          <a:p>
            <a:pPr defTabSz="803781">
              <a:defRPr/>
            </a:pPr>
            <a:r>
              <a:rPr lang="en-US" sz="4800">
                <a:solidFill>
                  <a:schemeClr val="bg1"/>
                </a:solidFill>
                <a:latin typeface="+mn-lt"/>
              </a:rPr>
              <a:t>Designing your smart 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9714" y="2227177"/>
            <a:ext cx="5636414" cy="1569176"/>
          </a:xfrm>
          <a:prstGeom prst="rect">
            <a:avLst/>
          </a:prstGeom>
          <a:solidFill>
            <a:srgbClr val="87D4F7"/>
          </a:solidFill>
          <a:ln>
            <a:solidFill>
              <a:srgbClr val="29ABE2"/>
            </a:solidFill>
          </a:ln>
        </p:spPr>
        <p:txBody>
          <a:bodyPr wrap="square" lIns="68100" tIns="34050" rIns="68100" bIns="34050">
            <a:spAutoFit/>
          </a:bodyPr>
          <a:lstStyle/>
          <a:p>
            <a:pPr>
              <a:spcAft>
                <a:spcPts val="894"/>
              </a:spcAft>
            </a:pPr>
            <a:r>
              <a:rPr lang="en-US" sz="3000" b="1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rPr>
              <a:t>A Backup Option</a:t>
            </a: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rPr>
              <a:t> </a:t>
            </a:r>
          </a:p>
          <a:p>
            <a:pPr>
              <a:spcAft>
                <a:spcPts val="894"/>
              </a:spcAft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rPr>
              <a:t>allows you to change direction over time, if necessary.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3029714" y="4264869"/>
            <a:ext cx="5636414" cy="2487677"/>
            <a:chOff x="1515975" y="8423673"/>
            <a:chExt cx="8879308" cy="2938761"/>
          </a:xfrm>
        </p:grpSpPr>
        <p:sp>
          <p:nvSpPr>
            <p:cNvPr id="6" name="Rectangle 5"/>
            <p:cNvSpPr/>
            <p:nvPr/>
          </p:nvSpPr>
          <p:spPr>
            <a:xfrm>
              <a:off x="1515975" y="9480882"/>
              <a:ext cx="8879308" cy="1881552"/>
            </a:xfrm>
            <a:prstGeom prst="rect">
              <a:avLst/>
            </a:prstGeom>
            <a:solidFill>
              <a:srgbClr val="87D4F7"/>
            </a:solidFill>
            <a:ln>
              <a:solidFill>
                <a:srgbClr val="29ABE2"/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894"/>
                </a:spcAft>
              </a:pPr>
              <a:r>
                <a:rPr lang="en-US" sz="3000">
                  <a:solidFill>
                    <a:schemeClr val="tx1">
                      <a:lumMod val="75000"/>
                      <a:lumOff val="25000"/>
                    </a:schemeClr>
                  </a:solidFill>
                  <a:ea typeface="ＭＳ Ｐゴシック" charset="0"/>
                  <a:cs typeface="ＭＳ Ｐゴシック" charset="0"/>
                </a:rPr>
                <a:t>It answers the question:</a:t>
              </a:r>
            </a:p>
            <a:p>
              <a:pPr>
                <a:spcAft>
                  <a:spcPts val="894"/>
                </a:spcAft>
              </a:pPr>
              <a:r>
                <a:rPr lang="en-US" sz="3000" b="1">
                  <a:solidFill>
                    <a:schemeClr val="tx1">
                      <a:lumMod val="75000"/>
                      <a:lumOff val="25000"/>
                    </a:schemeClr>
                  </a:solidFill>
                  <a:ea typeface="ＭＳ Ｐゴシック" charset="0"/>
                  <a:cs typeface="ＭＳ Ｐゴシック" charset="0"/>
                </a:rPr>
                <a:t>If we are not successful - what shall we do next? 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486400" y="8423673"/>
              <a:ext cx="1082842" cy="912831"/>
            </a:xfrm>
            <a:prstGeom prst="downArrow">
              <a:avLst/>
            </a:prstGeom>
            <a:solidFill>
              <a:srgbClr val="29ABE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</p:grpSp>
      <p:grpSp>
        <p:nvGrpSpPr>
          <p:cNvPr id="13" name="Group 10"/>
          <p:cNvGrpSpPr/>
          <p:nvPr/>
        </p:nvGrpSpPr>
        <p:grpSpPr>
          <a:xfrm>
            <a:off x="9294410" y="4279404"/>
            <a:ext cx="5636414" cy="2487677"/>
            <a:chOff x="1515975" y="8423673"/>
            <a:chExt cx="8879308" cy="293876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4" name="Rectangle 13"/>
            <p:cNvSpPr/>
            <p:nvPr/>
          </p:nvSpPr>
          <p:spPr>
            <a:xfrm>
              <a:off x="1515975" y="9480882"/>
              <a:ext cx="8879308" cy="1881552"/>
            </a:xfrm>
            <a:prstGeom prst="rect">
              <a:avLst/>
            </a:prstGeom>
            <a:grpFill/>
            <a:ln>
              <a:solidFill>
                <a:srgbClr val="92D050"/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894"/>
                </a:spcAft>
              </a:pPr>
              <a:r>
                <a:rPr lang="en-US" sz="3000">
                  <a:solidFill>
                    <a:schemeClr val="tx1">
                      <a:lumMod val="75000"/>
                      <a:lumOff val="25000"/>
                    </a:schemeClr>
                  </a:solidFill>
                  <a:ea typeface="ＭＳ Ｐゴシック" charset="0"/>
                  <a:cs typeface="ＭＳ Ｐゴシック" charset="0"/>
                </a:rPr>
                <a:t>It answers the question:</a:t>
              </a:r>
            </a:p>
            <a:p>
              <a:pPr>
                <a:spcAft>
                  <a:spcPts val="894"/>
                </a:spcAft>
              </a:pPr>
              <a:r>
                <a:rPr lang="en-US" sz="3000" b="1">
                  <a:solidFill>
                    <a:schemeClr val="tx1">
                      <a:lumMod val="75000"/>
                      <a:lumOff val="25000"/>
                    </a:schemeClr>
                  </a:solidFill>
                  <a:ea typeface="ＭＳ Ｐゴシック" charset="0"/>
                  <a:cs typeface="ＭＳ Ｐゴシック" charset="0"/>
                </a:rPr>
                <a:t>If we are successful - what shall we do next? </a:t>
              </a:r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5486400" y="8423673"/>
              <a:ext cx="1082842" cy="912831"/>
            </a:xfrm>
            <a:prstGeom prst="downArrow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</p:grpSp>
      <p:sp>
        <p:nvSpPr>
          <p:cNvPr id="18" name="Rectangle 7"/>
          <p:cNvSpPr/>
          <p:nvPr/>
        </p:nvSpPr>
        <p:spPr>
          <a:xfrm>
            <a:off x="9294410" y="2285621"/>
            <a:ext cx="5636414" cy="15691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txBody>
          <a:bodyPr wrap="square" lIns="68100" tIns="34050" rIns="68100" bIns="34050">
            <a:spAutoFit/>
          </a:bodyPr>
          <a:lstStyle/>
          <a:p>
            <a:pPr>
              <a:spcAft>
                <a:spcPts val="894"/>
              </a:spcAft>
            </a:pPr>
            <a:r>
              <a:rPr lang="en-US" sz="3000" b="1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rPr>
              <a:t>A Growth Option</a:t>
            </a: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rPr>
              <a:t> </a:t>
            </a:r>
          </a:p>
          <a:p>
            <a:pPr>
              <a:spcAft>
                <a:spcPts val="894"/>
              </a:spcAft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rPr>
              <a:t>allows you to create additional value over time.</a:t>
            </a:r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14891621-F182-48BD-A90D-9E5A9BB26789}"/>
              </a:ext>
            </a:extLst>
          </p:cNvPr>
          <p:cNvGrpSpPr/>
          <p:nvPr/>
        </p:nvGrpSpPr>
        <p:grpSpPr>
          <a:xfrm>
            <a:off x="3009925" y="7045554"/>
            <a:ext cx="5636414" cy="2372261"/>
            <a:chOff x="1515975" y="8423673"/>
            <a:chExt cx="8879308" cy="2802417"/>
          </a:xfrm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5B13327F-54AC-437E-A91D-B53A365BB714}"/>
                </a:ext>
              </a:extLst>
            </p:cNvPr>
            <p:cNvSpPr/>
            <p:nvPr/>
          </p:nvSpPr>
          <p:spPr>
            <a:xfrm>
              <a:off x="1515975" y="9480882"/>
              <a:ext cx="8879308" cy="1745208"/>
            </a:xfrm>
            <a:prstGeom prst="rect">
              <a:avLst/>
            </a:prstGeom>
            <a:solidFill>
              <a:srgbClr val="87D4F7"/>
            </a:solidFill>
            <a:ln>
              <a:solidFill>
                <a:srgbClr val="29ABE2"/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894"/>
                </a:spcAft>
              </a:pPr>
              <a:r>
                <a:rPr lang="en-US" sz="3000">
                  <a:solidFill>
                    <a:schemeClr val="tx1">
                      <a:lumMod val="75000"/>
                      <a:lumOff val="25000"/>
                    </a:schemeClr>
                  </a:solidFill>
                  <a:ea typeface="ＭＳ Ｐゴシック" charset="0"/>
                  <a:cs typeface="ＭＳ Ｐゴシック" charset="0"/>
                </a:rPr>
                <a:t>A related opportunity that does not share major risks with the primary market</a:t>
              </a:r>
              <a:endParaRPr lang="en-US" sz="3000" b="1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Down Arrow 8">
              <a:extLst>
                <a:ext uri="{FF2B5EF4-FFF2-40B4-BE49-F238E27FC236}">
                  <a16:creationId xmlns:a16="http://schemas.microsoft.com/office/drawing/2014/main" id="{921CDB63-7790-4D59-9512-0E53FE15E278}"/>
                </a:ext>
              </a:extLst>
            </p:cNvPr>
            <p:cNvSpPr/>
            <p:nvPr/>
          </p:nvSpPr>
          <p:spPr>
            <a:xfrm>
              <a:off x="5486400" y="8423673"/>
              <a:ext cx="1082842" cy="912831"/>
            </a:xfrm>
            <a:prstGeom prst="downArrow">
              <a:avLst/>
            </a:prstGeom>
            <a:solidFill>
              <a:srgbClr val="29ABE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</p:grpSp>
      <p:grpSp>
        <p:nvGrpSpPr>
          <p:cNvPr id="22" name="Group 10">
            <a:extLst>
              <a:ext uri="{FF2B5EF4-FFF2-40B4-BE49-F238E27FC236}">
                <a16:creationId xmlns:a16="http://schemas.microsoft.com/office/drawing/2014/main" id="{BA003E83-6CE5-4078-BC8C-B14D3F34E4A1}"/>
              </a:ext>
            </a:extLst>
          </p:cNvPr>
          <p:cNvGrpSpPr/>
          <p:nvPr/>
        </p:nvGrpSpPr>
        <p:grpSpPr>
          <a:xfrm>
            <a:off x="9340235" y="6993909"/>
            <a:ext cx="5636414" cy="2372261"/>
            <a:chOff x="1515975" y="8423673"/>
            <a:chExt cx="8879308" cy="2802417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AF74189E-8572-41FE-B2B5-131FA6A3D321}"/>
                </a:ext>
              </a:extLst>
            </p:cNvPr>
            <p:cNvSpPr/>
            <p:nvPr/>
          </p:nvSpPr>
          <p:spPr>
            <a:xfrm>
              <a:off x="1515975" y="9480882"/>
              <a:ext cx="8879308" cy="1745208"/>
            </a:xfrm>
            <a:prstGeom prst="rect">
              <a:avLst/>
            </a:prstGeom>
            <a:grpFill/>
            <a:ln>
              <a:solidFill>
                <a:srgbClr val="92D050"/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894"/>
                </a:spcAft>
              </a:pPr>
              <a:r>
                <a:rPr lang="en-US" sz="3000">
                  <a:solidFill>
                    <a:schemeClr val="tx1">
                      <a:lumMod val="75000"/>
                      <a:lumOff val="25000"/>
                    </a:schemeClr>
                  </a:solidFill>
                  <a:ea typeface="ＭＳ Ｐゴシック" charset="0"/>
                  <a:cs typeface="ＭＳ Ｐゴシック" charset="0"/>
                </a:rPr>
                <a:t>An attractive opportunity that is tightly related to your primary market</a:t>
              </a:r>
              <a:endParaRPr lang="en-US" sz="3000" b="1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4" name="Down Arrow 8">
              <a:extLst>
                <a:ext uri="{FF2B5EF4-FFF2-40B4-BE49-F238E27FC236}">
                  <a16:creationId xmlns:a16="http://schemas.microsoft.com/office/drawing/2014/main" id="{6995B2C1-47F4-49DD-9138-91D9C2D6A93F}"/>
                </a:ext>
              </a:extLst>
            </p:cNvPr>
            <p:cNvSpPr/>
            <p:nvPr/>
          </p:nvSpPr>
          <p:spPr>
            <a:xfrm>
              <a:off x="5486400" y="8423673"/>
              <a:ext cx="1082842" cy="912831"/>
            </a:xfrm>
            <a:prstGeom prst="downArrow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</p:grpSp>
    </p:spTree>
    <p:extLst>
      <p:ext uri="{BB962C8B-B14F-4D97-AF65-F5344CB8AC3E}">
        <p14:creationId xmlns:p14="http://schemas.microsoft.com/office/powerpoint/2010/main" val="40378297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6EB2ECF5-7C8B-6128-72EB-8C0A0044F1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8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270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5675DF2-FB33-B873-4026-9D73A49D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725" y="1266283"/>
            <a:ext cx="15217747" cy="7665375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BE56E32-E9C2-939F-E846-BD0FCC14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0086" y="202656"/>
            <a:ext cx="332468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15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/>
          <p:cNvSpPr/>
          <p:nvPr/>
        </p:nvSpPr>
        <p:spPr>
          <a:xfrm>
            <a:off x="2178795" y="0"/>
            <a:ext cx="13823205" cy="12550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800">
              <a:latin typeface="Calibri Light" panose="020F0302020204030204" pitchFamily="34" charset="0"/>
            </a:endParaRPr>
          </a:p>
        </p:txBody>
      </p:sp>
      <p:sp>
        <p:nvSpPr>
          <p:cNvPr id="12" name="כותרת 1"/>
          <p:cNvSpPr txBox="1">
            <a:spLocks/>
          </p:cNvSpPr>
          <p:nvPr/>
        </p:nvSpPr>
        <p:spPr>
          <a:xfrm>
            <a:off x="2288627" y="184353"/>
            <a:ext cx="13823205" cy="107071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>
                <a:solidFill>
                  <a:schemeClr val="bg1"/>
                </a:solidFill>
                <a:latin typeface="+mn-lt"/>
              </a:rPr>
              <a:t>Key benefit: Focus on the most promising opportunity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72A9045-7C37-41A6-B7C8-9685A4146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9"/>
          <a:stretch/>
        </p:blipFill>
        <p:spPr bwMode="auto">
          <a:xfrm>
            <a:off x="4931532" y="1795128"/>
            <a:ext cx="8424936" cy="78848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342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2987316" y="2119164"/>
            <a:ext cx="12529392" cy="5832648"/>
          </a:xfrm>
          <a:prstGeom prst="rect">
            <a:avLst/>
          </a:prstGeom>
          <a:solidFill>
            <a:srgbClr val="00B0F0"/>
          </a:solidFill>
          <a:ln>
            <a:solidFill>
              <a:srgbClr val="00AE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4800"/>
          </a:p>
        </p:txBody>
      </p:sp>
      <p:sp>
        <p:nvSpPr>
          <p:cNvPr id="2" name="AutoShape 2" descr="×ª××¦××ª ×ª××× × ×¢×××¨ âªsteve jobs focusing is about saying noâ¬â"/>
          <p:cNvSpPr>
            <a:spLocks noChangeAspect="1" noChangeArrowheads="1"/>
          </p:cNvSpPr>
          <p:nvPr/>
        </p:nvSpPr>
        <p:spPr bwMode="auto">
          <a:xfrm>
            <a:off x="15671007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he-IL" sz="4800"/>
          </a:p>
        </p:txBody>
      </p:sp>
      <p:pic>
        <p:nvPicPr>
          <p:cNvPr id="3074" name="Picture 2" descr="×ª××¦××ª ×ª××× × ×¢×××¨ âªsteve jobsâ¬â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47" r="28294"/>
          <a:stretch/>
        </p:blipFill>
        <p:spPr bwMode="auto">
          <a:xfrm>
            <a:off x="3311353" y="2320863"/>
            <a:ext cx="4150895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79904" y="2551213"/>
            <a:ext cx="6480720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200">
                <a:solidFill>
                  <a:schemeClr val="bg1"/>
                </a:solidFill>
              </a:rPr>
              <a:t>“The hardest thing when you think about focusing. You think focusing is about saying yes. </a:t>
            </a:r>
          </a:p>
          <a:p>
            <a:r>
              <a:rPr lang="en-US" sz="4200">
                <a:solidFill>
                  <a:schemeClr val="bg1"/>
                </a:solidFill>
              </a:rPr>
              <a:t>No, focusing is about saying no”</a:t>
            </a:r>
          </a:p>
          <a:p>
            <a:endParaRPr lang="en-US" sz="4200">
              <a:solidFill>
                <a:schemeClr val="bg1"/>
              </a:solidFill>
            </a:endParaRPr>
          </a:p>
          <a:p>
            <a:r>
              <a:rPr lang="en-US" sz="4200">
                <a:solidFill>
                  <a:schemeClr val="bg1"/>
                </a:solidFill>
              </a:rPr>
              <a:t>Steve Jobs</a:t>
            </a:r>
            <a:endParaRPr lang="he-IL" sz="4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936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/>
          <p:cNvSpPr/>
          <p:nvPr/>
        </p:nvSpPr>
        <p:spPr>
          <a:xfrm>
            <a:off x="2178795" y="0"/>
            <a:ext cx="13823205" cy="12550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800">
              <a:latin typeface="Calibri Light" panose="020F0302020204030204" pitchFamily="34" charset="0"/>
            </a:endParaRPr>
          </a:p>
        </p:txBody>
      </p:sp>
      <p:sp>
        <p:nvSpPr>
          <p:cNvPr id="12" name="כותרת 1"/>
          <p:cNvSpPr txBox="1">
            <a:spLocks/>
          </p:cNvSpPr>
          <p:nvPr/>
        </p:nvSpPr>
        <p:spPr>
          <a:xfrm>
            <a:off x="3096852" y="184353"/>
            <a:ext cx="12419856" cy="107071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>
                <a:solidFill>
                  <a:schemeClr val="bg1"/>
                </a:solidFill>
                <a:latin typeface="+mn-lt"/>
              </a:rPr>
              <a:t>…and don’t get trapped</a:t>
            </a:r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08" y="1821633"/>
            <a:ext cx="972108" cy="972108"/>
          </a:xfrm>
          <a:prstGeom prst="rect">
            <a:avLst/>
          </a:prstGeom>
        </p:spPr>
      </p:pic>
      <p:sp>
        <p:nvSpPr>
          <p:cNvPr id="2" name="מלבן 1"/>
          <p:cNvSpPr/>
          <p:nvPr/>
        </p:nvSpPr>
        <p:spPr>
          <a:xfrm>
            <a:off x="4321935" y="1687116"/>
            <a:ext cx="111819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Having foresight on your backup and growth options influences the way you:</a:t>
            </a:r>
          </a:p>
          <a:p>
            <a:pPr lvl="0">
              <a:defRPr/>
            </a:pPr>
            <a:endParaRPr lang="en-US" sz="4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4768518" y="3242212"/>
            <a:ext cx="6643734" cy="5592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 defTabSz="1371600" fontAlgn="base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Develop your technology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File your patents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Recruit your employees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Choose your stakeholders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Build your company culture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Pick your brand name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Wingdings" pitchFamily="2" charset="2"/>
              <a:buChar char="§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</a:rPr>
              <a:t> Design your marketing materials</a:t>
            </a:r>
          </a:p>
        </p:txBody>
      </p:sp>
    </p:spTree>
    <p:extLst>
      <p:ext uri="{BB962C8B-B14F-4D97-AF65-F5344CB8AC3E}">
        <p14:creationId xmlns:p14="http://schemas.microsoft.com/office/powerpoint/2010/main" val="26918546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-775420" y="0"/>
            <a:ext cx="19204096" cy="10287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800"/>
          </a:p>
        </p:txBody>
      </p:sp>
      <p:sp>
        <p:nvSpPr>
          <p:cNvPr id="8" name="כותרת 1"/>
          <p:cNvSpPr txBox="1">
            <a:spLocks/>
          </p:cNvSpPr>
          <p:nvPr/>
        </p:nvSpPr>
        <p:spPr>
          <a:xfrm>
            <a:off x="2771292" y="1075809"/>
            <a:ext cx="12537321" cy="374365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6150" b="1">
                <a:solidFill>
                  <a:schemeClr val="bg1"/>
                </a:solidFill>
              </a:rPr>
              <a:t>The Market Opportunity Navigator</a:t>
            </a:r>
            <a:endParaRPr lang="en-US" sz="6150" b="1">
              <a:solidFill>
                <a:schemeClr val="bg1"/>
              </a:solidFill>
              <a:ea typeface="+mj-ea"/>
              <a:cs typeface="+mj-cs"/>
            </a:endParaRPr>
          </a:p>
          <a:p>
            <a:pPr algn="ctr"/>
            <a:r>
              <a:rPr lang="en-US" sz="4350">
                <a:solidFill>
                  <a:schemeClr val="bg1"/>
                </a:solidFill>
                <a:ea typeface="+mj-ea"/>
                <a:cs typeface="+mj-cs"/>
              </a:rPr>
              <a:t>D</a:t>
            </a:r>
            <a:r>
              <a:rPr lang="en-US" sz="4350">
                <a:solidFill>
                  <a:schemeClr val="bg1"/>
                </a:solidFill>
                <a:ea typeface="Roboto" panose="02000000000000000000" pitchFamily="2" charset="0"/>
                <a:cs typeface="Kalinga" pitchFamily="34" charset="0"/>
              </a:rPr>
              <a:t>iscover your most valuable market opportunities </a:t>
            </a:r>
          </a:p>
          <a:p>
            <a:pPr algn="ctr"/>
            <a:r>
              <a:rPr lang="en-US" sz="4350">
                <a:solidFill>
                  <a:schemeClr val="bg1"/>
                </a:solidFill>
                <a:ea typeface="Roboto" panose="02000000000000000000" pitchFamily="2" charset="0"/>
                <a:cs typeface="Kalinga" pitchFamily="34" charset="0"/>
              </a:rPr>
              <a:t>and find out where to play</a:t>
            </a:r>
            <a:endParaRPr lang="en-US" sz="4350" b="1">
              <a:solidFill>
                <a:schemeClr val="bg1"/>
              </a:solidFill>
              <a:ea typeface="+mj-ea"/>
              <a:cs typeface="+mj-cs"/>
            </a:endParaRPr>
          </a:p>
        </p:txBody>
      </p:sp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3"/>
          <a:srcRect l="6069" t="26837" r="5986" b="20824"/>
          <a:stretch>
            <a:fillRect/>
          </a:stretch>
        </p:blipFill>
        <p:spPr bwMode="auto">
          <a:xfrm>
            <a:off x="3514889" y="4271994"/>
            <a:ext cx="10905237" cy="4233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716869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D0973D09-5FAE-A1DF-E3F0-26F424930514}"/>
              </a:ext>
            </a:extLst>
          </p:cNvPr>
          <p:cNvSpPr/>
          <p:nvPr/>
        </p:nvSpPr>
        <p:spPr>
          <a:xfrm>
            <a:off x="0" y="0"/>
            <a:ext cx="18288000" cy="9295198"/>
          </a:xfrm>
          <a:prstGeom prst="rect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852008F-0565-41B2-97EE-70509934F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67" y="9413988"/>
            <a:ext cx="2577092" cy="99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7E412-2597-41CE-8C96-3746540E6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9429644"/>
            <a:ext cx="2743200" cy="782634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CFAEF97-5F8B-5BA5-2876-2BB14824F3DF}"/>
              </a:ext>
            </a:extLst>
          </p:cNvPr>
          <p:cNvSpPr txBox="1"/>
          <p:nvPr/>
        </p:nvSpPr>
        <p:spPr>
          <a:xfrm>
            <a:off x="2171500" y="350163"/>
            <a:ext cx="14211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5000" b="1">
                <a:solidFill>
                  <a:schemeClr val="bg1"/>
                </a:solidFill>
              </a:rPr>
              <a:t>VALIDATION OF YOUR MARKET OPPORTUNITIES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349AAA1-6CCB-EF97-8653-C3D2C8FCE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65"/>
          <a:stretch/>
        </p:blipFill>
        <p:spPr>
          <a:xfrm>
            <a:off x="17316450" y="1211937"/>
            <a:ext cx="990600" cy="314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Slika 1">
            <a:extLst>
              <a:ext uri="{FF2B5EF4-FFF2-40B4-BE49-F238E27FC236}">
                <a16:creationId xmlns:a16="http://schemas.microsoft.com/office/drawing/2014/main" id="{428E04EC-3264-AD06-509E-8B88072A4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6450" y="1211937"/>
            <a:ext cx="1029125" cy="31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Slika 14" descr="OMG Bee">
            <a:extLst>
              <a:ext uri="{FF2B5EF4-FFF2-40B4-BE49-F238E27FC236}">
                <a16:creationId xmlns:a16="http://schemas.microsoft.com/office/drawing/2014/main" id="{38591B1D-49FC-F662-6764-835964617D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00" y="1211937"/>
            <a:ext cx="5295900" cy="5295900"/>
          </a:xfrm>
          <a:prstGeom prst="rect">
            <a:avLst/>
          </a:prstGeom>
        </p:spPr>
      </p:pic>
      <p:sp>
        <p:nvSpPr>
          <p:cNvPr id="16" name="PoljeZBesedilom 15">
            <a:extLst>
              <a:ext uri="{FF2B5EF4-FFF2-40B4-BE49-F238E27FC236}">
                <a16:creationId xmlns:a16="http://schemas.microsoft.com/office/drawing/2014/main" id="{4D560C80-7C17-C173-61A4-DF084544D88D}"/>
              </a:ext>
            </a:extLst>
          </p:cNvPr>
          <p:cNvSpPr txBox="1"/>
          <p:nvPr/>
        </p:nvSpPr>
        <p:spPr>
          <a:xfrm>
            <a:off x="6781801" y="2782240"/>
            <a:ext cx="10134600" cy="617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solidFill>
                  <a:schemeClr val="bg1"/>
                </a:solidFill>
              </a:rPr>
              <a:t>„Assumption is the mother of all f*ck ups.“</a:t>
            </a:r>
            <a:endParaRPr lang="sl-SI" sz="6000" b="1">
              <a:solidFill>
                <a:schemeClr val="bg1"/>
              </a:solidFill>
            </a:endParaRPr>
          </a:p>
          <a:p>
            <a:endParaRPr lang="sl-SI" sz="6000" b="1">
              <a:solidFill>
                <a:schemeClr val="bg1"/>
              </a:solidFill>
            </a:endParaRPr>
          </a:p>
          <a:p>
            <a:r>
              <a:rPr lang="sl-SI" sz="6000" b="1">
                <a:solidFill>
                  <a:schemeClr val="bg1"/>
                </a:solidFill>
              </a:rPr>
              <a:t>VALIDATE YOUR ASSUMPTIONS – TALK TO PEOPLE!</a:t>
            </a:r>
          </a:p>
          <a:p>
            <a:endParaRPr lang="sl-SI" sz="6000" b="1">
              <a:solidFill>
                <a:schemeClr val="bg1"/>
              </a:solidFill>
            </a:endParaRPr>
          </a:p>
          <a:p>
            <a:pPr algn="r"/>
            <a:r>
              <a:rPr lang="sl-SI" sz="3500" b="1" err="1">
                <a:solidFill>
                  <a:schemeClr val="bg1"/>
                </a:solidFill>
              </a:rPr>
              <a:t>Then</a:t>
            </a:r>
            <a:r>
              <a:rPr lang="sl-SI" sz="3500" b="1">
                <a:solidFill>
                  <a:schemeClr val="bg1"/>
                </a:solidFill>
              </a:rPr>
              <a:t> go back </a:t>
            </a:r>
            <a:r>
              <a:rPr lang="sl-SI" sz="3500" b="1" err="1">
                <a:solidFill>
                  <a:schemeClr val="bg1"/>
                </a:solidFill>
              </a:rPr>
              <a:t>and</a:t>
            </a:r>
            <a:r>
              <a:rPr lang="sl-SI" sz="3500" b="1">
                <a:solidFill>
                  <a:schemeClr val="bg1"/>
                </a:solidFill>
              </a:rPr>
              <a:t> re-do </a:t>
            </a:r>
            <a:r>
              <a:rPr lang="sl-SI" sz="3500" b="1" err="1">
                <a:solidFill>
                  <a:schemeClr val="bg1"/>
                </a:solidFill>
              </a:rPr>
              <a:t>your</a:t>
            </a:r>
            <a:r>
              <a:rPr lang="sl-SI" sz="3500" b="1">
                <a:solidFill>
                  <a:schemeClr val="bg1"/>
                </a:solidFill>
              </a:rPr>
              <a:t> MON </a:t>
            </a:r>
            <a:r>
              <a:rPr lang="sl-SI" sz="3500" b="1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GB" sz="3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15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614001816DC7048A6311070C8886818" ma:contentTypeVersion="18" ma:contentTypeDescription="Ustvari nov dokument." ma:contentTypeScope="" ma:versionID="ca05faf657ce4088251fe54a913ccd23">
  <xsd:schema xmlns:xsd="http://www.w3.org/2001/XMLSchema" xmlns:xs="http://www.w3.org/2001/XMLSchema" xmlns:p="http://schemas.microsoft.com/office/2006/metadata/properties" xmlns:ns2="e444934c-7e20-45af-8bdd-a3faca783b93" xmlns:ns3="2b156b50-de73-42d8-8da4-86174a809082" targetNamespace="http://schemas.microsoft.com/office/2006/metadata/properties" ma:root="true" ma:fieldsID="9e5d32594c42274a28ae1105aa7dfd96" ns2:_="" ns3:_="">
    <xsd:import namespace="e444934c-7e20-45af-8bdd-a3faca783b93"/>
    <xsd:import namespace="2b156b50-de73-42d8-8da4-86174a8090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4934c-7e20-45af-8bdd-a3faca783b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Oznake slike" ma:readOnly="false" ma:fieldId="{5cf76f15-5ced-4ddc-b409-7134ff3c332f}" ma:taxonomyMulti="true" ma:sspId="b5c7bf33-a257-4e00-9403-5619347451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56b50-de73-42d8-8da4-86174a80908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V skupni rabi z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V skupni rabi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92ce810-d782-4284-b8e1-f5a252eaff86}" ma:internalName="TaxCatchAll" ma:showField="CatchAllData" ma:web="2b156b50-de73-42d8-8da4-86174a8090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6110F3-09DA-4C47-9A5E-6702A0559F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B4D954-48DE-47EF-9AD9-0FFB9BC91CB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444934c-7e20-45af-8bdd-a3faca783b93"/>
    <ds:schemaRef ds:uri="2b156b50-de73-42d8-8da4-86174a809082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1642</Words>
  <Application>Microsoft Office PowerPoint</Application>
  <PresentationFormat>Prilagođeno</PresentationFormat>
  <Paragraphs>315</Paragraphs>
  <Slides>55</Slides>
  <Notes>8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55</vt:i4>
      </vt:variant>
    </vt:vector>
  </HeadingPairs>
  <TitlesOfParts>
    <vt:vector size="63" baseType="lpstr">
      <vt:lpstr>Nunito Sans Regular</vt:lpstr>
      <vt:lpstr>Arial</vt:lpstr>
      <vt:lpstr>Century Gothic</vt:lpstr>
      <vt:lpstr>Wingdings</vt:lpstr>
      <vt:lpstr>Calibri Light</vt:lpstr>
      <vt:lpstr>Calibri</vt:lpstr>
      <vt:lpstr>Office Theme</vt:lpstr>
      <vt:lpstr>ערכת נושא Office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Designing your smart portfolio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 Purple Illustrated 3D Humans Education Keynote Presentation</dc:title>
  <dc:creator>Matija</dc:creator>
  <cp:lastModifiedBy>Tena Jagačić</cp:lastModifiedBy>
  <cp:revision>3</cp:revision>
  <dcterms:created xsi:type="dcterms:W3CDTF">2006-08-16T00:00:00Z</dcterms:created>
  <dcterms:modified xsi:type="dcterms:W3CDTF">2023-02-20T09:40:45Z</dcterms:modified>
  <dc:identifier>DAEKsor1frY</dc:identifier>
</cp:coreProperties>
</file>